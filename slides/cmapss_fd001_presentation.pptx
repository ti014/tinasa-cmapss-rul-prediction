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kiểm tra (cycle)</a:t>
            </a:r>
          </a:p>
        </c:rich>
      </c:tx>
      <c:layout/>
      <c:overlay val="0"/>
    </c:title>
    <c:autoTitleDeleted val="0"/>
    <c:plotArea>
      <c:barChart>
        <c:barDir val="col"/>
        <c:grouping val="clustered"/>
        <c:ser>
          <c:idx val="0"/>
          <c:order val="0"/>
          <c:tx>
            <c:strRef>
              <c:f>Sheet1!$B$1</c:f>
              <c:strCache>
                <c:ptCount val="1"/>
                <c:pt idx="0">
                  <c:v>Huấn luyện nội bộ</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Áp dụng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cycles; huấn luyện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 Khi dựng Hadoop trong Docker, image 3.3.6 thiếu Python nên đổi sang 3.4.3; Spark ghi với replication 3 trên một DataNode nên phải đặt replication 1, và kiểm tra lại bằng fsck.</a:t>
            </a:r>
          </a:p>
          <a:p>
            <a:r>
              <a:t>Bốn: dễ sa vào tối ưu mô hình; với bảo trì dự đoán, pipeline đúng và cảnh báo dễ hiểu quan trọng hơn vài cycle MAE.</a:t>
            </a:r>
          </a:p>
          <a:p>
            <a:r>
              <a:t>Giới hạn: dữ liệu mô phỏng, chưa có chi phí bảo trì, Spark chỉ chạy trên một máy.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phần demo trong handoff/SPEECH_SCRIPT_VI.pdf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mức giảm độ dao động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phát hiện trước hỏng hóc</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trên tập kiểm tra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Trình bày theo trình tự pipeline quản lý dữ liệu: xử lý, phân tích tín hiệu,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ràng buộc chất lượng; hai cách triển khai ETL có tương đương?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Mức giảm nhiễu đạt được; dữ liệu được tổng hợp theo cửa sổ thời gian thế nào?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Xu hướng biến đổi của tín hiệu; khả năng phát hiện bất thường trước hỏng hóc?</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Độ chính xác dự đoán RUL trên tập kiểm tra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Hiệu quả của cảnh báo sớm và lịch bảo trì dựa trên dự đoán?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hóc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hỏng hóc của động cơ. Đầu vào: chuỗi 21 tín hiệu cảm biến theo cycle. Đầu ra: dấu hiệu bất thường, ước lượng RUL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Phương pháp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subset khác nhau về số điều kiện vận hành và số dạng lỗi; FD001 là đối tượng phân tích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(split, engine_id, cycle). Dữ liệu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kiểm tra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kiểm tra chỉ được sử dụng sau khi đã lưu kết quả dự đoán, nhằm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vận hành đến hỏng hóc</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 hóc</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hỏng hóc</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thời điểm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kiểm tra</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sử dụng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xây dựng đặc trưng và lựa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Silver, Gold
(Parquet, SQLite)</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cycles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Sức khỏe</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Health Index:
PCA trên 21 sensor</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Chỉ số ≤ −3 trong
5 cycles liền nhau</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3291840" y="5230368"/>
            <a:ext cx="8046720" cy="548640"/>
          </a:xfrm>
          <a:prstGeom prst="rect">
            <a:avLst/>
          </a:prstGeom>
          <a:noFill/>
        </p:spPr>
        <p:txBody>
          <a:bodyPr wrap="square" lIns="0" rIns="0" tIns="0" bIns="0" anchor="t"/>
          <a:lstStyle/>
          <a:p>
            <a:pPr algn="l">
              <a:spcAft>
                <a:spcPts val="0"/>
              </a:spcAft>
            </a:pPr>
            <a:r>
              <a:rPr sz="1200" b="0">
                <a:solidFill>
                  <a:srgbClr val="5A6B7B"/>
                </a:solidFill>
                <a:latin typeface="Arial"/>
              </a:rPr>
              <a:t>Ô nét đứt là kiểm tra phụ, không đi vào mô hình. Đáp án test chỉ được mở sau khi đã lưu dự đoán.</a:t>
            </a:r>
          </a:p>
          <a:p>
            <a:pPr algn="l">
              <a:spcAft>
                <a:spcPts val="0"/>
              </a:spcAft>
            </a:pPr>
            <a:r>
              <a:rPr sz="1200" b="0">
                <a:solidFill>
                  <a:srgbClr val="5A6B7B"/>
                </a:solidFill>
                <a:latin typeface="Arial"/>
              </a:rPr>
              <a:t>Pandas và PySpark cho cùng kết quả ở A1–A2; bảng tổng hợp 200 động cơ trên HDFS khớp với Pandas.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ETL và rolling: Pandas–PySpark khớp; Hadoop đối chiếu bảng động cơ; Spark local 10× nhanh hơn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04288"/>
        </p:xfrm>
        <a:graphic>
          <a:graphicData uri="http://schemas.openxmlformats.org/drawingml/2006/table">
            <a:tbl>
              <a:tblPr firstRow="1" bandRow="1">
                <a:tableStyleId>{5C22544A-7EE6-4342-B048-85BDC9FD1C3A}</a:tableStyleId>
              </a:tblPr>
              <a:tblGrid>
                <a:gridCol w="2514600"/>
                <a:gridCol w="960120"/>
                <a:gridCol w="1188720"/>
                <a:gridCol w="914400"/>
              </a:tblGrid>
              <a:tr h="384048">
                <a:tc>
                  <a:txBody>
                    <a:bodyPr wrap="square"/>
                    <a:lstStyle/>
                    <a:p>
                      <a:r>
                        <a:rPr sz="1200" b="1">
                          <a:solidFill>
                            <a:srgbClr val="FFFFFF"/>
                          </a:solidFill>
                          <a:latin typeface="Arial"/>
                        </a:rPr>
                        <a:t>Bảng so với Pandas</a:t>
                      </a:r>
                    </a:p>
                  </a:txBody>
                  <a:tcPr marL="73152" marR="73152" marT="27432" marB="27432" anchor="ctr">
                    <a:solidFill>
                      <a:srgbClr val="21409A"/>
                    </a:solidFill>
                  </a:tcPr>
                </a:tc>
                <a:tc>
                  <a:txBody>
                    <a:bodyPr wrap="square"/>
                    <a:lstStyle/>
                    <a:p>
                      <a:r>
                        <a:rPr sz="1200" b="1">
                          <a:solidFill>
                            <a:srgbClr val="FFFFFF"/>
                          </a:solidFill>
                          <a:latin typeface="Arial"/>
                        </a:rPr>
                        <a:t>Số dòng</a:t>
                      </a:r>
                    </a:p>
                  </a:txBody>
                  <a:tcPr marL="73152" marR="73152" marT="27432" marB="27432" anchor="ctr">
                    <a:solidFill>
                      <a:srgbClr val="21409A"/>
                    </a:solidFill>
                  </a:tcPr>
                </a:tc>
                <a:tc>
                  <a:txBody>
                    <a:bodyPr wrap="square"/>
                    <a:lstStyle/>
                    <a:p>
                      <a:r>
                        <a:rPr sz="1200" b="1">
                          <a:solidFill>
                            <a:srgbClr val="FFFFFF"/>
                          </a:solidFill>
                          <a:latin typeface="Arial"/>
                        </a:rPr>
                        <a:t>Sai khác</a:t>
                      </a:r>
                    </a:p>
                  </a:txBody>
                  <a:tcPr marL="73152" marR="73152" marT="27432" marB="27432" anchor="ctr">
                    <a:solidFill>
                      <a:srgbClr val="21409A"/>
                    </a:solidFill>
                  </a:tcPr>
                </a:tc>
                <a:tc>
                  <a:txBody>
                    <a:bodyPr wrap="square"/>
                    <a:lstStyle/>
                    <a:p>
                      <a:r>
                        <a:rPr sz="1200" b="1">
                          <a:solidFill>
                            <a:srgbClr val="FFFFFF"/>
                          </a:solidFill>
                          <a:latin typeface="Arial"/>
                        </a:rPr>
                        <a:t>Kết quả</a:t>
                      </a:r>
                    </a:p>
                  </a:txBody>
                  <a:tcPr marL="73152" marR="73152" marT="27432" marB="27432" anchor="ctr">
                    <a:solidFill>
                      <a:srgbClr val="21409A"/>
                    </a:solidFill>
                  </a:tcPr>
                </a:tc>
              </a:tr>
              <a:tr h="384048">
                <a:tc>
                  <a:txBody>
                    <a:bodyPr wrap="square"/>
                    <a:lstStyle/>
                    <a:p>
                      <a:r>
                        <a:rPr sz="1200" b="0">
                          <a:solidFill>
                            <a:srgbClr val="1B2733"/>
                          </a:solidFill>
                          <a:latin typeface="Arial"/>
                        </a:rPr>
                        <a:t>Silver observations</a:t>
                      </a:r>
                    </a:p>
                  </a:txBody>
                  <a:tcPr marL="73152" marR="73152" marT="27432" marB="27432" anchor="ctr">
                    <a:solidFill>
                      <a:srgbClr val="FFFFFF"/>
                    </a:solidFill>
                  </a:tcPr>
                </a:tc>
                <a:tc>
                  <a:txBody>
                    <a:bodyPr wrap="square"/>
                    <a:lstStyle/>
                    <a:p>
                      <a:r>
                        <a:rPr sz="1200" b="0">
                          <a:solidFill>
                            <a:srgbClr val="1B2733"/>
                          </a:solidFill>
                          <a:latin typeface="Arial"/>
                        </a:rPr>
                        <a:t>33.727</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Silver train_targets</a:t>
                      </a:r>
                    </a:p>
                  </a:txBody>
                  <a:tcPr marL="73152" marR="73152" marT="27432" marB="27432" anchor="ctr">
                    <a:solidFill>
                      <a:srgbClr val="EAF0FA"/>
                    </a:solidFill>
                  </a:tcPr>
                </a:tc>
                <a:tc>
                  <a:txBody>
                    <a:bodyPr wrap="square"/>
                    <a:lstStyle/>
                    <a:p>
                      <a:r>
                        <a:rPr sz="1200" b="0">
                          <a:solidFill>
                            <a:srgbClr val="1B2733"/>
                          </a:solidFill>
                          <a:latin typeface="Arial"/>
                        </a:rPr>
                        <a:t>20.631</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engine_summary</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Gold · MapReduce trên HDFS</a:t>
                      </a:r>
                    </a:p>
                  </a:txBody>
                  <a:tcPr marL="73152" marR="73152" marT="27432" marB="27432" anchor="ctr">
                    <a:solidFill>
                      <a:srgbClr val="EAF0FA"/>
                    </a:solidFill>
                  </a:tcPr>
                </a:tc>
                <a:tc>
                  <a:txBody>
                    <a:bodyPr wrap="square"/>
                    <a:lstStyle/>
                    <a:p>
                      <a:r>
                        <a:rPr sz="1200" b="0">
                          <a:solidFill>
                            <a:srgbClr val="1B2733"/>
                          </a:solidFill>
                          <a:latin typeface="Arial"/>
                        </a:rPr>
                        <a:t>200</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 Spark trên HDFS</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dao động từ 128 đến 362 cycle; bảy cột không biến thiên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hằng trên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được áp dụng cho 14 sensor còn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nhân quả 30 cycle;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sử dụng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do mô hình cây bất biến với phép biến đổi đơn điệu.</a:t>
            </a:r>
          </a:p>
          <a:p>
            <a:pPr algn="l">
              <a:spcAft>
                <a:spcPts val="800"/>
              </a:spcAft>
            </a:pPr>
            <a:r>
              <a:rPr sz="1300" b="0">
                <a:solidFill>
                  <a:srgbClr val="FFFFFF"/>
                </a:solidFill>
                <a:latin typeface="Arial"/>
              </a:rPr>
              <a:t>• Các thống kê trên cửa sổ có tác dụng làm trơn bổ sung.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cuối vòng đời (Wilcoxon,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 (q = 0,05)</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thay đổi cùng chiều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trung vị 121 cycle trước hỏng hóc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hỏng hóc</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phát hiện trước hỏng hóc (trung vị); IQR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tại thời điểm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Độ nhạy: với 9 cấu hình (2/3/4σ × 3/5/10 cycle), quy tắc đều phát hiện 100/100 động cơ, lead time nhỏ nhất ≥ 50 cycle. Không khử nhiễu: trung vị còn 72,5 cycle. Giới hạn: chưa ước lượng được tỷ lệ dương tính giả do thiếu nhãn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lựa chọn bằng GroupKFold 5 fold theo động cơ; MAE trên tập kiểm tra: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ước lượng cao</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giảm khi RUL nhỏ; mô hình có xu hướng ước lượng cao, tương ứng với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Phân bố dấu của sai số (100 động cơ kiểm tra)</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ước lượng cao</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 30: không bỏ sót động cơ, lead time trung vị 30 cycle; 49% cảnh báo muộn so với ngưỡng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hóc tại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lead time ≥ 30 cycle. Báo sớm: tỷ lệ cycle có cảnh báo khi RUL thực tế lớn hơn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 hóc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mức cần bảo trì có RUL thực tế ≤ 30; không có trường hợp dương tính giả</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có RUL thực tế ≤ 30 được xếp mức cần bảo trì</a:t>
            </a:r>
          </a:p>
          <a:p>
            <a:pPr algn="l">
              <a:spcAft>
                <a:spcPts val="600"/>
              </a:spcAft>
            </a:pPr>
            <a:r>
              <a:rPr sz="1200" b="0">
                <a:solidFill>
                  <a:srgbClr val="C9D6F0"/>
                </a:solidFill>
                <a:latin typeface="Arial"/>
              </a:rPr>
              <a:t>4 trường hợp còn lại được xếp đến hạn sau 1–8 cycle, ở mức theo dõi tăng cường.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Khả năng tổng quát hóa sang FD002–FD004 (cửa sổ 10 cycle) và các phương án cải tiến; kết luận chính không đổi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lựa chọn hội tụ về cấu hình gốc; số cảnh báo muộn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tỷ lệ cảnh báo kịp thời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phương pháp drift; vượt trội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giới hạn trong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và PySpark trùng khớp; PySpark nhanh hơn ~3,4× ở quy mô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 dao động sau EWMA; 126 đặc trưng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được phát hiện, trung vị 121 cycle trước hỏng hóc</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trên tập kiểm tra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dự báo cần bảo trì chính xác; không bỏ sót;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tham chiếu</a:t>
                      </a:r>
                    </a:p>
                  </a:txBody>
                  <a:tcPr marL="73152" marR="73152" marT="27432" marB="27432" anchor="ctr">
                    <a:solidFill>
                      <a:srgbClr val="FFFFFF"/>
                    </a:solidFill>
                  </a:tcPr>
                </a:tc>
                <a:tc>
                  <a:txBody>
                    <a:bodyPr wrap="square"/>
                    <a:lstStyle/>
                    <a:p>
                      <a:r>
                        <a:rPr sz="1200" b="0">
                          <a:solidFill>
                            <a:srgbClr val="1B2733"/>
                          </a:solidFill>
                          <a:latin typeface="Arial"/>
                        </a:rPr>
                        <a:t>Xác định rõ trạng thái tham chiếu; nêu rõ phần chưa kiểm chứng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dữ liệu chuỗi thời gian, đơn vị phân chia là thực thể, không phải bản ghi</a:t>
                      </a:r>
                    </a:p>
                  </a:txBody>
                  <a:tcPr marL="73152" marR="73152" marT="27432" marB="27432" anchor="ctr">
                    <a:solidFill>
                      <a:srgbClr val="EAF0FA"/>
                    </a:solidFill>
                  </a:tcPr>
                </a:tc>
              </a:tr>
              <a:tr h="603504">
                <a:tc>
                  <a:txBody>
                    <a:bodyPr wrap="square"/>
                    <a:lstStyle/>
                    <a:p>
                      <a:r>
                        <a:rPr sz="1200" b="0">
                          <a:solidFill>
                            <a:srgbClr val="1B2733"/>
                          </a:solidFill>
                          <a:latin typeface="Arial"/>
                        </a:rPr>
                        <a:t>Hạ tầng: PySpark trên Windows, Hadoop trong Docker</a:t>
                      </a:r>
                    </a:p>
                  </a:txBody>
                  <a:tcPr marL="73152" marR="73152" marT="27432" marB="27432" anchor="ctr">
                    <a:solidFill>
                      <a:srgbClr val="FFFFFF"/>
                    </a:solidFill>
                  </a:tcPr>
                </a:tc>
                <a:tc>
                  <a:txBody>
                    <a:bodyPr wrap="square"/>
                    <a:lstStyle/>
                    <a:p>
                      <a:r>
                        <a:rPr sz="1200" b="0">
                          <a:solidFill>
                            <a:srgbClr val="1B2733"/>
                          </a:solidFill>
                          <a:latin typeface="Arial"/>
                        </a:rPr>
                        <a:t>Ghi qua Arrow; dùng image Hadoop có Python; đặt replication 1 cho Spark</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triển khai; kiểm tra HDFS bằng fsck sau khi ghi</a:t>
                      </a:r>
                    </a:p>
                  </a:txBody>
                  <a:tcPr marL="73152" marR="73152" marT="27432" marB="27432" anchor="ctr">
                    <a:solidFill>
                      <a:srgbClr val="FFFFFF"/>
                    </a:solidFill>
                  </a:tcPr>
                </a:tc>
              </a:tr>
              <a:tr h="603504">
                <a:tc>
                  <a:txBody>
                    <a:bodyPr wrap="square"/>
                    <a:lstStyle/>
                    <a:p>
                      <a:r>
                        <a:rPr sz="1200" b="0">
                          <a:solidFill>
                            <a:srgbClr val="1B2733"/>
                          </a:solidFill>
                          <a:latin typeface="Arial"/>
                        </a:rPr>
                        <a:t>Nguy cơ tập trung quá mức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Tính đúng đắn của pipeline và khả năng diễn giải cảnh báo được ưu tiên hơn mức giảm nhỏ của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dữ liệu chi phí để tối ưu ngưỡng cảnh báo; Hadoop và Spark chạy trên một máy, chưa triển khai cluster nhiều node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