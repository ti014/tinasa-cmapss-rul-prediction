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5"/>
    <p:sldId id="262" r:id="rId4"/>
    <p:sldId id="263" r:id="rId3"/>
    <p:sldId id="264" r:id="rId2"/>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140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43"/>
    <p:restoredTop sz="94694"/>
  </p:normalViewPr>
  <p:slideViewPr>
    <p:cSldViewPr snapToGrid="0">
      <p:cViewPr varScale="1">
        <p:scale>
          <a:sx n="104" d="100"/>
          <a:sy n="104" d="100"/>
        </p:scale>
        <p:origin x="232" y="7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20 giây.</a:t>
            </a:r>
          </a:p>
          <a:p>
            <a:r>
              <a:t>Kính chào quý thầy cô. Em là Phan Nguyễn Mai Phương, MSHV 25002711. Em trình bày Đề tài 8: phân tích dữ liệu cảm biến IoT để phát hiện dấu hiệu bất thường, dự đoán thời điểm cần bảo trì và cảnh báo sớm, dưới sự hướng dẫn của TS. Võ Thị Thanh Vân.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35 giây.</a:t>
            </a:r>
          </a:p>
          <a:p>
            <a:r>
              <a:t>Động cơ turbofan gửi số đo cảm biến sau mỗi chu kỳ vận hành, gọi là cycle. Bảo trì quá sớm thì lãng phí, quá muộn thì động cơ có thể hỏng khi đang vận hành. Đại lượng cần ước lượng là RUL (Remaining Useful Life), số cycle còn lại trước khi hỏng. Ví dụ động cơ train 1 hỏng ở cycle 192, nên tại cycle 162 RUL bằng 30.</a:t>
            </a:r>
          </a:p>
          <a:p>
            <a:r>
              <a:t>Kết quả chính trên tập test: hệ thống xếp 21 động cơ cần bảo trì ngay và cả 21 đều đúng.</a:t>
            </a:r>
          </a:p>
          <a:p>
            <a:r>
              <a:t>Nguồn: references/context/assignment-brief.png; report/sections/problem-data.tex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30 giây.</a:t>
            </a:r>
          </a:p>
          <a:p>
            <a:r>
              <a:t>Bước 1 tải dữ liệu từ NASA và kiểm tra checksum. Bước 2 lưu dữ liệu theo ba lớp Bronze, Silver, Gold dưới dạng Parquet và SQLite, đồng thời đưa lên HDFS. Bước 3 xử lý bằng Pandas, PySpark và MapReduce. Bước 4 phân tích: làm mượt EWMA, Health Index, mô hình HistGradientBoosting. Bước 5 tạo hai mức cảnh báo và lịch bảo trì.</a:t>
            </a:r>
          </a:p>
          <a:p>
            <a:r>
              <a:t>Phần 2 của bài (slide 4–12) trình bày bước 1–3; phần 3 (slide 13–18) trình bày bước 4–5.</a:t>
            </a:r>
          </a:p>
          <a:p>
            <a:r>
              <a:t>Nguồn: report/figures/pipeline.pdf; handoff/DATA_WALKTHROUGH.md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C-MAPSS là dữ liệu mô phỏng động cơ turbofan của NASA, có chuỗi cảm biến của từng động cơ từ lúc mới vận hành đến khi hỏng. Bốn tập con khác nhau về số điều kiện vận hành và số dạng lỗi. Tổng cộng 265.256 bản ghi.</a:t>
            </a:r>
          </a:p>
          <a:p>
            <a:r>
              <a:t>Dữ liệu được tải bằng script từ https://data.nasa.gov/docs/legacy/CMAPSSData.zip (ngày 2026-10-08, giờ UTC): gói 12,4 MB, 12 file; kiểm tra MD5 của gói và SHA-256 của từng file, ghi vào manifest.</a:t>
            </a:r>
          </a:p>
          <a:p>
            <a:r>
              <a:t>Phân tích chính dùng FD001; FD002–FD004 chỉ đi qua bước ETL.</a:t>
            </a:r>
          </a:p>
          <a:p>
            <a:r>
              <a:t>Nguồn: outputs/acquisition/manifest.json; outputs/cross_dataset/FD00x/etl/run_info.json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Bảng là bốn dòng đầu của file train_FD001.txt, đọc trực tiếp từ dữ liệu gốc. File text không có header, các trường cách nhau bằng khoảng trắng. Mỗi dòng gồm mã động cơ, số thứ tự cycle, 3 thiết lập vận hành và 21 sensor; bảng chỉ hiện một phần các cột.</a:t>
            </a:r>
          </a:p>
          <a:p>
            <a:r>
              <a:t>Mỗi tập con có ba file: train chạy đến khi hỏng (20.631 dòng với FD001), test bị cắt trước khi hỏng (13.096 dòng) và file RUL thật của test (100 dòng). File RUL chỉ được đọc sau khi đã lưu dự đoán.</a:t>
            </a:r>
          </a:p>
          <a:p>
            <a:r>
              <a:t>Nguồn: data/raw/train_FD001.txt; data/raw/readme.txt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Kiểm tra trên 33.727 bản ghi FD001: không có giá trị thiếu, không có khóa trùng, cycle của mỗi động cơ bắt đầu từ 1 và liên tục. Khóa của mọi bảng là (split, engine_id, cycle): cặp (engine_id, cycle) trùng giữa train và test nên phải thêm cột split.</a:t>
            </a:r>
          </a:p>
          <a:p>
            <a:r>
              <a:t>Bảy cột không đổi ở cả 100 động cơ: sensor 1, 5, 10, 16, 18, 19 và setting_3; sensor 6 không đổi ở 38/100 động cơ. Các cột này không mang thông tin suy giảm nên không làm mượt; bảng đặc trưng vẫn giữ đủ 21 sensor.</a:t>
            </a:r>
          </a:p>
          <a:p>
            <a:r>
              <a:t>Hình do notebook 01 sinh ra: tuổi thọ trung vị 199 cycle, lệch phải. Nếu bảo trì cả đội ở cycle 199, 49 động cơ đã hỏng trước đó, nên cần dự đoán riêng cho từng động cơ.</a:t>
            </a:r>
          </a:p>
          <a:p>
            <a:r>
              <a:t>Nguồn: outputs/etl/silver/observations.parquet; outputs/notebook01/run-_uov4vhx/figures/engine_lifetimes.png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Sơ đồ là hình luồng dữ liệu trong báo cáo. Bronze giữ nguyên file text gốc, không ghi đè. Silver là bảng đã kiểm tra kiểu và khóa: train và test được gộp theo dòng (UNION) thành 33.727 dòng, lưu Parquet. Gold là các bảng tổng hợp: engine_summary 200 dòng, mỗi động cơ một dòng, lưu cả Parquet và SQLite; bảng đặc trưng 27.927 dòng.</a:t>
            </a:r>
          </a:p>
          <a:p>
            <a:r>
              <a:t>Parquet lưu theo cột nên đọc nhanh khi chỉ cần một vài sensor. Mỗi lần ghi đều qua thư mục tạm, kiểm tra xong mới thay bộ cũ, kèm run_info.json lưu hash dữ liệu đầu vào.</a:t>
            </a:r>
          </a:p>
          <a:p>
            <a:r>
              <a:t>Nguồn: report/figures/data-flow.pdf; outputs/etl/; outputs/features/gold/rolling_features.parquet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Cụm Hadoop 3.4.3 một node chạy bằng Docker: NameNode, DataNode cho HDFS; ResourceManager, NodeManager cho YARN. Hai file raw FD001 được đưa lên HDFS ở thư mục /cmapss/bronze/fd001.</a:t>
            </a:r>
          </a:p>
          <a:p>
            <a:r>
              <a:t>Job MapReduce viết bằng Hadoop Streaming chạy trên YARN: 3 map task và 1 reduce task, đọc 33.727 bản ghi, ghi 200 dòng tổng hợp, mất 22,4 giây. Spark đọc raw từ HDFS, ghi lớp Silver dạng Parquet phân vùng theo split, mất 14,1 giây.</a:t>
            </a:r>
          </a:p>
          <a:p>
            <a:r>
              <a:t>Cả hai cho bảng 200 động cơ khớp tuyệt đối với Pandas. hdfs fsck: 6 block, trạng thái HEALTHY.</a:t>
            </a:r>
          </a:p>
          <a:p>
            <a:r>
              <a:t>Giới hạn: cụm một node nên không đo lợi ích của xử lý phân tán.</a:t>
            </a:r>
          </a:p>
          <a:p>
            <a:r>
              <a:t>Nguồn: outputs/hdfs/summary.json; outputs/hdfs/mapreduce_job.txt; outputs/hdfs/hdfs_fsck.txt; outputs/hdfs/figures/yarn_applications.png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Pipeline được viết hai lần với cùng logic: Pandas cho một máy và PySpark cho xử lý phân tán. Bộ đối chiếu so schema, khóa, số dòng và từng giá trị. Ba bảng ETL khớp tuyệt đối; bảng đặc trưng 27.927 dòng khớp mọi ô với sai số cho phép 10⁻⁷.</a:t>
            </a:r>
          </a:p>
          <a:p>
            <a:r>
              <a:t>Đoạn code bên phải lấy từ rolling_spark.py: Window của Spark chia theo động cơ, sắp theo cycle và lấy 30 dòng gần nhất, tương đương rolling(30) của Pandas. Train và test được gộp bằng unionByName.</a:t>
            </a:r>
          </a:p>
          <a:p>
            <a:r>
              <a:t>Nguồn: outputs/etl/parity.json; outputs/benchmarks/20260929/run_info.json; src/cmapss/etl/rolling_spark.py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Truy vấn bên trái chạy trên file etl.sqlite của lớp Gold: JOIN bảng tổng hợp động cơ với bảng nhãn theo khóa split và engine_id, lấy RUL của động cơ train 1 tại cycle 1, 100 và 192. Kết quả dưới truy vấn là kết quả chạy thật.</a:t>
            </a:r>
          </a:p>
          <a:p>
            <a:r>
              <a:t>Bên phải là Spark SQL trên file Parquet, dùng window function để tính trung bình 30 cycle gần nhất của sensor 11, chính là đặc trưng sensor_11__mean. Điều kiện lọc cycle phải đặt ở truy vấn ngoài; nếu đặt cùng cấp với window function thì window chỉ thấy các dòng đã lọc và cho kết quả sai.</a:t>
            </a:r>
          </a:p>
          <a:p>
            <a:r>
              <a:t>Nguồn: outputs/etl/gold/etl.sqlite; outputs/etl/silver/observations.parquet; report/sections/data-processing.tex</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Đây là bước T trong ETL. Bước 1–5 được viết bằng cả Pandas và PySpark. Ở bước 5, mỗi dòng đặc trưng là 6 thống kê (giá trị cuối, trung bình, độ lệch chuẩn, min, max, độ dốc) của 21 sensor trên 30 cycle gần nhất, chỉ dùng quá khứ. 29 cycle đầu mỗi động cơ chưa đủ window nên không tạo dòng: 20.631 − 100 × 29 = 17.731 dòng train.</a:t>
            </a:r>
          </a:p>
          <a:p>
            <a:r>
              <a:t>Bước 6 bắt buộc quan hệ một-một. Nếu chỉ join theo engine_id, động cơ train 1 sẽ thành 163 × 192 = 31.296 dòng thay vì 163 dòng.</a:t>
            </a:r>
          </a:p>
          <a:p>
            <a:r>
              <a:t>Nguồn: report/sections/data-processing.tex; outputs/etl/run_info.json; outputs/features/run_info.json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Dữ liệu FD001 được nhân bản 1, 10, 50, 100 và 200 lần, rồi cho Pandas và Spark cùng đọc, tổng hợp và tạo đặc trưng. Thời gian chỉ gồm phần tính toán, không gồm ghi file. Dấu x là lượt quá giới hạn 30 phút.</a:t>
            </a:r>
          </a:p>
          <a:p>
            <a:r>
              <a:t>Ở 100×, Pandas chậm hơn Spark 5,5 lần. Ở 200×, Pandas không xong trong 30 phút; Spark xong sau 392 giây.</a:t>
            </a:r>
          </a:p>
          <a:p>
            <a:r>
              <a:t>Giới hạn: Pandas chạy 1 luồng, Spark local[4] chạy 4 luồng trên cùng một máy, nên một phần chênh lệch đến từ song song hóa. Pandas tính slope bằng một hàm Python cho từng window, bước này chiếm phần lớn thời gian; Spark dùng hàm dựng sẵn regr_slope. Vì vậy hệ số lớn hơn số luồng. Mỗi mức chỉ đo một lượt. Với 100 động cơ hiện tại, Pandas vẫn đủ nhanh và lịch bảo trì không đổi; Spark cần khi số động cơ tăng hàng chục lần.</a:t>
            </a:r>
          </a:p>
          <a:p>
            <a:r>
              <a:t>Nguồn: slides/figures/benchmark_scaling.png; outputs/benchmarks/20261021/compute_only.csv</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35 giây.</a:t>
            </a:r>
          </a:p>
          <a:p>
            <a:r>
              <a:t>Hình do module degradation sinh ra: sensor 11 và sensor 4 của động cơ train 1. Đường xám là tín hiệu gốc, đường xanh sau EWMA span 10. Công thức s_t = α·x_t + (1 − α)·s_{t−1}, α = 2/(span + 1) ≈ 0,18; chỉ dùng giá trị hiện tại và quá khứ.</a:t>
            </a:r>
          </a:p>
          <a:p>
            <a:r>
              <a:t>Đo bằng độ lệch chuẩn của chênh lệch giữa hai cycle liền kề. Ví dụ sensor 4: 5,70 xuống 0,78. Trên 14 sensor, mức giảm từ 83,6% đến 86,4%. Với dao động độc lập, span 10 cho mức giảm lý thuyết khoảng 86,5%, nên con số này kiểm chứng tham số làm mượt, không phải phát hiện riêng về dữ liệu.</a:t>
            </a:r>
          </a:p>
          <a:p>
            <a:r>
              <a:t>Không làm mượt thì cảnh báo mức một đến muộn hơn: trung vị 72,5 cycle trước khi hỏng thay vì 121 cycle.</a:t>
            </a:r>
          </a:p>
          <a:p>
            <a:r>
              <a:t>Nguồn: outputs/degradation/figures/denoise_before_after.png; outputs/degradation/tables/noise_summary.csv</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30 giây.</a:t>
            </a:r>
          </a:p>
          <a:p>
            <a:r>
              <a:t>Hình do notebook 01 sinh ra: tín hiệu gốc của ba động cơ train dài 178, 199 và 229 cycle. Sensor 11 tăng dần và sensor 12 giảm dần khi động cơ gần hỏng.</a:t>
            </a:r>
          </a:p>
          <a:p>
            <a:r>
              <a:t>Kiểm định: với mỗi động cơ, lấy trung bình 30 cycle cuối trừ 30 cycle đầu; bootstrap 10.000 lần cho khoảng tin cậy; kiểm định Wilcoxon; hiệu chỉnh Benjamini–Hochberg với q = 0,05 trên 21 sensor. Kết quả: 15 sensor thay đổi có ý nghĩa; 12 sensor thay đổi cùng chiều ở cả 100 động cơ; 6 sensor không đổi nên không kiểm định được.</a:t>
            </a:r>
          </a:p>
          <a:p>
            <a:r>
              <a:t>Nguồn: outputs/notebook01/run-_uov4vhx/figures/selected_sensor_trajectories.png; outputs/statistics/tables/sensor_inference.csv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Hình do module degradation sinh ra. Health Index gộp 21 sensor bằng StandardScaler rồi PCA một thành phần; chỉ số giảm khi động cơ suy giảm. Không dùng nhãn RUL.</a:t>
            </a:r>
          </a:p>
          <a:p>
            <a:r>
              <a:t>Quy tắc cố định trước: mức tham chiếu là 30 cycle đầu của chính động cơ đó. Khi chỉ số giảm quá 3 độ lệch chuẩn và giữ 5 cycle liên tiếp thì phát cảnh báo mức một.</a:t>
            </a:r>
          </a:p>
          <a:p>
            <a:r>
              <a:t>Hình trái, động cơ train 1: phát hiện ở cycle 84, hỏng ở cycle 192. Hình phải: trung vị 121, nhỏ nhất 67, lớn nhất 289 cycle.</a:t>
            </a:r>
          </a:p>
          <a:p>
            <a:r>
              <a:t>Cả chín cấu hình trong lưới (2/3/4σ × 3/5/10 cycle) đều phát hiện đủ 100 động cơ. Giới hạn: chưa đo được báo động giả vì dữ liệu không ghi thời điểm bắt đầu suy giảm.</a:t>
            </a:r>
          </a:p>
          <a:p>
            <a:r>
              <a:t>Nguồn: outputs/degradation/figures/anomaly_health_index.png; outputs/degradation/tables/anomaly_events.csv</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Hình do module modeling sinh ra: mỗi điểm là một động cơ test, dự đoán tại cycle cuối; điểm càng gần đường chéo càng đúng.</a:t>
            </a:r>
          </a:p>
          <a:p>
            <a:r>
              <a:t>Mô hình được chọn bằng cross-validation 5 fold chia theo động cơ (GroupKFold): HGB có MAE 20,21 cycle, thấp hơn Ridge 3,78 cycle; baseline trung vị 46,95.</a:t>
            </a:r>
          </a:p>
          <a:p>
            <a:r>
              <a:t>Trên test: MAE 15,35 cycle, khoảng tin cậy 95% [12,73; 18,09], RMSE 20,54. Với 25 động cơ có RUL thật ≤ 30, MAE 4,38 cycle. MAE test thấp hơn MAE cross-validation vì test chỉ có một điểm cuối mỗi chuỗi.</a:t>
            </a:r>
          </a:p>
          <a:p>
            <a:r>
              <a:t>Nguồn: outputs/modeling/figures/final_true_vs_predicted.png; outputs/modeling/tables/final_metrics.json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Hình do module modeling sinh ra: biểu đồ xu hướng cảnh báo sớm của động cơ train 1, dự đoán OOF. Cảnh báo mức hai phát khi RUL dự đoán ≤ 30; động cơ train 1 được cảnh báo ở cycle 162, hỏng ở 192.</a:t>
            </a:r>
          </a:p>
          <a:p>
            <a:r>
              <a:t>Trên 100 động cơ train ở ngưỡng 30: 44 báo trước, 7 đúng lúc, 49 muộn nhưng vẫn trước khi hỏng. Cảnh báo muộn rơi nhiều vào các động cơ hỏng sớm; báo cáo nêu đây là giả thuyết, chưa chứng minh nguyên nhân.</a:t>
            </a:r>
          </a:p>
          <a:p>
            <a:r>
              <a:t>Ngưỡng 40 nâng tỷ lệ kịp thời từ 51,00% lên 94,00%, đổi lại tỷ lệ cycle báo quá sớm từ 1,29% lên 5,33%. Chọn ngưỡng thực tế cần chi phí bảo trì.</a:t>
            </a:r>
          </a:p>
          <a:p>
            <a:r>
              <a:t>Nguồn: outputs/modeling/figures/warning_trajectory.png; outputs/course_alignment/20261007/warning_fixed_policies.csv</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 sau slide này chuyển sang demo dashboard khoảng 2 phút.</a:t>
            </a:r>
          </a:p>
          <a:p>
            <a:r>
              <a:t>Hình do module maintenance sinh ra: 100 động cơ test xếp theo RUL dự đoán. Cần bảo trì nếu RUL dự đoán ≤ 30; theo dõi tăng cường nếu Health Index đã báo bất thường; còn lại bình thường. Kết quả: 21 cần bảo trì, 59 theo dõi, 20 bình thường; thêm 14 động cơ đến hạn trong 25 cycle tới.</a:t>
            </a:r>
          </a:p>
          <a:p>
            <a:r>
              <a:t>Đối chiếu với nhãn test sau khi đã lưu lịch: 25 động cơ thật sự cần bảo trì; 21 được báo đúng; 4 động cơ bị sót có RUL dự đoán 31,22–38,46. Ngưỡng 40 (chọn từ train) bắt đủ 25/25, báo sớm 3.</a:t>
            </a:r>
          </a:p>
          <a:p>
            <a:r>
              <a:t>Giới hạn: 12 động cơ còn xa mới hỏng có lịch muộn hơn lúc hỏng 4–27 cycle; lịch được tính lại khi có dữ liệu mới.</a:t>
            </a:r>
          </a:p>
          <a:p>
            <a:r>
              <a:t>Nguồn: outputs/maintenance/figures/fleet_status.png; outputs/maintenance/tables/maintenance_schedule.csv</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35 giây.</a:t>
            </a:r>
          </a:p>
          <a:p>
            <a:r>
              <a:t>Kết luận: pipeline dữ liệu chạy được trên Pandas, PySpark và Hadoop với kết quả khớp; Health Index phát hiện bất thường sớm; mô hình RUL và lịch bảo trì cho kết quả tốt ở vùng gần hỏng.</a:t>
            </a:r>
          </a:p>
          <a:p>
            <a:r>
              <a:t>Hạn chế: dữ liệu mô phỏng và không có chi phí bảo trì; mô hình thường dự đoán cao hơn thực tế; cụm Hadoop chỉ có một node.</a:t>
            </a:r>
          </a:p>
          <a:p>
            <a:r>
              <a:t>Hướng phát triển: chọn ngưỡng theo chi phí, chạy trên cụm nhiều node, nhận dữ liệu streaming.</a:t>
            </a:r>
          </a:p>
          <a:p>
            <a:r>
              <a:t>Nguồn: report/sections/conclusion.tex; report/sections/discussion.tex</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10 giây.</a:t>
            </a:r>
          </a:p>
          <a:p>
            <a:r>
              <a:t>Cảm ơn quý thầy cô, mời đặt câu hỏi. Không chạy lại huấn luyện khi trình bày.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838200" y="1122363"/>
            <a:ext cx="10515599" cy="238760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
        <p:nvSpPr>
          <p:cNvPr id="3" name="Subtitle 2">
            <a:extLst>
              <a:ext uri="{FF2B5EF4-FFF2-40B4-BE49-F238E27FC236}">
                <a16:creationId xmlns:a16="http://schemas.microsoft.com/office/drawing/2014/main" id="{74EE4BD5-3F94-D34C-948C-86D5E4020F62}"/>
              </a:ext>
            </a:extLst>
          </p:cNvPr>
          <p:cNvSpPr>
            <a:spLocks noGrp="1"/>
          </p:cNvSpPr>
          <p:nvPr>
            <p:ph type="subTitle" idx="1"/>
          </p:nvPr>
        </p:nvSpPr>
        <p:spPr>
          <a:xfrm>
            <a:off x="1524000" y="3602038"/>
            <a:ext cx="9144000" cy="1655762"/>
          </a:xfrm>
        </p:spPr>
        <p:txBody>
          <a:bodyPr/>
          <a:lstStyle>
            <a:lvl1pPr marL="0" indent="0" algn="ctr">
              <a:buNone/>
              <a:defRPr sz="24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VN"/>
          </a:p>
        </p:txBody>
      </p:sp>
      <p:sp>
        <p:nvSpPr>
          <p:cNvPr id="4" name="Date Placeholder 3">
            <a:extLst>
              <a:ext uri="{FF2B5EF4-FFF2-40B4-BE49-F238E27FC236}">
                <a16:creationId xmlns:a16="http://schemas.microsoft.com/office/drawing/2014/main" id="{DDCBCD9B-CE16-FC56-D736-8FD1D08DC99D}"/>
              </a:ext>
            </a:extLst>
          </p:cNvPr>
          <p:cNvSpPr>
            <a:spLocks noGrp="1"/>
          </p:cNvSpPr>
          <p:nvPr>
            <p:ph type="dt" sz="half" idx="10"/>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A191A56D-49BD-12CB-5A41-A89ABB4AED8D}"/>
              </a:ext>
            </a:extLst>
          </p:cNvPr>
          <p:cNvSpPr>
            <a:spLocks noGrp="1"/>
          </p:cNvSpPr>
          <p:nvPr>
            <p:ph type="ftr" sz="quarter" idx="11"/>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C05A5329-3F8E-32BF-8731-7B989FC6CACE}"/>
              </a:ext>
            </a:extLst>
          </p:cNvPr>
          <p:cNvSpPr>
            <a:spLocks noGrp="1"/>
          </p:cNvSpPr>
          <p:nvPr>
            <p:ph type="sldNum" sz="quarter" idx="12"/>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4442717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012C9-01A2-F69C-4863-3C54D0E3376E}"/>
              </a:ext>
            </a:extLst>
          </p:cNvPr>
          <p:cNvSpPr>
            <a:spLocks noGrp="1"/>
          </p:cNvSpPr>
          <p:nvPr>
            <p:ph type="title"/>
          </p:nvPr>
        </p:nvSpPr>
        <p:spPr>
          <a:xfrm>
            <a:off x="838200" y="1248031"/>
            <a:ext cx="10515600" cy="951471"/>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D8EFA2A-31AF-88CC-8ACE-BF19E442CC4F}"/>
              </a:ext>
            </a:extLst>
          </p:cNvPr>
          <p:cNvSpPr>
            <a:spLocks noGrp="1"/>
          </p:cNvSpPr>
          <p:nvPr>
            <p:ph idx="1"/>
          </p:nvPr>
        </p:nvSpPr>
        <p:spPr>
          <a:xfrm>
            <a:off x="838200" y="2310714"/>
            <a:ext cx="10515600" cy="37935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49F86498-72F1-249D-8C03-68AF81E2DD30}"/>
              </a:ext>
            </a:extLst>
          </p:cNvPr>
          <p:cNvSpPr>
            <a:spLocks noGrp="1"/>
          </p:cNvSpPr>
          <p:nvPr>
            <p:ph type="dt" sz="half" idx="10"/>
          </p:nvPr>
        </p:nvSpPr>
        <p:spPr>
          <a:xfrm>
            <a:off x="838199"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B6CE337-BF27-2496-0B98-F6639BBB2243}"/>
              </a:ext>
            </a:extLst>
          </p:cNvPr>
          <p:cNvSpPr>
            <a:spLocks noGrp="1"/>
          </p:cNvSpPr>
          <p:nvPr>
            <p:ph type="ftr" sz="quarter" idx="11"/>
          </p:nvPr>
        </p:nvSpPr>
        <p:spPr>
          <a:xfrm>
            <a:off x="2419859"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A85C06F6-6C30-B063-A0BB-949595E8664B}"/>
              </a:ext>
            </a:extLst>
          </p:cNvPr>
          <p:cNvSpPr>
            <a:spLocks noGrp="1"/>
          </p:cNvSpPr>
          <p:nvPr>
            <p:ph type="sldNum" sz="quarter" idx="12"/>
          </p:nvPr>
        </p:nvSpPr>
        <p:spPr/>
        <p:txBody>
          <a:bodyPr/>
          <a:lstStyle>
            <a:lvl1pPr>
              <a:defRPr>
                <a:solidFill>
                  <a:srgbClr val="21409A"/>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0376893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74A87-6FC1-4666-0F2A-639F24884914}"/>
              </a:ext>
            </a:extLst>
          </p:cNvPr>
          <p:cNvSpPr>
            <a:spLocks noGrp="1"/>
          </p:cNvSpPr>
          <p:nvPr>
            <p:ph type="title"/>
          </p:nvPr>
        </p:nvSpPr>
        <p:spPr>
          <a:xfrm>
            <a:off x="831850" y="1536741"/>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00E835CC-EE89-24BC-2072-92D9724B3C47}"/>
              </a:ext>
            </a:extLst>
          </p:cNvPr>
          <p:cNvSpPr>
            <a:spLocks noGrp="1"/>
          </p:cNvSpPr>
          <p:nvPr>
            <p:ph type="body" idx="1"/>
          </p:nvPr>
        </p:nvSpPr>
        <p:spPr>
          <a:xfrm>
            <a:off x="831850" y="4416466"/>
            <a:ext cx="10515600" cy="1500187"/>
          </a:xfrm>
        </p:spPr>
        <p:txBody>
          <a:bodyPr/>
          <a:lstStyle>
            <a:lvl1pPr marL="0" indent="0">
              <a:buNone/>
              <a:defRPr sz="2400">
                <a:solidFill>
                  <a:srgbClr val="21409A"/>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B54C817-FAC3-15A6-0E1C-9FD92D5AFCB4}"/>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E330869-839E-DBC0-DBF9-612D9B29B709}"/>
              </a:ext>
            </a:extLst>
          </p:cNvPr>
          <p:cNvSpPr>
            <a:spLocks noGrp="1"/>
          </p:cNvSpPr>
          <p:nvPr>
            <p:ph type="ftr" sz="quarter" idx="11"/>
          </p:nvPr>
        </p:nvSpPr>
        <p:spPr>
          <a:xfrm>
            <a:off x="2395143"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68469DB6-CDF6-315D-63E8-0C4C3FB6196C}"/>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3211991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6F1A3-45B2-8367-78BB-DF2D68373C7F}"/>
              </a:ext>
            </a:extLst>
          </p:cNvPr>
          <p:cNvSpPr>
            <a:spLocks noGrp="1"/>
          </p:cNvSpPr>
          <p:nvPr>
            <p:ph type="title"/>
          </p:nvPr>
        </p:nvSpPr>
        <p:spPr>
          <a:xfrm>
            <a:off x="838200" y="1210962"/>
            <a:ext cx="10515600" cy="838073"/>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7BCA26BE-6043-4C3B-F448-6E9ABCD5A47F}"/>
              </a:ext>
            </a:extLst>
          </p:cNvPr>
          <p:cNvSpPr>
            <a:spLocks noGrp="1"/>
          </p:cNvSpPr>
          <p:nvPr>
            <p:ph sz="half" idx="1"/>
          </p:nvPr>
        </p:nvSpPr>
        <p:spPr>
          <a:xfrm>
            <a:off x="838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3D98A412-5358-69F6-0DA8-D0B6E24BE50D}"/>
              </a:ext>
            </a:extLst>
          </p:cNvPr>
          <p:cNvSpPr>
            <a:spLocks noGrp="1"/>
          </p:cNvSpPr>
          <p:nvPr>
            <p:ph sz="half" idx="2"/>
          </p:nvPr>
        </p:nvSpPr>
        <p:spPr>
          <a:xfrm>
            <a:off x="6172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0FA0E7B3-3CD9-7EBC-C9FD-B8EAC5AEEA5A}"/>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B9F99620-B4AB-691C-7321-70313D316CE1}"/>
              </a:ext>
            </a:extLst>
          </p:cNvPr>
          <p:cNvSpPr>
            <a:spLocks noGrp="1"/>
          </p:cNvSpPr>
          <p:nvPr>
            <p:ph type="ftr" sz="quarter" idx="11"/>
          </p:nvPr>
        </p:nvSpPr>
        <p:spPr>
          <a:xfrm>
            <a:off x="2407502" y="6356350"/>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143CE1A1-3589-41A9-AB7D-0D324D02D5D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76718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E67D4-C3AA-7899-311A-3DF8DE161071}"/>
              </a:ext>
            </a:extLst>
          </p:cNvPr>
          <p:cNvSpPr>
            <a:spLocks noGrp="1"/>
          </p:cNvSpPr>
          <p:nvPr>
            <p:ph type="title"/>
          </p:nvPr>
        </p:nvSpPr>
        <p:spPr>
          <a:xfrm>
            <a:off x="839788" y="1248031"/>
            <a:ext cx="10515600" cy="504441"/>
          </a:xfrm>
        </p:spPr>
        <p:txBody>
          <a:bodyPr/>
          <a:lstStyle>
            <a:lvl1pPr>
              <a:defRPr sz="4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4548981A-BAAE-F213-0589-2CD02A4D3C57}"/>
              </a:ext>
            </a:extLst>
          </p:cNvPr>
          <p:cNvSpPr>
            <a:spLocks noGrp="1"/>
          </p:cNvSpPr>
          <p:nvPr>
            <p:ph type="body" idx="1"/>
          </p:nvPr>
        </p:nvSpPr>
        <p:spPr>
          <a:xfrm>
            <a:off x="839788" y="182944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A4592C-4713-B4BC-32ED-D7D69EC4ECFD}"/>
              </a:ext>
            </a:extLst>
          </p:cNvPr>
          <p:cNvSpPr>
            <a:spLocks noGrp="1"/>
          </p:cNvSpPr>
          <p:nvPr>
            <p:ph sz="half" idx="2"/>
          </p:nvPr>
        </p:nvSpPr>
        <p:spPr>
          <a:xfrm>
            <a:off x="839788" y="2693773"/>
            <a:ext cx="5157787"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AD060E27-55B0-60EC-EF46-51600BB63E43}"/>
              </a:ext>
            </a:extLst>
          </p:cNvPr>
          <p:cNvSpPr>
            <a:spLocks noGrp="1"/>
          </p:cNvSpPr>
          <p:nvPr>
            <p:ph type="body" sz="quarter" idx="3"/>
          </p:nvPr>
        </p:nvSpPr>
        <p:spPr>
          <a:xfrm>
            <a:off x="6172200" y="182944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D1BA-DA63-80A9-7C95-7A44950C974E}"/>
              </a:ext>
            </a:extLst>
          </p:cNvPr>
          <p:cNvSpPr>
            <a:spLocks noGrp="1"/>
          </p:cNvSpPr>
          <p:nvPr>
            <p:ph sz="quarter" idx="4"/>
          </p:nvPr>
        </p:nvSpPr>
        <p:spPr>
          <a:xfrm>
            <a:off x="6172200" y="2693773"/>
            <a:ext cx="5183188"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BFF3FA12-C155-A727-4D96-AB76B5ADD1EB}"/>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8" name="Footer Placeholder 7">
            <a:extLst>
              <a:ext uri="{FF2B5EF4-FFF2-40B4-BE49-F238E27FC236}">
                <a16:creationId xmlns:a16="http://schemas.microsoft.com/office/drawing/2014/main" id="{D6ED2261-79E7-42BC-65DB-48C4EDBE1678}"/>
              </a:ext>
            </a:extLst>
          </p:cNvPr>
          <p:cNvSpPr>
            <a:spLocks noGrp="1"/>
          </p:cNvSpPr>
          <p:nvPr>
            <p:ph type="ftr" sz="quarter" idx="11"/>
          </p:nvPr>
        </p:nvSpPr>
        <p:spPr>
          <a:xfrm>
            <a:off x="2395145" y="6356350"/>
            <a:ext cx="4114800" cy="365125"/>
          </a:xfrm>
        </p:spPr>
        <p:txBody>
          <a:bodyPr/>
          <a:lstStyle>
            <a:lvl1pPr>
              <a:defRPr>
                <a:solidFill>
                  <a:schemeClr val="bg1"/>
                </a:solidFill>
              </a:defRPr>
            </a:lvl1pPr>
          </a:lstStyle>
          <a:p>
            <a:endParaRPr lang="en-VN">
              <a:solidFill>
                <a:schemeClr val="bg1"/>
              </a:solidFill>
            </a:endParaRPr>
          </a:p>
        </p:txBody>
      </p:sp>
      <p:sp>
        <p:nvSpPr>
          <p:cNvPr id="9" name="Slide Number Placeholder 8">
            <a:extLst>
              <a:ext uri="{FF2B5EF4-FFF2-40B4-BE49-F238E27FC236}">
                <a16:creationId xmlns:a16="http://schemas.microsoft.com/office/drawing/2014/main" id="{D6F6A95A-9446-9074-C075-AC22FFC80F5B}"/>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975194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6A213-EF21-B196-9148-E5C0C56756D7}"/>
              </a:ext>
            </a:extLst>
          </p:cNvPr>
          <p:cNvSpPr>
            <a:spLocks noGrp="1"/>
          </p:cNvSpPr>
          <p:nvPr>
            <p:ph type="title"/>
          </p:nvPr>
        </p:nvSpPr>
        <p:spPr>
          <a:xfrm>
            <a:off x="838200" y="1254817"/>
            <a:ext cx="10515600" cy="1325563"/>
          </a:xfrm>
        </p:spPr>
        <p:txBody>
          <a:bodyPr/>
          <a:lstStyle>
            <a:lvl1pPr>
              <a:defRPr>
                <a:solidFill>
                  <a:schemeClr val="bg1"/>
                </a:solidFill>
              </a:defRPr>
            </a:lvl1pPr>
          </a:lstStyle>
          <a:p>
            <a:r>
              <a:rPr lang="en-US"/>
              <a:t>Click to edit Master title style</a:t>
            </a:r>
            <a:endParaRPr lang="en-VN"/>
          </a:p>
        </p:txBody>
      </p:sp>
      <p:sp>
        <p:nvSpPr>
          <p:cNvPr id="3" name="Date Placeholder 2">
            <a:extLst>
              <a:ext uri="{FF2B5EF4-FFF2-40B4-BE49-F238E27FC236}">
                <a16:creationId xmlns:a16="http://schemas.microsoft.com/office/drawing/2014/main" id="{34050238-AB7A-DC3E-0F7F-D0ED0C579362}"/>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4" name="Footer Placeholder 3">
            <a:extLst>
              <a:ext uri="{FF2B5EF4-FFF2-40B4-BE49-F238E27FC236}">
                <a16:creationId xmlns:a16="http://schemas.microsoft.com/office/drawing/2014/main" id="{5B2139A9-09CF-EE66-A7D0-00A04C82F885}"/>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5" name="Slide Number Placeholder 4">
            <a:extLst>
              <a:ext uri="{FF2B5EF4-FFF2-40B4-BE49-F238E27FC236}">
                <a16:creationId xmlns:a16="http://schemas.microsoft.com/office/drawing/2014/main" id="{2CDDE25E-6920-9B68-D3D7-C49781055FB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0275141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BBB07D-2F87-EAB3-A430-43C4B47AE5DC}"/>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3" name="Footer Placeholder 2">
            <a:extLst>
              <a:ext uri="{FF2B5EF4-FFF2-40B4-BE49-F238E27FC236}">
                <a16:creationId xmlns:a16="http://schemas.microsoft.com/office/drawing/2014/main" id="{196B1729-F541-38C4-4120-CC6C2F7DC55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4" name="Slide Number Placeholder 3">
            <a:extLst>
              <a:ext uri="{FF2B5EF4-FFF2-40B4-BE49-F238E27FC236}">
                <a16:creationId xmlns:a16="http://schemas.microsoft.com/office/drawing/2014/main" id="{18BA3814-BD12-6CC0-4C44-9C57BDEE1887}"/>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356032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F53BA8-44F6-4B5D-3247-1104EAF494C1}"/>
              </a:ext>
            </a:extLst>
          </p:cNvPr>
          <p:cNvSpPr>
            <a:spLocks noGrp="1"/>
          </p:cNvSpPr>
          <p:nvPr>
            <p:ph type="title"/>
          </p:nvPr>
        </p:nvSpPr>
        <p:spPr>
          <a:xfrm>
            <a:off x="839788" y="1352462"/>
            <a:ext cx="3932237" cy="1600200"/>
          </a:xfrm>
        </p:spPr>
        <p:txBody>
          <a:bodyPr anchor="b"/>
          <a:lstStyle>
            <a:lvl1pPr>
              <a:defRPr sz="3200">
                <a:solidFill>
                  <a:schemeClr val="bg1"/>
                </a:solidFill>
              </a:defRPr>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E12CA4D8-98EA-F5FC-7075-80F29E1CEFCC}"/>
              </a:ext>
            </a:extLst>
          </p:cNvPr>
          <p:cNvSpPr>
            <a:spLocks noGrp="1"/>
          </p:cNvSpPr>
          <p:nvPr>
            <p:ph idx="1"/>
          </p:nvPr>
        </p:nvSpPr>
        <p:spPr>
          <a:xfrm>
            <a:off x="5183188" y="1067143"/>
            <a:ext cx="6172200" cy="4873625"/>
          </a:xfrm>
        </p:spPr>
        <p:txBody>
          <a:bodyPr/>
          <a:lstStyle>
            <a:lvl1pPr>
              <a:defRPr sz="3200">
                <a:solidFill>
                  <a:schemeClr val="bg1"/>
                </a:solidFill>
              </a:defRPr>
            </a:lvl1pPr>
            <a:lvl2pPr>
              <a:defRPr sz="2800">
                <a:solidFill>
                  <a:schemeClr val="bg1"/>
                </a:solidFill>
              </a:defRPr>
            </a:lvl2pPr>
            <a:lvl3pPr>
              <a:defRPr sz="2400">
                <a:solidFill>
                  <a:schemeClr val="bg1"/>
                </a:solidFill>
              </a:defRPr>
            </a:lvl3pPr>
            <a:lvl4pPr>
              <a:defRPr sz="2000">
                <a:solidFill>
                  <a:schemeClr val="bg1"/>
                </a:solidFill>
              </a:defRPr>
            </a:lvl4pPr>
            <a:lvl5pPr>
              <a:defRPr sz="2000">
                <a:solidFill>
                  <a:schemeClr val="bg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1B741AE8-BA71-06EA-8883-0CC7F6611233}"/>
              </a:ext>
            </a:extLst>
          </p:cNvPr>
          <p:cNvSpPr>
            <a:spLocks noGrp="1"/>
          </p:cNvSpPr>
          <p:nvPr>
            <p:ph type="body" sz="half" idx="2"/>
          </p:nvPr>
        </p:nvSpPr>
        <p:spPr>
          <a:xfrm>
            <a:off x="839788" y="3064476"/>
            <a:ext cx="3932237" cy="2884230"/>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91574F-CB73-747C-19DE-D0F37AEA5530}"/>
              </a:ext>
            </a:extLst>
          </p:cNvPr>
          <p:cNvSpPr>
            <a:spLocks noGrp="1"/>
          </p:cNvSpPr>
          <p:nvPr>
            <p:ph type="dt" sz="half" idx="10"/>
          </p:nvPr>
        </p:nvSpPr>
        <p:spPr>
          <a:xfrm>
            <a:off x="838200" y="6436068"/>
            <a:ext cx="27432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CD1F6199-E49A-2BD9-B63B-8931B127261D}"/>
              </a:ext>
            </a:extLst>
          </p:cNvPr>
          <p:cNvSpPr>
            <a:spLocks noGrp="1"/>
          </p:cNvSpPr>
          <p:nvPr>
            <p:ph type="ftr" sz="quarter" idx="11"/>
          </p:nvPr>
        </p:nvSpPr>
        <p:spPr>
          <a:xfrm>
            <a:off x="4038600" y="6436068"/>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8FCA3537-2871-3D82-A128-E61A0EE5A3AA}"/>
              </a:ext>
            </a:extLst>
          </p:cNvPr>
          <p:cNvSpPr>
            <a:spLocks noGrp="1"/>
          </p:cNvSpPr>
          <p:nvPr>
            <p:ph type="sldNum" sz="quarter" idx="12"/>
          </p:nvPr>
        </p:nvSpPr>
        <p:spPr>
          <a:xfrm>
            <a:off x="8610600" y="6436068"/>
            <a:ext cx="2743200" cy="365125"/>
          </a:xfrm>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48371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1FE65-0850-44DA-C844-318A44172B58}"/>
              </a:ext>
            </a:extLst>
          </p:cNvPr>
          <p:cNvSpPr>
            <a:spLocks noGrp="1"/>
          </p:cNvSpPr>
          <p:nvPr>
            <p:ph type="title"/>
          </p:nvPr>
        </p:nvSpPr>
        <p:spPr>
          <a:xfrm>
            <a:off x="839788" y="1248031"/>
            <a:ext cx="3932237" cy="1427215"/>
          </a:xfrm>
        </p:spPr>
        <p:txBody>
          <a:bodyPr anchor="b"/>
          <a:lstStyle>
            <a:lvl1pPr>
              <a:defRPr sz="3200">
                <a:solidFill>
                  <a:schemeClr val="bg1"/>
                </a:solidFill>
              </a:defRPr>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993D9185-01FC-B206-8FE8-AAFD2023AB17}"/>
              </a:ext>
            </a:extLst>
          </p:cNvPr>
          <p:cNvSpPr>
            <a:spLocks noGrp="1"/>
          </p:cNvSpPr>
          <p:nvPr>
            <p:ph type="pic" idx="1"/>
          </p:nvPr>
        </p:nvSpPr>
        <p:spPr>
          <a:xfrm>
            <a:off x="5183188" y="987425"/>
            <a:ext cx="6172200" cy="4873625"/>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FBAAA392-FB09-9952-9669-94BAF62A13A9}"/>
              </a:ext>
            </a:extLst>
          </p:cNvPr>
          <p:cNvSpPr>
            <a:spLocks noGrp="1"/>
          </p:cNvSpPr>
          <p:nvPr>
            <p:ph type="body" sz="half" idx="2"/>
          </p:nvPr>
        </p:nvSpPr>
        <p:spPr>
          <a:xfrm>
            <a:off x="839788" y="2780270"/>
            <a:ext cx="3932237" cy="3088718"/>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FBB13D-D9AC-5CF0-3E00-D4B20F7FE923}"/>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F5D393A2-5E10-F95A-E1F9-2970BB75AAC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6A2B4514-7935-15A5-5E47-E147B14383E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052088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F65D-FFC0-A921-1824-CC320D80483B}"/>
              </a:ext>
            </a:extLst>
          </p:cNvPr>
          <p:cNvSpPr>
            <a:spLocks noGrp="1"/>
          </p:cNvSpPr>
          <p:nvPr>
            <p:ph type="title"/>
          </p:nvPr>
        </p:nvSpPr>
        <p:spPr>
          <a:xfrm>
            <a:off x="838200" y="1173892"/>
            <a:ext cx="10515600" cy="1023429"/>
          </a:xfrm>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D7CBE4A2-1D94-648D-ADF5-9463D890011D}"/>
              </a:ext>
            </a:extLst>
          </p:cNvPr>
          <p:cNvSpPr>
            <a:spLocks noGrp="1"/>
          </p:cNvSpPr>
          <p:nvPr>
            <p:ph type="body" orient="vert" idx="1"/>
          </p:nvPr>
        </p:nvSpPr>
        <p:spPr>
          <a:xfrm>
            <a:off x="838200" y="2236573"/>
            <a:ext cx="10515600" cy="385530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9053E308-075E-7FF9-F294-7C4A2734A2E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C21F514-D604-8136-53AF-8BC75909904A}"/>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0009B017-D93A-FAA3-BB36-23C3180453A8}"/>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5774592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86D2259-ABA8-CACD-DAD3-0E197BAA6266}"/>
              </a:ext>
            </a:extLst>
          </p:cNvPr>
          <p:cNvSpPr>
            <a:spLocks noGrp="1"/>
          </p:cNvSpPr>
          <p:nvPr>
            <p:ph type="title" orient="vert"/>
          </p:nvPr>
        </p:nvSpPr>
        <p:spPr>
          <a:xfrm>
            <a:off x="8724900" y="1223319"/>
            <a:ext cx="2628900" cy="4831492"/>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C5B8D7A0-33D6-0687-4CC0-17A05982C165}"/>
              </a:ext>
            </a:extLst>
          </p:cNvPr>
          <p:cNvSpPr>
            <a:spLocks noGrp="1"/>
          </p:cNvSpPr>
          <p:nvPr>
            <p:ph type="body" orient="vert" idx="1"/>
          </p:nvPr>
        </p:nvSpPr>
        <p:spPr>
          <a:xfrm>
            <a:off x="838200" y="1223319"/>
            <a:ext cx="7734300" cy="483149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697F00D5-18F2-315C-897C-69E1FE21DB8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660A73F7-A1FB-A4A2-8E6F-B0E64EA86070}"/>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59107371-793F-27CD-9BB7-B6419098A64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4251344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lide E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628135" y="1480709"/>
            <a:ext cx="5649097" cy="435168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Tree>
    <p:extLst>
      <p:ext uri="{BB962C8B-B14F-4D97-AF65-F5344CB8AC3E}">
        <p14:creationId xmlns:p14="http://schemas.microsoft.com/office/powerpoint/2010/main" val="20327836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5E151BE-7E94-CC11-BE59-479B26EFE5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9AAB2091-440E-8AE7-629B-5A162CC5AC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ED90E0F5-495D-E9A1-4670-50D69129BC5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F3C1677-D119-7E5E-704D-1329CB3E50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EFCF64E6-44CF-B2E1-961E-FC0BB3D108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6342733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rgbClr val="21409A"/>
          </a:solidFill>
          <a:latin typeface="Bai Jamjuree" pitchFamily="2" charset="-34"/>
          <a:ea typeface="+mj-ea"/>
          <a:cs typeface="Bai Jamjuree" pitchFamily="2" charset="-34"/>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41248" y="1600200"/>
            <a:ext cx="10515600" cy="1371600"/>
          </a:xfrm>
        </p:spPr>
        <p:txBody>
          <a:bodyPr/>
          <a:lstStyle/>
          <a:p>
            <a:pPr algn="ctr"/>
            <a:r>
              <a:rPr sz="4000" b="1">
                <a:solidFill>
                  <a:srgbClr val="21409A"/>
                </a:solidFill>
                <a:latin typeface="Arial"/>
              </a:rPr>
              <a:t>Phân tích dữ liệu IoT và bảo trì dự đoán</a:t>
            </a:r>
          </a:p>
        </p:txBody>
      </p:sp>
      <p:sp>
        <p:nvSpPr>
          <p:cNvPr id="3" name="Subtitle 2"/>
          <p:cNvSpPr>
            <a:spLocks noGrp="1"/>
          </p:cNvSpPr>
          <p:nvPr>
            <p:ph type="subTitle" idx="1"/>
          </p:nvPr>
        </p:nvSpPr>
        <p:spPr>
          <a:xfrm>
            <a:off x="1280160" y="2971800"/>
            <a:ext cx="9601200" cy="914400"/>
          </a:xfrm>
        </p:spPr>
        <p:txBody>
          <a:bodyPr/>
          <a:lstStyle/>
          <a:p>
            <a:pPr algn="ctr"/>
            <a:r>
              <a:rPr sz="1800">
                <a:solidFill>
                  <a:srgbClr val="1B2733"/>
                </a:solidFill>
                <a:latin typeface="Arial"/>
              </a:rPr>
              <a:t>Phát hiện bất thường, dự đoán RUL và cảnh báo sớm trên dữ liệu cảm biến NASA C‑MAPSS</a:t>
            </a:r>
          </a:p>
        </p:txBody>
      </p:sp>
      <p:sp>
        <p:nvSpPr>
          <p:cNvPr id="4" name="TextBox 3"/>
          <p:cNvSpPr txBox="1"/>
          <p:nvPr/>
        </p:nvSpPr>
        <p:spPr>
          <a:xfrm>
            <a:off x="841248" y="1188720"/>
            <a:ext cx="10515600" cy="365760"/>
          </a:xfrm>
          <a:prstGeom prst="rect">
            <a:avLst/>
          </a:prstGeom>
          <a:noFill/>
        </p:spPr>
        <p:txBody>
          <a:bodyPr wrap="square" lIns="0" rIns="0" tIns="0" bIns="0" anchor="t"/>
          <a:lstStyle/>
          <a:p>
            <a:pPr algn="ctr">
              <a:spcAft>
                <a:spcPts val="0"/>
              </a:spcAft>
            </a:pPr>
            <a:r>
              <a:rPr sz="1400" b="1">
                <a:solidFill>
                  <a:srgbClr val="B37800"/>
                </a:solidFill>
                <a:latin typeface="Arial"/>
              </a:rPr>
              <a:t>BÁO CÁO CUỐI KỲ · PHÂN TÍCH DỮ LIỆU LỚN · ĐỀ TÀI 8</a:t>
            </a:r>
          </a:p>
        </p:txBody>
      </p:sp>
      <p:sp>
        <p:nvSpPr>
          <p:cNvPr id="5" name="TextBox 4"/>
          <p:cNvSpPr txBox="1"/>
          <p:nvPr/>
        </p:nvSpPr>
        <p:spPr>
          <a:xfrm>
            <a:off x="841248" y="4343400"/>
            <a:ext cx="10515600" cy="1463040"/>
          </a:xfrm>
          <a:prstGeom prst="rect">
            <a:avLst/>
          </a:prstGeom>
          <a:noFill/>
        </p:spPr>
        <p:txBody>
          <a:bodyPr wrap="square" lIns="0" rIns="0" tIns="0" bIns="0" anchor="t"/>
          <a:lstStyle/>
          <a:p>
            <a:pPr algn="ctr">
              <a:spcAft>
                <a:spcPts val="800"/>
              </a:spcAft>
            </a:pPr>
            <a:r>
              <a:rPr sz="1800" b="0">
                <a:solidFill>
                  <a:srgbClr val="5A6B7B"/>
                </a:solidFill>
                <a:latin typeface="Arial"/>
              </a:rPr>
              <a:t>Giảng viên hướng dẫn: </a:t>
            </a:r>
            <a:r>
              <a:rPr sz="1800" b="1">
                <a:solidFill>
                  <a:srgbClr val="21409A"/>
                </a:solidFill>
                <a:latin typeface="Arial"/>
              </a:rPr>
              <a:t>TS. Võ Thị Thanh Vân</a:t>
            </a:r>
          </a:p>
          <a:p>
            <a:pPr algn="ctr">
              <a:spcAft>
                <a:spcPts val="800"/>
              </a:spcAft>
            </a:pPr>
            <a:r>
              <a:rPr sz="1800" b="0">
                <a:solidFill>
                  <a:srgbClr val="5A6B7B"/>
                </a:solidFill>
                <a:latin typeface="Arial"/>
              </a:rPr>
              <a:t>Học viên thực hiện: </a:t>
            </a:r>
            <a:r>
              <a:rPr sz="1800" b="1">
                <a:solidFill>
                  <a:srgbClr val="21409A"/>
                </a:solidFill>
                <a:latin typeface="Arial"/>
              </a:rPr>
              <a:t>Phan Nguyễn Mai Phương · MSHV 25002711</a:t>
            </a:r>
          </a:p>
          <a:p>
            <a:pPr algn="ctr">
              <a:spcAft>
                <a:spcPts val="800"/>
              </a:spcAft>
            </a:pPr>
            <a:r>
              <a:rPr sz="1400" b="0">
                <a:solidFill>
                  <a:srgbClr val="1B2733"/>
                </a:solidFill>
                <a:latin typeface="Arial"/>
              </a:rPr>
              <a:t>Ngành Khoa học máy tính · Tháng 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Bài toán: xác định thời điểm cần bảo trì cho từng động cơ</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GIỚI THIỆU</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2 / 20</a:t>
            </a:r>
          </a:p>
        </p:txBody>
      </p:sp>
      <p:sp>
        <p:nvSpPr>
          <p:cNvPr id="5" name="TextBox 4"/>
          <p:cNvSpPr txBox="1"/>
          <p:nvPr/>
        </p:nvSpPr>
        <p:spPr>
          <a:xfrm>
            <a:off x="841248" y="2011680"/>
            <a:ext cx="6126480" cy="2743200"/>
          </a:xfrm>
          <a:prstGeom prst="rect">
            <a:avLst/>
          </a:prstGeom>
          <a:noFill/>
        </p:spPr>
        <p:txBody>
          <a:bodyPr wrap="square" lIns="0" rIns="0" tIns="0" bIns="0" anchor="t"/>
          <a:lstStyle/>
          <a:p>
            <a:pPr algn="l">
              <a:spcAft>
                <a:spcPts val="1000"/>
              </a:spcAft>
            </a:pPr>
            <a:r>
              <a:rPr sz="1800" b="0">
                <a:solidFill>
                  <a:srgbClr val="1B2733"/>
                </a:solidFill>
                <a:latin typeface="Arial"/>
              </a:rPr>
              <a:t>–  Mỗi động cơ gửi 21 số đo cảm biến sau mỗi chu kỳ vận hành (cycle).</a:t>
            </a:r>
          </a:p>
          <a:p>
            <a:pPr algn="l">
              <a:spcAft>
                <a:spcPts val="1000"/>
              </a:spcAft>
            </a:pPr>
            <a:r>
              <a:rPr sz="1800" b="0">
                <a:solidFill>
                  <a:srgbClr val="1B2733"/>
                </a:solidFill>
                <a:latin typeface="Arial"/>
              </a:rPr>
              <a:t>–  Bảo trì quá sớm gây lãng phí; bảo trì quá muộn có thể dẫn đến hỏng hóc khi vận hành.</a:t>
            </a:r>
          </a:p>
          <a:p>
            <a:pPr algn="l">
              <a:spcAft>
                <a:spcPts val="1000"/>
              </a:spcAft>
            </a:pPr>
            <a:r>
              <a:rPr sz="1800" b="0">
                <a:solidFill>
                  <a:srgbClr val="1B2733"/>
                </a:solidFill>
                <a:latin typeface="Arial"/>
              </a:rPr>
              <a:t>–  Cần ước lượng RUL (Remaining Useful Life): số cycle còn lại trước khi hỏng.</a:t>
            </a:r>
          </a:p>
        </p:txBody>
      </p:sp>
      <p:sp>
        <p:nvSpPr>
          <p:cNvPr id="6" name="Rounded Rectangle 5"/>
          <p:cNvSpPr/>
          <p:nvPr/>
        </p:nvSpPr>
        <p:spPr>
          <a:xfrm>
            <a:off x="7315200" y="2011680"/>
            <a:ext cx="4041648" cy="25603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43800" y="2194560"/>
            <a:ext cx="3611880" cy="2286000"/>
          </a:xfrm>
          <a:prstGeom prst="rect">
            <a:avLst/>
          </a:prstGeom>
          <a:noFill/>
        </p:spPr>
        <p:txBody>
          <a:bodyPr wrap="square" lIns="0" rIns="0" tIns="0" bIns="0" anchor="t"/>
          <a:lstStyle/>
          <a:p>
            <a:pPr algn="l">
              <a:spcAft>
                <a:spcPts val="1000"/>
              </a:spcAft>
            </a:pPr>
            <a:r>
              <a:rPr sz="1600" b="1">
                <a:solidFill>
                  <a:srgbClr val="21409A"/>
                </a:solidFill>
                <a:latin typeface="Arial"/>
              </a:rPr>
              <a:t>Ví dụ về RUL</a:t>
            </a:r>
          </a:p>
          <a:p>
            <a:pPr algn="l">
              <a:spcAft>
                <a:spcPts val="1000"/>
              </a:spcAft>
            </a:pPr>
            <a:r>
              <a:rPr sz="1600" b="0">
                <a:solidFill>
                  <a:srgbClr val="1B2733"/>
                </a:solidFill>
                <a:latin typeface="Arial"/>
              </a:rPr>
              <a:t>Động cơ train 1 hỏng ở cycle 192.</a:t>
            </a:r>
          </a:p>
          <a:p>
            <a:pPr algn="l">
              <a:spcAft>
                <a:spcPts val="1000"/>
              </a:spcAft>
            </a:pPr>
            <a:r>
              <a:rPr sz="1600" b="0">
                <a:solidFill>
                  <a:srgbClr val="1B2733"/>
                </a:solidFill>
                <a:latin typeface="Arial"/>
              </a:rPr>
              <a:t>Tại cycle 162, RUL = 192 − 162 = 30 cycle.</a:t>
            </a:r>
          </a:p>
        </p:txBody>
      </p:sp>
      <p:sp>
        <p:nvSpPr>
          <p:cNvPr id="8" name="Rounded Rectangle 7"/>
          <p:cNvSpPr/>
          <p:nvPr/>
        </p:nvSpPr>
        <p:spPr>
          <a:xfrm>
            <a:off x="841248" y="4892040"/>
            <a:ext cx="10515600" cy="10972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058400" cy="1097280"/>
          </a:xfrm>
          <a:prstGeom prst="rect">
            <a:avLst/>
          </a:prstGeom>
          <a:noFill/>
        </p:spPr>
        <p:txBody>
          <a:bodyPr wrap="square" lIns="0" rIns="0" tIns="0" bIns="0" anchor="ctr"/>
          <a:lstStyle/>
          <a:p>
            <a:pPr algn="l">
              <a:spcAft>
                <a:spcPts val="0"/>
              </a:spcAft>
            </a:pPr>
            <a:r>
              <a:rPr sz="1700" b="1">
                <a:solidFill>
                  <a:srgbClr val="FCB525"/>
                </a:solidFill>
                <a:latin typeface="Arial"/>
              </a:rPr>
              <a:t>Mục tiêu: </a:t>
            </a:r>
            <a:r>
              <a:rPr sz="1700" b="0">
                <a:solidFill>
                  <a:srgbClr val="FFFFFF"/>
                </a:solidFill>
                <a:latin typeface="Arial"/>
              </a:rPr>
              <a:t>xây dựng pipeline dữ liệu để phát hiện bất thường, dự đoán RUL và lập lịch bảo trì cho 100 động cơ test.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Quy trình thực hiện gồm năm bước</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GIỚI THIỆU</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3 / 20</a:t>
            </a:r>
          </a:p>
        </p:txBody>
      </p:sp>
      <p:sp>
        <p:nvSpPr>
          <p:cNvPr id="5" name="Rounded Rectangle 4"/>
          <p:cNvSpPr/>
          <p:nvPr/>
        </p:nvSpPr>
        <p:spPr>
          <a:xfrm>
            <a:off x="841248" y="2377440"/>
            <a:ext cx="1874519" cy="17373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514600"/>
            <a:ext cx="1600199" cy="411480"/>
          </a:xfrm>
          <a:prstGeom prst="rect">
            <a:avLst/>
          </a:prstGeom>
          <a:noFill/>
        </p:spPr>
        <p:txBody>
          <a:bodyPr wrap="square" lIns="0" rIns="0" tIns="0" bIns="0" anchor="t"/>
          <a:lstStyle/>
          <a:p>
            <a:pPr algn="l">
              <a:spcAft>
                <a:spcPts val="0"/>
              </a:spcAft>
            </a:pPr>
            <a:r>
              <a:rPr sz="1700" b="1">
                <a:solidFill>
                  <a:srgbClr val="21409A"/>
                </a:solidFill>
                <a:latin typeface="Arial"/>
              </a:rPr>
              <a:t>1. Thu thập</a:t>
            </a:r>
          </a:p>
        </p:txBody>
      </p:sp>
      <p:sp>
        <p:nvSpPr>
          <p:cNvPr id="7" name="TextBox 6"/>
          <p:cNvSpPr txBox="1"/>
          <p:nvPr/>
        </p:nvSpPr>
        <p:spPr>
          <a:xfrm>
            <a:off x="978408" y="3017520"/>
            <a:ext cx="1600199" cy="1005840"/>
          </a:xfrm>
          <a:prstGeom prst="rect">
            <a:avLst/>
          </a:prstGeom>
          <a:noFill/>
        </p:spPr>
        <p:txBody>
          <a:bodyPr wrap="square" lIns="0" rIns="0" tIns="0" bIns="0" anchor="t"/>
          <a:lstStyle/>
          <a:p>
            <a:pPr algn="l">
              <a:spcAft>
                <a:spcPts val="0"/>
              </a:spcAft>
            </a:pPr>
            <a:r>
              <a:rPr sz="1400" b="0">
                <a:solidFill>
                  <a:srgbClr val="1B2733"/>
                </a:solidFill>
                <a:latin typeface="Arial"/>
              </a:rPr>
              <a:t>Tải từ NASA, kiểm tra MD5 và SHA-256</a:t>
            </a:r>
          </a:p>
        </p:txBody>
      </p:sp>
      <p:sp>
        <p:nvSpPr>
          <p:cNvPr id="8" name="Rounded Rectangle 7"/>
          <p:cNvSpPr/>
          <p:nvPr/>
        </p:nvSpPr>
        <p:spPr>
          <a:xfrm>
            <a:off x="2999232" y="2377440"/>
            <a:ext cx="1874519" cy="17373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36391" y="2514600"/>
            <a:ext cx="1600199" cy="411480"/>
          </a:xfrm>
          <a:prstGeom prst="rect">
            <a:avLst/>
          </a:prstGeom>
          <a:noFill/>
        </p:spPr>
        <p:txBody>
          <a:bodyPr wrap="square" lIns="0" rIns="0" tIns="0" bIns="0" anchor="t"/>
          <a:lstStyle/>
          <a:p>
            <a:pPr algn="l">
              <a:spcAft>
                <a:spcPts val="0"/>
              </a:spcAft>
            </a:pPr>
            <a:r>
              <a:rPr sz="1700" b="1">
                <a:solidFill>
                  <a:srgbClr val="21409A"/>
                </a:solidFill>
                <a:latin typeface="Arial"/>
              </a:rPr>
              <a:t>2. Lưu trữ</a:t>
            </a:r>
          </a:p>
        </p:txBody>
      </p:sp>
      <p:sp>
        <p:nvSpPr>
          <p:cNvPr id="10" name="TextBox 9"/>
          <p:cNvSpPr txBox="1"/>
          <p:nvPr/>
        </p:nvSpPr>
        <p:spPr>
          <a:xfrm>
            <a:off x="3136391" y="3017520"/>
            <a:ext cx="1600199" cy="1005840"/>
          </a:xfrm>
          <a:prstGeom prst="rect">
            <a:avLst/>
          </a:prstGeom>
          <a:noFill/>
        </p:spPr>
        <p:txBody>
          <a:bodyPr wrap="square" lIns="0" rIns="0" tIns="0" bIns="0" anchor="t"/>
          <a:lstStyle/>
          <a:p>
            <a:pPr algn="l">
              <a:spcAft>
                <a:spcPts val="0"/>
              </a:spcAft>
            </a:pPr>
            <a:r>
              <a:rPr sz="1400" b="0">
                <a:solidFill>
                  <a:srgbClr val="1B2733"/>
                </a:solidFill>
                <a:latin typeface="Arial"/>
              </a:rPr>
              <a:t>Bronze, Silver, Gold; Parquet, SQLite, HDFS</a:t>
            </a:r>
          </a:p>
        </p:txBody>
      </p:sp>
      <p:cxnSp>
        <p:nvCxnSpPr>
          <p:cNvPr id="11" name="Connector 10"/>
          <p:cNvCxnSpPr/>
          <p:nvPr/>
        </p:nvCxnSpPr>
        <p:spPr>
          <a:xfrm>
            <a:off x="2743199" y="3246120"/>
            <a:ext cx="228601"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57216" y="2377440"/>
            <a:ext cx="1874519" cy="17373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94376" y="2514600"/>
            <a:ext cx="1600199" cy="411480"/>
          </a:xfrm>
          <a:prstGeom prst="rect">
            <a:avLst/>
          </a:prstGeom>
          <a:noFill/>
        </p:spPr>
        <p:txBody>
          <a:bodyPr wrap="square" lIns="0" rIns="0" tIns="0" bIns="0" anchor="t"/>
          <a:lstStyle/>
          <a:p>
            <a:pPr algn="l">
              <a:spcAft>
                <a:spcPts val="0"/>
              </a:spcAft>
            </a:pPr>
            <a:r>
              <a:rPr sz="1700" b="1">
                <a:solidFill>
                  <a:srgbClr val="21409A"/>
                </a:solidFill>
                <a:latin typeface="Arial"/>
              </a:rPr>
              <a:t>3. Xử lý</a:t>
            </a:r>
          </a:p>
        </p:txBody>
      </p:sp>
      <p:sp>
        <p:nvSpPr>
          <p:cNvPr id="14" name="TextBox 13"/>
          <p:cNvSpPr txBox="1"/>
          <p:nvPr/>
        </p:nvSpPr>
        <p:spPr>
          <a:xfrm>
            <a:off x="5294376" y="3017520"/>
            <a:ext cx="1600199" cy="1005840"/>
          </a:xfrm>
          <a:prstGeom prst="rect">
            <a:avLst/>
          </a:prstGeom>
          <a:noFill/>
        </p:spPr>
        <p:txBody>
          <a:bodyPr wrap="square" lIns="0" rIns="0" tIns="0" bIns="0" anchor="t"/>
          <a:lstStyle/>
          <a:p>
            <a:pPr algn="l">
              <a:spcAft>
                <a:spcPts val="0"/>
              </a:spcAft>
            </a:pPr>
            <a:r>
              <a:rPr sz="1400" b="0">
                <a:solidFill>
                  <a:srgbClr val="1B2733"/>
                </a:solidFill>
                <a:latin typeface="Arial"/>
              </a:rPr>
              <a:t>Pandas, PySpark, MapReduce trên YARN</a:t>
            </a:r>
          </a:p>
        </p:txBody>
      </p:sp>
      <p:cxnSp>
        <p:nvCxnSpPr>
          <p:cNvPr id="15" name="Connector 14"/>
          <p:cNvCxnSpPr/>
          <p:nvPr/>
        </p:nvCxnSpPr>
        <p:spPr>
          <a:xfrm>
            <a:off x="4901184" y="3246120"/>
            <a:ext cx="228599"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2377440"/>
            <a:ext cx="1874519" cy="17373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52360" y="2514600"/>
            <a:ext cx="1600199" cy="411480"/>
          </a:xfrm>
          <a:prstGeom prst="rect">
            <a:avLst/>
          </a:prstGeom>
          <a:noFill/>
        </p:spPr>
        <p:txBody>
          <a:bodyPr wrap="square" lIns="0" rIns="0" tIns="0" bIns="0" anchor="t"/>
          <a:lstStyle/>
          <a:p>
            <a:pPr algn="l">
              <a:spcAft>
                <a:spcPts val="0"/>
              </a:spcAft>
            </a:pPr>
            <a:r>
              <a:rPr sz="1700" b="1">
                <a:solidFill>
                  <a:srgbClr val="21409A"/>
                </a:solidFill>
                <a:latin typeface="Arial"/>
              </a:rPr>
              <a:t>4. Phân tích</a:t>
            </a:r>
          </a:p>
        </p:txBody>
      </p:sp>
      <p:sp>
        <p:nvSpPr>
          <p:cNvPr id="18" name="TextBox 17"/>
          <p:cNvSpPr txBox="1"/>
          <p:nvPr/>
        </p:nvSpPr>
        <p:spPr>
          <a:xfrm>
            <a:off x="7452360" y="3017520"/>
            <a:ext cx="1600199" cy="1005840"/>
          </a:xfrm>
          <a:prstGeom prst="rect">
            <a:avLst/>
          </a:prstGeom>
          <a:noFill/>
        </p:spPr>
        <p:txBody>
          <a:bodyPr wrap="square" lIns="0" rIns="0" tIns="0" bIns="0" anchor="t"/>
          <a:lstStyle/>
          <a:p>
            <a:pPr algn="l">
              <a:spcAft>
                <a:spcPts val="0"/>
              </a:spcAft>
            </a:pPr>
            <a:r>
              <a:rPr sz="1400" b="0">
                <a:solidFill>
                  <a:srgbClr val="1B2733"/>
                </a:solidFill>
                <a:latin typeface="Arial"/>
              </a:rPr>
              <a:t>EWMA, Health Index, mô hình RUL</a:t>
            </a:r>
          </a:p>
        </p:txBody>
      </p:sp>
      <p:cxnSp>
        <p:nvCxnSpPr>
          <p:cNvPr id="19" name="Connector 18"/>
          <p:cNvCxnSpPr/>
          <p:nvPr/>
        </p:nvCxnSpPr>
        <p:spPr>
          <a:xfrm>
            <a:off x="7059168" y="3246120"/>
            <a:ext cx="228600"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473184" y="2377440"/>
            <a:ext cx="1874519" cy="17373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10344" y="2514600"/>
            <a:ext cx="1600199" cy="411480"/>
          </a:xfrm>
          <a:prstGeom prst="rect">
            <a:avLst/>
          </a:prstGeom>
          <a:noFill/>
        </p:spPr>
        <p:txBody>
          <a:bodyPr wrap="square" lIns="0" rIns="0" tIns="0" bIns="0" anchor="t"/>
          <a:lstStyle/>
          <a:p>
            <a:pPr algn="l">
              <a:spcAft>
                <a:spcPts val="0"/>
              </a:spcAft>
            </a:pPr>
            <a:r>
              <a:rPr sz="1700" b="1">
                <a:solidFill>
                  <a:srgbClr val="FFFFFF"/>
                </a:solidFill>
                <a:latin typeface="Arial"/>
              </a:rPr>
              <a:t>5. Kết quả</a:t>
            </a:r>
          </a:p>
        </p:txBody>
      </p:sp>
      <p:sp>
        <p:nvSpPr>
          <p:cNvPr id="22" name="TextBox 21"/>
          <p:cNvSpPr txBox="1"/>
          <p:nvPr/>
        </p:nvSpPr>
        <p:spPr>
          <a:xfrm>
            <a:off x="9610344" y="3017520"/>
            <a:ext cx="1600199" cy="1005840"/>
          </a:xfrm>
          <a:prstGeom prst="rect">
            <a:avLst/>
          </a:prstGeom>
          <a:noFill/>
        </p:spPr>
        <p:txBody>
          <a:bodyPr wrap="square" lIns="0" rIns="0" tIns="0" bIns="0" anchor="t"/>
          <a:lstStyle/>
          <a:p>
            <a:pPr algn="l">
              <a:spcAft>
                <a:spcPts val="0"/>
              </a:spcAft>
            </a:pPr>
            <a:r>
              <a:rPr sz="1400" b="0">
                <a:solidFill>
                  <a:srgbClr val="FFFFFF"/>
                </a:solidFill>
                <a:latin typeface="Arial"/>
              </a:rPr>
              <a:t>Cảnh báo hai mức, lịch bảo trì</a:t>
            </a:r>
          </a:p>
        </p:txBody>
      </p:sp>
      <p:cxnSp>
        <p:nvCxnSpPr>
          <p:cNvPr id="23" name="Connector 22"/>
          <p:cNvCxnSpPr/>
          <p:nvPr/>
        </p:nvCxnSpPr>
        <p:spPr>
          <a:xfrm>
            <a:off x="9217151" y="3246120"/>
            <a:ext cx="228601"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41248" y="4343400"/>
            <a:ext cx="6190488" cy="73152"/>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4526280"/>
            <a:ext cx="6190488" cy="365760"/>
          </a:xfrm>
          <a:prstGeom prst="rect">
            <a:avLst/>
          </a:prstGeom>
          <a:noFill/>
        </p:spPr>
        <p:txBody>
          <a:bodyPr wrap="square" lIns="0" rIns="0" tIns="0" bIns="0" anchor="t"/>
          <a:lstStyle/>
          <a:p>
            <a:pPr algn="ctr">
              <a:spcAft>
                <a:spcPts val="0"/>
              </a:spcAft>
            </a:pPr>
            <a:r>
              <a:rPr sz="1500" b="1">
                <a:solidFill>
                  <a:srgbClr val="B37800"/>
                </a:solidFill>
                <a:latin typeface="Arial"/>
              </a:rPr>
              <a:t>Dữ liệu và hạ tầng · slide 4–12</a:t>
            </a:r>
          </a:p>
        </p:txBody>
      </p:sp>
      <p:sp>
        <p:nvSpPr>
          <p:cNvPr id="26" name="Rectangle 25"/>
          <p:cNvSpPr/>
          <p:nvPr/>
        </p:nvSpPr>
        <p:spPr>
          <a:xfrm>
            <a:off x="7315200" y="4343400"/>
            <a:ext cx="4041648" cy="73152"/>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0" y="4526280"/>
            <a:ext cx="4041648" cy="365760"/>
          </a:xfrm>
          <a:prstGeom prst="rect">
            <a:avLst/>
          </a:prstGeom>
          <a:noFill/>
        </p:spPr>
        <p:txBody>
          <a:bodyPr wrap="square" lIns="0" rIns="0" tIns="0" bIns="0" anchor="t"/>
          <a:lstStyle/>
          <a:p>
            <a:pPr algn="ctr">
              <a:spcAft>
                <a:spcPts val="0"/>
              </a:spcAft>
            </a:pPr>
            <a:r>
              <a:rPr sz="1500" b="1">
                <a:solidFill>
                  <a:srgbClr val="B37800"/>
                </a:solidFill>
                <a:latin typeface="Arial"/>
              </a:rPr>
              <a:t>Phân tích và dự đoán · slide 13–18</a:t>
            </a:r>
          </a:p>
        </p:txBody>
      </p:sp>
      <p:sp>
        <p:nvSpPr>
          <p:cNvPr id="28" name="TextBox 27"/>
          <p:cNvSpPr txBox="1"/>
          <p:nvPr/>
        </p:nvSpPr>
        <p:spPr>
          <a:xfrm>
            <a:off x="841248" y="5257800"/>
            <a:ext cx="10515600" cy="731520"/>
          </a:xfrm>
          <a:prstGeom prst="rect">
            <a:avLst/>
          </a:prstGeom>
          <a:noFill/>
        </p:spPr>
        <p:txBody>
          <a:bodyPr wrap="square" lIns="0" rIns="0" tIns="0" bIns="0" anchor="t"/>
          <a:lstStyle/>
          <a:p>
            <a:pPr algn="l">
              <a:spcAft>
                <a:spcPts val="0"/>
              </a:spcAft>
            </a:pPr>
            <a:r>
              <a:rPr sz="1500" b="0">
                <a:solidFill>
                  <a:srgbClr val="5A6B7B"/>
                </a:solidFill>
                <a:latin typeface="Arial"/>
              </a:rPr>
              <a:t>Cùng một bộ dữ liệu được xử lý bằng Pandas, PySpark và MapReduce; kết quả được đối chiếu với nhau trước khi dùng cho phân tích.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Nguồn dữ liệu: bộ NASA C-MAPSS gồm bốn tập con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4 / 20</a:t>
            </a:r>
          </a:p>
        </p:txBody>
      </p:sp>
      <p:graphicFrame>
        <p:nvGraphicFramePr>
          <p:cNvPr id="5" name="Table 4"/>
          <p:cNvGraphicFramePr>
            <a:graphicFrameLocks noGrp="1"/>
          </p:cNvGraphicFramePr>
          <p:nvPr/>
        </p:nvGraphicFramePr>
        <p:xfrm>
          <a:off x="841248" y="2011680"/>
          <a:ext cx="10515600" cy="2743200"/>
        </p:xfrm>
        <a:graphic>
          <a:graphicData uri="http://schemas.openxmlformats.org/drawingml/2006/table">
            <a:tbl>
              <a:tblPr firstRow="1" bandRow="1">
                <a:tableStyleId>{5C22544A-7EE6-4342-B048-85BDC9FD1C3A}</a:tableStyleId>
              </a:tblPr>
              <a:tblGrid>
                <a:gridCol w="1280160"/>
                <a:gridCol w="2103120"/>
                <a:gridCol w="1920240"/>
                <a:gridCol w="1645920"/>
                <a:gridCol w="1645920"/>
                <a:gridCol w="1920240"/>
              </a:tblGrid>
              <a:tr h="457200">
                <a:tc>
                  <a:txBody>
                    <a:bodyPr wrap="square"/>
                    <a:lstStyle/>
                    <a:p>
                      <a:r>
                        <a:rPr sz="1400" b="1">
                          <a:solidFill>
                            <a:srgbClr val="FFFFFF"/>
                          </a:solidFill>
                          <a:latin typeface="Arial"/>
                        </a:rPr>
                        <a:t>Tập con</a:t>
                      </a:r>
                    </a:p>
                  </a:txBody>
                  <a:tcPr marL="73152" marR="73152" marT="27432" marB="27432" anchor="ctr">
                    <a:solidFill>
                      <a:srgbClr val="21409A"/>
                    </a:solidFill>
                  </a:tcPr>
                </a:tc>
                <a:tc>
                  <a:txBody>
                    <a:bodyPr wrap="square"/>
                    <a:lstStyle/>
                    <a:p>
                      <a:r>
                        <a:rPr sz="1400" b="1">
                          <a:solidFill>
                            <a:srgbClr val="FFFFFF"/>
                          </a:solidFill>
                          <a:latin typeface="Arial"/>
                        </a:rPr>
                        <a:t>Điều kiện vận hành</a:t>
                      </a:r>
                    </a:p>
                  </a:txBody>
                  <a:tcPr marL="73152" marR="73152" marT="27432" marB="27432" anchor="ctr">
                    <a:solidFill>
                      <a:srgbClr val="21409A"/>
                    </a:solidFill>
                  </a:tcPr>
                </a:tc>
                <a:tc>
                  <a:txBody>
                    <a:bodyPr wrap="square"/>
                    <a:lstStyle/>
                    <a:p>
                      <a:r>
                        <a:rPr sz="1400" b="1">
                          <a:solidFill>
                            <a:srgbClr val="FFFFFF"/>
                          </a:solidFill>
                          <a:latin typeface="Arial"/>
                        </a:rPr>
                        <a:t>Dạng lỗi</a:t>
                      </a:r>
                    </a:p>
                  </a:txBody>
                  <a:tcPr marL="73152" marR="73152" marT="27432" marB="27432" anchor="ctr">
                    <a:solidFill>
                      <a:srgbClr val="21409A"/>
                    </a:solidFill>
                  </a:tcPr>
                </a:tc>
                <a:tc>
                  <a:txBody>
                    <a:bodyPr wrap="square"/>
                    <a:lstStyle/>
                    <a:p>
                      <a:r>
                        <a:rPr sz="1400" b="1">
                          <a:solidFill>
                            <a:srgbClr val="FFFFFF"/>
                          </a:solidFill>
                          <a:latin typeface="Arial"/>
                        </a:rPr>
                        <a:t>Động cơ train</a:t>
                      </a:r>
                    </a:p>
                  </a:txBody>
                  <a:tcPr marL="73152" marR="73152" marT="27432" marB="27432" anchor="ctr">
                    <a:solidFill>
                      <a:srgbClr val="21409A"/>
                    </a:solidFill>
                  </a:tcPr>
                </a:tc>
                <a:tc>
                  <a:txBody>
                    <a:bodyPr wrap="square"/>
                    <a:lstStyle/>
                    <a:p>
                      <a:r>
                        <a:rPr sz="1400" b="1">
                          <a:solidFill>
                            <a:srgbClr val="FFFFFF"/>
                          </a:solidFill>
                          <a:latin typeface="Arial"/>
                        </a:rPr>
                        <a:t>Động cơ test</a:t>
                      </a:r>
                    </a:p>
                  </a:txBody>
                  <a:tcPr marL="73152" marR="73152" marT="27432" marB="27432" anchor="ctr">
                    <a:solidFill>
                      <a:srgbClr val="21409A"/>
                    </a:solidFill>
                  </a:tcPr>
                </a:tc>
                <a:tc>
                  <a:txBody>
                    <a:bodyPr wrap="square"/>
                    <a:lstStyle/>
                    <a:p>
                      <a:r>
                        <a:rPr sz="1400" b="1">
                          <a:solidFill>
                            <a:srgbClr val="FFFFFF"/>
                          </a:solidFill>
                          <a:latin typeface="Arial"/>
                        </a:rPr>
                        <a:t>Số bản ghi</a:t>
                      </a:r>
                    </a:p>
                  </a:txBody>
                  <a:tcPr marL="73152" marR="73152" marT="27432" marB="27432" anchor="ctr">
                    <a:solidFill>
                      <a:srgbClr val="21409A"/>
                    </a:solidFill>
                  </a:tcPr>
                </a:tc>
              </a:tr>
              <a:tr h="457200">
                <a:tc>
                  <a:txBody>
                    <a:bodyPr wrap="square"/>
                    <a:lstStyle/>
                    <a:p>
                      <a:r>
                        <a:rPr sz="1400" b="1">
                          <a:solidFill>
                            <a:srgbClr val="1B2733"/>
                          </a:solidFill>
                          <a:latin typeface="Arial"/>
                        </a:rPr>
                        <a:t>FD001</a:t>
                      </a:r>
                    </a:p>
                  </a:txBody>
                  <a:tcPr marL="73152" marR="73152" marT="27432" marB="27432" anchor="ctr">
                    <a:solidFill>
                      <a:srgbClr val="FFF4DA"/>
                    </a:solidFill>
                  </a:tcPr>
                </a:tc>
                <a:tc>
                  <a:txBody>
                    <a:bodyPr wrap="square"/>
                    <a:lstStyle/>
                    <a:p>
                      <a:r>
                        <a:rPr sz="1400" b="1">
                          <a:solidFill>
                            <a:srgbClr val="1B2733"/>
                          </a:solidFill>
                          <a:latin typeface="Arial"/>
                        </a:rPr>
                        <a:t>1</a:t>
                      </a:r>
                    </a:p>
                  </a:txBody>
                  <a:tcPr marL="73152" marR="73152" marT="27432" marB="27432" anchor="ctr">
                    <a:solidFill>
                      <a:srgbClr val="FFF4DA"/>
                    </a:solidFill>
                  </a:tcPr>
                </a:tc>
                <a:tc>
                  <a:txBody>
                    <a:bodyPr wrap="square"/>
                    <a:lstStyle/>
                    <a:p>
                      <a:r>
                        <a:rPr sz="1400" b="1">
                          <a:solidFill>
                            <a:srgbClr val="1B2733"/>
                          </a:solidFill>
                          <a:latin typeface="Arial"/>
                        </a:rPr>
                        <a:t>1 (HPC)</a:t>
                      </a:r>
                    </a:p>
                  </a:txBody>
                  <a:tcPr marL="73152" marR="73152" marT="27432" marB="27432" anchor="ctr">
                    <a:solidFill>
                      <a:srgbClr val="FFF4DA"/>
                    </a:solidFill>
                  </a:tcPr>
                </a:tc>
                <a:tc>
                  <a:txBody>
                    <a:bodyPr wrap="square"/>
                    <a:lstStyle/>
                    <a:p>
                      <a:pPr algn="r"/>
                      <a:r>
                        <a:rPr sz="1400" b="1">
                          <a:solidFill>
                            <a:srgbClr val="1B2733"/>
                          </a:solidFill>
                          <a:latin typeface="Arial"/>
                        </a:rPr>
                        <a:t>100</a:t>
                      </a:r>
                    </a:p>
                  </a:txBody>
                  <a:tcPr marL="73152" marR="73152" marT="27432" marB="27432" anchor="ctr">
                    <a:solidFill>
                      <a:srgbClr val="FFF4DA"/>
                    </a:solidFill>
                  </a:tcPr>
                </a:tc>
                <a:tc>
                  <a:txBody>
                    <a:bodyPr wrap="square"/>
                    <a:lstStyle/>
                    <a:p>
                      <a:pPr algn="r"/>
                      <a:r>
                        <a:rPr sz="1400" b="1">
                          <a:solidFill>
                            <a:srgbClr val="1B2733"/>
                          </a:solidFill>
                          <a:latin typeface="Arial"/>
                        </a:rPr>
                        <a:t>100</a:t>
                      </a:r>
                    </a:p>
                  </a:txBody>
                  <a:tcPr marL="73152" marR="73152" marT="27432" marB="27432" anchor="ctr">
                    <a:solidFill>
                      <a:srgbClr val="FFF4DA"/>
                    </a:solidFill>
                  </a:tcPr>
                </a:tc>
                <a:tc>
                  <a:txBody>
                    <a:bodyPr wrap="square"/>
                    <a:lstStyle/>
                    <a:p>
                      <a:pPr algn="r"/>
                      <a:r>
                        <a:rPr sz="1400" b="1">
                          <a:solidFill>
                            <a:srgbClr val="1B2733"/>
                          </a:solidFill>
                          <a:latin typeface="Arial"/>
                        </a:rPr>
                        <a:t>33.727</a:t>
                      </a:r>
                    </a:p>
                  </a:txBody>
                  <a:tcPr marL="73152" marR="73152" marT="27432" marB="27432" anchor="ctr">
                    <a:solidFill>
                      <a:srgbClr val="FFF4DA"/>
                    </a:solidFill>
                  </a:tcPr>
                </a:tc>
              </a:tr>
              <a:tr h="457200">
                <a:tc>
                  <a:txBody>
                    <a:bodyPr wrap="square"/>
                    <a:lstStyle/>
                    <a:p>
                      <a:r>
                        <a:rPr sz="1400" b="0">
                          <a:solidFill>
                            <a:srgbClr val="1B2733"/>
                          </a:solidFill>
                          <a:latin typeface="Arial"/>
                        </a:rPr>
                        <a:t>FD002</a:t>
                      </a:r>
                    </a:p>
                  </a:txBody>
                  <a:tcPr marL="73152" marR="73152" marT="27432" marB="27432" anchor="ctr">
                    <a:solidFill>
                      <a:srgbClr val="EAF0FA"/>
                    </a:solidFill>
                  </a:tcPr>
                </a:tc>
                <a:tc>
                  <a:txBody>
                    <a:bodyPr wrap="square"/>
                    <a:lstStyle/>
                    <a:p>
                      <a:r>
                        <a:rPr sz="1400" b="0">
                          <a:solidFill>
                            <a:srgbClr val="1B2733"/>
                          </a:solidFill>
                          <a:latin typeface="Arial"/>
                        </a:rPr>
                        <a:t>6</a:t>
                      </a:r>
                    </a:p>
                  </a:txBody>
                  <a:tcPr marL="73152" marR="73152" marT="27432" marB="27432" anchor="ctr">
                    <a:solidFill>
                      <a:srgbClr val="EAF0FA"/>
                    </a:solidFill>
                  </a:tcPr>
                </a:tc>
                <a:tc>
                  <a:txBody>
                    <a:bodyPr wrap="square"/>
                    <a:lstStyle/>
                    <a:p>
                      <a:r>
                        <a:rPr sz="1400" b="0">
                          <a:solidFill>
                            <a:srgbClr val="1B2733"/>
                          </a:solidFill>
                          <a:latin typeface="Arial"/>
                        </a:rPr>
                        <a:t>1 (HPC)</a:t>
                      </a:r>
                    </a:p>
                  </a:txBody>
                  <a:tcPr marL="73152" marR="73152" marT="27432" marB="27432" anchor="ctr">
                    <a:solidFill>
                      <a:srgbClr val="EAF0FA"/>
                    </a:solidFill>
                  </a:tcPr>
                </a:tc>
                <a:tc>
                  <a:txBody>
                    <a:bodyPr wrap="square"/>
                    <a:lstStyle/>
                    <a:p>
                      <a:pPr algn="r"/>
                      <a:r>
                        <a:rPr sz="1400" b="0">
                          <a:solidFill>
                            <a:srgbClr val="1B2733"/>
                          </a:solidFill>
                          <a:latin typeface="Arial"/>
                        </a:rPr>
                        <a:t>260</a:t>
                      </a:r>
                    </a:p>
                  </a:txBody>
                  <a:tcPr marL="73152" marR="73152" marT="27432" marB="27432" anchor="ctr">
                    <a:solidFill>
                      <a:srgbClr val="EAF0FA"/>
                    </a:solidFill>
                  </a:tcPr>
                </a:tc>
                <a:tc>
                  <a:txBody>
                    <a:bodyPr wrap="square"/>
                    <a:lstStyle/>
                    <a:p>
                      <a:pPr algn="r"/>
                      <a:r>
                        <a:rPr sz="1400" b="0">
                          <a:solidFill>
                            <a:srgbClr val="1B2733"/>
                          </a:solidFill>
                          <a:latin typeface="Arial"/>
                        </a:rPr>
                        <a:t>259</a:t>
                      </a:r>
                    </a:p>
                  </a:txBody>
                  <a:tcPr marL="73152" marR="73152" marT="27432" marB="27432" anchor="ctr">
                    <a:solidFill>
                      <a:srgbClr val="EAF0FA"/>
                    </a:solidFill>
                  </a:tcPr>
                </a:tc>
                <a:tc>
                  <a:txBody>
                    <a:bodyPr wrap="square"/>
                    <a:lstStyle/>
                    <a:p>
                      <a:pPr algn="r"/>
                      <a:r>
                        <a:rPr sz="1400" b="0">
                          <a:solidFill>
                            <a:srgbClr val="1B2733"/>
                          </a:solidFill>
                          <a:latin typeface="Arial"/>
                        </a:rPr>
                        <a:t>87.750</a:t>
                      </a:r>
                    </a:p>
                  </a:txBody>
                  <a:tcPr marL="73152" marR="73152" marT="27432" marB="27432" anchor="ctr">
                    <a:solidFill>
                      <a:srgbClr val="EAF0FA"/>
                    </a:solidFill>
                  </a:tcPr>
                </a:tc>
              </a:tr>
              <a:tr h="457200">
                <a:tc>
                  <a:txBody>
                    <a:bodyPr wrap="square"/>
                    <a:lstStyle/>
                    <a:p>
                      <a:r>
                        <a:rPr sz="1400" b="0">
                          <a:solidFill>
                            <a:srgbClr val="1B2733"/>
                          </a:solidFill>
                          <a:latin typeface="Arial"/>
                        </a:rPr>
                        <a:t>FD003</a:t>
                      </a:r>
                    </a:p>
                  </a:txBody>
                  <a:tcPr marL="73152" marR="73152" marT="27432" marB="27432" anchor="ctr">
                    <a:solidFill>
                      <a:srgbClr val="FFFFFF"/>
                    </a:solidFill>
                  </a:tcPr>
                </a:tc>
                <a:tc>
                  <a:txBody>
                    <a:bodyPr wrap="square"/>
                    <a:lstStyle/>
                    <a:p>
                      <a:r>
                        <a:rPr sz="1400" b="0">
                          <a:solidFill>
                            <a:srgbClr val="1B2733"/>
                          </a:solidFill>
                          <a:latin typeface="Arial"/>
                        </a:rPr>
                        <a:t>1</a:t>
                      </a:r>
                    </a:p>
                  </a:txBody>
                  <a:tcPr marL="73152" marR="73152" marT="27432" marB="27432" anchor="ctr">
                    <a:solidFill>
                      <a:srgbClr val="FFFFFF"/>
                    </a:solidFill>
                  </a:tcPr>
                </a:tc>
                <a:tc>
                  <a:txBody>
                    <a:bodyPr wrap="square"/>
                    <a:lstStyle/>
                    <a:p>
                      <a:r>
                        <a:rPr sz="1400" b="0">
                          <a:solidFill>
                            <a:srgbClr val="1B2733"/>
                          </a:solidFill>
                          <a:latin typeface="Arial"/>
                        </a:rPr>
                        <a:t>2 (HPC, Fan)</a:t>
                      </a:r>
                    </a:p>
                  </a:txBody>
                  <a:tcPr marL="73152" marR="73152" marT="27432" marB="27432" anchor="ctr">
                    <a:solidFill>
                      <a:srgbClr val="FFFFFF"/>
                    </a:solidFill>
                  </a:tcPr>
                </a:tc>
                <a:tc>
                  <a:txBody>
                    <a:bodyPr wrap="square"/>
                    <a:lstStyle/>
                    <a:p>
                      <a:pPr algn="r"/>
                      <a:r>
                        <a:rPr sz="1400" b="0">
                          <a:solidFill>
                            <a:srgbClr val="1B2733"/>
                          </a:solidFill>
                          <a:latin typeface="Arial"/>
                        </a:rPr>
                        <a:t>100</a:t>
                      </a:r>
                    </a:p>
                  </a:txBody>
                  <a:tcPr marL="73152" marR="73152" marT="27432" marB="27432" anchor="ctr">
                    <a:solidFill>
                      <a:srgbClr val="FFFFFF"/>
                    </a:solidFill>
                  </a:tcPr>
                </a:tc>
                <a:tc>
                  <a:txBody>
                    <a:bodyPr wrap="square"/>
                    <a:lstStyle/>
                    <a:p>
                      <a:pPr algn="r"/>
                      <a:r>
                        <a:rPr sz="1400" b="0">
                          <a:solidFill>
                            <a:srgbClr val="1B2733"/>
                          </a:solidFill>
                          <a:latin typeface="Arial"/>
                        </a:rPr>
                        <a:t>100</a:t>
                      </a:r>
                    </a:p>
                  </a:txBody>
                  <a:tcPr marL="73152" marR="73152" marT="27432" marB="27432" anchor="ctr">
                    <a:solidFill>
                      <a:srgbClr val="FFFFFF"/>
                    </a:solidFill>
                  </a:tcPr>
                </a:tc>
                <a:tc>
                  <a:txBody>
                    <a:bodyPr wrap="square"/>
                    <a:lstStyle/>
                    <a:p>
                      <a:pPr algn="r"/>
                      <a:r>
                        <a:rPr sz="1400" b="0">
                          <a:solidFill>
                            <a:srgbClr val="1B2733"/>
                          </a:solidFill>
                          <a:latin typeface="Arial"/>
                        </a:rPr>
                        <a:t>41.316</a:t>
                      </a:r>
                    </a:p>
                  </a:txBody>
                  <a:tcPr marL="73152" marR="73152" marT="27432" marB="27432" anchor="ctr">
                    <a:solidFill>
                      <a:srgbClr val="FFFFFF"/>
                    </a:solidFill>
                  </a:tcPr>
                </a:tc>
              </a:tr>
              <a:tr h="457200">
                <a:tc>
                  <a:txBody>
                    <a:bodyPr wrap="square"/>
                    <a:lstStyle/>
                    <a:p>
                      <a:r>
                        <a:rPr sz="1400" b="0">
                          <a:solidFill>
                            <a:srgbClr val="1B2733"/>
                          </a:solidFill>
                          <a:latin typeface="Arial"/>
                        </a:rPr>
                        <a:t>FD004</a:t>
                      </a:r>
                    </a:p>
                  </a:txBody>
                  <a:tcPr marL="73152" marR="73152" marT="27432" marB="27432" anchor="ctr">
                    <a:solidFill>
                      <a:srgbClr val="EAF0FA"/>
                    </a:solidFill>
                  </a:tcPr>
                </a:tc>
                <a:tc>
                  <a:txBody>
                    <a:bodyPr wrap="square"/>
                    <a:lstStyle/>
                    <a:p>
                      <a:r>
                        <a:rPr sz="1400" b="0">
                          <a:solidFill>
                            <a:srgbClr val="1B2733"/>
                          </a:solidFill>
                          <a:latin typeface="Arial"/>
                        </a:rPr>
                        <a:t>6</a:t>
                      </a:r>
                    </a:p>
                  </a:txBody>
                  <a:tcPr marL="73152" marR="73152" marT="27432" marB="27432" anchor="ctr">
                    <a:solidFill>
                      <a:srgbClr val="EAF0FA"/>
                    </a:solidFill>
                  </a:tcPr>
                </a:tc>
                <a:tc>
                  <a:txBody>
                    <a:bodyPr wrap="square"/>
                    <a:lstStyle/>
                    <a:p>
                      <a:r>
                        <a:rPr sz="1400" b="0">
                          <a:solidFill>
                            <a:srgbClr val="1B2733"/>
                          </a:solidFill>
                          <a:latin typeface="Arial"/>
                        </a:rPr>
                        <a:t>2 (HPC, Fan)</a:t>
                      </a:r>
                    </a:p>
                  </a:txBody>
                  <a:tcPr marL="73152" marR="73152" marT="27432" marB="27432" anchor="ctr">
                    <a:solidFill>
                      <a:srgbClr val="EAF0FA"/>
                    </a:solidFill>
                  </a:tcPr>
                </a:tc>
                <a:tc>
                  <a:txBody>
                    <a:bodyPr wrap="square"/>
                    <a:lstStyle/>
                    <a:p>
                      <a:pPr algn="r"/>
                      <a:r>
                        <a:rPr sz="1400" b="0">
                          <a:solidFill>
                            <a:srgbClr val="1B2733"/>
                          </a:solidFill>
                          <a:latin typeface="Arial"/>
                        </a:rPr>
                        <a:t>249</a:t>
                      </a:r>
                    </a:p>
                  </a:txBody>
                  <a:tcPr marL="73152" marR="73152" marT="27432" marB="27432" anchor="ctr">
                    <a:solidFill>
                      <a:srgbClr val="EAF0FA"/>
                    </a:solidFill>
                  </a:tcPr>
                </a:tc>
                <a:tc>
                  <a:txBody>
                    <a:bodyPr wrap="square"/>
                    <a:lstStyle/>
                    <a:p>
                      <a:pPr algn="r"/>
                      <a:r>
                        <a:rPr sz="1400" b="0">
                          <a:solidFill>
                            <a:srgbClr val="1B2733"/>
                          </a:solidFill>
                          <a:latin typeface="Arial"/>
                        </a:rPr>
                        <a:t>248</a:t>
                      </a:r>
                    </a:p>
                  </a:txBody>
                  <a:tcPr marL="73152" marR="73152" marT="27432" marB="27432" anchor="ctr">
                    <a:solidFill>
                      <a:srgbClr val="EAF0FA"/>
                    </a:solidFill>
                  </a:tcPr>
                </a:tc>
                <a:tc>
                  <a:txBody>
                    <a:bodyPr wrap="square"/>
                    <a:lstStyle/>
                    <a:p>
                      <a:pPr algn="r"/>
                      <a:r>
                        <a:rPr sz="1400" b="0">
                          <a:solidFill>
                            <a:srgbClr val="1B2733"/>
                          </a:solidFill>
                          <a:latin typeface="Arial"/>
                        </a:rPr>
                        <a:t>102.463</a:t>
                      </a:r>
                    </a:p>
                  </a:txBody>
                  <a:tcPr marL="73152" marR="73152" marT="27432" marB="27432" anchor="ctr">
                    <a:solidFill>
                      <a:srgbClr val="EAF0FA"/>
                    </a:solidFill>
                  </a:tcPr>
                </a:tc>
              </a:tr>
              <a:tr h="457200">
                <a:tc>
                  <a:txBody>
                    <a:bodyPr wrap="square"/>
                    <a:lstStyle/>
                    <a:p>
                      <a:r>
                        <a:rPr sz="1400" b="0">
                          <a:solidFill>
                            <a:srgbClr val="1B2733"/>
                          </a:solidFill>
                          <a:latin typeface="Arial"/>
                        </a:rPr>
                        <a:t>Tổng</a:t>
                      </a:r>
                    </a:p>
                  </a:txBody>
                  <a:tcPr marL="73152" marR="73152" marT="27432" marB="27432" anchor="ctr">
                    <a:solidFill>
                      <a:srgbClr val="FFFFFF"/>
                    </a:solidFill>
                  </a:tcPr>
                </a:tc>
                <a:tc>
                  <a:txBody>
                    <a:bodyPr wrap="square"/>
                    <a:lstStyle/>
                    <a:p>
                      <a:r>
                        <a:rPr sz="1400" b="0">
                          <a:solidFill>
                            <a:srgbClr val="1B2733"/>
                          </a:solidFill>
                          <a:latin typeface="Arial"/>
                        </a:rPr>
                        <a:t/>
                      </a:r>
                    </a:p>
                  </a:txBody>
                  <a:tcPr marL="73152" marR="73152" marT="27432" marB="27432" anchor="ctr">
                    <a:solidFill>
                      <a:srgbClr val="FFFFFF"/>
                    </a:solidFill>
                  </a:tcPr>
                </a:tc>
                <a:tc>
                  <a:txBody>
                    <a:bodyPr wrap="square"/>
                    <a:lstStyle/>
                    <a:p>
                      <a:r>
                        <a:rPr sz="1400" b="0">
                          <a:solidFill>
                            <a:srgbClr val="1B2733"/>
                          </a:solidFill>
                          <a:latin typeface="Arial"/>
                        </a:rPr>
                        <a:t/>
                      </a:r>
                    </a:p>
                  </a:txBody>
                  <a:tcPr marL="73152" marR="73152" marT="27432" marB="27432" anchor="ctr">
                    <a:solidFill>
                      <a:srgbClr val="FFFFFF"/>
                    </a:solidFill>
                  </a:tcPr>
                </a:tc>
                <a:tc>
                  <a:txBody>
                    <a:bodyPr wrap="square"/>
                    <a:lstStyle/>
                    <a:p>
                      <a:pPr algn="r"/>
                      <a:r>
                        <a:rPr sz="1400" b="0">
                          <a:solidFill>
                            <a:srgbClr val="1B2733"/>
                          </a:solidFill>
                          <a:latin typeface="Arial"/>
                        </a:rPr>
                        <a:t>709</a:t>
                      </a:r>
                    </a:p>
                  </a:txBody>
                  <a:tcPr marL="73152" marR="73152" marT="27432" marB="27432" anchor="ctr">
                    <a:solidFill>
                      <a:srgbClr val="FFFFFF"/>
                    </a:solidFill>
                  </a:tcPr>
                </a:tc>
                <a:tc>
                  <a:txBody>
                    <a:bodyPr wrap="square"/>
                    <a:lstStyle/>
                    <a:p>
                      <a:pPr algn="r"/>
                      <a:r>
                        <a:rPr sz="1400" b="0">
                          <a:solidFill>
                            <a:srgbClr val="1B2733"/>
                          </a:solidFill>
                          <a:latin typeface="Arial"/>
                        </a:rPr>
                        <a:t>707</a:t>
                      </a:r>
                    </a:p>
                  </a:txBody>
                  <a:tcPr marL="73152" marR="73152" marT="27432" marB="27432" anchor="ctr">
                    <a:solidFill>
                      <a:srgbClr val="FFFFFF"/>
                    </a:solidFill>
                  </a:tcPr>
                </a:tc>
                <a:tc>
                  <a:txBody>
                    <a:bodyPr wrap="square"/>
                    <a:lstStyle/>
                    <a:p>
                      <a:pPr algn="r"/>
                      <a:r>
                        <a:rPr sz="1400" b="0">
                          <a:solidFill>
                            <a:srgbClr val="1B2733"/>
                          </a:solidFill>
                          <a:latin typeface="Arial"/>
                        </a:rPr>
                        <a:t>265.256</a:t>
                      </a:r>
                    </a:p>
                  </a:txBody>
                  <a:tcPr marL="73152" marR="73152" marT="27432" marB="27432" anchor="ctr">
                    <a:solidFill>
                      <a:srgbClr val="FFFFFF"/>
                    </a:solidFill>
                  </a:tcPr>
                </a:tc>
              </a:tr>
            </a:tbl>
          </a:graphicData>
        </a:graphic>
      </p:graphicFrame>
      <p:sp>
        <p:nvSpPr>
          <p:cNvPr id="6" name="TextBox 5"/>
          <p:cNvSpPr txBox="1"/>
          <p:nvPr/>
        </p:nvSpPr>
        <p:spPr>
          <a:xfrm>
            <a:off x="841248" y="4983480"/>
            <a:ext cx="10515600" cy="1005840"/>
          </a:xfrm>
          <a:prstGeom prst="rect">
            <a:avLst/>
          </a:prstGeom>
          <a:noFill/>
        </p:spPr>
        <p:txBody>
          <a:bodyPr wrap="square" lIns="0" rIns="0" tIns="0" bIns="0" anchor="t"/>
          <a:lstStyle/>
          <a:p>
            <a:pPr algn="l">
              <a:spcAft>
                <a:spcPts val="600"/>
              </a:spcAft>
            </a:pPr>
            <a:r>
              <a:rPr sz="1500" b="0">
                <a:solidFill>
                  <a:srgbClr val="1B2733"/>
                </a:solidFill>
                <a:latin typeface="Arial"/>
              </a:rPr>
              <a:t>Tải bằng script từ cổng dữ liệu mở của NASA: gói 12,4 MB, 12 file; kiểm tra MD5 của gói và SHA-256 của từng file.</a:t>
            </a:r>
          </a:p>
          <a:p>
            <a:pPr algn="l">
              <a:spcAft>
                <a:spcPts val="600"/>
              </a:spcAft>
            </a:pPr>
            <a:r>
              <a:rPr sz="1500" b="0">
                <a:solidFill>
                  <a:srgbClr val="1B2733"/>
                </a:solidFill>
                <a:latin typeface="Arial"/>
              </a:rPr>
              <a:t>Phân tích chính dùng FD001 (dòng tô màu); ba tập còn lại chỉ đi qua bước ETL.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Mỗi bản ghi là một cycle của một động cơ, gồm 26 trường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5 / 20</a:t>
            </a:r>
          </a:p>
        </p:txBody>
      </p:sp>
      <p:graphicFrame>
        <p:nvGraphicFramePr>
          <p:cNvPr id="5" name="Table 4"/>
          <p:cNvGraphicFramePr>
            <a:graphicFrameLocks noGrp="1"/>
          </p:cNvGraphicFramePr>
          <p:nvPr/>
        </p:nvGraphicFramePr>
        <p:xfrm>
          <a:off x="841248" y="1965960"/>
          <a:ext cx="10058400" cy="1920240"/>
        </p:xfrm>
        <a:graphic>
          <a:graphicData uri="http://schemas.openxmlformats.org/drawingml/2006/table">
            <a:tbl>
              <a:tblPr firstRow="1" bandRow="1">
                <a:tableStyleId>{5C22544A-7EE6-4342-B048-85BDC9FD1C3A}</a:tableStyleId>
              </a:tblPr>
              <a:tblGrid>
                <a:gridCol w="1097280"/>
                <a:gridCol w="822960"/>
                <a:gridCol w="1325880"/>
                <a:gridCol w="1325880"/>
                <a:gridCol w="1188720"/>
                <a:gridCol w="1280160"/>
                <a:gridCol w="1234440"/>
                <a:gridCol w="1325880"/>
                <a:gridCol w="457200"/>
              </a:tblGrid>
              <a:tr h="384048">
                <a:tc>
                  <a:txBody>
                    <a:bodyPr wrap="square"/>
                    <a:lstStyle/>
                    <a:p>
                      <a:r>
                        <a:rPr sz="1300" b="1">
                          <a:solidFill>
                            <a:srgbClr val="FFFFFF"/>
                          </a:solidFill>
                          <a:latin typeface="Arial"/>
                        </a:rPr>
                        <a:t>engine_id</a:t>
                      </a:r>
                    </a:p>
                  </a:txBody>
                  <a:tcPr marL="73152" marR="73152" marT="27432" marB="27432" anchor="ctr">
                    <a:solidFill>
                      <a:srgbClr val="21409A"/>
                    </a:solidFill>
                  </a:tcPr>
                </a:tc>
                <a:tc>
                  <a:txBody>
                    <a:bodyPr wrap="square"/>
                    <a:lstStyle/>
                    <a:p>
                      <a:r>
                        <a:rPr sz="1300" b="1">
                          <a:solidFill>
                            <a:srgbClr val="FFFFFF"/>
                          </a:solidFill>
                          <a:latin typeface="Arial"/>
                        </a:rPr>
                        <a:t>cycle</a:t>
                      </a:r>
                    </a:p>
                  </a:txBody>
                  <a:tcPr marL="73152" marR="73152" marT="27432" marB="27432" anchor="ctr">
                    <a:solidFill>
                      <a:srgbClr val="21409A"/>
                    </a:solidFill>
                  </a:tcPr>
                </a:tc>
                <a:tc>
                  <a:txBody>
                    <a:bodyPr wrap="square"/>
                    <a:lstStyle/>
                    <a:p>
                      <a:r>
                        <a:rPr sz="1300" b="1">
                          <a:solidFill>
                            <a:srgbClr val="FFFFFF"/>
                          </a:solidFill>
                          <a:latin typeface="Arial"/>
                        </a:rPr>
                        <a:t>setting_1</a:t>
                      </a:r>
                    </a:p>
                  </a:txBody>
                  <a:tcPr marL="73152" marR="73152" marT="27432" marB="27432" anchor="ctr">
                    <a:solidFill>
                      <a:srgbClr val="21409A"/>
                    </a:solidFill>
                  </a:tcPr>
                </a:tc>
                <a:tc>
                  <a:txBody>
                    <a:bodyPr wrap="square"/>
                    <a:lstStyle/>
                    <a:p>
                      <a:r>
                        <a:rPr sz="1300" b="1">
                          <a:solidFill>
                            <a:srgbClr val="FFFFFF"/>
                          </a:solidFill>
                          <a:latin typeface="Arial"/>
                        </a:rPr>
                        <a:t>setting_2</a:t>
                      </a:r>
                    </a:p>
                  </a:txBody>
                  <a:tcPr marL="73152" marR="73152" marT="27432" marB="27432" anchor="ctr">
                    <a:solidFill>
                      <a:srgbClr val="21409A"/>
                    </a:solidFill>
                  </a:tcPr>
                </a:tc>
                <a:tc>
                  <a:txBody>
                    <a:bodyPr wrap="square"/>
                    <a:lstStyle/>
                    <a:p>
                      <a:r>
                        <a:rPr sz="1300" b="1">
                          <a:solidFill>
                            <a:srgbClr val="FFFFFF"/>
                          </a:solidFill>
                          <a:latin typeface="Arial"/>
                        </a:rPr>
                        <a:t>sensor_2</a:t>
                      </a:r>
                    </a:p>
                  </a:txBody>
                  <a:tcPr marL="73152" marR="73152" marT="27432" marB="27432" anchor="ctr">
                    <a:solidFill>
                      <a:srgbClr val="21409A"/>
                    </a:solidFill>
                  </a:tcPr>
                </a:tc>
                <a:tc>
                  <a:txBody>
                    <a:bodyPr wrap="square"/>
                    <a:lstStyle/>
                    <a:p>
                      <a:r>
                        <a:rPr sz="1300" b="1">
                          <a:solidFill>
                            <a:srgbClr val="FFFFFF"/>
                          </a:solidFill>
                          <a:latin typeface="Arial"/>
                        </a:rPr>
                        <a:t>sensor_4</a:t>
                      </a:r>
                    </a:p>
                  </a:txBody>
                  <a:tcPr marL="73152" marR="73152" marT="27432" marB="27432" anchor="ctr">
                    <a:solidFill>
                      <a:srgbClr val="21409A"/>
                    </a:solidFill>
                  </a:tcPr>
                </a:tc>
                <a:tc>
                  <a:txBody>
                    <a:bodyPr wrap="square"/>
                    <a:lstStyle/>
                    <a:p>
                      <a:r>
                        <a:rPr sz="1300" b="1">
                          <a:solidFill>
                            <a:srgbClr val="FFFFFF"/>
                          </a:solidFill>
                          <a:latin typeface="Arial"/>
                        </a:rPr>
                        <a:t>sensor_11</a:t>
                      </a:r>
                    </a:p>
                  </a:txBody>
                  <a:tcPr marL="73152" marR="73152" marT="27432" marB="27432" anchor="ctr">
                    <a:solidFill>
                      <a:srgbClr val="21409A"/>
                    </a:solidFill>
                  </a:tcPr>
                </a:tc>
                <a:tc>
                  <a:txBody>
                    <a:bodyPr wrap="square"/>
                    <a:lstStyle/>
                    <a:p>
                      <a:r>
                        <a:rPr sz="1300" b="1">
                          <a:solidFill>
                            <a:srgbClr val="FFFFFF"/>
                          </a:solidFill>
                          <a:latin typeface="Arial"/>
                        </a:rPr>
                        <a:t>sensor_21</a:t>
                      </a:r>
                    </a:p>
                  </a:txBody>
                  <a:tcPr marL="73152" marR="73152" marT="27432" marB="27432" anchor="ctr">
                    <a:solidFill>
                      <a:srgbClr val="21409A"/>
                    </a:solidFill>
                  </a:tcPr>
                </a:tc>
                <a:tc>
                  <a:txBody>
                    <a:bodyPr wrap="square"/>
                    <a:lstStyle/>
                    <a:p>
                      <a:r>
                        <a:rPr sz="1300" b="1">
                          <a:solidFill>
                            <a:srgbClr val="FFFFFF"/>
                          </a:solidFill>
                          <a:latin typeface="Arial"/>
                        </a:rPr>
                        <a:t>…</a:t>
                      </a:r>
                    </a:p>
                  </a:txBody>
                  <a:tcPr marL="73152" marR="73152" marT="27432" marB="27432" anchor="ctr">
                    <a:solidFill>
                      <a:srgbClr val="21409A"/>
                    </a:solidFill>
                  </a:tcPr>
                </a:tc>
              </a:tr>
              <a:tr h="384048">
                <a:tc>
                  <a:txBody>
                    <a:bodyPr wrap="square"/>
                    <a:lstStyle/>
                    <a:p>
                      <a:pPr algn="r"/>
                      <a:r>
                        <a:rPr sz="1300" b="0">
                          <a:solidFill>
                            <a:srgbClr val="1B2733"/>
                          </a:solidFill>
                          <a:latin typeface="Arial"/>
                        </a:rPr>
                        <a:t>1</a:t>
                      </a:r>
                    </a:p>
                  </a:txBody>
                  <a:tcPr marL="73152" marR="73152" marT="27432" marB="27432" anchor="ctr">
                    <a:solidFill>
                      <a:srgbClr val="FFFFFF"/>
                    </a:solidFill>
                  </a:tcPr>
                </a:tc>
                <a:tc>
                  <a:txBody>
                    <a:bodyPr wrap="square"/>
                    <a:lstStyle/>
                    <a:p>
                      <a:pPr algn="r"/>
                      <a:r>
                        <a:rPr sz="1300" b="0">
                          <a:solidFill>
                            <a:srgbClr val="1B2733"/>
                          </a:solidFill>
                          <a:latin typeface="Arial"/>
                        </a:rPr>
                        <a:t>1</a:t>
                      </a:r>
                    </a:p>
                  </a:txBody>
                  <a:tcPr marL="73152" marR="73152" marT="27432" marB="27432" anchor="ctr">
                    <a:solidFill>
                      <a:srgbClr val="FFFFFF"/>
                    </a:solidFill>
                  </a:tcPr>
                </a:tc>
                <a:tc>
                  <a:txBody>
                    <a:bodyPr wrap="square"/>
                    <a:lstStyle/>
                    <a:p>
                      <a:pPr algn="r"/>
                      <a:r>
                        <a:rPr sz="1300" b="0">
                          <a:solidFill>
                            <a:srgbClr val="1B2733"/>
                          </a:solidFill>
                          <a:latin typeface="Arial"/>
                        </a:rPr>
                        <a:t>−0,0007</a:t>
                      </a:r>
                    </a:p>
                  </a:txBody>
                  <a:tcPr marL="73152" marR="73152" marT="27432" marB="27432" anchor="ctr">
                    <a:solidFill>
                      <a:srgbClr val="FFFFFF"/>
                    </a:solidFill>
                  </a:tcPr>
                </a:tc>
                <a:tc>
                  <a:txBody>
                    <a:bodyPr wrap="square"/>
                    <a:lstStyle/>
                    <a:p>
                      <a:pPr algn="r"/>
                      <a:r>
                        <a:rPr sz="1300" b="0">
                          <a:solidFill>
                            <a:srgbClr val="1B2733"/>
                          </a:solidFill>
                          <a:latin typeface="Arial"/>
                        </a:rPr>
                        <a:t>−0,0004</a:t>
                      </a:r>
                    </a:p>
                  </a:txBody>
                  <a:tcPr marL="73152" marR="73152" marT="27432" marB="27432" anchor="ctr">
                    <a:solidFill>
                      <a:srgbClr val="FFFFFF"/>
                    </a:solidFill>
                  </a:tcPr>
                </a:tc>
                <a:tc>
                  <a:txBody>
                    <a:bodyPr wrap="square"/>
                    <a:lstStyle/>
                    <a:p>
                      <a:pPr algn="r"/>
                      <a:r>
                        <a:rPr sz="1300" b="0">
                          <a:solidFill>
                            <a:srgbClr val="1B2733"/>
                          </a:solidFill>
                          <a:latin typeface="Arial"/>
                        </a:rPr>
                        <a:t>641,82</a:t>
                      </a:r>
                    </a:p>
                  </a:txBody>
                  <a:tcPr marL="73152" marR="73152" marT="27432" marB="27432" anchor="ctr">
                    <a:solidFill>
                      <a:srgbClr val="FFFFFF"/>
                    </a:solidFill>
                  </a:tcPr>
                </a:tc>
                <a:tc>
                  <a:txBody>
                    <a:bodyPr wrap="square"/>
                    <a:lstStyle/>
                    <a:p>
                      <a:pPr algn="r"/>
                      <a:r>
                        <a:rPr sz="1300" b="0">
                          <a:solidFill>
                            <a:srgbClr val="1B2733"/>
                          </a:solidFill>
                          <a:latin typeface="Arial"/>
                        </a:rPr>
                        <a:t>1.400,60</a:t>
                      </a:r>
                    </a:p>
                  </a:txBody>
                  <a:tcPr marL="73152" marR="73152" marT="27432" marB="27432" anchor="ctr">
                    <a:solidFill>
                      <a:srgbClr val="FFFFFF"/>
                    </a:solidFill>
                  </a:tcPr>
                </a:tc>
                <a:tc>
                  <a:txBody>
                    <a:bodyPr wrap="square"/>
                    <a:lstStyle/>
                    <a:p>
                      <a:pPr algn="r"/>
                      <a:r>
                        <a:rPr sz="1300" b="0">
                          <a:solidFill>
                            <a:srgbClr val="1B2733"/>
                          </a:solidFill>
                          <a:latin typeface="Arial"/>
                        </a:rPr>
                        <a:t>47,47</a:t>
                      </a:r>
                    </a:p>
                  </a:txBody>
                  <a:tcPr marL="73152" marR="73152" marT="27432" marB="27432" anchor="ctr">
                    <a:solidFill>
                      <a:srgbClr val="FFFFFF"/>
                    </a:solidFill>
                  </a:tcPr>
                </a:tc>
                <a:tc>
                  <a:txBody>
                    <a:bodyPr wrap="square"/>
                    <a:lstStyle/>
                    <a:p>
                      <a:pPr algn="r"/>
                      <a:r>
                        <a:rPr sz="1300" b="0">
                          <a:solidFill>
                            <a:srgbClr val="1B2733"/>
                          </a:solidFill>
                          <a:latin typeface="Arial"/>
                        </a:rPr>
                        <a:t>23,4190</a:t>
                      </a:r>
                    </a:p>
                  </a:txBody>
                  <a:tcPr marL="73152" marR="73152" marT="27432" marB="27432" anchor="ctr">
                    <a:solidFill>
                      <a:srgbClr val="FFFFFF"/>
                    </a:solidFill>
                  </a:tcPr>
                </a:tc>
                <a:tc>
                  <a:txBody>
                    <a:bodyPr wrap="square"/>
                    <a:lstStyle/>
                    <a:p>
                      <a:pPr algn="r"/>
                      <a:r>
                        <a:rPr sz="1300" b="0">
                          <a:solidFill>
                            <a:srgbClr val="1B2733"/>
                          </a:solidFill>
                          <a:latin typeface="Arial"/>
                        </a:rPr>
                        <a:t>…</a:t>
                      </a:r>
                    </a:p>
                  </a:txBody>
                  <a:tcPr marL="73152" marR="73152" marT="27432" marB="27432" anchor="ctr">
                    <a:solidFill>
                      <a:srgbClr val="FFFFFF"/>
                    </a:solidFill>
                  </a:tcPr>
                </a:tc>
              </a:tr>
              <a:tr h="384048">
                <a:tc>
                  <a:txBody>
                    <a:bodyPr wrap="square"/>
                    <a:lstStyle/>
                    <a:p>
                      <a:pPr algn="r"/>
                      <a:r>
                        <a:rPr sz="1300" b="0">
                          <a:solidFill>
                            <a:srgbClr val="1B2733"/>
                          </a:solidFill>
                          <a:latin typeface="Arial"/>
                        </a:rPr>
                        <a:t>1</a:t>
                      </a:r>
                    </a:p>
                  </a:txBody>
                  <a:tcPr marL="73152" marR="73152" marT="27432" marB="27432" anchor="ctr">
                    <a:solidFill>
                      <a:srgbClr val="EAF0FA"/>
                    </a:solidFill>
                  </a:tcPr>
                </a:tc>
                <a:tc>
                  <a:txBody>
                    <a:bodyPr wrap="square"/>
                    <a:lstStyle/>
                    <a:p>
                      <a:pPr algn="r"/>
                      <a:r>
                        <a:rPr sz="1300" b="0">
                          <a:solidFill>
                            <a:srgbClr val="1B2733"/>
                          </a:solidFill>
                          <a:latin typeface="Arial"/>
                        </a:rPr>
                        <a:t>2</a:t>
                      </a:r>
                    </a:p>
                  </a:txBody>
                  <a:tcPr marL="73152" marR="73152" marT="27432" marB="27432" anchor="ctr">
                    <a:solidFill>
                      <a:srgbClr val="EAF0FA"/>
                    </a:solidFill>
                  </a:tcPr>
                </a:tc>
                <a:tc>
                  <a:txBody>
                    <a:bodyPr wrap="square"/>
                    <a:lstStyle/>
                    <a:p>
                      <a:pPr algn="r"/>
                      <a:r>
                        <a:rPr sz="1300" b="0">
                          <a:solidFill>
                            <a:srgbClr val="1B2733"/>
                          </a:solidFill>
                          <a:latin typeface="Arial"/>
                        </a:rPr>
                        <a:t>0,0019</a:t>
                      </a:r>
                    </a:p>
                  </a:txBody>
                  <a:tcPr marL="73152" marR="73152" marT="27432" marB="27432" anchor="ctr">
                    <a:solidFill>
                      <a:srgbClr val="EAF0FA"/>
                    </a:solidFill>
                  </a:tcPr>
                </a:tc>
                <a:tc>
                  <a:txBody>
                    <a:bodyPr wrap="square"/>
                    <a:lstStyle/>
                    <a:p>
                      <a:pPr algn="r"/>
                      <a:r>
                        <a:rPr sz="1300" b="0">
                          <a:solidFill>
                            <a:srgbClr val="1B2733"/>
                          </a:solidFill>
                          <a:latin typeface="Arial"/>
                        </a:rPr>
                        <a:t>−0,0003</a:t>
                      </a:r>
                    </a:p>
                  </a:txBody>
                  <a:tcPr marL="73152" marR="73152" marT="27432" marB="27432" anchor="ctr">
                    <a:solidFill>
                      <a:srgbClr val="EAF0FA"/>
                    </a:solidFill>
                  </a:tcPr>
                </a:tc>
                <a:tc>
                  <a:txBody>
                    <a:bodyPr wrap="square"/>
                    <a:lstStyle/>
                    <a:p>
                      <a:pPr algn="r"/>
                      <a:r>
                        <a:rPr sz="1300" b="0">
                          <a:solidFill>
                            <a:srgbClr val="1B2733"/>
                          </a:solidFill>
                          <a:latin typeface="Arial"/>
                        </a:rPr>
                        <a:t>642,15</a:t>
                      </a:r>
                    </a:p>
                  </a:txBody>
                  <a:tcPr marL="73152" marR="73152" marT="27432" marB="27432" anchor="ctr">
                    <a:solidFill>
                      <a:srgbClr val="EAF0FA"/>
                    </a:solidFill>
                  </a:tcPr>
                </a:tc>
                <a:tc>
                  <a:txBody>
                    <a:bodyPr wrap="square"/>
                    <a:lstStyle/>
                    <a:p>
                      <a:pPr algn="r"/>
                      <a:r>
                        <a:rPr sz="1300" b="0">
                          <a:solidFill>
                            <a:srgbClr val="1B2733"/>
                          </a:solidFill>
                          <a:latin typeface="Arial"/>
                        </a:rPr>
                        <a:t>1.403,14</a:t>
                      </a:r>
                    </a:p>
                  </a:txBody>
                  <a:tcPr marL="73152" marR="73152" marT="27432" marB="27432" anchor="ctr">
                    <a:solidFill>
                      <a:srgbClr val="EAF0FA"/>
                    </a:solidFill>
                  </a:tcPr>
                </a:tc>
                <a:tc>
                  <a:txBody>
                    <a:bodyPr wrap="square"/>
                    <a:lstStyle/>
                    <a:p>
                      <a:pPr algn="r"/>
                      <a:r>
                        <a:rPr sz="1300" b="0">
                          <a:solidFill>
                            <a:srgbClr val="1B2733"/>
                          </a:solidFill>
                          <a:latin typeface="Arial"/>
                        </a:rPr>
                        <a:t>47,49</a:t>
                      </a:r>
                    </a:p>
                  </a:txBody>
                  <a:tcPr marL="73152" marR="73152" marT="27432" marB="27432" anchor="ctr">
                    <a:solidFill>
                      <a:srgbClr val="EAF0FA"/>
                    </a:solidFill>
                  </a:tcPr>
                </a:tc>
                <a:tc>
                  <a:txBody>
                    <a:bodyPr wrap="square"/>
                    <a:lstStyle/>
                    <a:p>
                      <a:pPr algn="r"/>
                      <a:r>
                        <a:rPr sz="1300" b="0">
                          <a:solidFill>
                            <a:srgbClr val="1B2733"/>
                          </a:solidFill>
                          <a:latin typeface="Arial"/>
                        </a:rPr>
                        <a:t>23,4236</a:t>
                      </a:r>
                    </a:p>
                  </a:txBody>
                  <a:tcPr marL="73152" marR="73152" marT="27432" marB="27432" anchor="ctr">
                    <a:solidFill>
                      <a:srgbClr val="EAF0FA"/>
                    </a:solidFill>
                  </a:tcPr>
                </a:tc>
                <a:tc>
                  <a:txBody>
                    <a:bodyPr wrap="square"/>
                    <a:lstStyle/>
                    <a:p>
                      <a:pPr algn="r"/>
                      <a:r>
                        <a:rPr sz="1300" b="0">
                          <a:solidFill>
                            <a:srgbClr val="1B2733"/>
                          </a:solidFill>
                          <a:latin typeface="Arial"/>
                        </a:rPr>
                        <a:t>…</a:t>
                      </a:r>
                    </a:p>
                  </a:txBody>
                  <a:tcPr marL="73152" marR="73152" marT="27432" marB="27432" anchor="ctr">
                    <a:solidFill>
                      <a:srgbClr val="EAF0FA"/>
                    </a:solidFill>
                  </a:tcPr>
                </a:tc>
              </a:tr>
              <a:tr h="384048">
                <a:tc>
                  <a:txBody>
                    <a:bodyPr wrap="square"/>
                    <a:lstStyle/>
                    <a:p>
                      <a:pPr algn="r"/>
                      <a:r>
                        <a:rPr sz="1300" b="0">
                          <a:solidFill>
                            <a:srgbClr val="1B2733"/>
                          </a:solidFill>
                          <a:latin typeface="Arial"/>
                        </a:rPr>
                        <a:t>1</a:t>
                      </a:r>
                    </a:p>
                  </a:txBody>
                  <a:tcPr marL="73152" marR="73152" marT="27432" marB="27432" anchor="ctr">
                    <a:solidFill>
                      <a:srgbClr val="FFFFFF"/>
                    </a:solidFill>
                  </a:tcPr>
                </a:tc>
                <a:tc>
                  <a:txBody>
                    <a:bodyPr wrap="square"/>
                    <a:lstStyle/>
                    <a:p>
                      <a:pPr algn="r"/>
                      <a:r>
                        <a:rPr sz="1300" b="0">
                          <a:solidFill>
                            <a:srgbClr val="1B2733"/>
                          </a:solidFill>
                          <a:latin typeface="Arial"/>
                        </a:rPr>
                        <a:t>3</a:t>
                      </a:r>
                    </a:p>
                  </a:txBody>
                  <a:tcPr marL="73152" marR="73152" marT="27432" marB="27432" anchor="ctr">
                    <a:solidFill>
                      <a:srgbClr val="FFFFFF"/>
                    </a:solidFill>
                  </a:tcPr>
                </a:tc>
                <a:tc>
                  <a:txBody>
                    <a:bodyPr wrap="square"/>
                    <a:lstStyle/>
                    <a:p>
                      <a:pPr algn="r"/>
                      <a:r>
                        <a:rPr sz="1300" b="0">
                          <a:solidFill>
                            <a:srgbClr val="1B2733"/>
                          </a:solidFill>
                          <a:latin typeface="Arial"/>
                        </a:rPr>
                        <a:t>−0,0043</a:t>
                      </a:r>
                    </a:p>
                  </a:txBody>
                  <a:tcPr marL="73152" marR="73152" marT="27432" marB="27432" anchor="ctr">
                    <a:solidFill>
                      <a:srgbClr val="FFFFFF"/>
                    </a:solidFill>
                  </a:tcPr>
                </a:tc>
                <a:tc>
                  <a:txBody>
                    <a:bodyPr wrap="square"/>
                    <a:lstStyle/>
                    <a:p>
                      <a:pPr algn="r"/>
                      <a:r>
                        <a:rPr sz="1300" b="0">
                          <a:solidFill>
                            <a:srgbClr val="1B2733"/>
                          </a:solidFill>
                          <a:latin typeface="Arial"/>
                        </a:rPr>
                        <a:t>0,0003</a:t>
                      </a:r>
                    </a:p>
                  </a:txBody>
                  <a:tcPr marL="73152" marR="73152" marT="27432" marB="27432" anchor="ctr">
                    <a:solidFill>
                      <a:srgbClr val="FFFFFF"/>
                    </a:solidFill>
                  </a:tcPr>
                </a:tc>
                <a:tc>
                  <a:txBody>
                    <a:bodyPr wrap="square"/>
                    <a:lstStyle/>
                    <a:p>
                      <a:pPr algn="r"/>
                      <a:r>
                        <a:rPr sz="1300" b="0">
                          <a:solidFill>
                            <a:srgbClr val="1B2733"/>
                          </a:solidFill>
                          <a:latin typeface="Arial"/>
                        </a:rPr>
                        <a:t>642,35</a:t>
                      </a:r>
                    </a:p>
                  </a:txBody>
                  <a:tcPr marL="73152" marR="73152" marT="27432" marB="27432" anchor="ctr">
                    <a:solidFill>
                      <a:srgbClr val="FFFFFF"/>
                    </a:solidFill>
                  </a:tcPr>
                </a:tc>
                <a:tc>
                  <a:txBody>
                    <a:bodyPr wrap="square"/>
                    <a:lstStyle/>
                    <a:p>
                      <a:pPr algn="r"/>
                      <a:r>
                        <a:rPr sz="1300" b="0">
                          <a:solidFill>
                            <a:srgbClr val="1B2733"/>
                          </a:solidFill>
                          <a:latin typeface="Arial"/>
                        </a:rPr>
                        <a:t>1.404,20</a:t>
                      </a:r>
                    </a:p>
                  </a:txBody>
                  <a:tcPr marL="73152" marR="73152" marT="27432" marB="27432" anchor="ctr">
                    <a:solidFill>
                      <a:srgbClr val="FFFFFF"/>
                    </a:solidFill>
                  </a:tcPr>
                </a:tc>
                <a:tc>
                  <a:txBody>
                    <a:bodyPr wrap="square"/>
                    <a:lstStyle/>
                    <a:p>
                      <a:pPr algn="r"/>
                      <a:r>
                        <a:rPr sz="1300" b="0">
                          <a:solidFill>
                            <a:srgbClr val="1B2733"/>
                          </a:solidFill>
                          <a:latin typeface="Arial"/>
                        </a:rPr>
                        <a:t>47,27</a:t>
                      </a:r>
                    </a:p>
                  </a:txBody>
                  <a:tcPr marL="73152" marR="73152" marT="27432" marB="27432" anchor="ctr">
                    <a:solidFill>
                      <a:srgbClr val="FFFFFF"/>
                    </a:solidFill>
                  </a:tcPr>
                </a:tc>
                <a:tc>
                  <a:txBody>
                    <a:bodyPr wrap="square"/>
                    <a:lstStyle/>
                    <a:p>
                      <a:pPr algn="r"/>
                      <a:r>
                        <a:rPr sz="1300" b="0">
                          <a:solidFill>
                            <a:srgbClr val="1B2733"/>
                          </a:solidFill>
                          <a:latin typeface="Arial"/>
                        </a:rPr>
                        <a:t>23,3442</a:t>
                      </a:r>
                    </a:p>
                  </a:txBody>
                  <a:tcPr marL="73152" marR="73152" marT="27432" marB="27432" anchor="ctr">
                    <a:solidFill>
                      <a:srgbClr val="FFFFFF"/>
                    </a:solidFill>
                  </a:tcPr>
                </a:tc>
                <a:tc>
                  <a:txBody>
                    <a:bodyPr wrap="square"/>
                    <a:lstStyle/>
                    <a:p>
                      <a:pPr algn="r"/>
                      <a:r>
                        <a:rPr sz="1300" b="0">
                          <a:solidFill>
                            <a:srgbClr val="1B2733"/>
                          </a:solidFill>
                          <a:latin typeface="Arial"/>
                        </a:rPr>
                        <a:t>…</a:t>
                      </a:r>
                    </a:p>
                  </a:txBody>
                  <a:tcPr marL="73152" marR="73152" marT="27432" marB="27432" anchor="ctr">
                    <a:solidFill>
                      <a:srgbClr val="FFFFFF"/>
                    </a:solidFill>
                  </a:tcPr>
                </a:tc>
              </a:tr>
              <a:tr h="384048">
                <a:tc>
                  <a:txBody>
                    <a:bodyPr wrap="square"/>
                    <a:lstStyle/>
                    <a:p>
                      <a:pPr algn="r"/>
                      <a:r>
                        <a:rPr sz="1300" b="0">
                          <a:solidFill>
                            <a:srgbClr val="1B2733"/>
                          </a:solidFill>
                          <a:latin typeface="Arial"/>
                        </a:rPr>
                        <a:t>1</a:t>
                      </a:r>
                    </a:p>
                  </a:txBody>
                  <a:tcPr marL="73152" marR="73152" marT="27432" marB="27432" anchor="ctr">
                    <a:solidFill>
                      <a:srgbClr val="EAF0FA"/>
                    </a:solidFill>
                  </a:tcPr>
                </a:tc>
                <a:tc>
                  <a:txBody>
                    <a:bodyPr wrap="square"/>
                    <a:lstStyle/>
                    <a:p>
                      <a:pPr algn="r"/>
                      <a:r>
                        <a:rPr sz="1300" b="0">
                          <a:solidFill>
                            <a:srgbClr val="1B2733"/>
                          </a:solidFill>
                          <a:latin typeface="Arial"/>
                        </a:rPr>
                        <a:t>4</a:t>
                      </a:r>
                    </a:p>
                  </a:txBody>
                  <a:tcPr marL="73152" marR="73152" marT="27432" marB="27432" anchor="ctr">
                    <a:solidFill>
                      <a:srgbClr val="EAF0FA"/>
                    </a:solidFill>
                  </a:tcPr>
                </a:tc>
                <a:tc>
                  <a:txBody>
                    <a:bodyPr wrap="square"/>
                    <a:lstStyle/>
                    <a:p>
                      <a:pPr algn="r"/>
                      <a:r>
                        <a:rPr sz="1300" b="0">
                          <a:solidFill>
                            <a:srgbClr val="1B2733"/>
                          </a:solidFill>
                          <a:latin typeface="Arial"/>
                        </a:rPr>
                        <a:t>0,0007</a:t>
                      </a:r>
                    </a:p>
                  </a:txBody>
                  <a:tcPr marL="73152" marR="73152" marT="27432" marB="27432" anchor="ctr">
                    <a:solidFill>
                      <a:srgbClr val="EAF0FA"/>
                    </a:solidFill>
                  </a:tcPr>
                </a:tc>
                <a:tc>
                  <a:txBody>
                    <a:bodyPr wrap="square"/>
                    <a:lstStyle/>
                    <a:p>
                      <a:pPr algn="r"/>
                      <a:r>
                        <a:rPr sz="1300" b="0">
                          <a:solidFill>
                            <a:srgbClr val="1B2733"/>
                          </a:solidFill>
                          <a:latin typeface="Arial"/>
                        </a:rPr>
                        <a:t>0,0000</a:t>
                      </a:r>
                    </a:p>
                  </a:txBody>
                  <a:tcPr marL="73152" marR="73152" marT="27432" marB="27432" anchor="ctr">
                    <a:solidFill>
                      <a:srgbClr val="EAF0FA"/>
                    </a:solidFill>
                  </a:tcPr>
                </a:tc>
                <a:tc>
                  <a:txBody>
                    <a:bodyPr wrap="square"/>
                    <a:lstStyle/>
                    <a:p>
                      <a:pPr algn="r"/>
                      <a:r>
                        <a:rPr sz="1300" b="0">
                          <a:solidFill>
                            <a:srgbClr val="1B2733"/>
                          </a:solidFill>
                          <a:latin typeface="Arial"/>
                        </a:rPr>
                        <a:t>642,35</a:t>
                      </a:r>
                    </a:p>
                  </a:txBody>
                  <a:tcPr marL="73152" marR="73152" marT="27432" marB="27432" anchor="ctr">
                    <a:solidFill>
                      <a:srgbClr val="EAF0FA"/>
                    </a:solidFill>
                  </a:tcPr>
                </a:tc>
                <a:tc>
                  <a:txBody>
                    <a:bodyPr wrap="square"/>
                    <a:lstStyle/>
                    <a:p>
                      <a:pPr algn="r"/>
                      <a:r>
                        <a:rPr sz="1300" b="0">
                          <a:solidFill>
                            <a:srgbClr val="1B2733"/>
                          </a:solidFill>
                          <a:latin typeface="Arial"/>
                        </a:rPr>
                        <a:t>1.401,87</a:t>
                      </a:r>
                    </a:p>
                  </a:txBody>
                  <a:tcPr marL="73152" marR="73152" marT="27432" marB="27432" anchor="ctr">
                    <a:solidFill>
                      <a:srgbClr val="EAF0FA"/>
                    </a:solidFill>
                  </a:tcPr>
                </a:tc>
                <a:tc>
                  <a:txBody>
                    <a:bodyPr wrap="square"/>
                    <a:lstStyle/>
                    <a:p>
                      <a:pPr algn="r"/>
                      <a:r>
                        <a:rPr sz="1300" b="0">
                          <a:solidFill>
                            <a:srgbClr val="1B2733"/>
                          </a:solidFill>
                          <a:latin typeface="Arial"/>
                        </a:rPr>
                        <a:t>47,13</a:t>
                      </a:r>
                    </a:p>
                  </a:txBody>
                  <a:tcPr marL="73152" marR="73152" marT="27432" marB="27432" anchor="ctr">
                    <a:solidFill>
                      <a:srgbClr val="EAF0FA"/>
                    </a:solidFill>
                  </a:tcPr>
                </a:tc>
                <a:tc>
                  <a:txBody>
                    <a:bodyPr wrap="square"/>
                    <a:lstStyle/>
                    <a:p>
                      <a:pPr algn="r"/>
                      <a:r>
                        <a:rPr sz="1300" b="0">
                          <a:solidFill>
                            <a:srgbClr val="1B2733"/>
                          </a:solidFill>
                          <a:latin typeface="Arial"/>
                        </a:rPr>
                        <a:t>23,3739</a:t>
                      </a:r>
                    </a:p>
                  </a:txBody>
                  <a:tcPr marL="73152" marR="73152" marT="27432" marB="27432" anchor="ctr">
                    <a:solidFill>
                      <a:srgbClr val="EAF0FA"/>
                    </a:solidFill>
                  </a:tcPr>
                </a:tc>
                <a:tc>
                  <a:txBody>
                    <a:bodyPr wrap="square"/>
                    <a:lstStyle/>
                    <a:p>
                      <a:pPr algn="r"/>
                      <a:r>
                        <a:rPr sz="1300" b="0">
                          <a:solidFill>
                            <a:srgbClr val="1B2733"/>
                          </a:solidFill>
                          <a:latin typeface="Arial"/>
                        </a:rPr>
                        <a:t>…</a:t>
                      </a:r>
                    </a:p>
                  </a:txBody>
                  <a:tcPr marL="73152" marR="73152" marT="27432" marB="27432" anchor="ctr">
                    <a:solidFill>
                      <a:srgbClr val="EAF0FA"/>
                    </a:solidFill>
                  </a:tcPr>
                </a:tc>
              </a:tr>
            </a:tbl>
          </a:graphicData>
        </a:graphic>
      </p:graphicFrame>
      <p:sp>
        <p:nvSpPr>
          <p:cNvPr id="6" name="TextBox 5"/>
          <p:cNvSpPr txBox="1"/>
          <p:nvPr/>
        </p:nvSpPr>
        <p:spPr>
          <a:xfrm>
            <a:off x="841248" y="4023360"/>
            <a:ext cx="10515600" cy="365760"/>
          </a:xfrm>
          <a:prstGeom prst="rect">
            <a:avLst/>
          </a:prstGeom>
          <a:noFill/>
        </p:spPr>
        <p:txBody>
          <a:bodyPr wrap="square" lIns="0" rIns="0" tIns="0" bIns="0" anchor="t"/>
          <a:lstStyle/>
          <a:p>
            <a:pPr algn="l">
              <a:spcAft>
                <a:spcPts val="0"/>
              </a:spcAft>
            </a:pPr>
            <a:r>
              <a:rPr sz="1300" b="0">
                <a:solidFill>
                  <a:srgbClr val="5A6B7B"/>
                </a:solidFill>
                <a:latin typeface="Arial"/>
              </a:rPr>
              <a:t>Bốn dòng đầu của train_FD001.txt; 26 trường: engine_id, cycle, setting_1–3, sensor_1–21.</a:t>
            </a:r>
          </a:p>
        </p:txBody>
      </p:sp>
      <p:sp>
        <p:nvSpPr>
          <p:cNvPr id="7" name="Rounded Rectangle 6"/>
          <p:cNvSpPr/>
          <p:nvPr/>
        </p:nvSpPr>
        <p:spPr>
          <a:xfrm>
            <a:off x="841248" y="4572000"/>
            <a:ext cx="3383280" cy="137160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4663440"/>
            <a:ext cx="3108960" cy="365760"/>
          </a:xfrm>
          <a:prstGeom prst="rect">
            <a:avLst/>
          </a:prstGeom>
          <a:noFill/>
        </p:spPr>
        <p:txBody>
          <a:bodyPr wrap="square" lIns="0" rIns="0" tIns="0" bIns="0" anchor="t"/>
          <a:lstStyle/>
          <a:p>
            <a:pPr algn="l">
              <a:spcAft>
                <a:spcPts val="0"/>
              </a:spcAft>
            </a:pPr>
            <a:r>
              <a:rPr sz="1500" b="1">
                <a:solidFill>
                  <a:srgbClr val="21409A"/>
                </a:solidFill>
                <a:latin typeface="Consolas"/>
              </a:rPr>
              <a:t>train_FD001.txt</a:t>
            </a:r>
          </a:p>
        </p:txBody>
      </p:sp>
      <p:sp>
        <p:nvSpPr>
          <p:cNvPr id="9" name="TextBox 8"/>
          <p:cNvSpPr txBox="1"/>
          <p:nvPr/>
        </p:nvSpPr>
        <p:spPr>
          <a:xfrm>
            <a:off x="1005840" y="5074920"/>
            <a:ext cx="3108960" cy="822960"/>
          </a:xfrm>
          <a:prstGeom prst="rect">
            <a:avLst/>
          </a:prstGeom>
          <a:noFill/>
        </p:spPr>
        <p:txBody>
          <a:bodyPr wrap="square" lIns="0" rIns="0" tIns="0" bIns="0" anchor="t"/>
          <a:lstStyle/>
          <a:p>
            <a:pPr algn="l">
              <a:spcAft>
                <a:spcPts val="200"/>
              </a:spcAft>
            </a:pPr>
            <a:r>
              <a:rPr sz="1500" b="0">
                <a:solidFill>
                  <a:srgbClr val="1B2733"/>
                </a:solidFill>
                <a:latin typeface="Arial"/>
              </a:rPr>
              <a:t>20.631 dòng</a:t>
            </a:r>
          </a:p>
          <a:p>
            <a:pPr algn="l">
              <a:spcAft>
                <a:spcPts val="200"/>
              </a:spcAft>
            </a:pPr>
            <a:r>
              <a:rPr sz="1500" b="0">
                <a:solidFill>
                  <a:srgbClr val="1B2733"/>
                </a:solidFill>
                <a:latin typeface="Arial"/>
              </a:rPr>
              <a:t>chạy đến khi hỏng</a:t>
            </a:r>
          </a:p>
        </p:txBody>
      </p:sp>
      <p:sp>
        <p:nvSpPr>
          <p:cNvPr id="10" name="Rounded Rectangle 9"/>
          <p:cNvSpPr/>
          <p:nvPr/>
        </p:nvSpPr>
        <p:spPr>
          <a:xfrm>
            <a:off x="4407408" y="4572000"/>
            <a:ext cx="3383280" cy="137160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4663440"/>
            <a:ext cx="3108960" cy="365760"/>
          </a:xfrm>
          <a:prstGeom prst="rect">
            <a:avLst/>
          </a:prstGeom>
          <a:noFill/>
        </p:spPr>
        <p:txBody>
          <a:bodyPr wrap="square" lIns="0" rIns="0" tIns="0" bIns="0" anchor="t"/>
          <a:lstStyle/>
          <a:p>
            <a:pPr algn="l">
              <a:spcAft>
                <a:spcPts val="0"/>
              </a:spcAft>
            </a:pPr>
            <a:r>
              <a:rPr sz="1500" b="1">
                <a:solidFill>
                  <a:srgbClr val="21409A"/>
                </a:solidFill>
                <a:latin typeface="Consolas"/>
              </a:rPr>
              <a:t>test_FD001.txt</a:t>
            </a:r>
          </a:p>
        </p:txBody>
      </p:sp>
      <p:sp>
        <p:nvSpPr>
          <p:cNvPr id="12" name="TextBox 11"/>
          <p:cNvSpPr txBox="1"/>
          <p:nvPr/>
        </p:nvSpPr>
        <p:spPr>
          <a:xfrm>
            <a:off x="4572000" y="5074920"/>
            <a:ext cx="3108960" cy="822960"/>
          </a:xfrm>
          <a:prstGeom prst="rect">
            <a:avLst/>
          </a:prstGeom>
          <a:noFill/>
        </p:spPr>
        <p:txBody>
          <a:bodyPr wrap="square" lIns="0" rIns="0" tIns="0" bIns="0" anchor="t"/>
          <a:lstStyle/>
          <a:p>
            <a:pPr algn="l">
              <a:spcAft>
                <a:spcPts val="200"/>
              </a:spcAft>
            </a:pPr>
            <a:r>
              <a:rPr sz="1500" b="0">
                <a:solidFill>
                  <a:srgbClr val="1B2733"/>
                </a:solidFill>
                <a:latin typeface="Arial"/>
              </a:rPr>
              <a:t>13.096 dòng</a:t>
            </a:r>
          </a:p>
          <a:p>
            <a:pPr algn="l">
              <a:spcAft>
                <a:spcPts val="200"/>
              </a:spcAft>
            </a:pPr>
            <a:r>
              <a:rPr sz="1500" b="0">
                <a:solidFill>
                  <a:srgbClr val="1B2733"/>
                </a:solidFill>
                <a:latin typeface="Arial"/>
              </a:rPr>
              <a:t>bị cắt trước khi hỏng</a:t>
            </a:r>
          </a:p>
        </p:txBody>
      </p:sp>
      <p:sp>
        <p:nvSpPr>
          <p:cNvPr id="13" name="Rounded Rectangle 12"/>
          <p:cNvSpPr/>
          <p:nvPr/>
        </p:nvSpPr>
        <p:spPr>
          <a:xfrm>
            <a:off x="7973568" y="4572000"/>
            <a:ext cx="3383280" cy="137160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0" y="4663440"/>
            <a:ext cx="3108960" cy="365760"/>
          </a:xfrm>
          <a:prstGeom prst="rect">
            <a:avLst/>
          </a:prstGeom>
          <a:noFill/>
        </p:spPr>
        <p:txBody>
          <a:bodyPr wrap="square" lIns="0" rIns="0" tIns="0" bIns="0" anchor="t"/>
          <a:lstStyle/>
          <a:p>
            <a:pPr algn="l">
              <a:spcAft>
                <a:spcPts val="0"/>
              </a:spcAft>
            </a:pPr>
            <a:r>
              <a:rPr sz="1500" b="1">
                <a:solidFill>
                  <a:srgbClr val="21409A"/>
                </a:solidFill>
                <a:latin typeface="Consolas"/>
              </a:rPr>
              <a:t>RUL_FD001.txt</a:t>
            </a:r>
          </a:p>
        </p:txBody>
      </p:sp>
      <p:sp>
        <p:nvSpPr>
          <p:cNvPr id="15" name="TextBox 14"/>
          <p:cNvSpPr txBox="1"/>
          <p:nvPr/>
        </p:nvSpPr>
        <p:spPr>
          <a:xfrm>
            <a:off x="8138160" y="5074920"/>
            <a:ext cx="3108960" cy="822960"/>
          </a:xfrm>
          <a:prstGeom prst="rect">
            <a:avLst/>
          </a:prstGeom>
          <a:noFill/>
        </p:spPr>
        <p:txBody>
          <a:bodyPr wrap="square" lIns="0" rIns="0" tIns="0" bIns="0" anchor="t"/>
          <a:lstStyle/>
          <a:p>
            <a:pPr algn="l">
              <a:spcAft>
                <a:spcPts val="200"/>
              </a:spcAft>
            </a:pPr>
            <a:r>
              <a:rPr sz="1500" b="0">
                <a:solidFill>
                  <a:srgbClr val="1B2733"/>
                </a:solidFill>
                <a:latin typeface="Arial"/>
              </a:rPr>
              <a:t>100 dòng</a:t>
            </a:r>
          </a:p>
          <a:p>
            <a:pPr algn="l">
              <a:spcAft>
                <a:spcPts val="200"/>
              </a:spcAft>
            </a:pPr>
            <a:r>
              <a:rPr sz="1500" b="0">
                <a:solidFill>
                  <a:srgbClr val="1B2733"/>
                </a:solidFill>
                <a:latin typeface="Arial"/>
              </a:rPr>
              <a:t>RUL thật của test, chỉ dùng để chấm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Dữ liệu đầy đủ; tuổi thọ động cơ từ 128 đến 362 cycle</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6 / 20</a:t>
            </a:r>
          </a:p>
        </p:txBody>
      </p:sp>
      <p:pic>
        <p:nvPicPr>
          <p:cNvPr id="5" name="Picture 4" descr="image.png"/>
          <p:cNvPicPr>
            <a:picLocks noChangeAspect="1"/>
          </p:cNvPicPr>
          <p:nvPr/>
        </p:nvPicPr>
        <p:blipFill>
          <a:blip r:embed="rId3"/>
          <a:stretch>
            <a:fillRect/>
          </a:stretch>
        </p:blipFill>
        <p:spPr>
          <a:xfrm>
            <a:off x="1453947" y="1828799"/>
            <a:ext cx="9290200" cy="3154680"/>
          </a:xfrm>
          <a:prstGeom prst="rect">
            <a:avLst/>
          </a:prstGeom>
        </p:spPr>
      </p:pic>
      <p:sp>
        <p:nvSpPr>
          <p:cNvPr id="6" name="TextBox 5"/>
          <p:cNvSpPr txBox="1"/>
          <p:nvPr/>
        </p:nvSpPr>
        <p:spPr>
          <a:xfrm>
            <a:off x="84124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0</a:t>
            </a:r>
          </a:p>
        </p:txBody>
      </p:sp>
      <p:sp>
        <p:nvSpPr>
          <p:cNvPr id="7" name="TextBox 6"/>
          <p:cNvSpPr txBox="1"/>
          <p:nvPr/>
        </p:nvSpPr>
        <p:spPr>
          <a:xfrm>
            <a:off x="84124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giá trị thiếu</a:t>
            </a:r>
          </a:p>
        </p:txBody>
      </p:sp>
      <p:sp>
        <p:nvSpPr>
          <p:cNvPr id="8" name="TextBox 7"/>
          <p:cNvSpPr txBox="1"/>
          <p:nvPr/>
        </p:nvSpPr>
        <p:spPr>
          <a:xfrm>
            <a:off x="440740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0</a:t>
            </a:r>
          </a:p>
        </p:txBody>
      </p:sp>
      <p:sp>
        <p:nvSpPr>
          <p:cNvPr id="9" name="TextBox 8"/>
          <p:cNvSpPr txBox="1"/>
          <p:nvPr/>
        </p:nvSpPr>
        <p:spPr>
          <a:xfrm>
            <a:off x="440740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khóa trùng hoặc cycle bị ngắt quãng</a:t>
            </a:r>
          </a:p>
        </p:txBody>
      </p:sp>
      <p:sp>
        <p:nvSpPr>
          <p:cNvPr id="10" name="TextBox 9"/>
          <p:cNvSpPr txBox="1"/>
          <p:nvPr/>
        </p:nvSpPr>
        <p:spPr>
          <a:xfrm>
            <a:off x="7973568" y="5074920"/>
            <a:ext cx="3383280" cy="548640"/>
          </a:xfrm>
          <a:prstGeom prst="rect">
            <a:avLst/>
          </a:prstGeom>
          <a:noFill/>
        </p:spPr>
        <p:txBody>
          <a:bodyPr wrap="square" lIns="0" rIns="0" tIns="0" bIns="0" anchor="b"/>
          <a:lstStyle/>
          <a:p>
            <a:pPr algn="l">
              <a:spcAft>
                <a:spcPts val="0"/>
              </a:spcAft>
            </a:pPr>
            <a:r>
              <a:rPr sz="3000" b="1">
                <a:solidFill>
                  <a:srgbClr val="B37800"/>
                </a:solidFill>
                <a:latin typeface="Arial"/>
              </a:rPr>
              <a:t>7</a:t>
            </a:r>
          </a:p>
        </p:txBody>
      </p:sp>
      <p:sp>
        <p:nvSpPr>
          <p:cNvPr id="11" name="TextBox 10"/>
          <p:cNvSpPr txBox="1"/>
          <p:nvPr/>
        </p:nvSpPr>
        <p:spPr>
          <a:xfrm>
            <a:off x="797356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cột không đổi ở cả 100 động cơ, không mang thông tin suy giảm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Dữ liệu được tổ chức theo ba lớp Bronze, Silver, Gold</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7 / 20</a:t>
            </a:r>
          </a:p>
        </p:txBody>
      </p:sp>
      <p:pic>
        <p:nvPicPr>
          <p:cNvPr id="5" name="Picture 4" descr="image.png"/>
          <p:cNvPicPr>
            <a:picLocks noChangeAspect="1"/>
          </p:cNvPicPr>
          <p:nvPr/>
        </p:nvPicPr>
        <p:blipFill>
          <a:blip r:embed="rId3"/>
          <a:stretch>
            <a:fillRect/>
          </a:stretch>
        </p:blipFill>
        <p:spPr>
          <a:xfrm>
            <a:off x="841248" y="1874519"/>
            <a:ext cx="6949440" cy="4249339"/>
          </a:xfrm>
          <a:prstGeom prst="rect">
            <a:avLst/>
          </a:prstGeom>
        </p:spPr>
      </p:pic>
      <p:sp>
        <p:nvSpPr>
          <p:cNvPr id="6" name="Rounded Rectangle 5"/>
          <p:cNvSpPr/>
          <p:nvPr/>
        </p:nvSpPr>
        <p:spPr>
          <a:xfrm>
            <a:off x="8092440" y="2011680"/>
            <a:ext cx="3264408" cy="11887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75320" y="2103120"/>
            <a:ext cx="2926080" cy="365760"/>
          </a:xfrm>
          <a:prstGeom prst="rect">
            <a:avLst/>
          </a:prstGeom>
          <a:noFill/>
        </p:spPr>
        <p:txBody>
          <a:bodyPr wrap="square" lIns="0" rIns="0" tIns="0" bIns="0" anchor="t"/>
          <a:lstStyle/>
          <a:p>
            <a:pPr algn="l">
              <a:spcAft>
                <a:spcPts val="0"/>
              </a:spcAft>
            </a:pPr>
            <a:r>
              <a:rPr sz="1700" b="1">
                <a:solidFill>
                  <a:srgbClr val="21409A"/>
                </a:solidFill>
                <a:latin typeface="Arial"/>
              </a:rPr>
              <a:t>Bronze</a:t>
            </a:r>
          </a:p>
        </p:txBody>
      </p:sp>
      <p:sp>
        <p:nvSpPr>
          <p:cNvPr id="8" name="TextBox 7"/>
          <p:cNvSpPr txBox="1"/>
          <p:nvPr/>
        </p:nvSpPr>
        <p:spPr>
          <a:xfrm>
            <a:off x="8275320" y="2468880"/>
            <a:ext cx="2971800" cy="731520"/>
          </a:xfrm>
          <a:prstGeom prst="rect">
            <a:avLst/>
          </a:prstGeom>
          <a:noFill/>
        </p:spPr>
        <p:txBody>
          <a:bodyPr wrap="square" lIns="0" rIns="0" tIns="0" bIns="0" anchor="t"/>
          <a:lstStyle/>
          <a:p>
            <a:pPr algn="l">
              <a:spcAft>
                <a:spcPts val="0"/>
              </a:spcAft>
            </a:pPr>
            <a:r>
              <a:rPr sz="1300" b="0">
                <a:solidFill>
                  <a:srgbClr val="1B2733"/>
                </a:solidFill>
                <a:latin typeface="Arial"/>
              </a:rPr>
              <a:t>File text gốc, giữ nguyên, không ghi đè</a:t>
            </a:r>
          </a:p>
        </p:txBody>
      </p:sp>
      <p:sp>
        <p:nvSpPr>
          <p:cNvPr id="9" name="Rounded Rectangle 8"/>
          <p:cNvSpPr/>
          <p:nvPr/>
        </p:nvSpPr>
        <p:spPr>
          <a:xfrm>
            <a:off x="8092440" y="3337560"/>
            <a:ext cx="3264408" cy="11887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3429000"/>
            <a:ext cx="2926080" cy="365760"/>
          </a:xfrm>
          <a:prstGeom prst="rect">
            <a:avLst/>
          </a:prstGeom>
          <a:noFill/>
        </p:spPr>
        <p:txBody>
          <a:bodyPr wrap="square" lIns="0" rIns="0" tIns="0" bIns="0" anchor="t"/>
          <a:lstStyle/>
          <a:p>
            <a:pPr algn="l">
              <a:spcAft>
                <a:spcPts val="0"/>
              </a:spcAft>
            </a:pPr>
            <a:r>
              <a:rPr sz="1700" b="1">
                <a:solidFill>
                  <a:srgbClr val="21409A"/>
                </a:solidFill>
                <a:latin typeface="Arial"/>
              </a:rPr>
              <a:t>Silver</a:t>
            </a:r>
          </a:p>
        </p:txBody>
      </p:sp>
      <p:sp>
        <p:nvSpPr>
          <p:cNvPr id="11" name="TextBox 10"/>
          <p:cNvSpPr txBox="1"/>
          <p:nvPr/>
        </p:nvSpPr>
        <p:spPr>
          <a:xfrm>
            <a:off x="8275320" y="3794760"/>
            <a:ext cx="2971800" cy="731520"/>
          </a:xfrm>
          <a:prstGeom prst="rect">
            <a:avLst/>
          </a:prstGeom>
          <a:noFill/>
        </p:spPr>
        <p:txBody>
          <a:bodyPr wrap="square" lIns="0" rIns="0" tIns="0" bIns="0" anchor="t"/>
          <a:lstStyle/>
          <a:p>
            <a:pPr algn="l">
              <a:spcAft>
                <a:spcPts val="0"/>
              </a:spcAft>
            </a:pPr>
            <a:r>
              <a:rPr sz="1300" b="0">
                <a:solidFill>
                  <a:srgbClr val="1B2733"/>
                </a:solidFill>
                <a:latin typeface="Arial"/>
              </a:rPr>
              <a:t>Bảng đã kiểm tra: 33.727 × 27, Parquet</a:t>
            </a:r>
          </a:p>
        </p:txBody>
      </p:sp>
      <p:sp>
        <p:nvSpPr>
          <p:cNvPr id="12" name="Rounded Rectangle 11"/>
          <p:cNvSpPr/>
          <p:nvPr/>
        </p:nvSpPr>
        <p:spPr>
          <a:xfrm>
            <a:off x="8092440" y="4663440"/>
            <a:ext cx="3264408" cy="11887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20" y="4754879"/>
            <a:ext cx="2926080" cy="365760"/>
          </a:xfrm>
          <a:prstGeom prst="rect">
            <a:avLst/>
          </a:prstGeom>
          <a:noFill/>
        </p:spPr>
        <p:txBody>
          <a:bodyPr wrap="square" lIns="0" rIns="0" tIns="0" bIns="0" anchor="t"/>
          <a:lstStyle/>
          <a:p>
            <a:pPr algn="l">
              <a:spcAft>
                <a:spcPts val="0"/>
              </a:spcAft>
            </a:pPr>
            <a:r>
              <a:rPr sz="1700" b="1">
                <a:solidFill>
                  <a:srgbClr val="21409A"/>
                </a:solidFill>
                <a:latin typeface="Arial"/>
              </a:rPr>
              <a:t>Gold</a:t>
            </a:r>
          </a:p>
        </p:txBody>
      </p:sp>
      <p:sp>
        <p:nvSpPr>
          <p:cNvPr id="14" name="TextBox 13"/>
          <p:cNvSpPr txBox="1"/>
          <p:nvPr/>
        </p:nvSpPr>
        <p:spPr>
          <a:xfrm>
            <a:off x="8275320" y="5120640"/>
            <a:ext cx="2971800" cy="731520"/>
          </a:xfrm>
          <a:prstGeom prst="rect">
            <a:avLst/>
          </a:prstGeom>
          <a:noFill/>
        </p:spPr>
        <p:txBody>
          <a:bodyPr wrap="square" lIns="0" rIns="0" tIns="0" bIns="0" anchor="t"/>
          <a:lstStyle/>
          <a:p>
            <a:pPr algn="l">
              <a:spcAft>
                <a:spcPts val="0"/>
              </a:spcAft>
            </a:pPr>
            <a:r>
              <a:rPr sz="1300" b="0">
                <a:solidFill>
                  <a:srgbClr val="1B2733"/>
                </a:solidFill>
                <a:latin typeface="Arial"/>
              </a:rPr>
              <a:t>Bảng tổng hợp 200 × 5 (Parquet, SQLite); đặc trưng 27.927 × 129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MapReduce đọc dữ liệu từ HDFS, khớp Pandas 200/200 động cơ</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8 / 20</a:t>
            </a:r>
          </a:p>
        </p:txBody>
      </p:sp>
      <p:pic>
        <p:nvPicPr>
          <p:cNvPr id="5" name="Picture 4" descr="image.png"/>
          <p:cNvPicPr>
            <a:picLocks noChangeAspect="1"/>
          </p:cNvPicPr>
          <p:nvPr/>
        </p:nvPicPr>
        <p:blipFill>
          <a:blip r:embed="rId3"/>
          <a:stretch>
            <a:fillRect/>
          </a:stretch>
        </p:blipFill>
        <p:spPr>
          <a:xfrm>
            <a:off x="841248" y="1874519"/>
            <a:ext cx="6949440" cy="2808853"/>
          </a:xfrm>
          <a:prstGeom prst="rect">
            <a:avLst/>
          </a:prstGeom>
        </p:spPr>
      </p:pic>
      <p:sp>
        <p:nvSpPr>
          <p:cNvPr id="6" name="Rounded Rectangle 5"/>
          <p:cNvSpPr/>
          <p:nvPr/>
        </p:nvSpPr>
        <p:spPr>
          <a:xfrm>
            <a:off x="841248" y="4846320"/>
            <a:ext cx="6949440" cy="1234440"/>
          </a:xfrm>
          <a:prstGeom prst="roundRect">
            <a:avLst>
              <a:gd name="adj" fmla="val 8000"/>
            </a:avLst>
          </a:prstGeom>
          <a:solidFill>
            <a:srgbClr val="F4F6FA"/>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8" y="4937759"/>
            <a:ext cx="6675120" cy="1051560"/>
          </a:xfrm>
          <a:prstGeom prst="rect">
            <a:avLst/>
          </a:prstGeom>
          <a:noFill/>
        </p:spPr>
        <p:txBody>
          <a:bodyPr wrap="square" lIns="0" rIns="0" tIns="0" bIns="0" anchor="t"/>
          <a:lstStyle/>
          <a:p>
            <a:pPr algn="l">
              <a:spcAft>
                <a:spcPts val="100"/>
              </a:spcAft>
            </a:pPr>
            <a:r>
              <a:rPr sz="1100" b="0">
                <a:solidFill>
                  <a:srgbClr val="1B2733"/>
                </a:solidFill>
                <a:latin typeface="Consolas"/>
              </a:rPr>
              <a:t>$ hdfs dfs -ls -R /cmapss</a:t>
            </a:r>
          </a:p>
          <a:p>
            <a:pPr algn="l">
              <a:spcAft>
                <a:spcPts val="100"/>
              </a:spcAft>
            </a:pPr>
            <a:r>
              <a:rPr sz="1100" b="0">
                <a:solidFill>
                  <a:srgbClr val="1B2733"/>
                </a:solidFill>
                <a:latin typeface="Consolas"/>
              </a:rPr>
              <a:t>/cmapss/bronze/fd001/train_FD001.txt</a:t>
            </a:r>
          </a:p>
          <a:p>
            <a:pPr algn="l">
              <a:spcAft>
                <a:spcPts val="100"/>
              </a:spcAft>
            </a:pPr>
            <a:r>
              <a:rPr sz="1100" b="0">
                <a:solidFill>
                  <a:srgbClr val="1B2733"/>
                </a:solidFill>
                <a:latin typeface="Consolas"/>
              </a:rPr>
              <a:t>/cmapss/silver/observations/split=train/part-00000-….snappy.parquet</a:t>
            </a:r>
          </a:p>
          <a:p>
            <a:pPr algn="l">
              <a:spcAft>
                <a:spcPts val="100"/>
              </a:spcAft>
            </a:pPr>
            <a:r>
              <a:rPr sz="1100" b="0">
                <a:solidFill>
                  <a:srgbClr val="1B2733"/>
                </a:solidFill>
                <a:latin typeface="Consolas"/>
              </a:rPr>
              <a:t>$ hdfs fsck /cmapss   →   6 block, HEALTHY</a:t>
            </a:r>
          </a:p>
        </p:txBody>
      </p:sp>
      <p:sp>
        <p:nvSpPr>
          <p:cNvPr id="8" name="TextBox 7"/>
          <p:cNvSpPr txBox="1"/>
          <p:nvPr/>
        </p:nvSpPr>
        <p:spPr>
          <a:xfrm>
            <a:off x="8138160" y="2103120"/>
            <a:ext cx="3200400" cy="640080"/>
          </a:xfrm>
          <a:prstGeom prst="rect">
            <a:avLst/>
          </a:prstGeom>
          <a:noFill/>
        </p:spPr>
        <p:txBody>
          <a:bodyPr wrap="square" lIns="0" rIns="0" tIns="0" bIns="0" anchor="b"/>
          <a:lstStyle/>
          <a:p>
            <a:pPr algn="l">
              <a:spcAft>
                <a:spcPts val="0"/>
              </a:spcAft>
            </a:pPr>
            <a:r>
              <a:rPr sz="3400" b="1">
                <a:solidFill>
                  <a:srgbClr val="21409A"/>
                </a:solidFill>
                <a:latin typeface="Arial"/>
              </a:rPr>
              <a:t>4 task</a:t>
            </a:r>
          </a:p>
        </p:txBody>
      </p:sp>
      <p:sp>
        <p:nvSpPr>
          <p:cNvPr id="9" name="TextBox 8"/>
          <p:cNvSpPr txBox="1"/>
          <p:nvPr/>
        </p:nvSpPr>
        <p:spPr>
          <a:xfrm>
            <a:off x="8138160" y="2779776"/>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3 map task và 1 reduce task chạy trên YARN</a:t>
            </a:r>
          </a:p>
        </p:txBody>
      </p:sp>
      <p:sp>
        <p:nvSpPr>
          <p:cNvPr id="10" name="TextBox 9"/>
          <p:cNvSpPr txBox="1"/>
          <p:nvPr/>
        </p:nvSpPr>
        <p:spPr>
          <a:xfrm>
            <a:off x="8138160" y="3383279"/>
            <a:ext cx="3200400" cy="640080"/>
          </a:xfrm>
          <a:prstGeom prst="rect">
            <a:avLst/>
          </a:prstGeom>
          <a:noFill/>
        </p:spPr>
        <p:txBody>
          <a:bodyPr wrap="square" lIns="0" rIns="0" tIns="0" bIns="0" anchor="b"/>
          <a:lstStyle/>
          <a:p>
            <a:pPr algn="l">
              <a:spcAft>
                <a:spcPts val="0"/>
              </a:spcAft>
            </a:pPr>
            <a:r>
              <a:rPr sz="3400" b="1">
                <a:solidFill>
                  <a:srgbClr val="21409A"/>
                </a:solidFill>
                <a:latin typeface="Arial"/>
              </a:rPr>
              <a:t>33.727 → 200</a:t>
            </a:r>
          </a:p>
        </p:txBody>
      </p:sp>
      <p:sp>
        <p:nvSpPr>
          <p:cNvPr id="11" name="TextBox 10"/>
          <p:cNvSpPr txBox="1"/>
          <p:nvPr/>
        </p:nvSpPr>
        <p:spPr>
          <a:xfrm>
            <a:off x="8138160" y="4059935"/>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bản ghi đầu vào → dòng tổng hợp đầu ra</a:t>
            </a:r>
          </a:p>
        </p:txBody>
      </p:sp>
      <p:sp>
        <p:nvSpPr>
          <p:cNvPr id="12" name="TextBox 11"/>
          <p:cNvSpPr txBox="1"/>
          <p:nvPr/>
        </p:nvSpPr>
        <p:spPr>
          <a:xfrm>
            <a:off x="8138160" y="4663440"/>
            <a:ext cx="3200400" cy="640080"/>
          </a:xfrm>
          <a:prstGeom prst="rect">
            <a:avLst/>
          </a:prstGeom>
          <a:noFill/>
        </p:spPr>
        <p:txBody>
          <a:bodyPr wrap="square" lIns="0" rIns="0" tIns="0" bIns="0" anchor="b"/>
          <a:lstStyle/>
          <a:p>
            <a:pPr algn="l">
              <a:spcAft>
                <a:spcPts val="0"/>
              </a:spcAft>
            </a:pPr>
            <a:r>
              <a:rPr sz="3400" b="1">
                <a:solidFill>
                  <a:srgbClr val="21409A"/>
                </a:solidFill>
                <a:latin typeface="Arial"/>
              </a:rPr>
              <a:t>200/200</a:t>
            </a:r>
          </a:p>
        </p:txBody>
      </p:sp>
      <p:sp>
        <p:nvSpPr>
          <p:cNvPr id="13" name="TextBox 12"/>
          <p:cNvSpPr txBox="1"/>
          <p:nvPr/>
        </p:nvSpPr>
        <p:spPr>
          <a:xfrm>
            <a:off x="8138160" y="5340096"/>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động cơ khớp với kết quả Pandas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PySpark cho kết quả trùng khớp với Pandas</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9 / 20</a:t>
            </a:r>
          </a:p>
        </p:txBody>
      </p:sp>
      <p:graphicFrame>
        <p:nvGraphicFramePr>
          <p:cNvPr id="5" name="Table 4"/>
          <p:cNvGraphicFramePr>
            <a:graphicFrameLocks noGrp="1"/>
          </p:cNvGraphicFramePr>
          <p:nvPr/>
        </p:nvGraphicFramePr>
        <p:xfrm>
          <a:off x="841248" y="2011680"/>
          <a:ext cx="5943600" cy="2286000"/>
        </p:xfrm>
        <a:graphic>
          <a:graphicData uri="http://schemas.openxmlformats.org/drawingml/2006/table">
            <a:tbl>
              <a:tblPr firstRow="1" bandRow="1">
                <a:tableStyleId>{5C22544A-7EE6-4342-B048-85BDC9FD1C3A}</a:tableStyleId>
              </a:tblPr>
              <a:tblGrid>
                <a:gridCol w="2377440"/>
                <a:gridCol w="1051560"/>
                <a:gridCol w="1600200"/>
                <a:gridCol w="914400"/>
              </a:tblGrid>
              <a:tr h="457200">
                <a:tc>
                  <a:txBody>
                    <a:bodyPr wrap="square"/>
                    <a:lstStyle/>
                    <a:p>
                      <a:r>
                        <a:rPr sz="1300" b="1">
                          <a:solidFill>
                            <a:srgbClr val="FFFFFF"/>
                          </a:solidFill>
                          <a:latin typeface="Arial"/>
                        </a:rPr>
                        <a:t>Bảng</a:t>
                      </a:r>
                    </a:p>
                  </a:txBody>
                  <a:tcPr marL="73152" marR="73152" marT="27432" marB="27432" anchor="ctr">
                    <a:solidFill>
                      <a:srgbClr val="21409A"/>
                    </a:solidFill>
                  </a:tcPr>
                </a:tc>
                <a:tc>
                  <a:txBody>
                    <a:bodyPr wrap="square"/>
                    <a:lstStyle/>
                    <a:p>
                      <a:r>
                        <a:rPr sz="1300" b="1">
                          <a:solidFill>
                            <a:srgbClr val="FFFFFF"/>
                          </a:solidFill>
                          <a:latin typeface="Arial"/>
                        </a:rPr>
                        <a:t>Số dòng</a:t>
                      </a:r>
                    </a:p>
                  </a:txBody>
                  <a:tcPr marL="73152" marR="73152" marT="27432" marB="27432" anchor="ctr">
                    <a:solidFill>
                      <a:srgbClr val="21409A"/>
                    </a:solidFill>
                  </a:tcPr>
                </a:tc>
                <a:tc>
                  <a:txBody>
                    <a:bodyPr wrap="square"/>
                    <a:lstStyle/>
                    <a:p>
                      <a:r>
                        <a:rPr sz="1300" b="1">
                          <a:solidFill>
                            <a:srgbClr val="FFFFFF"/>
                          </a:solidFill>
                          <a:latin typeface="Arial"/>
                        </a:rPr>
                        <a:t>Sai khác lớn nhất</a:t>
                      </a:r>
                    </a:p>
                  </a:txBody>
                  <a:tcPr marL="73152" marR="73152" marT="27432" marB="27432" anchor="ctr">
                    <a:solidFill>
                      <a:srgbClr val="21409A"/>
                    </a:solidFill>
                  </a:tcPr>
                </a:tc>
                <a:tc>
                  <a:txBody>
                    <a:bodyPr wrap="square"/>
                    <a:lstStyle/>
                    <a:p>
                      <a:r>
                        <a:rPr sz="1300" b="1">
                          <a:solidFill>
                            <a:srgbClr val="FFFFFF"/>
                          </a:solidFill>
                          <a:latin typeface="Arial"/>
                        </a:rPr>
                        <a:t>Kết quả</a:t>
                      </a:r>
                    </a:p>
                  </a:txBody>
                  <a:tcPr marL="73152" marR="73152" marT="27432" marB="27432" anchor="ctr">
                    <a:solidFill>
                      <a:srgbClr val="21409A"/>
                    </a:solidFill>
                  </a:tcPr>
                </a:tc>
              </a:tr>
              <a:tr h="457200">
                <a:tc>
                  <a:txBody>
                    <a:bodyPr wrap="square"/>
                    <a:lstStyle/>
                    <a:p>
                      <a:r>
                        <a:rPr sz="1300" b="0">
                          <a:solidFill>
                            <a:srgbClr val="1B2733"/>
                          </a:solidFill>
                          <a:latin typeface="Arial"/>
                        </a:rPr>
                        <a:t>observations (Silver)</a:t>
                      </a:r>
                    </a:p>
                  </a:txBody>
                  <a:tcPr marL="73152" marR="73152" marT="27432" marB="27432" anchor="ctr">
                    <a:solidFill>
                      <a:srgbClr val="FFFFFF"/>
                    </a:solidFill>
                  </a:tcPr>
                </a:tc>
                <a:tc>
                  <a:txBody>
                    <a:bodyPr wrap="square"/>
                    <a:lstStyle/>
                    <a:p>
                      <a:pPr algn="r"/>
                      <a:r>
                        <a:rPr sz="1300" b="0">
                          <a:solidFill>
                            <a:srgbClr val="1B2733"/>
                          </a:solidFill>
                          <a:latin typeface="Arial"/>
                        </a:rPr>
                        <a:t>33.727</a:t>
                      </a:r>
                    </a:p>
                  </a:txBody>
                  <a:tcPr marL="73152" marR="73152" marT="27432" marB="27432" anchor="ctr">
                    <a:solidFill>
                      <a:srgbClr val="FFFFFF"/>
                    </a:solidFill>
                  </a:tcPr>
                </a:tc>
                <a:tc>
                  <a:txBody>
                    <a:bodyPr wrap="square"/>
                    <a:lstStyle/>
                    <a:p>
                      <a:pPr algn="r"/>
                      <a:r>
                        <a:rPr sz="1300" b="0">
                          <a:solidFill>
                            <a:srgbClr val="1B2733"/>
                          </a:solidFill>
                          <a:latin typeface="Arial"/>
                        </a:rPr>
                        <a:t>0</a:t>
                      </a:r>
                    </a:p>
                  </a:txBody>
                  <a:tcPr marL="73152" marR="73152" marT="27432" marB="27432" anchor="ctr">
                    <a:solidFill>
                      <a:srgbClr val="FFFFFF"/>
                    </a:solidFill>
                  </a:tcPr>
                </a:tc>
                <a:tc>
                  <a:txBody>
                    <a:bodyPr wrap="square"/>
                    <a:lstStyle/>
                    <a:p>
                      <a:pPr algn="r"/>
                      <a:r>
                        <a:rPr sz="1300" b="0">
                          <a:solidFill>
                            <a:srgbClr val="1B2733"/>
                          </a:solidFill>
                          <a:latin typeface="Arial"/>
                        </a:rPr>
                        <a:t>Khớp</a:t>
                      </a:r>
                    </a:p>
                  </a:txBody>
                  <a:tcPr marL="73152" marR="73152" marT="27432" marB="27432" anchor="ctr">
                    <a:solidFill>
                      <a:srgbClr val="FFFFFF"/>
                    </a:solidFill>
                  </a:tcPr>
                </a:tc>
              </a:tr>
              <a:tr h="457200">
                <a:tc>
                  <a:txBody>
                    <a:bodyPr wrap="square"/>
                    <a:lstStyle/>
                    <a:p>
                      <a:r>
                        <a:rPr sz="1300" b="0">
                          <a:solidFill>
                            <a:srgbClr val="1B2733"/>
                          </a:solidFill>
                          <a:latin typeface="Arial"/>
                        </a:rPr>
                        <a:t>train_targets (Silver)</a:t>
                      </a:r>
                    </a:p>
                  </a:txBody>
                  <a:tcPr marL="73152" marR="73152" marT="27432" marB="27432" anchor="ctr">
                    <a:solidFill>
                      <a:srgbClr val="EAF0FA"/>
                    </a:solidFill>
                  </a:tcPr>
                </a:tc>
                <a:tc>
                  <a:txBody>
                    <a:bodyPr wrap="square"/>
                    <a:lstStyle/>
                    <a:p>
                      <a:pPr algn="r"/>
                      <a:r>
                        <a:rPr sz="1300" b="0">
                          <a:solidFill>
                            <a:srgbClr val="1B2733"/>
                          </a:solidFill>
                          <a:latin typeface="Arial"/>
                        </a:rPr>
                        <a:t>20.631</a:t>
                      </a:r>
                    </a:p>
                  </a:txBody>
                  <a:tcPr marL="73152" marR="73152" marT="27432" marB="27432" anchor="ctr">
                    <a:solidFill>
                      <a:srgbClr val="EAF0FA"/>
                    </a:solidFill>
                  </a:tcPr>
                </a:tc>
                <a:tc>
                  <a:txBody>
                    <a:bodyPr wrap="square"/>
                    <a:lstStyle/>
                    <a:p>
                      <a:pPr algn="r"/>
                      <a:r>
                        <a:rPr sz="1300" b="0">
                          <a:solidFill>
                            <a:srgbClr val="1B2733"/>
                          </a:solidFill>
                          <a:latin typeface="Arial"/>
                        </a:rPr>
                        <a:t>0</a:t>
                      </a:r>
                    </a:p>
                  </a:txBody>
                  <a:tcPr marL="73152" marR="73152" marT="27432" marB="27432" anchor="ctr">
                    <a:solidFill>
                      <a:srgbClr val="EAF0FA"/>
                    </a:solidFill>
                  </a:tcPr>
                </a:tc>
                <a:tc>
                  <a:txBody>
                    <a:bodyPr wrap="square"/>
                    <a:lstStyle/>
                    <a:p>
                      <a:pPr algn="r"/>
                      <a:r>
                        <a:rPr sz="1300" b="0">
                          <a:solidFill>
                            <a:srgbClr val="1B2733"/>
                          </a:solidFill>
                          <a:latin typeface="Arial"/>
                        </a:rPr>
                        <a:t>Khớp</a:t>
                      </a:r>
                    </a:p>
                  </a:txBody>
                  <a:tcPr marL="73152" marR="73152" marT="27432" marB="27432" anchor="ctr">
                    <a:solidFill>
                      <a:srgbClr val="EAF0FA"/>
                    </a:solidFill>
                  </a:tcPr>
                </a:tc>
              </a:tr>
              <a:tr h="457200">
                <a:tc>
                  <a:txBody>
                    <a:bodyPr wrap="square"/>
                    <a:lstStyle/>
                    <a:p>
                      <a:r>
                        <a:rPr sz="1300" b="0">
                          <a:solidFill>
                            <a:srgbClr val="1B2733"/>
                          </a:solidFill>
                          <a:latin typeface="Arial"/>
                        </a:rPr>
                        <a:t>engine_summary (Gold)</a:t>
                      </a:r>
                    </a:p>
                  </a:txBody>
                  <a:tcPr marL="73152" marR="73152" marT="27432" marB="27432" anchor="ctr">
                    <a:solidFill>
                      <a:srgbClr val="FFFFFF"/>
                    </a:solidFill>
                  </a:tcPr>
                </a:tc>
                <a:tc>
                  <a:txBody>
                    <a:bodyPr wrap="square"/>
                    <a:lstStyle/>
                    <a:p>
                      <a:pPr algn="r"/>
                      <a:r>
                        <a:rPr sz="1300" b="0">
                          <a:solidFill>
                            <a:srgbClr val="1B2733"/>
                          </a:solidFill>
                          <a:latin typeface="Arial"/>
                        </a:rPr>
                        <a:t>200</a:t>
                      </a:r>
                    </a:p>
                  </a:txBody>
                  <a:tcPr marL="73152" marR="73152" marT="27432" marB="27432" anchor="ctr">
                    <a:solidFill>
                      <a:srgbClr val="FFFFFF"/>
                    </a:solidFill>
                  </a:tcPr>
                </a:tc>
                <a:tc>
                  <a:txBody>
                    <a:bodyPr wrap="square"/>
                    <a:lstStyle/>
                    <a:p>
                      <a:pPr algn="r"/>
                      <a:r>
                        <a:rPr sz="1300" b="0">
                          <a:solidFill>
                            <a:srgbClr val="1B2733"/>
                          </a:solidFill>
                          <a:latin typeface="Arial"/>
                        </a:rPr>
                        <a:t>0</a:t>
                      </a:r>
                    </a:p>
                  </a:txBody>
                  <a:tcPr marL="73152" marR="73152" marT="27432" marB="27432" anchor="ctr">
                    <a:solidFill>
                      <a:srgbClr val="FFFFFF"/>
                    </a:solidFill>
                  </a:tcPr>
                </a:tc>
                <a:tc>
                  <a:txBody>
                    <a:bodyPr wrap="square"/>
                    <a:lstStyle/>
                    <a:p>
                      <a:pPr algn="r"/>
                      <a:r>
                        <a:rPr sz="1300" b="0">
                          <a:solidFill>
                            <a:srgbClr val="1B2733"/>
                          </a:solidFill>
                          <a:latin typeface="Arial"/>
                        </a:rPr>
                        <a:t>Khớp</a:t>
                      </a:r>
                    </a:p>
                  </a:txBody>
                  <a:tcPr marL="73152" marR="73152" marT="27432" marB="27432" anchor="ctr">
                    <a:solidFill>
                      <a:srgbClr val="FFFFFF"/>
                    </a:solidFill>
                  </a:tcPr>
                </a:tc>
              </a:tr>
              <a:tr h="457200">
                <a:tc>
                  <a:txBody>
                    <a:bodyPr wrap="square"/>
                    <a:lstStyle/>
                    <a:p>
                      <a:r>
                        <a:rPr sz="1300" b="0">
                          <a:solidFill>
                            <a:srgbClr val="1B2733"/>
                          </a:solidFill>
                          <a:latin typeface="Arial"/>
                        </a:rPr>
                        <a:t>rolling_features (Gold)</a:t>
                      </a:r>
                    </a:p>
                  </a:txBody>
                  <a:tcPr marL="73152" marR="73152" marT="27432" marB="27432" anchor="ctr">
                    <a:solidFill>
                      <a:srgbClr val="EAF0FA"/>
                    </a:solidFill>
                  </a:tcPr>
                </a:tc>
                <a:tc>
                  <a:txBody>
                    <a:bodyPr wrap="square"/>
                    <a:lstStyle/>
                    <a:p>
                      <a:pPr algn="r"/>
                      <a:r>
                        <a:rPr sz="1300" b="0">
                          <a:solidFill>
                            <a:srgbClr val="1B2733"/>
                          </a:solidFill>
                          <a:latin typeface="Arial"/>
                        </a:rPr>
                        <a:t>27.927</a:t>
                      </a:r>
                    </a:p>
                  </a:txBody>
                  <a:tcPr marL="73152" marR="73152" marT="27432" marB="27432" anchor="ctr">
                    <a:solidFill>
                      <a:srgbClr val="EAF0FA"/>
                    </a:solidFill>
                  </a:tcPr>
                </a:tc>
                <a:tc>
                  <a:txBody>
                    <a:bodyPr wrap="square"/>
                    <a:lstStyle/>
                    <a:p>
                      <a:pPr algn="r"/>
                      <a:r>
                        <a:rPr sz="1300" b="0">
                          <a:solidFill>
                            <a:srgbClr val="1B2733"/>
                          </a:solidFill>
                          <a:latin typeface="Arial"/>
                        </a:rPr>
                        <a:t>&lt; 10⁻⁷</a:t>
                      </a:r>
                    </a:p>
                  </a:txBody>
                  <a:tcPr marL="73152" marR="73152" marT="27432" marB="27432" anchor="ctr">
                    <a:solidFill>
                      <a:srgbClr val="EAF0FA"/>
                    </a:solidFill>
                  </a:tcPr>
                </a:tc>
                <a:tc>
                  <a:txBody>
                    <a:bodyPr wrap="square"/>
                    <a:lstStyle/>
                    <a:p>
                      <a:pPr algn="r"/>
                      <a:r>
                        <a:rPr sz="1300" b="0">
                          <a:solidFill>
                            <a:srgbClr val="1B2733"/>
                          </a:solidFill>
                          <a:latin typeface="Arial"/>
                        </a:rPr>
                        <a:t>Khớp</a:t>
                      </a:r>
                    </a:p>
                  </a:txBody>
                  <a:tcPr marL="73152" marR="73152" marT="27432" marB="27432" anchor="ctr">
                    <a:solidFill>
                      <a:srgbClr val="EAF0FA"/>
                    </a:solidFill>
                  </a:tcPr>
                </a:tc>
              </a:tr>
            </a:tbl>
          </a:graphicData>
        </a:graphic>
      </p:graphicFrame>
      <p:sp>
        <p:nvSpPr>
          <p:cNvPr id="6" name="Rounded Rectangle 5"/>
          <p:cNvSpPr/>
          <p:nvPr/>
        </p:nvSpPr>
        <p:spPr>
          <a:xfrm>
            <a:off x="7086600" y="2011680"/>
            <a:ext cx="4270248" cy="3063240"/>
          </a:xfrm>
          <a:prstGeom prst="roundRect">
            <a:avLst>
              <a:gd name="adj" fmla="val 8000"/>
            </a:avLst>
          </a:prstGeom>
          <a:solidFill>
            <a:srgbClr val="F4F6FA"/>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2103120"/>
            <a:ext cx="3995928" cy="2880360"/>
          </a:xfrm>
          <a:prstGeom prst="rect">
            <a:avLst/>
          </a:prstGeom>
          <a:noFill/>
        </p:spPr>
        <p:txBody>
          <a:bodyPr wrap="square" lIns="0" rIns="0" tIns="0" bIns="0" anchor="t"/>
          <a:lstStyle/>
          <a:p>
            <a:pPr algn="l">
              <a:spcAft>
                <a:spcPts val="100"/>
              </a:spcAft>
            </a:pPr>
            <a:r>
              <a:rPr sz="1200" b="0">
                <a:solidFill>
                  <a:srgbClr val="1B2733"/>
                </a:solidFill>
                <a:latin typeface="Consolas"/>
              </a:rPr>
              <a:t>window = (Window</a:t>
            </a:r>
          </a:p>
          <a:p>
            <a:pPr algn="l">
              <a:spcAft>
                <a:spcPts val="100"/>
              </a:spcAft>
            </a:pPr>
            <a:r>
              <a:rPr sz="1200" b="0">
                <a:solidFill>
                  <a:srgbClr val="1B2733"/>
                </a:solidFill>
                <a:latin typeface="Consolas"/>
              </a:rPr>
              <a:t>    .partitionBy("split", "engine_id")</a:t>
            </a:r>
          </a:p>
          <a:p>
            <a:pPr algn="l">
              <a:spcAft>
                <a:spcPts val="100"/>
              </a:spcAft>
            </a:pPr>
            <a:r>
              <a:rPr sz="1200" b="0">
                <a:solidFill>
                  <a:srgbClr val="1B2733"/>
                </a:solidFill>
                <a:latin typeface="Consolas"/>
              </a:rPr>
              <a:t>    .orderBy("cycle")</a:t>
            </a:r>
          </a:p>
          <a:p>
            <a:pPr algn="l">
              <a:spcAft>
                <a:spcPts val="100"/>
              </a:spcAft>
            </a:pPr>
            <a:r>
              <a:rPr sz="1200" b="0">
                <a:solidFill>
                  <a:srgbClr val="1B2733"/>
                </a:solidFill>
                <a:latin typeface="Consolas"/>
              </a:rPr>
              <a:t>    .rowsBetween(-29, 0))</a:t>
            </a:r>
          </a:p>
          <a:p>
            <a:pPr algn="l">
              <a:spcAft>
                <a:spcPts val="100"/>
              </a:spcAft>
            </a:pPr>
            <a:r>
              <a:rPr sz="1200" b="0">
                <a:solidFill>
                  <a:srgbClr val="1B2733"/>
                </a:solidFill>
                <a:latin typeface="Consolas"/>
              </a:rPr>
              <a:t/>
            </a:r>
          </a:p>
          <a:p>
            <a:pPr algn="l">
              <a:spcAft>
                <a:spcPts val="100"/>
              </a:spcAft>
            </a:pPr>
            <a:r>
              <a:rPr sz="1200" b="0">
                <a:solidFill>
                  <a:srgbClr val="1B2733"/>
                </a:solidFill>
                <a:latin typeface="Consolas"/>
              </a:rPr>
              <a:t>F.avg(sensor).over(window)</a:t>
            </a:r>
          </a:p>
          <a:p>
            <a:pPr algn="l">
              <a:spcAft>
                <a:spcPts val="100"/>
              </a:spcAft>
            </a:pPr>
            <a:r>
              <a:rPr sz="1200" b="0">
                <a:solidFill>
                  <a:srgbClr val="1B2733"/>
                </a:solidFill>
                <a:latin typeface="Consolas"/>
              </a:rPr>
              <a:t>F.stddev_samp(sensor).over(window)</a:t>
            </a:r>
          </a:p>
          <a:p>
            <a:pPr algn="l">
              <a:spcAft>
                <a:spcPts val="100"/>
              </a:spcAft>
            </a:pPr>
            <a:r>
              <a:rPr sz="1200" b="0">
                <a:solidFill>
                  <a:srgbClr val="1B2733"/>
                </a:solidFill>
                <a:latin typeface="Consolas"/>
              </a:rPr>
              <a:t>F.min(sensor).over(window)</a:t>
            </a:r>
          </a:p>
          <a:p>
            <a:pPr algn="l">
              <a:spcAft>
                <a:spcPts val="100"/>
              </a:spcAft>
            </a:pPr>
            <a:r>
              <a:rPr sz="1200" b="0">
                <a:solidFill>
                  <a:srgbClr val="1B2733"/>
                </a:solidFill>
                <a:latin typeface="Consolas"/>
              </a:rPr>
              <a:t>F.max(sensor).over(window)</a:t>
            </a:r>
          </a:p>
          <a:p>
            <a:pPr algn="l">
              <a:spcAft>
                <a:spcPts val="100"/>
              </a:spcAft>
            </a:pPr>
            <a:r>
              <a:rPr sz="1200" b="0">
                <a:solidFill>
                  <a:srgbClr val="1B2733"/>
                </a:solidFill>
                <a:latin typeface="Consolas"/>
              </a:rPr>
              <a:t>F.regr_slope(sensor, "cycle").over(window)</a:t>
            </a:r>
          </a:p>
        </p:txBody>
      </p:sp>
      <p:sp>
        <p:nvSpPr>
          <p:cNvPr id="8" name="TextBox 7"/>
          <p:cNvSpPr txBox="1"/>
          <p:nvPr/>
        </p:nvSpPr>
        <p:spPr>
          <a:xfrm>
            <a:off x="7086600" y="5166360"/>
            <a:ext cx="4270248" cy="457200"/>
          </a:xfrm>
          <a:prstGeom prst="rect">
            <a:avLst/>
          </a:prstGeom>
          <a:noFill/>
        </p:spPr>
        <p:txBody>
          <a:bodyPr wrap="square" lIns="0" rIns="0" tIns="0" bIns="0" anchor="t"/>
          <a:lstStyle/>
          <a:p>
            <a:pPr algn="l">
              <a:spcAft>
                <a:spcPts val="0"/>
              </a:spcAft>
            </a:pPr>
            <a:r>
              <a:rPr sz="1200" b="0">
                <a:solidFill>
                  <a:srgbClr val="5A6B7B"/>
                </a:solidFill>
                <a:latin typeface="Arial"/>
              </a:rPr>
              <a:t>Trích src/cmapss/etl/rolling_spark.py</a:t>
            </a:r>
          </a:p>
        </p:txBody>
      </p:sp>
      <p:sp>
        <p:nvSpPr>
          <p:cNvPr id="9" name="TextBox 8"/>
          <p:cNvSpPr txBox="1"/>
          <p:nvPr/>
        </p:nvSpPr>
        <p:spPr>
          <a:xfrm>
            <a:off x="841248" y="4572000"/>
            <a:ext cx="5943600" cy="1280160"/>
          </a:xfrm>
          <a:prstGeom prst="rect">
            <a:avLst/>
          </a:prstGeom>
          <a:noFill/>
        </p:spPr>
        <p:txBody>
          <a:bodyPr wrap="square" lIns="0" rIns="0" tIns="0" bIns="0" anchor="t"/>
          <a:lstStyle/>
          <a:p>
            <a:pPr algn="l">
              <a:spcAft>
                <a:spcPts val="0"/>
              </a:spcAft>
            </a:pPr>
            <a:r>
              <a:rPr sz="1500" b="0">
                <a:solidFill>
                  <a:srgbClr val="1B2733"/>
                </a:solidFill>
                <a:latin typeface="Arial"/>
              </a:rPr>
              <a:t>Cùng một phép tính chạy bằng Pandas trên một máy và bằng PySpark, cho kết quả như nhau; vì vậy có thể chuyển sang Spark khi dữ liệu lớn hơn mà không đổi kết quả phân tích.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SQL và Spark SQL trả về đúng nhãn RUL và đặc trưng window</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10 / 20</a:t>
            </a:r>
          </a:p>
        </p:txBody>
      </p:sp>
      <p:sp>
        <p:nvSpPr>
          <p:cNvPr id="5" name="TextBox 4"/>
          <p:cNvSpPr txBox="1"/>
          <p:nvPr/>
        </p:nvSpPr>
        <p:spPr>
          <a:xfrm>
            <a:off x="841248" y="1920240"/>
            <a:ext cx="5120640" cy="320040"/>
          </a:xfrm>
          <a:prstGeom prst="rect">
            <a:avLst/>
          </a:prstGeom>
          <a:noFill/>
        </p:spPr>
        <p:txBody>
          <a:bodyPr wrap="square" lIns="0" rIns="0" tIns="0" bIns="0" anchor="t"/>
          <a:lstStyle/>
          <a:p>
            <a:pPr algn="l">
              <a:spcAft>
                <a:spcPts val="0"/>
              </a:spcAft>
            </a:pPr>
            <a:r>
              <a:rPr sz="1500" b="1">
                <a:solidFill>
                  <a:srgbClr val="21409A"/>
                </a:solidFill>
                <a:latin typeface="Arial"/>
              </a:rPr>
              <a:t>SQL trên SQLite (lớp Gold)</a:t>
            </a:r>
          </a:p>
        </p:txBody>
      </p:sp>
      <p:sp>
        <p:nvSpPr>
          <p:cNvPr id="6" name="Rounded Rectangle 5"/>
          <p:cNvSpPr/>
          <p:nvPr/>
        </p:nvSpPr>
        <p:spPr>
          <a:xfrm>
            <a:off x="841248" y="2286000"/>
            <a:ext cx="5120640" cy="2057400"/>
          </a:xfrm>
          <a:prstGeom prst="roundRect">
            <a:avLst>
              <a:gd name="adj" fmla="val 8000"/>
            </a:avLst>
          </a:prstGeom>
          <a:solidFill>
            <a:srgbClr val="F4F6FA"/>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8" y="2377440"/>
            <a:ext cx="4846320" cy="1874519"/>
          </a:xfrm>
          <a:prstGeom prst="rect">
            <a:avLst/>
          </a:prstGeom>
          <a:noFill/>
        </p:spPr>
        <p:txBody>
          <a:bodyPr wrap="square" lIns="0" rIns="0" tIns="0" bIns="0" anchor="t"/>
          <a:lstStyle/>
          <a:p>
            <a:pPr algn="l">
              <a:spcAft>
                <a:spcPts val="100"/>
              </a:spcAft>
            </a:pPr>
            <a:r>
              <a:rPr sz="1100" b="0">
                <a:solidFill>
                  <a:srgbClr val="1B2733"/>
                </a:solidFill>
                <a:latin typeface="Consolas"/>
              </a:rPr>
              <a:t>SELECT s.engine_id, s.n_cycles, t.cycle, t.rul</a:t>
            </a:r>
          </a:p>
          <a:p>
            <a:pPr algn="l">
              <a:spcAft>
                <a:spcPts val="100"/>
              </a:spcAft>
            </a:pPr>
            <a:r>
              <a:rPr sz="1100" b="0">
                <a:solidFill>
                  <a:srgbClr val="1B2733"/>
                </a:solidFill>
                <a:latin typeface="Consolas"/>
              </a:rPr>
              <a:t>FROM engine_summary AS s</a:t>
            </a:r>
          </a:p>
          <a:p>
            <a:pPr algn="l">
              <a:spcAft>
                <a:spcPts val="100"/>
              </a:spcAft>
            </a:pPr>
            <a:r>
              <a:rPr sz="1100" b="0">
                <a:solidFill>
                  <a:srgbClr val="1B2733"/>
                </a:solidFill>
                <a:latin typeface="Consolas"/>
              </a:rPr>
              <a:t>JOIN train_targets AS t</a:t>
            </a:r>
          </a:p>
          <a:p>
            <a:pPr algn="l">
              <a:spcAft>
                <a:spcPts val="100"/>
              </a:spcAft>
            </a:pPr>
            <a:r>
              <a:rPr sz="1100" b="0">
                <a:solidFill>
                  <a:srgbClr val="1B2733"/>
                </a:solidFill>
                <a:latin typeface="Consolas"/>
              </a:rPr>
              <a:t>  ON t.split = s.split AND t.engine_id = s.engine_id</a:t>
            </a:r>
          </a:p>
          <a:p>
            <a:pPr algn="l">
              <a:spcAft>
                <a:spcPts val="100"/>
              </a:spcAft>
            </a:pPr>
            <a:r>
              <a:rPr sz="1100" b="0">
                <a:solidFill>
                  <a:srgbClr val="1B2733"/>
                </a:solidFill>
                <a:latin typeface="Consolas"/>
              </a:rPr>
              <a:t>WHERE s.split = 'train' AND s.engine_id = 1</a:t>
            </a:r>
          </a:p>
          <a:p>
            <a:pPr algn="l">
              <a:spcAft>
                <a:spcPts val="100"/>
              </a:spcAft>
            </a:pPr>
            <a:r>
              <a:rPr sz="1100" b="0">
                <a:solidFill>
                  <a:srgbClr val="1B2733"/>
                </a:solidFill>
                <a:latin typeface="Consolas"/>
              </a:rPr>
              <a:t>  AND t.cycle IN (1, 100, 192);</a:t>
            </a:r>
          </a:p>
        </p:txBody>
      </p:sp>
      <p:graphicFrame>
        <p:nvGraphicFramePr>
          <p:cNvPr id="8" name="Table 7"/>
          <p:cNvGraphicFramePr>
            <a:graphicFrameLocks noGrp="1"/>
          </p:cNvGraphicFramePr>
          <p:nvPr/>
        </p:nvGraphicFramePr>
        <p:xfrm>
          <a:off x="841248" y="4480560"/>
          <a:ext cx="4572000" cy="1316736"/>
        </p:xfrm>
        <a:graphic>
          <a:graphicData uri="http://schemas.openxmlformats.org/drawingml/2006/table">
            <a:tbl>
              <a:tblPr firstRow="1" bandRow="1">
                <a:tableStyleId>{5C22544A-7EE6-4342-B048-85BDC9FD1C3A}</a:tableStyleId>
              </a:tblPr>
              <a:tblGrid>
                <a:gridCol w="1280160"/>
                <a:gridCol w="1280160"/>
                <a:gridCol w="1097280"/>
                <a:gridCol w="914400"/>
              </a:tblGrid>
              <a:tr h="329184">
                <a:tc>
                  <a:txBody>
                    <a:bodyPr wrap="square"/>
                    <a:lstStyle/>
                    <a:p>
                      <a:r>
                        <a:rPr sz="1200" b="1">
                          <a:solidFill>
                            <a:srgbClr val="FFFFFF"/>
                          </a:solidFill>
                          <a:latin typeface="Arial"/>
                        </a:rPr>
                        <a:t>engine_id</a:t>
                      </a:r>
                    </a:p>
                  </a:txBody>
                  <a:tcPr marL="73152" marR="73152" marT="27432" marB="27432" anchor="ctr">
                    <a:solidFill>
                      <a:srgbClr val="21409A"/>
                    </a:solidFill>
                  </a:tcPr>
                </a:tc>
                <a:tc>
                  <a:txBody>
                    <a:bodyPr wrap="square"/>
                    <a:lstStyle/>
                    <a:p>
                      <a:r>
                        <a:rPr sz="1200" b="1">
                          <a:solidFill>
                            <a:srgbClr val="FFFFFF"/>
                          </a:solidFill>
                          <a:latin typeface="Arial"/>
                        </a:rPr>
                        <a:t>n_cycles</a:t>
                      </a:r>
                    </a:p>
                  </a:txBody>
                  <a:tcPr marL="73152" marR="73152" marT="27432" marB="27432" anchor="ctr">
                    <a:solidFill>
                      <a:srgbClr val="21409A"/>
                    </a:solidFill>
                  </a:tcPr>
                </a:tc>
                <a:tc>
                  <a:txBody>
                    <a:bodyPr wrap="square"/>
                    <a:lstStyle/>
                    <a:p>
                      <a:r>
                        <a:rPr sz="1200" b="1">
                          <a:solidFill>
                            <a:srgbClr val="FFFFFF"/>
                          </a:solidFill>
                          <a:latin typeface="Arial"/>
                        </a:rPr>
                        <a:t>cycle</a:t>
                      </a:r>
                    </a:p>
                  </a:txBody>
                  <a:tcPr marL="73152" marR="73152" marT="27432" marB="27432" anchor="ctr">
                    <a:solidFill>
                      <a:srgbClr val="21409A"/>
                    </a:solidFill>
                  </a:tcPr>
                </a:tc>
                <a:tc>
                  <a:txBody>
                    <a:bodyPr wrap="square"/>
                    <a:lstStyle/>
                    <a:p>
                      <a:r>
                        <a:rPr sz="1200" b="1">
                          <a:solidFill>
                            <a:srgbClr val="FFFFFF"/>
                          </a:solidFill>
                          <a:latin typeface="Arial"/>
                        </a:rPr>
                        <a:t>rul</a:t>
                      </a:r>
                    </a:p>
                  </a:txBody>
                  <a:tcPr marL="73152" marR="73152" marT="27432" marB="27432" anchor="ctr">
                    <a:solidFill>
                      <a:srgbClr val="21409A"/>
                    </a:solidFill>
                  </a:tcPr>
                </a:tc>
              </a:tr>
              <a:tr h="329184">
                <a:tc>
                  <a:txBody>
                    <a:bodyPr wrap="square"/>
                    <a:lstStyle/>
                    <a:p>
                      <a:pPr algn="r"/>
                      <a:r>
                        <a:rPr sz="1200" b="0">
                          <a:solidFill>
                            <a:srgbClr val="1B2733"/>
                          </a:solidFill>
                          <a:latin typeface="Arial"/>
                        </a:rPr>
                        <a:t>1</a:t>
                      </a:r>
                    </a:p>
                  </a:txBody>
                  <a:tcPr marL="73152" marR="73152" marT="27432" marB="27432" anchor="ctr">
                    <a:solidFill>
                      <a:srgbClr val="FFFFFF"/>
                    </a:solidFill>
                  </a:tcPr>
                </a:tc>
                <a:tc>
                  <a:txBody>
                    <a:bodyPr wrap="square"/>
                    <a:lstStyle/>
                    <a:p>
                      <a:pPr algn="r"/>
                      <a:r>
                        <a:rPr sz="1200" b="0">
                          <a:solidFill>
                            <a:srgbClr val="1B2733"/>
                          </a:solidFill>
                          <a:latin typeface="Arial"/>
                        </a:rPr>
                        <a:t>192</a:t>
                      </a:r>
                    </a:p>
                  </a:txBody>
                  <a:tcPr marL="73152" marR="73152" marT="27432" marB="27432" anchor="ctr">
                    <a:solidFill>
                      <a:srgbClr val="FFFFFF"/>
                    </a:solidFill>
                  </a:tcPr>
                </a:tc>
                <a:tc>
                  <a:txBody>
                    <a:bodyPr wrap="square"/>
                    <a:lstStyle/>
                    <a:p>
                      <a:pPr algn="r"/>
                      <a:r>
                        <a:rPr sz="1200" b="0">
                          <a:solidFill>
                            <a:srgbClr val="1B2733"/>
                          </a:solidFill>
                          <a:latin typeface="Arial"/>
                        </a:rPr>
                        <a:t>1</a:t>
                      </a:r>
                    </a:p>
                  </a:txBody>
                  <a:tcPr marL="73152" marR="73152" marT="27432" marB="27432" anchor="ctr">
                    <a:solidFill>
                      <a:srgbClr val="FFFFFF"/>
                    </a:solidFill>
                  </a:tcPr>
                </a:tc>
                <a:tc>
                  <a:txBody>
                    <a:bodyPr wrap="square"/>
                    <a:lstStyle/>
                    <a:p>
                      <a:pPr algn="r"/>
                      <a:r>
                        <a:rPr sz="1200" b="0">
                          <a:solidFill>
                            <a:srgbClr val="1B2733"/>
                          </a:solidFill>
                          <a:latin typeface="Arial"/>
                        </a:rPr>
                        <a:t>191</a:t>
                      </a:r>
                    </a:p>
                  </a:txBody>
                  <a:tcPr marL="73152" marR="73152" marT="27432" marB="27432" anchor="ctr">
                    <a:solidFill>
                      <a:srgbClr val="FFFFFF"/>
                    </a:solidFill>
                  </a:tcPr>
                </a:tc>
              </a:tr>
              <a:tr h="329184">
                <a:tc>
                  <a:txBody>
                    <a:bodyPr wrap="square"/>
                    <a:lstStyle/>
                    <a:p>
                      <a:pPr algn="r"/>
                      <a:r>
                        <a:rPr sz="1200" b="0">
                          <a:solidFill>
                            <a:srgbClr val="1B2733"/>
                          </a:solidFill>
                          <a:latin typeface="Arial"/>
                        </a:rPr>
                        <a:t>1</a:t>
                      </a:r>
                    </a:p>
                  </a:txBody>
                  <a:tcPr marL="73152" marR="73152" marT="27432" marB="27432" anchor="ctr">
                    <a:solidFill>
                      <a:srgbClr val="EAF0FA"/>
                    </a:solidFill>
                  </a:tcPr>
                </a:tc>
                <a:tc>
                  <a:txBody>
                    <a:bodyPr wrap="square"/>
                    <a:lstStyle/>
                    <a:p>
                      <a:pPr algn="r"/>
                      <a:r>
                        <a:rPr sz="1200" b="0">
                          <a:solidFill>
                            <a:srgbClr val="1B2733"/>
                          </a:solidFill>
                          <a:latin typeface="Arial"/>
                        </a:rPr>
                        <a:t>192</a:t>
                      </a:r>
                    </a:p>
                  </a:txBody>
                  <a:tcPr marL="73152" marR="73152" marT="27432" marB="27432" anchor="ctr">
                    <a:solidFill>
                      <a:srgbClr val="EAF0FA"/>
                    </a:solidFill>
                  </a:tcPr>
                </a:tc>
                <a:tc>
                  <a:txBody>
                    <a:bodyPr wrap="square"/>
                    <a:lstStyle/>
                    <a:p>
                      <a:pPr algn="r"/>
                      <a:r>
                        <a:rPr sz="1200" b="0">
                          <a:solidFill>
                            <a:srgbClr val="1B2733"/>
                          </a:solidFill>
                          <a:latin typeface="Arial"/>
                        </a:rPr>
                        <a:t>100</a:t>
                      </a:r>
                    </a:p>
                  </a:txBody>
                  <a:tcPr marL="73152" marR="73152" marT="27432" marB="27432" anchor="ctr">
                    <a:solidFill>
                      <a:srgbClr val="EAF0FA"/>
                    </a:solidFill>
                  </a:tcPr>
                </a:tc>
                <a:tc>
                  <a:txBody>
                    <a:bodyPr wrap="square"/>
                    <a:lstStyle/>
                    <a:p>
                      <a:pPr algn="r"/>
                      <a:r>
                        <a:rPr sz="1200" b="0">
                          <a:solidFill>
                            <a:srgbClr val="1B2733"/>
                          </a:solidFill>
                          <a:latin typeface="Arial"/>
                        </a:rPr>
                        <a:t>92</a:t>
                      </a:r>
                    </a:p>
                  </a:txBody>
                  <a:tcPr marL="73152" marR="73152" marT="27432" marB="27432" anchor="ctr">
                    <a:solidFill>
                      <a:srgbClr val="EAF0FA"/>
                    </a:solidFill>
                  </a:tcPr>
                </a:tc>
              </a:tr>
              <a:tr h="329184">
                <a:tc>
                  <a:txBody>
                    <a:bodyPr wrap="square"/>
                    <a:lstStyle/>
                    <a:p>
                      <a:pPr algn="r"/>
                      <a:r>
                        <a:rPr sz="1200" b="0">
                          <a:solidFill>
                            <a:srgbClr val="1B2733"/>
                          </a:solidFill>
                          <a:latin typeface="Arial"/>
                        </a:rPr>
                        <a:t>1</a:t>
                      </a:r>
                    </a:p>
                  </a:txBody>
                  <a:tcPr marL="73152" marR="73152" marT="27432" marB="27432" anchor="ctr">
                    <a:solidFill>
                      <a:srgbClr val="FFFFFF"/>
                    </a:solidFill>
                  </a:tcPr>
                </a:tc>
                <a:tc>
                  <a:txBody>
                    <a:bodyPr wrap="square"/>
                    <a:lstStyle/>
                    <a:p>
                      <a:pPr algn="r"/>
                      <a:r>
                        <a:rPr sz="1200" b="0">
                          <a:solidFill>
                            <a:srgbClr val="1B2733"/>
                          </a:solidFill>
                          <a:latin typeface="Arial"/>
                        </a:rPr>
                        <a:t>192</a:t>
                      </a:r>
                    </a:p>
                  </a:txBody>
                  <a:tcPr marL="73152" marR="73152" marT="27432" marB="27432" anchor="ctr">
                    <a:solidFill>
                      <a:srgbClr val="FFFFFF"/>
                    </a:solidFill>
                  </a:tcPr>
                </a:tc>
                <a:tc>
                  <a:txBody>
                    <a:bodyPr wrap="square"/>
                    <a:lstStyle/>
                    <a:p>
                      <a:pPr algn="r"/>
                      <a:r>
                        <a:rPr sz="1200" b="0">
                          <a:solidFill>
                            <a:srgbClr val="1B2733"/>
                          </a:solidFill>
                          <a:latin typeface="Arial"/>
                        </a:rPr>
                        <a:t>192</a:t>
                      </a:r>
                    </a:p>
                  </a:txBody>
                  <a:tcPr marL="73152" marR="73152" marT="27432" marB="27432" anchor="ctr">
                    <a:solidFill>
                      <a:srgbClr val="FFFFFF"/>
                    </a:solidFill>
                  </a:tcPr>
                </a:tc>
                <a:tc>
                  <a:txBody>
                    <a:bodyPr wrap="square"/>
                    <a:lstStyle/>
                    <a:p>
                      <a:pPr algn="r"/>
                      <a:r>
                        <a:rPr sz="1200" b="0">
                          <a:solidFill>
                            <a:srgbClr val="1B2733"/>
                          </a:solidFill>
                          <a:latin typeface="Arial"/>
                        </a:rPr>
                        <a:t>0</a:t>
                      </a:r>
                    </a:p>
                  </a:txBody>
                  <a:tcPr marL="73152" marR="73152" marT="27432" marB="27432" anchor="ctr">
                    <a:solidFill>
                      <a:srgbClr val="FFFFFF"/>
                    </a:solidFill>
                  </a:tcPr>
                </a:tc>
              </a:tr>
            </a:tbl>
          </a:graphicData>
        </a:graphic>
      </p:graphicFrame>
      <p:sp>
        <p:nvSpPr>
          <p:cNvPr id="9" name="TextBox 8"/>
          <p:cNvSpPr txBox="1"/>
          <p:nvPr/>
        </p:nvSpPr>
        <p:spPr>
          <a:xfrm>
            <a:off x="6236208" y="1920240"/>
            <a:ext cx="5120640" cy="320040"/>
          </a:xfrm>
          <a:prstGeom prst="rect">
            <a:avLst/>
          </a:prstGeom>
          <a:noFill/>
        </p:spPr>
        <p:txBody>
          <a:bodyPr wrap="square" lIns="0" rIns="0" tIns="0" bIns="0" anchor="t"/>
          <a:lstStyle/>
          <a:p>
            <a:pPr algn="l">
              <a:spcAft>
                <a:spcPts val="0"/>
              </a:spcAft>
            </a:pPr>
            <a:r>
              <a:rPr sz="1500" b="1">
                <a:solidFill>
                  <a:srgbClr val="21409A"/>
                </a:solidFill>
                <a:latin typeface="Arial"/>
              </a:rPr>
              <a:t>Spark SQL trên Parquet (lớp Silver)</a:t>
            </a:r>
          </a:p>
        </p:txBody>
      </p:sp>
      <p:sp>
        <p:nvSpPr>
          <p:cNvPr id="10" name="Rounded Rectangle 9"/>
          <p:cNvSpPr/>
          <p:nvPr/>
        </p:nvSpPr>
        <p:spPr>
          <a:xfrm>
            <a:off x="6236208" y="2286000"/>
            <a:ext cx="5120640" cy="2651760"/>
          </a:xfrm>
          <a:prstGeom prst="roundRect">
            <a:avLst>
              <a:gd name="adj" fmla="val 8000"/>
            </a:avLst>
          </a:prstGeom>
          <a:solidFill>
            <a:srgbClr val="F4F6FA"/>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2377440"/>
            <a:ext cx="4846320" cy="2468879"/>
          </a:xfrm>
          <a:prstGeom prst="rect">
            <a:avLst/>
          </a:prstGeom>
          <a:noFill/>
        </p:spPr>
        <p:txBody>
          <a:bodyPr wrap="square" lIns="0" rIns="0" tIns="0" bIns="0" anchor="t"/>
          <a:lstStyle/>
          <a:p>
            <a:pPr algn="l">
              <a:spcAft>
                <a:spcPts val="100"/>
              </a:spcAft>
            </a:pPr>
            <a:r>
              <a:rPr sz="1100" b="0">
                <a:solidFill>
                  <a:srgbClr val="1B2733"/>
                </a:solidFill>
                <a:latin typeface="Consolas"/>
              </a:rPr>
              <a:t>SELECT cycle, mean30 FROM (</a:t>
            </a:r>
          </a:p>
          <a:p>
            <a:pPr algn="l">
              <a:spcAft>
                <a:spcPts val="100"/>
              </a:spcAft>
            </a:pPr>
            <a:r>
              <a:rPr sz="1100" b="0">
                <a:solidFill>
                  <a:srgbClr val="1B2733"/>
                </a:solidFill>
                <a:latin typeface="Consolas"/>
              </a:rPr>
              <a:t>  SELECT cycle, AVG(sensor_11) OVER w AS mean30</a:t>
            </a:r>
          </a:p>
          <a:p>
            <a:pPr algn="l">
              <a:spcAft>
                <a:spcPts val="100"/>
              </a:spcAft>
            </a:pPr>
            <a:r>
              <a:rPr sz="1100" b="0">
                <a:solidFill>
                  <a:srgbClr val="1B2733"/>
                </a:solidFill>
                <a:latin typeface="Consolas"/>
              </a:rPr>
              <a:t>  FROM observations</a:t>
            </a:r>
          </a:p>
          <a:p>
            <a:pPr algn="l">
              <a:spcAft>
                <a:spcPts val="100"/>
              </a:spcAft>
            </a:pPr>
            <a:r>
              <a:rPr sz="1100" b="0">
                <a:solidFill>
                  <a:srgbClr val="1B2733"/>
                </a:solidFill>
                <a:latin typeface="Consolas"/>
              </a:rPr>
              <a:t>  WHERE split = 'train' AND engine_id = 1</a:t>
            </a:r>
          </a:p>
          <a:p>
            <a:pPr algn="l">
              <a:spcAft>
                <a:spcPts val="100"/>
              </a:spcAft>
            </a:pPr>
            <a:r>
              <a:rPr sz="1100" b="0">
                <a:solidFill>
                  <a:srgbClr val="1B2733"/>
                </a:solidFill>
                <a:latin typeface="Consolas"/>
              </a:rPr>
              <a:t>  WINDOW w AS (PARTITION BY split, engine_id</a:t>
            </a:r>
          </a:p>
          <a:p>
            <a:pPr algn="l">
              <a:spcAft>
                <a:spcPts val="100"/>
              </a:spcAft>
            </a:pPr>
            <a:r>
              <a:rPr sz="1100" b="0">
                <a:solidFill>
                  <a:srgbClr val="1B2733"/>
                </a:solidFill>
                <a:latin typeface="Consolas"/>
              </a:rPr>
              <a:t>    ORDER BY cycle</a:t>
            </a:r>
          </a:p>
          <a:p>
            <a:pPr algn="l">
              <a:spcAft>
                <a:spcPts val="100"/>
              </a:spcAft>
            </a:pPr>
            <a:r>
              <a:rPr sz="1100" b="0">
                <a:solidFill>
                  <a:srgbClr val="1B2733"/>
                </a:solidFill>
                <a:latin typeface="Consolas"/>
              </a:rPr>
              <a:t>    ROWS BETWEEN 29 PRECEDING AND CURRENT ROW))</a:t>
            </a:r>
          </a:p>
          <a:p>
            <a:pPr algn="l">
              <a:spcAft>
                <a:spcPts val="100"/>
              </a:spcAft>
            </a:pPr>
            <a:r>
              <a:rPr sz="1100" b="0">
                <a:solidFill>
                  <a:srgbClr val="1B2733"/>
                </a:solidFill>
                <a:latin typeface="Consolas"/>
              </a:rPr>
              <a:t>WHERE cycle IN (30, 100);</a:t>
            </a:r>
          </a:p>
        </p:txBody>
      </p:sp>
      <p:sp>
        <p:nvSpPr>
          <p:cNvPr id="12" name="TextBox 11"/>
          <p:cNvSpPr txBox="1"/>
          <p:nvPr/>
        </p:nvSpPr>
        <p:spPr>
          <a:xfrm>
            <a:off x="6236208" y="5074920"/>
            <a:ext cx="5120640" cy="822960"/>
          </a:xfrm>
          <a:prstGeom prst="rect">
            <a:avLst/>
          </a:prstGeom>
          <a:noFill/>
        </p:spPr>
        <p:txBody>
          <a:bodyPr wrap="square" lIns="0" rIns="0" tIns="0" bIns="0" anchor="t"/>
          <a:lstStyle/>
          <a:p>
            <a:pPr algn="l">
              <a:spcAft>
                <a:spcPts val="400"/>
              </a:spcAft>
            </a:pPr>
            <a:r>
              <a:rPr sz="1400" b="0">
                <a:solidFill>
                  <a:srgbClr val="1B2733"/>
                </a:solidFill>
                <a:latin typeface="Arial"/>
              </a:rPr>
              <a:t>Kết quả: cycle 30 → 47,283; cycle 100 → 47,395</a:t>
            </a:r>
          </a:p>
          <a:p>
            <a:pPr algn="l">
              <a:spcAft>
                <a:spcPts val="400"/>
              </a:spcAft>
            </a:pPr>
            <a:r>
              <a:rPr sz="1400" b="0">
                <a:solidFill>
                  <a:srgbClr val="1B2733"/>
                </a:solidFill>
                <a:latin typeface="Arial"/>
              </a:rPr>
              <a:t>Trùng với đặc trưng sensor_11__mean do Pandas tính.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Sáu bước biến đổi từ file text thành 17.731 mẫu huấn luyện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11 / 20</a:t>
            </a:r>
          </a:p>
        </p:txBody>
      </p:sp>
      <p:graphicFrame>
        <p:nvGraphicFramePr>
          <p:cNvPr id="5" name="Table 4"/>
          <p:cNvGraphicFramePr>
            <a:graphicFrameLocks noGrp="1"/>
          </p:cNvGraphicFramePr>
          <p:nvPr/>
        </p:nvGraphicFramePr>
        <p:xfrm>
          <a:off x="841248" y="1965960"/>
          <a:ext cx="10515600" cy="3712464"/>
        </p:xfrm>
        <a:graphic>
          <a:graphicData uri="http://schemas.openxmlformats.org/drawingml/2006/table">
            <a:tbl>
              <a:tblPr firstRow="1" bandRow="1">
                <a:tableStyleId>{5C22544A-7EE6-4342-B048-85BDC9FD1C3A}</a:tableStyleId>
              </a:tblPr>
              <a:tblGrid>
                <a:gridCol w="457200"/>
                <a:gridCol w="5760720"/>
                <a:gridCol w="2011680"/>
                <a:gridCol w="2286000"/>
              </a:tblGrid>
              <a:tr h="530352">
                <a:tc>
                  <a:txBody>
                    <a:bodyPr wrap="square"/>
                    <a:lstStyle/>
                    <a:p>
                      <a:r>
                        <a:rPr sz="1400" b="1">
                          <a:solidFill>
                            <a:srgbClr val="FFFFFF"/>
                          </a:solidFill>
                          <a:latin typeface="Arial"/>
                        </a:rPr>
                        <a:t>#</a:t>
                      </a:r>
                    </a:p>
                  </a:txBody>
                  <a:tcPr marL="73152" marR="73152" marT="27432" marB="27432" anchor="ctr">
                    <a:solidFill>
                      <a:srgbClr val="21409A"/>
                    </a:solidFill>
                  </a:tcPr>
                </a:tc>
                <a:tc>
                  <a:txBody>
                    <a:bodyPr wrap="square"/>
                    <a:lstStyle/>
                    <a:p>
                      <a:r>
                        <a:rPr sz="1400" b="1">
                          <a:solidFill>
                            <a:srgbClr val="FFFFFF"/>
                          </a:solidFill>
                          <a:latin typeface="Arial"/>
                        </a:rPr>
                        <a:t>Phép biến đổi</a:t>
                      </a:r>
                    </a:p>
                  </a:txBody>
                  <a:tcPr marL="73152" marR="73152" marT="27432" marB="27432" anchor="ctr">
                    <a:solidFill>
                      <a:srgbClr val="21409A"/>
                    </a:solidFill>
                  </a:tcPr>
                </a:tc>
                <a:tc>
                  <a:txBody>
                    <a:bodyPr wrap="square"/>
                    <a:lstStyle/>
                    <a:p>
                      <a:r>
                        <a:rPr sz="1400" b="1">
                          <a:solidFill>
                            <a:srgbClr val="FFFFFF"/>
                          </a:solidFill>
                          <a:latin typeface="Arial"/>
                        </a:rPr>
                        <a:t>Kết quả</a:t>
                      </a:r>
                    </a:p>
                  </a:txBody>
                  <a:tcPr marL="73152" marR="73152" marT="27432" marB="27432" anchor="ctr">
                    <a:solidFill>
                      <a:srgbClr val="21409A"/>
                    </a:solidFill>
                  </a:tcPr>
                </a:tc>
                <a:tc>
                  <a:txBody>
                    <a:bodyPr wrap="square"/>
                    <a:lstStyle/>
                    <a:p>
                      <a:r>
                        <a:rPr sz="1400" b="1">
                          <a:solidFill>
                            <a:srgbClr val="FFFFFF"/>
                          </a:solidFill>
                          <a:latin typeface="Arial"/>
                        </a:rPr>
                        <a:t>Kích thước</a:t>
                      </a:r>
                    </a:p>
                  </a:txBody>
                  <a:tcPr marL="73152" marR="73152" marT="27432" marB="27432" anchor="ctr">
                    <a:solidFill>
                      <a:srgbClr val="21409A"/>
                    </a:solidFill>
                  </a:tcPr>
                </a:tc>
              </a:tr>
              <a:tr h="530352">
                <a:tc>
                  <a:txBody>
                    <a:bodyPr wrap="square"/>
                    <a:lstStyle/>
                    <a:p>
                      <a:r>
                        <a:rPr sz="1400" b="0">
                          <a:solidFill>
                            <a:srgbClr val="1B2733"/>
                          </a:solidFill>
                          <a:latin typeface="Arial"/>
                        </a:rPr>
                        <a:t>1</a:t>
                      </a:r>
                    </a:p>
                  </a:txBody>
                  <a:tcPr marL="73152" marR="73152" marT="27432" marB="27432" anchor="ctr">
                    <a:solidFill>
                      <a:srgbClr val="FFFFFF"/>
                    </a:solidFill>
                  </a:tcPr>
                </a:tc>
                <a:tc>
                  <a:txBody>
                    <a:bodyPr wrap="square"/>
                    <a:lstStyle/>
                    <a:p>
                      <a:r>
                        <a:rPr sz="1400" b="0">
                          <a:solidFill>
                            <a:srgbClr val="1B2733"/>
                          </a:solidFill>
                          <a:latin typeface="Arial"/>
                        </a:rPr>
                        <a:t>Đọc 2 file text, gán tên và kiểu 26 trường, thêm cột split</a:t>
                      </a:r>
                    </a:p>
                  </a:txBody>
                  <a:tcPr marL="73152" marR="73152" marT="27432" marB="27432" anchor="ctr">
                    <a:solidFill>
                      <a:srgbClr val="FFFFFF"/>
                    </a:solidFill>
                  </a:tcPr>
                </a:tc>
                <a:tc>
                  <a:txBody>
                    <a:bodyPr wrap="square"/>
                    <a:lstStyle/>
                    <a:p>
                      <a:r>
                        <a:rPr sz="1400" b="0">
                          <a:solidFill>
                            <a:srgbClr val="1B2733"/>
                          </a:solidFill>
                          <a:latin typeface="Arial"/>
                        </a:rPr>
                        <a:t>2 bảng có kiểu</a:t>
                      </a:r>
                    </a:p>
                  </a:txBody>
                  <a:tcPr marL="73152" marR="73152" marT="27432" marB="27432" anchor="ctr">
                    <a:solidFill>
                      <a:srgbClr val="FFFFFF"/>
                    </a:solidFill>
                  </a:tcPr>
                </a:tc>
                <a:tc>
                  <a:txBody>
                    <a:bodyPr wrap="square"/>
                    <a:lstStyle/>
                    <a:p>
                      <a:pPr algn="r"/>
                      <a:r>
                        <a:rPr sz="1400" b="0">
                          <a:solidFill>
                            <a:srgbClr val="1B2733"/>
                          </a:solidFill>
                          <a:latin typeface="Arial"/>
                        </a:rPr>
                        <a:t>20.631 và 13.096 dòng</a:t>
                      </a:r>
                    </a:p>
                  </a:txBody>
                  <a:tcPr marL="73152" marR="73152" marT="27432" marB="27432" anchor="ctr">
                    <a:solidFill>
                      <a:srgbClr val="FFFFFF"/>
                    </a:solidFill>
                  </a:tcPr>
                </a:tc>
              </a:tr>
              <a:tr h="530352">
                <a:tc>
                  <a:txBody>
                    <a:bodyPr wrap="square"/>
                    <a:lstStyle/>
                    <a:p>
                      <a:r>
                        <a:rPr sz="1400" b="0">
                          <a:solidFill>
                            <a:srgbClr val="1B2733"/>
                          </a:solidFill>
                          <a:latin typeface="Arial"/>
                        </a:rPr>
                        <a:t>2</a:t>
                      </a:r>
                    </a:p>
                  </a:txBody>
                  <a:tcPr marL="73152" marR="73152" marT="27432" marB="27432" anchor="ctr">
                    <a:solidFill>
                      <a:srgbClr val="EAF0FA"/>
                    </a:solidFill>
                  </a:tcPr>
                </a:tc>
                <a:tc>
                  <a:txBody>
                    <a:bodyPr wrap="square"/>
                    <a:lstStyle/>
                    <a:p>
                      <a:r>
                        <a:rPr sz="1400" b="0">
                          <a:solidFill>
                            <a:srgbClr val="1B2733"/>
                          </a:solidFill>
                          <a:latin typeface="Arial"/>
                        </a:rPr>
                        <a:t>Gộp train và test theo dòng (UNION), sắp theo khóa</a:t>
                      </a:r>
                    </a:p>
                  </a:txBody>
                  <a:tcPr marL="73152" marR="73152" marT="27432" marB="27432" anchor="ctr">
                    <a:solidFill>
                      <a:srgbClr val="EAF0FA"/>
                    </a:solidFill>
                  </a:tcPr>
                </a:tc>
                <a:tc>
                  <a:txBody>
                    <a:bodyPr wrap="square"/>
                    <a:lstStyle/>
                    <a:p>
                      <a:r>
                        <a:rPr sz="1400" b="0">
                          <a:solidFill>
                            <a:srgbClr val="1B2733"/>
                          </a:solidFill>
                          <a:latin typeface="Arial"/>
                        </a:rPr>
                        <a:t>observations</a:t>
                      </a:r>
                    </a:p>
                  </a:txBody>
                  <a:tcPr marL="73152" marR="73152" marT="27432" marB="27432" anchor="ctr">
                    <a:solidFill>
                      <a:srgbClr val="EAF0FA"/>
                    </a:solidFill>
                  </a:tcPr>
                </a:tc>
                <a:tc>
                  <a:txBody>
                    <a:bodyPr wrap="square"/>
                    <a:lstStyle/>
                    <a:p>
                      <a:pPr algn="r"/>
                      <a:r>
                        <a:rPr sz="1400" b="0">
                          <a:solidFill>
                            <a:srgbClr val="1B2733"/>
                          </a:solidFill>
                          <a:latin typeface="Arial"/>
                        </a:rPr>
                        <a:t>33.727 × 27</a:t>
                      </a:r>
                    </a:p>
                  </a:txBody>
                  <a:tcPr marL="73152" marR="73152" marT="27432" marB="27432" anchor="ctr">
                    <a:solidFill>
                      <a:srgbClr val="EAF0FA"/>
                    </a:solidFill>
                  </a:tcPr>
                </a:tc>
              </a:tr>
              <a:tr h="530352">
                <a:tc>
                  <a:txBody>
                    <a:bodyPr wrap="square"/>
                    <a:lstStyle/>
                    <a:p>
                      <a:r>
                        <a:rPr sz="1400" b="0">
                          <a:solidFill>
                            <a:srgbClr val="1B2733"/>
                          </a:solidFill>
                          <a:latin typeface="Arial"/>
                        </a:rPr>
                        <a:t>3</a:t>
                      </a:r>
                    </a:p>
                  </a:txBody>
                  <a:tcPr marL="73152" marR="73152" marT="27432" marB="27432" anchor="ctr">
                    <a:solidFill>
                      <a:srgbClr val="FFFFFF"/>
                    </a:solidFill>
                  </a:tcPr>
                </a:tc>
                <a:tc>
                  <a:txBody>
                    <a:bodyPr wrap="square"/>
                    <a:lstStyle/>
                    <a:p>
                      <a:r>
                        <a:rPr sz="1400" b="0">
                          <a:solidFill>
                            <a:srgbClr val="1B2733"/>
                          </a:solidFill>
                          <a:latin typeface="Arial"/>
                        </a:rPr>
                        <a:t>GROUP BY động cơ; RUL = cycle cuối − cycle hiện tại</a:t>
                      </a:r>
                    </a:p>
                  </a:txBody>
                  <a:tcPr marL="73152" marR="73152" marT="27432" marB="27432" anchor="ctr">
                    <a:solidFill>
                      <a:srgbClr val="FFFFFF"/>
                    </a:solidFill>
                  </a:tcPr>
                </a:tc>
                <a:tc>
                  <a:txBody>
                    <a:bodyPr wrap="square"/>
                    <a:lstStyle/>
                    <a:p>
                      <a:r>
                        <a:rPr sz="1400" b="0">
                          <a:solidFill>
                            <a:srgbClr val="1B2733"/>
                          </a:solidFill>
                          <a:latin typeface="Arial"/>
                        </a:rPr>
                        <a:t>train_targets</a:t>
                      </a:r>
                    </a:p>
                  </a:txBody>
                  <a:tcPr marL="73152" marR="73152" marT="27432" marB="27432" anchor="ctr">
                    <a:solidFill>
                      <a:srgbClr val="FFFFFF"/>
                    </a:solidFill>
                  </a:tcPr>
                </a:tc>
                <a:tc>
                  <a:txBody>
                    <a:bodyPr wrap="square"/>
                    <a:lstStyle/>
                    <a:p>
                      <a:pPr algn="r"/>
                      <a:r>
                        <a:rPr sz="1400" b="0">
                          <a:solidFill>
                            <a:srgbClr val="1B2733"/>
                          </a:solidFill>
                          <a:latin typeface="Arial"/>
                        </a:rPr>
                        <a:t>20.631 × 4</a:t>
                      </a:r>
                    </a:p>
                  </a:txBody>
                  <a:tcPr marL="73152" marR="73152" marT="27432" marB="27432" anchor="ctr">
                    <a:solidFill>
                      <a:srgbClr val="FFFFFF"/>
                    </a:solidFill>
                  </a:tcPr>
                </a:tc>
              </a:tr>
              <a:tr h="530352">
                <a:tc>
                  <a:txBody>
                    <a:bodyPr wrap="square"/>
                    <a:lstStyle/>
                    <a:p>
                      <a:r>
                        <a:rPr sz="1400" b="0">
                          <a:solidFill>
                            <a:srgbClr val="1B2733"/>
                          </a:solidFill>
                          <a:latin typeface="Arial"/>
                        </a:rPr>
                        <a:t>4</a:t>
                      </a:r>
                    </a:p>
                  </a:txBody>
                  <a:tcPr marL="73152" marR="73152" marT="27432" marB="27432" anchor="ctr">
                    <a:solidFill>
                      <a:srgbClr val="EAF0FA"/>
                    </a:solidFill>
                  </a:tcPr>
                </a:tc>
                <a:tc>
                  <a:txBody>
                    <a:bodyPr wrap="square"/>
                    <a:lstStyle/>
                    <a:p>
                      <a:r>
                        <a:rPr sz="1400" b="0">
                          <a:solidFill>
                            <a:srgbClr val="1B2733"/>
                          </a:solidFill>
                          <a:latin typeface="Arial"/>
                        </a:rPr>
                        <a:t>GROUP BY (split, engine_id): số cycle, cycle đầu, cycle cuối</a:t>
                      </a:r>
                    </a:p>
                  </a:txBody>
                  <a:tcPr marL="73152" marR="73152" marT="27432" marB="27432" anchor="ctr">
                    <a:solidFill>
                      <a:srgbClr val="EAF0FA"/>
                    </a:solidFill>
                  </a:tcPr>
                </a:tc>
                <a:tc>
                  <a:txBody>
                    <a:bodyPr wrap="square"/>
                    <a:lstStyle/>
                    <a:p>
                      <a:r>
                        <a:rPr sz="1400" b="0">
                          <a:solidFill>
                            <a:srgbClr val="1B2733"/>
                          </a:solidFill>
                          <a:latin typeface="Arial"/>
                        </a:rPr>
                        <a:t>engine_summary</a:t>
                      </a:r>
                    </a:p>
                  </a:txBody>
                  <a:tcPr marL="73152" marR="73152" marT="27432" marB="27432" anchor="ctr">
                    <a:solidFill>
                      <a:srgbClr val="EAF0FA"/>
                    </a:solidFill>
                  </a:tcPr>
                </a:tc>
                <a:tc>
                  <a:txBody>
                    <a:bodyPr wrap="square"/>
                    <a:lstStyle/>
                    <a:p>
                      <a:pPr algn="r"/>
                      <a:r>
                        <a:rPr sz="1400" b="0">
                          <a:solidFill>
                            <a:srgbClr val="1B2733"/>
                          </a:solidFill>
                          <a:latin typeface="Arial"/>
                        </a:rPr>
                        <a:t>200 × 5</a:t>
                      </a:r>
                    </a:p>
                  </a:txBody>
                  <a:tcPr marL="73152" marR="73152" marT="27432" marB="27432" anchor="ctr">
                    <a:solidFill>
                      <a:srgbClr val="EAF0FA"/>
                    </a:solidFill>
                  </a:tcPr>
                </a:tc>
              </a:tr>
              <a:tr h="530352">
                <a:tc>
                  <a:txBody>
                    <a:bodyPr wrap="square"/>
                    <a:lstStyle/>
                    <a:p>
                      <a:r>
                        <a:rPr sz="1400" b="0">
                          <a:solidFill>
                            <a:srgbClr val="1B2733"/>
                          </a:solidFill>
                          <a:latin typeface="Arial"/>
                        </a:rPr>
                        <a:t>5</a:t>
                      </a:r>
                    </a:p>
                  </a:txBody>
                  <a:tcPr marL="73152" marR="73152" marT="27432" marB="27432" anchor="ctr">
                    <a:solidFill>
                      <a:srgbClr val="FFFFFF"/>
                    </a:solidFill>
                  </a:tcPr>
                </a:tc>
                <a:tc>
                  <a:txBody>
                    <a:bodyPr wrap="square"/>
                    <a:lstStyle/>
                    <a:p>
                      <a:r>
                        <a:rPr sz="1400" b="0">
                          <a:solidFill>
                            <a:srgbClr val="1B2733"/>
                          </a:solidFill>
                          <a:latin typeface="Arial"/>
                        </a:rPr>
                        <a:t>Window 30 cycle: 6 thống kê × 21 sensor</a:t>
                      </a:r>
                    </a:p>
                  </a:txBody>
                  <a:tcPr marL="73152" marR="73152" marT="27432" marB="27432" anchor="ctr">
                    <a:solidFill>
                      <a:srgbClr val="FFFFFF"/>
                    </a:solidFill>
                  </a:tcPr>
                </a:tc>
                <a:tc>
                  <a:txBody>
                    <a:bodyPr wrap="square"/>
                    <a:lstStyle/>
                    <a:p>
                      <a:r>
                        <a:rPr sz="1400" b="0">
                          <a:solidFill>
                            <a:srgbClr val="1B2733"/>
                          </a:solidFill>
                          <a:latin typeface="Arial"/>
                        </a:rPr>
                        <a:t>rolling_features</a:t>
                      </a:r>
                    </a:p>
                  </a:txBody>
                  <a:tcPr marL="73152" marR="73152" marT="27432" marB="27432" anchor="ctr">
                    <a:solidFill>
                      <a:srgbClr val="FFFFFF"/>
                    </a:solidFill>
                  </a:tcPr>
                </a:tc>
                <a:tc>
                  <a:txBody>
                    <a:bodyPr wrap="square"/>
                    <a:lstStyle/>
                    <a:p>
                      <a:pPr algn="r"/>
                      <a:r>
                        <a:rPr sz="1400" b="0">
                          <a:solidFill>
                            <a:srgbClr val="1B2733"/>
                          </a:solidFill>
                          <a:latin typeface="Arial"/>
                        </a:rPr>
                        <a:t>27.927 × 129</a:t>
                      </a:r>
                    </a:p>
                  </a:txBody>
                  <a:tcPr marL="73152" marR="73152" marT="27432" marB="27432" anchor="ctr">
                    <a:solidFill>
                      <a:srgbClr val="FFFFFF"/>
                    </a:solidFill>
                  </a:tcPr>
                </a:tc>
              </a:tr>
              <a:tr h="530352">
                <a:tc>
                  <a:txBody>
                    <a:bodyPr wrap="square"/>
                    <a:lstStyle/>
                    <a:p>
                      <a:r>
                        <a:rPr sz="1400" b="0">
                          <a:solidFill>
                            <a:srgbClr val="1B2733"/>
                          </a:solidFill>
                          <a:latin typeface="Arial"/>
                        </a:rPr>
                        <a:t>6</a:t>
                      </a:r>
                    </a:p>
                  </a:txBody>
                  <a:tcPr marL="73152" marR="73152" marT="27432" marB="27432" anchor="ctr">
                    <a:solidFill>
                      <a:srgbClr val="EAF0FA"/>
                    </a:solidFill>
                  </a:tcPr>
                </a:tc>
                <a:tc>
                  <a:txBody>
                    <a:bodyPr wrap="square"/>
                    <a:lstStyle/>
                    <a:p>
                      <a:r>
                        <a:rPr sz="1400" b="0">
                          <a:solidFill>
                            <a:srgbClr val="1B2733"/>
                          </a:solidFill>
                          <a:latin typeface="Arial"/>
                        </a:rPr>
                        <a:t>JOIN đặc trưng train với nhãn theo đủ 3 khóa, một-một</a:t>
                      </a:r>
                    </a:p>
                  </a:txBody>
                  <a:tcPr marL="73152" marR="73152" marT="27432" marB="27432" anchor="ctr">
                    <a:solidFill>
                      <a:srgbClr val="EAF0FA"/>
                    </a:solidFill>
                  </a:tcPr>
                </a:tc>
                <a:tc>
                  <a:txBody>
                    <a:bodyPr wrap="square"/>
                    <a:lstStyle/>
                    <a:p>
                      <a:r>
                        <a:rPr sz="1400" b="0">
                          <a:solidFill>
                            <a:srgbClr val="1B2733"/>
                          </a:solidFill>
                          <a:latin typeface="Arial"/>
                        </a:rPr>
                        <a:t>X, y</a:t>
                      </a:r>
                    </a:p>
                  </a:txBody>
                  <a:tcPr marL="73152" marR="73152" marT="27432" marB="27432" anchor="ctr">
                    <a:solidFill>
                      <a:srgbClr val="EAF0FA"/>
                    </a:solidFill>
                  </a:tcPr>
                </a:tc>
                <a:tc>
                  <a:txBody>
                    <a:bodyPr wrap="square"/>
                    <a:lstStyle/>
                    <a:p>
                      <a:pPr algn="r"/>
                      <a:r>
                        <a:rPr sz="1400" b="0">
                          <a:solidFill>
                            <a:srgbClr val="1B2733"/>
                          </a:solidFill>
                          <a:latin typeface="Arial"/>
                        </a:rPr>
                        <a:t>17.731 × 126</a:t>
                      </a:r>
                    </a:p>
                  </a:txBody>
                  <a:tcPr marL="73152" marR="73152" marT="27432" marB="27432" anchor="ctr">
                    <a:solidFill>
                      <a:srgbClr val="EAF0FA"/>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Khi dữ liệu tăng 100 lần, Spark tính nhanh hơn Pandas 5,5 lần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DỮ LIỆU VÀ HẠ TẦNG</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12 / 20</a:t>
            </a:r>
          </a:p>
        </p:txBody>
      </p:sp>
      <p:pic>
        <p:nvPicPr>
          <p:cNvPr id="5" name="Picture 4" descr="image.png"/>
          <p:cNvPicPr>
            <a:picLocks noChangeAspect="1"/>
          </p:cNvPicPr>
          <p:nvPr/>
        </p:nvPicPr>
        <p:blipFill>
          <a:blip r:embed="rId3"/>
          <a:stretch>
            <a:fillRect/>
          </a:stretch>
        </p:blipFill>
        <p:spPr>
          <a:xfrm>
            <a:off x="2059354" y="1828800"/>
            <a:ext cx="8079386" cy="3154680"/>
          </a:xfrm>
          <a:prstGeom prst="rect">
            <a:avLst/>
          </a:prstGeom>
        </p:spPr>
      </p:pic>
      <p:sp>
        <p:nvSpPr>
          <p:cNvPr id="6" name="TextBox 5"/>
          <p:cNvSpPr txBox="1"/>
          <p:nvPr/>
        </p:nvSpPr>
        <p:spPr>
          <a:xfrm>
            <a:off x="84124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5,5 lần</a:t>
            </a:r>
          </a:p>
        </p:txBody>
      </p:sp>
      <p:sp>
        <p:nvSpPr>
          <p:cNvPr id="7" name="TextBox 6"/>
          <p:cNvSpPr txBox="1"/>
          <p:nvPr/>
        </p:nvSpPr>
        <p:spPr>
          <a:xfrm>
            <a:off x="84124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Spark nhanh hơn Pandas ở 100× dữ liệu</a:t>
            </a:r>
          </a:p>
        </p:txBody>
      </p:sp>
      <p:sp>
        <p:nvSpPr>
          <p:cNvPr id="8" name="TextBox 7"/>
          <p:cNvSpPr txBox="1"/>
          <p:nvPr/>
        </p:nvSpPr>
        <p:spPr>
          <a:xfrm>
            <a:off x="4407408" y="5074920"/>
            <a:ext cx="3383280" cy="548640"/>
          </a:xfrm>
          <a:prstGeom prst="rect">
            <a:avLst/>
          </a:prstGeom>
          <a:noFill/>
        </p:spPr>
        <p:txBody>
          <a:bodyPr wrap="square" lIns="0" rIns="0" tIns="0" bIns="0" anchor="b"/>
          <a:lstStyle/>
          <a:p>
            <a:pPr algn="l">
              <a:spcAft>
                <a:spcPts val="0"/>
              </a:spcAft>
            </a:pPr>
            <a:r>
              <a:rPr sz="3000" b="1">
                <a:solidFill>
                  <a:srgbClr val="B23A3A"/>
                </a:solidFill>
                <a:latin typeface="Arial"/>
              </a:rPr>
              <a:t>&gt; 30 phút</a:t>
            </a:r>
          </a:p>
        </p:txBody>
      </p:sp>
      <p:sp>
        <p:nvSpPr>
          <p:cNvPr id="9" name="TextBox 8"/>
          <p:cNvSpPr txBox="1"/>
          <p:nvPr/>
        </p:nvSpPr>
        <p:spPr>
          <a:xfrm>
            <a:off x="440740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Pandas ở 200×; Spark xong sau 392 giây</a:t>
            </a:r>
          </a:p>
        </p:txBody>
      </p:sp>
      <p:sp>
        <p:nvSpPr>
          <p:cNvPr id="10" name="TextBox 9"/>
          <p:cNvSpPr txBox="1"/>
          <p:nvPr/>
        </p:nvSpPr>
        <p:spPr>
          <a:xfrm>
            <a:off x="7973568" y="5074920"/>
            <a:ext cx="3383280" cy="548640"/>
          </a:xfrm>
          <a:prstGeom prst="rect">
            <a:avLst/>
          </a:prstGeom>
          <a:noFill/>
        </p:spPr>
        <p:txBody>
          <a:bodyPr wrap="square" lIns="0" rIns="0" tIns="0" bIns="0" anchor="b"/>
          <a:lstStyle/>
          <a:p>
            <a:pPr algn="l">
              <a:spcAft>
                <a:spcPts val="0"/>
              </a:spcAft>
            </a:pPr>
            <a:r>
              <a:rPr sz="3000" b="1">
                <a:solidFill>
                  <a:srgbClr val="5A6B7B"/>
                </a:solidFill>
                <a:latin typeface="Arial"/>
              </a:rPr>
              <a:t>Như nhau</a:t>
            </a:r>
          </a:p>
        </p:txBody>
      </p:sp>
      <p:sp>
        <p:nvSpPr>
          <p:cNvPr id="11" name="TextBox 10"/>
          <p:cNvSpPr txBox="1"/>
          <p:nvPr/>
        </p:nvSpPr>
        <p:spPr>
          <a:xfrm>
            <a:off x="797356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lịch bảo trì với 100 động cơ hiện tại khi dùng Pandas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Làm mượt EWMA giảm khoảng 86% dao động ngắn hạn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PHÂN TÍCH VÀ DỰ ĐOÁN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13 / 20</a:t>
            </a:r>
          </a:p>
        </p:txBody>
      </p:sp>
      <p:pic>
        <p:nvPicPr>
          <p:cNvPr id="5" name="Picture 4" descr="image.png"/>
          <p:cNvPicPr>
            <a:picLocks noChangeAspect="1"/>
          </p:cNvPicPr>
          <p:nvPr/>
        </p:nvPicPr>
        <p:blipFill>
          <a:blip r:embed="rId3"/>
          <a:stretch>
            <a:fillRect/>
          </a:stretch>
        </p:blipFill>
        <p:spPr>
          <a:xfrm>
            <a:off x="1682495" y="1828800"/>
            <a:ext cx="8833104" cy="3154679"/>
          </a:xfrm>
          <a:prstGeom prst="rect">
            <a:avLst/>
          </a:prstGeom>
        </p:spPr>
      </p:pic>
      <p:sp>
        <p:nvSpPr>
          <p:cNvPr id="6" name="TextBox 5"/>
          <p:cNvSpPr txBox="1"/>
          <p:nvPr/>
        </p:nvSpPr>
        <p:spPr>
          <a:xfrm>
            <a:off x="84124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−86%</a:t>
            </a:r>
          </a:p>
        </p:txBody>
      </p:sp>
      <p:sp>
        <p:nvSpPr>
          <p:cNvPr id="7" name="TextBox 6"/>
          <p:cNvSpPr txBox="1"/>
          <p:nvPr/>
        </p:nvSpPr>
        <p:spPr>
          <a:xfrm>
            <a:off x="84124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dao động ngắn hạn sau khi làm mượt (trung vị 14 sensor)</a:t>
            </a:r>
          </a:p>
        </p:txBody>
      </p:sp>
      <p:sp>
        <p:nvSpPr>
          <p:cNvPr id="8" name="TextBox 7"/>
          <p:cNvSpPr txBox="1"/>
          <p:nvPr/>
        </p:nvSpPr>
        <p:spPr>
          <a:xfrm>
            <a:off x="440740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121 cycle</a:t>
            </a:r>
          </a:p>
        </p:txBody>
      </p:sp>
      <p:sp>
        <p:nvSpPr>
          <p:cNvPr id="9" name="TextBox 8"/>
          <p:cNvSpPr txBox="1"/>
          <p:nvPr/>
        </p:nvSpPr>
        <p:spPr>
          <a:xfrm>
            <a:off x="440740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cảnh báo mức một báo trước khi hỏng, có làm mượt</a:t>
            </a:r>
          </a:p>
        </p:txBody>
      </p:sp>
      <p:sp>
        <p:nvSpPr>
          <p:cNvPr id="10" name="TextBox 9"/>
          <p:cNvSpPr txBox="1"/>
          <p:nvPr/>
        </p:nvSpPr>
        <p:spPr>
          <a:xfrm>
            <a:off x="7973568" y="5074920"/>
            <a:ext cx="3383280" cy="548640"/>
          </a:xfrm>
          <a:prstGeom prst="rect">
            <a:avLst/>
          </a:prstGeom>
          <a:noFill/>
        </p:spPr>
        <p:txBody>
          <a:bodyPr wrap="square" lIns="0" rIns="0" tIns="0" bIns="0" anchor="b"/>
          <a:lstStyle/>
          <a:p>
            <a:pPr algn="l">
              <a:spcAft>
                <a:spcPts val="0"/>
              </a:spcAft>
            </a:pPr>
            <a:r>
              <a:rPr sz="3000" b="1">
                <a:solidFill>
                  <a:srgbClr val="B23A3A"/>
                </a:solidFill>
                <a:latin typeface="Arial"/>
              </a:rPr>
              <a:t>72,5 cycle</a:t>
            </a:r>
          </a:p>
        </p:txBody>
      </p:sp>
      <p:sp>
        <p:nvSpPr>
          <p:cNvPr id="11" name="TextBox 10"/>
          <p:cNvSpPr txBox="1"/>
          <p:nvPr/>
        </p:nvSpPr>
        <p:spPr>
          <a:xfrm>
            <a:off x="797356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nếu không làm mượt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12 sensor thay đổi cùng chiều ở cả 100 động cơ khi gần hỏng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PHÂN TÍCH VÀ DỰ ĐOÁN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14 / 20</a:t>
            </a:r>
          </a:p>
        </p:txBody>
      </p:sp>
      <p:pic>
        <p:nvPicPr>
          <p:cNvPr id="5" name="Picture 4" descr="image.png"/>
          <p:cNvPicPr>
            <a:picLocks noChangeAspect="1"/>
          </p:cNvPicPr>
          <p:nvPr/>
        </p:nvPicPr>
        <p:blipFill>
          <a:blip r:embed="rId3"/>
          <a:stretch>
            <a:fillRect/>
          </a:stretch>
        </p:blipFill>
        <p:spPr>
          <a:xfrm>
            <a:off x="841248" y="1858026"/>
            <a:ext cx="10515600" cy="3096227"/>
          </a:xfrm>
          <a:prstGeom prst="rect">
            <a:avLst/>
          </a:prstGeom>
        </p:spPr>
      </p:pic>
      <p:sp>
        <p:nvSpPr>
          <p:cNvPr id="6" name="TextBox 5"/>
          <p:cNvSpPr txBox="1"/>
          <p:nvPr/>
        </p:nvSpPr>
        <p:spPr>
          <a:xfrm>
            <a:off x="84124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12</a:t>
            </a:r>
          </a:p>
        </p:txBody>
      </p:sp>
      <p:sp>
        <p:nvSpPr>
          <p:cNvPr id="7" name="TextBox 6"/>
          <p:cNvSpPr txBox="1"/>
          <p:nvPr/>
        </p:nvSpPr>
        <p:spPr>
          <a:xfrm>
            <a:off x="84124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sensor thay đổi cùng chiều ở cả 100 động cơ</a:t>
            </a:r>
          </a:p>
        </p:txBody>
      </p:sp>
      <p:sp>
        <p:nvSpPr>
          <p:cNvPr id="8" name="TextBox 7"/>
          <p:cNvSpPr txBox="1"/>
          <p:nvPr/>
        </p:nvSpPr>
        <p:spPr>
          <a:xfrm>
            <a:off x="440740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15/21</a:t>
            </a:r>
          </a:p>
        </p:txBody>
      </p:sp>
      <p:sp>
        <p:nvSpPr>
          <p:cNvPr id="9" name="TextBox 8"/>
          <p:cNvSpPr txBox="1"/>
          <p:nvPr/>
        </p:nvSpPr>
        <p:spPr>
          <a:xfrm>
            <a:off x="440740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sensor thay đổi có ý nghĩa thống kê (q = 0,05)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Health Index phát hiện bất thường ở cả 100 động cơ train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PHÂN TÍCH VÀ DỰ ĐOÁN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15 / 20</a:t>
            </a:r>
          </a:p>
        </p:txBody>
      </p:sp>
      <p:pic>
        <p:nvPicPr>
          <p:cNvPr id="5" name="Picture 4" descr="image.png"/>
          <p:cNvPicPr>
            <a:picLocks noChangeAspect="1"/>
          </p:cNvPicPr>
          <p:nvPr/>
        </p:nvPicPr>
        <p:blipFill>
          <a:blip r:embed="rId3"/>
          <a:stretch>
            <a:fillRect/>
          </a:stretch>
        </p:blipFill>
        <p:spPr>
          <a:xfrm>
            <a:off x="1824965" y="1828800"/>
            <a:ext cx="8548165" cy="3154680"/>
          </a:xfrm>
          <a:prstGeom prst="rect">
            <a:avLst/>
          </a:prstGeom>
        </p:spPr>
      </p:pic>
      <p:sp>
        <p:nvSpPr>
          <p:cNvPr id="6" name="TextBox 5"/>
          <p:cNvSpPr txBox="1"/>
          <p:nvPr/>
        </p:nvSpPr>
        <p:spPr>
          <a:xfrm>
            <a:off x="84124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100/100</a:t>
            </a:r>
          </a:p>
        </p:txBody>
      </p:sp>
      <p:sp>
        <p:nvSpPr>
          <p:cNvPr id="7" name="TextBox 6"/>
          <p:cNvSpPr txBox="1"/>
          <p:nvPr/>
        </p:nvSpPr>
        <p:spPr>
          <a:xfrm>
            <a:off x="84124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động cơ train được phát hiện trước khi hỏng</a:t>
            </a:r>
          </a:p>
        </p:txBody>
      </p:sp>
      <p:sp>
        <p:nvSpPr>
          <p:cNvPr id="8" name="TextBox 7"/>
          <p:cNvSpPr txBox="1"/>
          <p:nvPr/>
        </p:nvSpPr>
        <p:spPr>
          <a:xfrm>
            <a:off x="440740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121 cycle</a:t>
            </a:r>
          </a:p>
        </p:txBody>
      </p:sp>
      <p:sp>
        <p:nvSpPr>
          <p:cNvPr id="9" name="TextBox 8"/>
          <p:cNvSpPr txBox="1"/>
          <p:nvPr/>
        </p:nvSpPr>
        <p:spPr>
          <a:xfrm>
            <a:off x="440740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thời gian báo trước (trung vị)</a:t>
            </a:r>
          </a:p>
        </p:txBody>
      </p:sp>
      <p:sp>
        <p:nvSpPr>
          <p:cNvPr id="10" name="TextBox 9"/>
          <p:cNvSpPr txBox="1"/>
          <p:nvPr/>
        </p:nvSpPr>
        <p:spPr>
          <a:xfrm>
            <a:off x="7973568" y="5074920"/>
            <a:ext cx="3383280" cy="548640"/>
          </a:xfrm>
          <a:prstGeom prst="rect">
            <a:avLst/>
          </a:prstGeom>
          <a:noFill/>
        </p:spPr>
        <p:txBody>
          <a:bodyPr wrap="square" lIns="0" rIns="0" tIns="0" bIns="0" anchor="b"/>
          <a:lstStyle/>
          <a:p>
            <a:pPr algn="l">
              <a:spcAft>
                <a:spcPts val="0"/>
              </a:spcAft>
            </a:pPr>
            <a:r>
              <a:rPr sz="3000" b="1">
                <a:solidFill>
                  <a:srgbClr val="B37800"/>
                </a:solidFill>
                <a:latin typeface="Arial"/>
              </a:rPr>
              <a:t>cycle 84</a:t>
            </a:r>
          </a:p>
        </p:txBody>
      </p:sp>
      <p:sp>
        <p:nvSpPr>
          <p:cNvPr id="11" name="TextBox 10"/>
          <p:cNvSpPr txBox="1"/>
          <p:nvPr/>
        </p:nvSpPr>
        <p:spPr>
          <a:xfrm>
            <a:off x="797356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động cơ train 1 được phát hiện; hỏng ở cycle 192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Mô hình HistGradientBoosting dự đoán RUL với MAE 15,35 cycle</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PHÂN TÍCH VÀ DỰ ĐOÁN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16 / 20</a:t>
            </a:r>
          </a:p>
        </p:txBody>
      </p:sp>
      <p:pic>
        <p:nvPicPr>
          <p:cNvPr id="5" name="Picture 4" descr="image.png"/>
          <p:cNvPicPr>
            <a:picLocks noChangeAspect="1"/>
          </p:cNvPicPr>
          <p:nvPr/>
        </p:nvPicPr>
        <p:blipFill>
          <a:blip r:embed="rId3"/>
          <a:stretch>
            <a:fillRect/>
          </a:stretch>
        </p:blipFill>
        <p:spPr>
          <a:xfrm>
            <a:off x="841248" y="1874519"/>
            <a:ext cx="6016752" cy="4297680"/>
          </a:xfrm>
          <a:prstGeom prst="rect">
            <a:avLst/>
          </a:prstGeom>
        </p:spPr>
      </p:pic>
      <p:sp>
        <p:nvSpPr>
          <p:cNvPr id="6" name="TextBox 5"/>
          <p:cNvSpPr txBox="1"/>
          <p:nvPr/>
        </p:nvSpPr>
        <p:spPr>
          <a:xfrm>
            <a:off x="8138160" y="2103120"/>
            <a:ext cx="3200400" cy="640080"/>
          </a:xfrm>
          <a:prstGeom prst="rect">
            <a:avLst/>
          </a:prstGeom>
          <a:noFill/>
        </p:spPr>
        <p:txBody>
          <a:bodyPr wrap="square" lIns="0" rIns="0" tIns="0" bIns="0" anchor="b"/>
          <a:lstStyle/>
          <a:p>
            <a:pPr algn="l">
              <a:spcAft>
                <a:spcPts val="0"/>
              </a:spcAft>
            </a:pPr>
            <a:r>
              <a:rPr sz="3400" b="1">
                <a:solidFill>
                  <a:srgbClr val="21409A"/>
                </a:solidFill>
                <a:latin typeface="Arial"/>
              </a:rPr>
              <a:t>15,35 cycle</a:t>
            </a:r>
          </a:p>
        </p:txBody>
      </p:sp>
      <p:sp>
        <p:nvSpPr>
          <p:cNvPr id="7" name="TextBox 6"/>
          <p:cNvSpPr txBox="1"/>
          <p:nvPr/>
        </p:nvSpPr>
        <p:spPr>
          <a:xfrm>
            <a:off x="8138160" y="2779776"/>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MAE trên 100 động cơ test</a:t>
            </a:r>
          </a:p>
        </p:txBody>
      </p:sp>
      <p:sp>
        <p:nvSpPr>
          <p:cNvPr id="8" name="TextBox 7"/>
          <p:cNvSpPr txBox="1"/>
          <p:nvPr/>
        </p:nvSpPr>
        <p:spPr>
          <a:xfrm>
            <a:off x="8138160" y="3383279"/>
            <a:ext cx="3200400" cy="640080"/>
          </a:xfrm>
          <a:prstGeom prst="rect">
            <a:avLst/>
          </a:prstGeom>
          <a:noFill/>
        </p:spPr>
        <p:txBody>
          <a:bodyPr wrap="square" lIns="0" rIns="0" tIns="0" bIns="0" anchor="b"/>
          <a:lstStyle/>
          <a:p>
            <a:pPr algn="l">
              <a:spcAft>
                <a:spcPts val="0"/>
              </a:spcAft>
            </a:pPr>
            <a:r>
              <a:rPr sz="3400" b="1">
                <a:solidFill>
                  <a:srgbClr val="B23A3A"/>
                </a:solidFill>
                <a:latin typeface="Arial"/>
              </a:rPr>
              <a:t>4,38 cycle</a:t>
            </a:r>
          </a:p>
        </p:txBody>
      </p:sp>
      <p:sp>
        <p:nvSpPr>
          <p:cNvPr id="9" name="TextBox 8"/>
          <p:cNvSpPr txBox="1"/>
          <p:nvPr/>
        </p:nvSpPr>
        <p:spPr>
          <a:xfrm>
            <a:off x="8138160" y="4059935"/>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MAE với 25 động cơ có RUL thật ≤ 30</a:t>
            </a:r>
          </a:p>
        </p:txBody>
      </p:sp>
      <p:sp>
        <p:nvSpPr>
          <p:cNvPr id="10" name="TextBox 9"/>
          <p:cNvSpPr txBox="1"/>
          <p:nvPr/>
        </p:nvSpPr>
        <p:spPr>
          <a:xfrm>
            <a:off x="8138160" y="4663440"/>
            <a:ext cx="3200400" cy="640080"/>
          </a:xfrm>
          <a:prstGeom prst="rect">
            <a:avLst/>
          </a:prstGeom>
          <a:noFill/>
        </p:spPr>
        <p:txBody>
          <a:bodyPr wrap="square" lIns="0" rIns="0" tIns="0" bIns="0" anchor="b"/>
          <a:lstStyle/>
          <a:p>
            <a:pPr algn="l">
              <a:spcAft>
                <a:spcPts val="0"/>
              </a:spcAft>
            </a:pPr>
            <a:r>
              <a:rPr sz="3400" b="1">
                <a:solidFill>
                  <a:srgbClr val="5A6B7B"/>
                </a:solidFill>
                <a:latin typeface="Arial"/>
              </a:rPr>
              <a:t>20,21 cycle</a:t>
            </a:r>
          </a:p>
        </p:txBody>
      </p:sp>
      <p:sp>
        <p:nvSpPr>
          <p:cNvPr id="11" name="TextBox 10"/>
          <p:cNvSpPr txBox="1"/>
          <p:nvPr/>
        </p:nvSpPr>
        <p:spPr>
          <a:xfrm>
            <a:off x="8138160" y="5340096"/>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MAE cross-validation 5 fold theo động cơ</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Cảnh báo sớm: ngưỡng 40 cycle nâng tỷ lệ báo kịp thời lên 94%</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PHÂN TÍCH VÀ DỰ ĐOÁN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17 / 20</a:t>
            </a:r>
          </a:p>
        </p:txBody>
      </p:sp>
      <p:pic>
        <p:nvPicPr>
          <p:cNvPr id="5" name="Picture 4" descr="image.png"/>
          <p:cNvPicPr>
            <a:picLocks noChangeAspect="1"/>
          </p:cNvPicPr>
          <p:nvPr/>
        </p:nvPicPr>
        <p:blipFill>
          <a:blip r:embed="rId3"/>
          <a:stretch>
            <a:fillRect/>
          </a:stretch>
        </p:blipFill>
        <p:spPr>
          <a:xfrm>
            <a:off x="841248" y="1874519"/>
            <a:ext cx="6949440" cy="3909060"/>
          </a:xfrm>
          <a:prstGeom prst="rect">
            <a:avLst/>
          </a:prstGeom>
        </p:spPr>
      </p:pic>
      <p:sp>
        <p:nvSpPr>
          <p:cNvPr id="6" name="TextBox 5"/>
          <p:cNvSpPr txBox="1"/>
          <p:nvPr/>
        </p:nvSpPr>
        <p:spPr>
          <a:xfrm>
            <a:off x="8138160" y="2103120"/>
            <a:ext cx="3200400" cy="640080"/>
          </a:xfrm>
          <a:prstGeom prst="rect">
            <a:avLst/>
          </a:prstGeom>
          <a:noFill/>
        </p:spPr>
        <p:txBody>
          <a:bodyPr wrap="square" lIns="0" rIns="0" tIns="0" bIns="0" anchor="b"/>
          <a:lstStyle/>
          <a:p>
            <a:pPr algn="l">
              <a:spcAft>
                <a:spcPts val="0"/>
              </a:spcAft>
            </a:pPr>
            <a:r>
              <a:rPr sz="3400" b="1">
                <a:solidFill>
                  <a:srgbClr val="B23A3A"/>
                </a:solidFill>
                <a:latin typeface="Arial"/>
              </a:rPr>
              <a:t>49/100</a:t>
            </a:r>
          </a:p>
        </p:txBody>
      </p:sp>
      <p:sp>
        <p:nvSpPr>
          <p:cNvPr id="7" name="TextBox 6"/>
          <p:cNvSpPr txBox="1"/>
          <p:nvPr/>
        </p:nvSpPr>
        <p:spPr>
          <a:xfrm>
            <a:off x="8138160" y="2779776"/>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động cơ train bị cảnh báo muộn ở ngưỡng 30</a:t>
            </a:r>
          </a:p>
        </p:txBody>
      </p:sp>
      <p:sp>
        <p:nvSpPr>
          <p:cNvPr id="8" name="TextBox 7"/>
          <p:cNvSpPr txBox="1"/>
          <p:nvPr/>
        </p:nvSpPr>
        <p:spPr>
          <a:xfrm>
            <a:off x="8138160" y="3383279"/>
            <a:ext cx="3200400" cy="640080"/>
          </a:xfrm>
          <a:prstGeom prst="rect">
            <a:avLst/>
          </a:prstGeom>
          <a:noFill/>
        </p:spPr>
        <p:txBody>
          <a:bodyPr wrap="square" lIns="0" rIns="0" tIns="0" bIns="0" anchor="b"/>
          <a:lstStyle/>
          <a:p>
            <a:pPr algn="l">
              <a:spcAft>
                <a:spcPts val="0"/>
              </a:spcAft>
            </a:pPr>
            <a:r>
              <a:rPr sz="3400" b="1">
                <a:solidFill>
                  <a:srgbClr val="21409A"/>
                </a:solidFill>
                <a:latin typeface="Arial"/>
              </a:rPr>
              <a:t>51% → 94%</a:t>
            </a:r>
          </a:p>
        </p:txBody>
      </p:sp>
      <p:sp>
        <p:nvSpPr>
          <p:cNvPr id="9" name="TextBox 8"/>
          <p:cNvSpPr txBox="1"/>
          <p:nvPr/>
        </p:nvSpPr>
        <p:spPr>
          <a:xfrm>
            <a:off x="8138160" y="4059935"/>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tỷ lệ cảnh báo kịp thời khi nâng ngưỡng lên 40</a:t>
            </a:r>
          </a:p>
        </p:txBody>
      </p:sp>
      <p:sp>
        <p:nvSpPr>
          <p:cNvPr id="10" name="TextBox 9"/>
          <p:cNvSpPr txBox="1"/>
          <p:nvPr/>
        </p:nvSpPr>
        <p:spPr>
          <a:xfrm>
            <a:off x="8138160" y="4663440"/>
            <a:ext cx="3200400" cy="640080"/>
          </a:xfrm>
          <a:prstGeom prst="rect">
            <a:avLst/>
          </a:prstGeom>
          <a:noFill/>
        </p:spPr>
        <p:txBody>
          <a:bodyPr wrap="square" lIns="0" rIns="0" tIns="0" bIns="0" anchor="b"/>
          <a:lstStyle/>
          <a:p>
            <a:pPr algn="l">
              <a:spcAft>
                <a:spcPts val="0"/>
              </a:spcAft>
            </a:pPr>
            <a:r>
              <a:rPr sz="3400" b="1">
                <a:solidFill>
                  <a:srgbClr val="5A6B7B"/>
                </a:solidFill>
                <a:latin typeface="Arial"/>
              </a:rPr>
              <a:t>1,3% → 5,3%</a:t>
            </a:r>
          </a:p>
        </p:txBody>
      </p:sp>
      <p:sp>
        <p:nvSpPr>
          <p:cNvPr id="11" name="TextBox 10"/>
          <p:cNvSpPr txBox="1"/>
          <p:nvPr/>
        </p:nvSpPr>
        <p:spPr>
          <a:xfrm>
            <a:off x="8138160" y="5340096"/>
            <a:ext cx="3200400" cy="548640"/>
          </a:xfrm>
          <a:prstGeom prst="rect">
            <a:avLst/>
          </a:prstGeom>
          <a:noFill/>
        </p:spPr>
        <p:txBody>
          <a:bodyPr wrap="square" lIns="0" rIns="0" tIns="0" bIns="0" anchor="t"/>
          <a:lstStyle/>
          <a:p>
            <a:pPr algn="l">
              <a:spcAft>
                <a:spcPts val="0"/>
              </a:spcAft>
            </a:pPr>
            <a:r>
              <a:rPr sz="1400" b="0">
                <a:solidFill>
                  <a:srgbClr val="5A6B7B"/>
                </a:solidFill>
                <a:latin typeface="Arial"/>
              </a:rPr>
              <a:t>tỷ lệ cycle báo quá sớm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21 chỉ định bảo trì ngay đều đúng, còn sót 4/25 động cơ</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PHÂN TÍCH VÀ DỰ ĐOÁN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18 / 20</a:t>
            </a:r>
          </a:p>
        </p:txBody>
      </p:sp>
      <p:pic>
        <p:nvPicPr>
          <p:cNvPr id="5" name="Picture 4" descr="image.png"/>
          <p:cNvPicPr>
            <a:picLocks noChangeAspect="1"/>
          </p:cNvPicPr>
          <p:nvPr/>
        </p:nvPicPr>
        <p:blipFill>
          <a:blip r:embed="rId3"/>
          <a:stretch>
            <a:fillRect/>
          </a:stretch>
        </p:blipFill>
        <p:spPr>
          <a:xfrm>
            <a:off x="1859946" y="1828800"/>
            <a:ext cx="8478202" cy="3154680"/>
          </a:xfrm>
          <a:prstGeom prst="rect">
            <a:avLst/>
          </a:prstGeom>
        </p:spPr>
      </p:pic>
      <p:sp>
        <p:nvSpPr>
          <p:cNvPr id="6" name="TextBox 5"/>
          <p:cNvSpPr txBox="1"/>
          <p:nvPr/>
        </p:nvSpPr>
        <p:spPr>
          <a:xfrm>
            <a:off x="84124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21/21</a:t>
            </a:r>
          </a:p>
        </p:txBody>
      </p:sp>
      <p:sp>
        <p:nvSpPr>
          <p:cNvPr id="7" name="TextBox 6"/>
          <p:cNvSpPr txBox="1"/>
          <p:nvPr/>
        </p:nvSpPr>
        <p:spPr>
          <a:xfrm>
            <a:off x="84124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động cơ được xếp bảo trì ngay đều đúng</a:t>
            </a:r>
          </a:p>
        </p:txBody>
      </p:sp>
      <p:sp>
        <p:nvSpPr>
          <p:cNvPr id="8" name="TextBox 7"/>
          <p:cNvSpPr txBox="1"/>
          <p:nvPr/>
        </p:nvSpPr>
        <p:spPr>
          <a:xfrm>
            <a:off x="4407408" y="5074920"/>
            <a:ext cx="3383280" cy="548640"/>
          </a:xfrm>
          <a:prstGeom prst="rect">
            <a:avLst/>
          </a:prstGeom>
          <a:noFill/>
        </p:spPr>
        <p:txBody>
          <a:bodyPr wrap="square" lIns="0" rIns="0" tIns="0" bIns="0" anchor="b"/>
          <a:lstStyle/>
          <a:p>
            <a:pPr algn="l">
              <a:spcAft>
                <a:spcPts val="0"/>
              </a:spcAft>
            </a:pPr>
            <a:r>
              <a:rPr sz="3000" b="1">
                <a:solidFill>
                  <a:srgbClr val="B37800"/>
                </a:solidFill>
                <a:latin typeface="Arial"/>
              </a:rPr>
              <a:t>4</a:t>
            </a:r>
          </a:p>
        </p:txBody>
      </p:sp>
      <p:sp>
        <p:nvSpPr>
          <p:cNvPr id="9" name="TextBox 8"/>
          <p:cNvSpPr txBox="1"/>
          <p:nvPr/>
        </p:nvSpPr>
        <p:spPr>
          <a:xfrm>
            <a:off x="440740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động cơ bị sót, RUL dự đoán 31–38 cycle</a:t>
            </a:r>
          </a:p>
        </p:txBody>
      </p:sp>
      <p:sp>
        <p:nvSpPr>
          <p:cNvPr id="10" name="TextBox 9"/>
          <p:cNvSpPr txBox="1"/>
          <p:nvPr/>
        </p:nvSpPr>
        <p:spPr>
          <a:xfrm>
            <a:off x="7973568" y="5074920"/>
            <a:ext cx="3383280" cy="548640"/>
          </a:xfrm>
          <a:prstGeom prst="rect">
            <a:avLst/>
          </a:prstGeom>
          <a:noFill/>
        </p:spPr>
        <p:txBody>
          <a:bodyPr wrap="square" lIns="0" rIns="0" tIns="0" bIns="0" anchor="b"/>
          <a:lstStyle/>
          <a:p>
            <a:pPr algn="l">
              <a:spcAft>
                <a:spcPts val="0"/>
              </a:spcAft>
            </a:pPr>
            <a:r>
              <a:rPr sz="3000" b="1">
                <a:solidFill>
                  <a:srgbClr val="21409A"/>
                </a:solidFill>
                <a:latin typeface="Arial"/>
              </a:rPr>
              <a:t>25/25</a:t>
            </a:r>
          </a:p>
        </p:txBody>
      </p:sp>
      <p:sp>
        <p:nvSpPr>
          <p:cNvPr id="11" name="TextBox 10"/>
          <p:cNvSpPr txBox="1"/>
          <p:nvPr/>
        </p:nvSpPr>
        <p:spPr>
          <a:xfrm>
            <a:off x="7973568" y="5650992"/>
            <a:ext cx="3383280" cy="457200"/>
          </a:xfrm>
          <a:prstGeom prst="rect">
            <a:avLst/>
          </a:prstGeom>
          <a:noFill/>
        </p:spPr>
        <p:txBody>
          <a:bodyPr wrap="square" lIns="0" rIns="0" tIns="0" bIns="0" anchor="t"/>
          <a:lstStyle/>
          <a:p>
            <a:pPr algn="l">
              <a:spcAft>
                <a:spcPts val="0"/>
              </a:spcAft>
            </a:pPr>
            <a:r>
              <a:rPr sz="1300" b="0">
                <a:solidFill>
                  <a:srgbClr val="5A6B7B"/>
                </a:solidFill>
                <a:latin typeface="Arial"/>
              </a:rPr>
              <a:t>bắt đủ nếu dùng ngưỡng 40 cycle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Đạt mục tiêu trên FD001; còn hạn chế về chi phí và quy mô</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KẾT LUẬN</a:t>
            </a:r>
          </a:p>
        </p:txBody>
      </p:sp>
      <p:sp>
        <p:nvSpPr>
          <p:cNvPr id="4" name="TextBox 3"/>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19 / 20</a:t>
            </a:r>
          </a:p>
        </p:txBody>
      </p:sp>
      <p:sp>
        <p:nvSpPr>
          <p:cNvPr id="5" name="Rounded Rectangle 4"/>
          <p:cNvSpPr/>
          <p:nvPr/>
        </p:nvSpPr>
        <p:spPr>
          <a:xfrm>
            <a:off x="841248" y="1965960"/>
            <a:ext cx="3383280" cy="40233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2103120"/>
            <a:ext cx="3017520" cy="411480"/>
          </a:xfrm>
          <a:prstGeom prst="rect">
            <a:avLst/>
          </a:prstGeom>
          <a:noFill/>
        </p:spPr>
        <p:txBody>
          <a:bodyPr wrap="square" lIns="0" rIns="0" tIns="0" bIns="0" anchor="t"/>
          <a:lstStyle/>
          <a:p>
            <a:pPr algn="l">
              <a:spcAft>
                <a:spcPts val="0"/>
              </a:spcAft>
            </a:pPr>
            <a:r>
              <a:rPr sz="1900" b="1">
                <a:solidFill>
                  <a:srgbClr val="FCB525"/>
                </a:solidFill>
                <a:latin typeface="Arial"/>
              </a:rPr>
              <a:t>Kết luận</a:t>
            </a:r>
          </a:p>
        </p:txBody>
      </p:sp>
      <p:sp>
        <p:nvSpPr>
          <p:cNvPr id="7" name="TextBox 6"/>
          <p:cNvSpPr txBox="1"/>
          <p:nvPr/>
        </p:nvSpPr>
        <p:spPr>
          <a:xfrm>
            <a:off x="1024128" y="2651760"/>
            <a:ext cx="3017520" cy="3200400"/>
          </a:xfrm>
          <a:prstGeom prst="rect">
            <a:avLst/>
          </a:prstGeom>
          <a:noFill/>
        </p:spPr>
        <p:txBody>
          <a:bodyPr wrap="square" lIns="0" rIns="0" tIns="0" bIns="0" anchor="t"/>
          <a:lstStyle/>
          <a:p>
            <a:pPr algn="l">
              <a:spcAft>
                <a:spcPts val="1200"/>
              </a:spcAft>
            </a:pPr>
            <a:r>
              <a:rPr sz="1500" b="0">
                <a:solidFill>
                  <a:srgbClr val="FFFFFF"/>
                </a:solidFill>
                <a:latin typeface="Arial"/>
              </a:rPr>
              <a:t>–  Pipeline chạy trên Pandas, PySpark, Hadoop; bảng ETL khớp tuyệt đối, bảng đặc trưng sai số &lt; 10⁻⁷.</a:t>
            </a:r>
          </a:p>
          <a:p>
            <a:pPr algn="l">
              <a:spcAft>
                <a:spcPts val="1200"/>
              </a:spcAft>
            </a:pPr>
            <a:r>
              <a:rPr sz="1500" b="0">
                <a:solidFill>
                  <a:srgbClr val="FFFFFF"/>
                </a:solidFill>
                <a:latin typeface="Arial"/>
              </a:rPr>
              <a:t>–  Health Index phát hiện bất thường ở 100/100 động cơ, trung vị 121 cycle trước khi hỏng.</a:t>
            </a:r>
          </a:p>
          <a:p>
            <a:pPr algn="l">
              <a:spcAft>
                <a:spcPts val="1200"/>
              </a:spcAft>
            </a:pPr>
            <a:r>
              <a:rPr sz="1500" b="0">
                <a:solidFill>
                  <a:srgbClr val="FFFFFF"/>
                </a:solidFill>
                <a:latin typeface="Arial"/>
              </a:rPr>
              <a:t>–  RUL: MAE 15,35 cycle; 21 chỉ định bảo trì ngay đều đúng, sót 4/25 động cơ.</a:t>
            </a:r>
          </a:p>
        </p:txBody>
      </p:sp>
      <p:sp>
        <p:nvSpPr>
          <p:cNvPr id="8" name="Rounded Rectangle 7"/>
          <p:cNvSpPr/>
          <p:nvPr/>
        </p:nvSpPr>
        <p:spPr>
          <a:xfrm>
            <a:off x="4407408" y="1965960"/>
            <a:ext cx="3383280" cy="40233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0288" y="2103120"/>
            <a:ext cx="3017520" cy="411480"/>
          </a:xfrm>
          <a:prstGeom prst="rect">
            <a:avLst/>
          </a:prstGeom>
          <a:noFill/>
        </p:spPr>
        <p:txBody>
          <a:bodyPr wrap="square" lIns="0" rIns="0" tIns="0" bIns="0" anchor="t"/>
          <a:lstStyle/>
          <a:p>
            <a:pPr algn="l">
              <a:spcAft>
                <a:spcPts val="0"/>
              </a:spcAft>
            </a:pPr>
            <a:r>
              <a:rPr sz="1900" b="1">
                <a:solidFill>
                  <a:srgbClr val="21409A"/>
                </a:solidFill>
                <a:latin typeface="Arial"/>
              </a:rPr>
              <a:t>Hạn chế</a:t>
            </a:r>
          </a:p>
        </p:txBody>
      </p:sp>
      <p:sp>
        <p:nvSpPr>
          <p:cNvPr id="10" name="TextBox 9"/>
          <p:cNvSpPr txBox="1"/>
          <p:nvPr/>
        </p:nvSpPr>
        <p:spPr>
          <a:xfrm>
            <a:off x="4590288" y="2651760"/>
            <a:ext cx="3017520" cy="3200400"/>
          </a:xfrm>
          <a:prstGeom prst="rect">
            <a:avLst/>
          </a:prstGeom>
          <a:noFill/>
        </p:spPr>
        <p:txBody>
          <a:bodyPr wrap="square" lIns="0" rIns="0" tIns="0" bIns="0" anchor="t"/>
          <a:lstStyle/>
          <a:p>
            <a:pPr algn="l">
              <a:spcAft>
                <a:spcPts val="1200"/>
              </a:spcAft>
            </a:pPr>
            <a:r>
              <a:rPr sz="1500" b="0">
                <a:solidFill>
                  <a:srgbClr val="1B2733"/>
                </a:solidFill>
                <a:latin typeface="Arial"/>
              </a:rPr>
              <a:t>–  Dữ liệu mô phỏng, chưa có chi phí bảo trì.</a:t>
            </a:r>
          </a:p>
          <a:p>
            <a:pPr algn="l">
              <a:spcAft>
                <a:spcPts val="1200"/>
              </a:spcAft>
            </a:pPr>
            <a:r>
              <a:rPr sz="1500" b="0">
                <a:solidFill>
                  <a:srgbClr val="1B2733"/>
                </a:solidFill>
                <a:latin typeface="Arial"/>
              </a:rPr>
              <a:t>–  Mô hình thường dự đoán RUL cao hơn thực tế (74/100 động cơ test).</a:t>
            </a:r>
          </a:p>
          <a:p>
            <a:pPr algn="l">
              <a:spcAft>
                <a:spcPts val="1200"/>
              </a:spcAft>
            </a:pPr>
            <a:r>
              <a:rPr sz="1500" b="0">
                <a:solidFill>
                  <a:srgbClr val="1B2733"/>
                </a:solidFill>
                <a:latin typeface="Arial"/>
              </a:rPr>
              <a:t>–  Hadoop và Spark mới chạy trên một máy.</a:t>
            </a:r>
          </a:p>
        </p:txBody>
      </p:sp>
      <p:sp>
        <p:nvSpPr>
          <p:cNvPr id="11" name="Rounded Rectangle 10"/>
          <p:cNvSpPr/>
          <p:nvPr/>
        </p:nvSpPr>
        <p:spPr>
          <a:xfrm>
            <a:off x="7973568" y="1965960"/>
            <a:ext cx="3383280" cy="40233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2103120"/>
            <a:ext cx="3017520" cy="411480"/>
          </a:xfrm>
          <a:prstGeom prst="rect">
            <a:avLst/>
          </a:prstGeom>
          <a:noFill/>
        </p:spPr>
        <p:txBody>
          <a:bodyPr wrap="square" lIns="0" rIns="0" tIns="0" bIns="0" anchor="t"/>
          <a:lstStyle/>
          <a:p>
            <a:pPr algn="l">
              <a:spcAft>
                <a:spcPts val="0"/>
              </a:spcAft>
            </a:pPr>
            <a:r>
              <a:rPr sz="1900" b="1">
                <a:solidFill>
                  <a:srgbClr val="21409A"/>
                </a:solidFill>
                <a:latin typeface="Arial"/>
              </a:rPr>
              <a:t>Hướng phát triển</a:t>
            </a:r>
          </a:p>
        </p:txBody>
      </p:sp>
      <p:sp>
        <p:nvSpPr>
          <p:cNvPr id="13" name="TextBox 12"/>
          <p:cNvSpPr txBox="1"/>
          <p:nvPr/>
        </p:nvSpPr>
        <p:spPr>
          <a:xfrm>
            <a:off x="8156448" y="2651760"/>
            <a:ext cx="3017520" cy="3200400"/>
          </a:xfrm>
          <a:prstGeom prst="rect">
            <a:avLst/>
          </a:prstGeom>
          <a:noFill/>
        </p:spPr>
        <p:txBody>
          <a:bodyPr wrap="square" lIns="0" rIns="0" tIns="0" bIns="0" anchor="t"/>
          <a:lstStyle/>
          <a:p>
            <a:pPr algn="l">
              <a:spcAft>
                <a:spcPts val="1200"/>
              </a:spcAft>
            </a:pPr>
            <a:r>
              <a:rPr sz="1500" b="0">
                <a:solidFill>
                  <a:srgbClr val="1B2733"/>
                </a:solidFill>
                <a:latin typeface="Arial"/>
              </a:rPr>
              <a:t>–  Chọn ngưỡng cảnh báo theo chi phí bảo trì.</a:t>
            </a:r>
          </a:p>
          <a:p>
            <a:pPr algn="l">
              <a:spcAft>
                <a:spcPts val="1200"/>
              </a:spcAft>
            </a:pPr>
            <a:r>
              <a:rPr sz="1500" b="0">
                <a:solidFill>
                  <a:srgbClr val="1B2733"/>
                </a:solidFill>
                <a:latin typeface="Arial"/>
              </a:rPr>
              <a:t>–  Triển khai trên cụm nhiều node.</a:t>
            </a:r>
          </a:p>
          <a:p>
            <a:pPr algn="l">
              <a:spcAft>
                <a:spcPts val="1200"/>
              </a:spcAft>
            </a:pPr>
            <a:r>
              <a:rPr sz="1500" b="0">
                <a:solidFill>
                  <a:srgbClr val="1B2733"/>
                </a:solidFill>
                <a:latin typeface="Arial"/>
              </a:rPr>
              <a:t>–  Nhận dữ liệu cảm biến dạng streaming.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30936" y="1828800"/>
            <a:ext cx="5669280" cy="2011680"/>
          </a:xfrm>
        </p:spPr>
        <p:txBody>
          <a:bodyPr/>
          <a:lstStyle/>
          <a:p>
            <a:pPr algn="l"/>
            <a:r>
              <a:rPr sz="3600" b="1">
                <a:solidFill>
                  <a:srgbClr val="21409A"/>
                </a:solidFill>
                <a:latin typeface="Arial"/>
              </a:rPr>
              <a:t>Trân trọng cảm ơn quý thầy cô đã lắng nghe</a:t>
            </a:r>
          </a:p>
        </p:txBody>
      </p:sp>
      <p:sp>
        <p:nvSpPr>
          <p:cNvPr id="3" name="TextBox 2"/>
          <p:cNvSpPr txBox="1"/>
          <p:nvPr/>
        </p:nvSpPr>
        <p:spPr>
          <a:xfrm>
            <a:off x="630936" y="3931920"/>
            <a:ext cx="5669280" cy="457200"/>
          </a:xfrm>
          <a:prstGeom prst="rect">
            <a:avLst/>
          </a:prstGeom>
          <a:noFill/>
        </p:spPr>
        <p:txBody>
          <a:bodyPr wrap="square" lIns="0" rIns="0" tIns="0" bIns="0" anchor="t"/>
          <a:lstStyle/>
          <a:p>
            <a:pPr algn="l">
              <a:spcAft>
                <a:spcPts val="0"/>
              </a:spcAft>
            </a:pPr>
            <a:r>
              <a:rPr sz="2000" b="0">
                <a:solidFill>
                  <a:srgbClr val="1B2733"/>
                </a:solidFill>
                <a:latin typeface="Arial"/>
              </a:rPr>
              <a:t>Kính mời quý thầy cô đặt câu hỏi</a:t>
            </a:r>
          </a:p>
        </p:txBody>
      </p:sp>
      <p:sp>
        <p:nvSpPr>
          <p:cNvPr id="4" name="TextBox 3"/>
          <p:cNvSpPr txBox="1"/>
          <p:nvPr/>
        </p:nvSpPr>
        <p:spPr>
          <a:xfrm>
            <a:off x="630936" y="4754880"/>
            <a:ext cx="5669280" cy="822960"/>
          </a:xfrm>
          <a:prstGeom prst="rect">
            <a:avLst/>
          </a:prstGeom>
          <a:noFill/>
        </p:spPr>
        <p:txBody>
          <a:bodyPr wrap="square" lIns="0" rIns="0" tIns="0" bIns="0" anchor="t"/>
          <a:lstStyle/>
          <a:p>
            <a:pPr algn="l">
              <a:spcAft>
                <a:spcPts val="400"/>
              </a:spcAft>
            </a:pPr>
            <a:r>
              <a:rPr sz="1300" b="0">
                <a:solidFill>
                  <a:srgbClr val="5A6B7B"/>
                </a:solidFill>
                <a:latin typeface="Arial"/>
              </a:rPr>
              <a:t>Giảng viên hướng dẫn: </a:t>
            </a:r>
            <a:r>
              <a:rPr sz="1300" b="1">
                <a:solidFill>
                  <a:srgbClr val="21409A"/>
                </a:solidFill>
                <a:latin typeface="Arial"/>
              </a:rPr>
              <a:t>TS. Võ Thị Thanh Vân</a:t>
            </a:r>
          </a:p>
          <a:p>
            <a:pPr algn="l">
              <a:spcAft>
                <a:spcPts val="400"/>
              </a:spcAft>
            </a:pPr>
            <a:r>
              <a:rPr sz="1300" b="0">
                <a:solidFill>
                  <a:srgbClr val="5A6B7B"/>
                </a:solidFill>
                <a:latin typeface="Arial"/>
              </a:rPr>
              <a:t>Học viên: </a:t>
            </a:r>
            <a:r>
              <a:rPr sz="1300" b="0">
                <a:solidFill>
                  <a:srgbClr val="1B2733"/>
                </a:solidFill>
                <a:latin typeface="Arial"/>
              </a:rPr>
              <a:t>Phan Nguyễn Mai Phương · MSHV 25002711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351</TotalTime>
  <Words>0</Words>
  <Application>Microsoft Macintosh PowerPoint</Application>
  <PresentationFormat>Widescreen</PresentationFormat>
  <Paragraphs>0</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Bai Jamjuree</vt:lpstr>
      <vt:lpstr>SF Pro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8 · Phân tích dữ liệu IoT và bảo trì dự đoán</dc:title>
  <dc:creator>Phan Nguyễn Mai Phương</dc:creator>
  <cp:lastModifiedBy>Huỳnh Phú Vinh</cp:lastModifiedBy>
  <cp:revision>3</cp:revision>
  <dcterms:created xsi:type="dcterms:W3CDTF">2026-01-13T01:30:23Z</dcterms:created>
  <dcterms:modified xsi:type="dcterms:W3CDTF">2026-01-13T07:21:35Z</dcterms:modified>
</cp:coreProperties>
</file>