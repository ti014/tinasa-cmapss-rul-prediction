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report/main.pdf, outputs/modeling/tables/final_metrics.json và outputs/modeling/tables/warning_summary.json. Warning dùng selected-model OOF train với ngưỡng RUL ≤30; không phải maintenance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outputs/etl/run_info.json, outputs/features/run_info.json, data/CONTRACTS.md và outputs/modeling/tables/warning_summary.json. RUL final đánh giá trên 100 test engines; warning đánh giá trên train 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data/CONTRACTS.md; outputs/etl, outputs/features, outputs/modeling, outputs/timeseries; tmp/e2e-review-20260924/validation.json. Test labels chỉ join ở final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outputs/eda/figures/engine_lifetimes.png; outputs/statistics/figures/effect_size_ci.png; outputs/statistics/tables/sensor_inference.csv; report/sections/statistical-protocol.tex.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outputs/features/run_info.json; src/cmapss/features; outputs/modeling/run_info.json; data/CONTRACTS.md.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outputs/modeling/tables/model_metrics.csv; outputs/modeling/tables/fold_metrics.csv; outputs/modeling/run_info.json.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outputs/modeling/tables/final_metrics.json; outputs/modeling/figures/final_true_vs_predicted.png; outputs/modeling/figures/final_residuals_by_rul.png. CI dùng engine-cluster resampling có hoàn lại và giữ duplicate engine draws.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outputs/timeseries/run_info.json; outputs/timeseries/tables/forecast_metrics.csv; outputs/timeseries/tables/baseline_metrics.csv; outputs/timeseries/tables/diagnostics.csv. Health Index forecast là phân tích phụ, không thay thế RUL.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outputs/modeling/tables/warning_summary.json; outputs/modeling/tables/warning_events.csv; docs/product/warning-evaluation.md; outputs/etl/benchmark.json; tmp/e2e-review-20260924/validation.json. Ngưỡng RUL ≤30 là giả định minh họa. OOF đã dùng trong model selection nên warning chỉ là evidence mô tả nội bộ; false-alarm rate không được suy ra là 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data/CONTRACTS.md; outputs/modeling/tables/warning_summary.json; docs/product/warning-evaluation.md; report/sections/discussion.tex; handoff/FINAL_HANDOFF.md.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B67E82-86DF-4890-B6BB-619036CBA0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24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39500D-9E1E-4B91-BC3A-8DB28451F0AC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1524000"/>
          </a:xfrm>
          <a:prstGeom prst="roundRect">
            <a:avLst>
              <a:gd name="adj" fmla="val 0"/>
            </a:avLst>
          </a:prstGeom>
          <a:solidFill>
            <a:srgbClr val="1F7A8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0BE0D9-FDE7-46AF-9B17-56BC063E756B}"/>
              </a:ext>
            </a:extLst>
          </p:cNvPr>
          <p:cNvSpPr>
            <a:spLocks noGrp="1"/>
          </p:cNvSpPr>
          <p:nvPr/>
        </p:nvSpPr>
        <p:spPr>
          <a:xfrm>
            <a:off x="781050" y="120015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Dự đoán RUL và cảnh báo sớm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F0CF9F-CD0E-4750-AA29-5F28A979E137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BFE7E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E7EA"/>
                </a:solidFill>
                <a:latin typeface="Arial"/>
                <a:ea typeface="Arial"/>
                <a:cs typeface="Arial"/>
              </a:rPr>
              <a:t>NASA C-MAPSS FD001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4A9110-818E-4477-A7AF-A81EC067D4BB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Pipeline tái lập và đánh giá theo engine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D05EEF-14F2-427D-B69F-DE1BA36652C7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Phan Nguyễn Mai Phương · MSHV 25002711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27108B-EC08-41F9-9CF0-BB6FF489AC5F}"/>
              </a:ext>
            </a:extLst>
          </p:cNvPr>
          <p:cNvSpPr>
            <a:spLocks noGrp="1"/>
          </p:cNvSpPr>
          <p:nvPr/>
        </p:nvSpPr>
        <p:spPr>
          <a:xfrm>
            <a:off x="819150" y="600075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D8F2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F2F3"/>
                </a:solidFill>
                <a:latin typeface="Arial"/>
                <a:ea typeface="Arial"/>
                <a:cs typeface="Arial"/>
              </a:rPr>
              <a:t>Phân tích dữ liệu lớn</a:t>
            </a:r>
          </a:p>
        </p:txBody>
      </p:sp>
    </p:spTree>
    <p:extLst>
      <p:ext uri="{BB962C8B-B14F-4D97-AF65-F5344CB8AC3E}">
        <p14:creationId xmlns:p14="http://schemas.microsoft.com/office/powerpoint/2010/main" val="25131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1AD0755-296D-4BAF-AC3E-2D964F738D9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Phạm vi và dữ liệu FD001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A19AA3-1D22-4C8D-9499-E4E6BAA98E24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Bài toán supervised regression trên chuỗi cảm biến theo engine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F480B-62B4-4F5C-966B-E5E34763C921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1F7A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7A8C"/>
                </a:solidFill>
                <a:latin typeface="Arial"/>
                <a:ea typeface="Arial"/>
                <a:cs typeface="Arial"/>
              </a:rPr>
              <a:t>Mục tiêu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4B4093-F513-43D2-ABAE-C30EAD6699CE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810125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Dự đoán RUL tại cycle cuối của 100 test engines, sau khi học từ 100 train engines có nhãn RUL.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CA1E-DDC3-410C-82A4-4F511F13B7C1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1F7A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7A8C"/>
                </a:solidFill>
                <a:latin typeface="Arial"/>
                <a:ea typeface="Arial"/>
                <a:cs typeface="Arial"/>
              </a:rPr>
              <a:t>Phạm vi diễn giải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3D8D-EE65-4F96-B6BE-A8E6E49CEFD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4810125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Cảnh báo sớm dùng selected-model OOF trên train trajectories với ngưỡng minh họa RUL ≤30. Test labels chỉ dùng ở bước đánh giá cuối.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7DB4BE-BD77-4823-B6F9-D7636ECC3DE3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4572000" cy="31432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9525">
            <a:solidFill>
              <a:srgbClr val="D7E0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15B374-B120-4A87-AE11-0A95B4B8ECE1}"/>
              </a:ext>
            </a:extLst>
          </p:cNvPr>
          <p:cNvSpPr>
            <a:spLocks noGrp="1"/>
          </p:cNvSpPr>
          <p:nvPr/>
        </p:nvSpPr>
        <p:spPr>
          <a:xfrm>
            <a:off x="6619875" y="1695450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204D94-8432-4A2D-BCED-553CD78A8333}"/>
              </a:ext>
            </a:extLst>
          </p:cNvPr>
          <p:cNvSpPr>
            <a:spLocks noGrp="1"/>
          </p:cNvSpPr>
          <p:nvPr/>
        </p:nvSpPr>
        <p:spPr>
          <a:xfrm>
            <a:off x="6619875" y="20574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engines tổng cộng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377402-0495-4DCA-945F-45A948BA13DB}"/>
              </a:ext>
            </a:extLst>
          </p:cNvPr>
          <p:cNvSpPr>
            <a:spLocks noGrp="1"/>
          </p:cNvSpPr>
          <p:nvPr/>
        </p:nvSpPr>
        <p:spPr>
          <a:xfrm>
            <a:off x="8715375" y="1695450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33,727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398F59-6D82-4C59-BF53-B3E965FDC75F}"/>
              </a:ext>
            </a:extLst>
          </p:cNvPr>
          <p:cNvSpPr>
            <a:spLocks noGrp="1"/>
          </p:cNvSpPr>
          <p:nvPr/>
        </p:nvSpPr>
        <p:spPr>
          <a:xfrm>
            <a:off x="8715375" y="20574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observation rows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C2DA48-C5D3-4107-9272-D1BA36FC48B6}"/>
              </a:ext>
            </a:extLst>
          </p:cNvPr>
          <p:cNvSpPr>
            <a:spLocks noGrp="1"/>
          </p:cNvSpPr>
          <p:nvPr/>
        </p:nvSpPr>
        <p:spPr>
          <a:xfrm>
            <a:off x="6619875" y="2571750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F6BF7D-5C1F-4604-B58B-AF9FC0675F0C}"/>
              </a:ext>
            </a:extLst>
          </p:cNvPr>
          <p:cNvSpPr>
            <a:spLocks noGrp="1"/>
          </p:cNvSpPr>
          <p:nvPr/>
        </p:nvSpPr>
        <p:spPr>
          <a:xfrm>
            <a:off x="6619875" y="29337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sensor columns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2FCD37-221A-4D92-A994-90FDF95C37EF}"/>
              </a:ext>
            </a:extLst>
          </p:cNvPr>
          <p:cNvSpPr>
            <a:spLocks noGrp="1"/>
          </p:cNvSpPr>
          <p:nvPr/>
        </p:nvSpPr>
        <p:spPr>
          <a:xfrm>
            <a:off x="8715375" y="2571750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3A230E-12D5-486B-9C97-99068F905634}"/>
              </a:ext>
            </a:extLst>
          </p:cNvPr>
          <p:cNvSpPr>
            <a:spLocks noGrp="1"/>
          </p:cNvSpPr>
          <p:nvPr/>
        </p:nvSpPr>
        <p:spPr>
          <a:xfrm>
            <a:off x="8715375" y="29337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cycle window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DAEEFA-7CEC-4C18-A078-C0ED7B1F138A}"/>
              </a:ext>
            </a:extLst>
          </p:cNvPr>
          <p:cNvSpPr>
            <a:spLocks noGrp="1"/>
          </p:cNvSpPr>
          <p:nvPr/>
        </p:nvSpPr>
        <p:spPr>
          <a:xfrm>
            <a:off x="6619875" y="3448050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F8F29B-51DE-4772-921C-3BAE1998AC42}"/>
              </a:ext>
            </a:extLst>
          </p:cNvPr>
          <p:cNvSpPr>
            <a:spLocks noGrp="1"/>
          </p:cNvSpPr>
          <p:nvPr/>
        </p:nvSpPr>
        <p:spPr>
          <a:xfrm>
            <a:off x="6619875" y="38100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rolling features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15F2BC-2B7C-4384-BEBE-1F3543957B78}"/>
              </a:ext>
            </a:extLst>
          </p:cNvPr>
          <p:cNvSpPr>
            <a:spLocks noGrp="1"/>
          </p:cNvSpPr>
          <p:nvPr/>
        </p:nvSpPr>
        <p:spPr>
          <a:xfrm>
            <a:off x="8715375" y="3448050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A55E03-6D52-43DD-97CF-E9810C403CD1}"/>
              </a:ext>
            </a:extLst>
          </p:cNvPr>
          <p:cNvSpPr>
            <a:spLocks noGrp="1"/>
          </p:cNvSpPr>
          <p:nvPr/>
        </p:nvSpPr>
        <p:spPr>
          <a:xfrm>
            <a:off x="8715375" y="38100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test predictions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8BBA8F-56BA-42D6-A609-8949AF71FC5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NASA C-MAPSS FD001 · Phan Nguyễn Mai Phương · 2026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D0B5AF-D62C-4471-AAEE-DB79EC6EE99D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buNone/>
              <a:defRPr sz="825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459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3E202D8-0B98-454D-B3A0-49CB8A2BF18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Pipeline dữ liệu và artifact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26179C-8FBD-456B-B33A-91BE55434FB2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Mỗi boundary ghi schema, row count, hash và kiểm tra khóa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234E89F-2A03-47EB-95C2-A8FFF93AEC12}"/>
              </a:ext>
            </a:extLst>
          </p:cNvPr>
          <p:cNvSpPr>
            <a:spLocks noGrp="1"/>
          </p:cNvSpPr>
          <p:nvPr/>
        </p:nvSpPr>
        <p:spPr>
          <a:xfrm>
            <a:off x="523875" y="2095500"/>
            <a:ext cx="1809750" cy="1428750"/>
          </a:xfrm>
          <a:prstGeom prst="roundRect">
            <a:avLst>
              <a:gd name="adj" fmla="val 13333"/>
            </a:avLst>
          </a:prstGeom>
          <a:solidFill>
            <a:srgbClr val="0F24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B0199E-5FA1-4E8A-A9A1-02DE6AE99317}"/>
              </a:ext>
            </a:extLst>
          </p:cNvPr>
          <p:cNvSpPr>
            <a:spLocks noGrp="1"/>
          </p:cNvSpPr>
          <p:nvPr/>
        </p:nvSpPr>
        <p:spPr>
          <a:xfrm>
            <a:off x="695325" y="2305050"/>
            <a:ext cx="1476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FE562F-3DDA-4096-BC0E-C3AF8C72212C}"/>
              </a:ext>
            </a:extLst>
          </p:cNvPr>
          <p:cNvSpPr>
            <a:spLocks noGrp="1"/>
          </p:cNvSpPr>
          <p:nvPr/>
        </p:nvSpPr>
        <p:spPr>
          <a:xfrm>
            <a:off x="695325" y="2724150"/>
            <a:ext cx="1476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train/test</a:t>
            </a:r>
          </a:p>
          <a:p>
            <a:pPr algn="l"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observations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815B1DF-2905-4CA2-BA53-BCA3785AAD8F}"/>
              </a:ext>
            </a:extLst>
          </p:cNvPr>
          <p:cNvSpPr>
            <a:spLocks noGrp="1"/>
          </p:cNvSpPr>
          <p:nvPr/>
        </p:nvSpPr>
        <p:spPr>
          <a:xfrm>
            <a:off x="2390775" y="2619375"/>
            <a:ext cx="381000" cy="381000"/>
          </a:xfrm>
          <a:prstGeom prst="rightArrow">
            <a:avLst/>
          </a:prstGeom>
          <a:solidFill>
            <a:srgbClr val="D7E0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F4BF0E-1577-4C13-92DB-E3CDF475396C}"/>
              </a:ext>
            </a:extLst>
          </p:cNvPr>
          <p:cNvSpPr>
            <a:spLocks noGrp="1"/>
          </p:cNvSpPr>
          <p:nvPr/>
        </p:nvSpPr>
        <p:spPr>
          <a:xfrm>
            <a:off x="2857500" y="2095500"/>
            <a:ext cx="1809750" cy="1428750"/>
          </a:xfrm>
          <a:prstGeom prst="roundRect">
            <a:avLst>
              <a:gd name="adj" fmla="val 13333"/>
            </a:avLst>
          </a:prstGeom>
          <a:solidFill>
            <a:srgbClr val="245B8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796AF0-B7AD-4B98-ACDE-3F3441737B24}"/>
              </a:ext>
            </a:extLst>
          </p:cNvPr>
          <p:cNvSpPr>
            <a:spLocks noGrp="1"/>
          </p:cNvSpPr>
          <p:nvPr/>
        </p:nvSpPr>
        <p:spPr>
          <a:xfrm>
            <a:off x="3028950" y="2305050"/>
            <a:ext cx="1476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F11E28-7261-4CAC-BF12-F7CA3AC41BE3}"/>
              </a:ext>
            </a:extLst>
          </p:cNvPr>
          <p:cNvSpPr>
            <a:spLocks noGrp="1"/>
          </p:cNvSpPr>
          <p:nvPr/>
        </p:nvSpPr>
        <p:spPr>
          <a:xfrm>
            <a:off x="3028950" y="2724150"/>
            <a:ext cx="1476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observations</a:t>
            </a:r>
          </a:p>
          <a:p>
            <a:pPr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 targets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51E79E6-E882-4A1E-814C-0A59A517B0EB}"/>
              </a:ext>
            </a:extLst>
          </p:cNvPr>
          <p:cNvSpPr>
            <a:spLocks noGrp="1"/>
          </p:cNvSpPr>
          <p:nvPr/>
        </p:nvSpPr>
        <p:spPr>
          <a:xfrm>
            <a:off x="4724400" y="2619375"/>
            <a:ext cx="381000" cy="381000"/>
          </a:xfrm>
          <a:prstGeom prst="rightArrow">
            <a:avLst/>
          </a:prstGeom>
          <a:solidFill>
            <a:srgbClr val="D7E0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707E2C-2A1F-4AB7-92E5-F7C873C0677F}"/>
              </a:ext>
            </a:extLst>
          </p:cNvPr>
          <p:cNvSpPr>
            <a:spLocks noGrp="1"/>
          </p:cNvSpPr>
          <p:nvPr/>
        </p:nvSpPr>
        <p:spPr>
          <a:xfrm>
            <a:off x="5191125" y="2095500"/>
            <a:ext cx="1809750" cy="1428750"/>
          </a:xfrm>
          <a:prstGeom prst="roundRect">
            <a:avLst>
              <a:gd name="adj" fmla="val 13333"/>
            </a:avLst>
          </a:prstGeom>
          <a:solidFill>
            <a:srgbClr val="1F7A8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C20AD8-EAB8-498A-8B8E-8A639F6620C5}"/>
              </a:ext>
            </a:extLst>
          </p:cNvPr>
          <p:cNvSpPr>
            <a:spLocks noGrp="1"/>
          </p:cNvSpPr>
          <p:nvPr/>
        </p:nvSpPr>
        <p:spPr>
          <a:xfrm>
            <a:off x="5362575" y="2305050"/>
            <a:ext cx="1476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D151F5-B89E-4683-9E3E-9A3711CA5640}"/>
              </a:ext>
            </a:extLst>
          </p:cNvPr>
          <p:cNvSpPr>
            <a:spLocks noGrp="1"/>
          </p:cNvSpPr>
          <p:nvPr/>
        </p:nvSpPr>
        <p:spPr>
          <a:xfrm>
            <a:off x="5362575" y="2724150"/>
            <a:ext cx="1476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 summary</a:t>
            </a:r>
          </a:p>
          <a:p>
            <a:pPr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rolling features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F8902B1-4AFA-4942-8928-FA8A4315C57A}"/>
              </a:ext>
            </a:extLst>
          </p:cNvPr>
          <p:cNvSpPr>
            <a:spLocks noGrp="1"/>
          </p:cNvSpPr>
          <p:nvPr/>
        </p:nvSpPr>
        <p:spPr>
          <a:xfrm>
            <a:off x="7058025" y="2619375"/>
            <a:ext cx="381000" cy="381000"/>
          </a:xfrm>
          <a:prstGeom prst="rightArrow">
            <a:avLst/>
          </a:prstGeom>
          <a:solidFill>
            <a:srgbClr val="D7E0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1B7848-B049-4BFD-9A2A-E087A2943BE6}"/>
              </a:ext>
            </a:extLst>
          </p:cNvPr>
          <p:cNvSpPr>
            <a:spLocks noGrp="1"/>
          </p:cNvSpPr>
          <p:nvPr/>
        </p:nvSpPr>
        <p:spPr>
          <a:xfrm>
            <a:off x="7524750" y="2095500"/>
            <a:ext cx="1809750" cy="1428750"/>
          </a:xfrm>
          <a:prstGeom prst="roundRect">
            <a:avLst>
              <a:gd name="adj" fmla="val 13333"/>
            </a:avLst>
          </a:prstGeom>
          <a:solidFill>
            <a:srgbClr val="F28E2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98E7C7-89B8-474D-85F1-D7FF3DC9168C}"/>
              </a:ext>
            </a:extLst>
          </p:cNvPr>
          <p:cNvSpPr>
            <a:spLocks noGrp="1"/>
          </p:cNvSpPr>
          <p:nvPr/>
        </p:nvSpPr>
        <p:spPr>
          <a:xfrm>
            <a:off x="7696200" y="2305050"/>
            <a:ext cx="1476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77CE42-EF42-4E9D-9E86-A7F940B652A7}"/>
              </a:ext>
            </a:extLst>
          </p:cNvPr>
          <p:cNvSpPr>
            <a:spLocks noGrp="1"/>
          </p:cNvSpPr>
          <p:nvPr/>
        </p:nvSpPr>
        <p:spPr>
          <a:xfrm>
            <a:off x="7696200" y="2724150"/>
            <a:ext cx="1476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GroupKFold</a:t>
            </a:r>
          </a:p>
          <a:p>
            <a:pPr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Ridge/HGB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EB44BB2-92B6-4238-ABCF-AC5EA42D9CCE}"/>
              </a:ext>
            </a:extLst>
          </p:cNvPr>
          <p:cNvSpPr>
            <a:spLocks noGrp="1"/>
          </p:cNvSpPr>
          <p:nvPr/>
        </p:nvSpPr>
        <p:spPr>
          <a:xfrm>
            <a:off x="9391650" y="2619375"/>
            <a:ext cx="381000" cy="381000"/>
          </a:xfrm>
          <a:prstGeom prst="rightArrow">
            <a:avLst/>
          </a:prstGeom>
          <a:solidFill>
            <a:srgbClr val="D7E0E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F306F54-C477-4F31-B62F-FBACE8B57B24}"/>
              </a:ext>
            </a:extLst>
          </p:cNvPr>
          <p:cNvSpPr>
            <a:spLocks noGrp="1"/>
          </p:cNvSpPr>
          <p:nvPr/>
        </p:nvSpPr>
        <p:spPr>
          <a:xfrm>
            <a:off x="9858375" y="2095500"/>
            <a:ext cx="1809750" cy="1428750"/>
          </a:xfrm>
          <a:prstGeom prst="roundRect">
            <a:avLst>
              <a:gd name="adj" fmla="val 13333"/>
            </a:avLst>
          </a:prstGeom>
          <a:solidFill>
            <a:srgbClr val="3A8D5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44BCCF-462A-45B3-8382-E25FE25B7DCC}"/>
              </a:ext>
            </a:extLst>
          </p:cNvPr>
          <p:cNvSpPr>
            <a:spLocks noGrp="1"/>
          </p:cNvSpPr>
          <p:nvPr/>
        </p:nvSpPr>
        <p:spPr>
          <a:xfrm>
            <a:off x="10029825" y="2305050"/>
            <a:ext cx="1476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B80771-3255-4AF1-90AE-F59059895226}"/>
              </a:ext>
            </a:extLst>
          </p:cNvPr>
          <p:cNvSpPr>
            <a:spLocks noGrp="1"/>
          </p:cNvSpPr>
          <p:nvPr/>
        </p:nvSpPr>
        <p:spPr>
          <a:xfrm>
            <a:off x="10029825" y="2724150"/>
            <a:ext cx="1476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523"/>
          </a:bodyPr>
          <a:lstStyle/>
          <a:p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RUL metrics</a:t>
            </a:r>
          </a:p>
          <a:p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Health Index · OOF warning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3268B00-F26A-435A-ADC0-3AFAE89C8A27}"/>
              </a:ext>
            </a:extLst>
          </p:cNvPr>
          <p:cNvSpPr>
            <a:spLocks noGrp="1"/>
          </p:cNvSpPr>
          <p:nvPr/>
        </p:nvSpPr>
        <p:spPr>
          <a:xfrm>
            <a:off x="1504950" y="4362450"/>
            <a:ext cx="9191625" cy="876300"/>
          </a:xfrm>
          <a:prstGeom prst="roundRect">
            <a:avLst>
              <a:gd name="adj" fmla="val 17391"/>
            </a:avLst>
          </a:prstGeom>
          <a:solidFill>
            <a:srgbClr val="EAF4F5"/>
          </a:solidFill>
          <a:ln w="9525">
            <a:solidFill>
              <a:srgbClr val="D7E0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68BF02-CB76-44C4-8A93-1210DD71A5E9}"/>
              </a:ext>
            </a:extLst>
          </p:cNvPr>
          <p:cNvSpPr>
            <a:spLocks noGrp="1"/>
          </p:cNvSpPr>
          <p:nvPr/>
        </p:nvSpPr>
        <p:spPr>
          <a:xfrm>
            <a:off x="1762125" y="4572000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1">
                <a:solidFill>
                  <a:srgbClr val="1F7A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7A8C"/>
                </a:solidFill>
                <a:latin typeface="Arial"/>
                <a:ea typeface="Arial"/>
                <a:cs typeface="Arial"/>
              </a:rPr>
              <a:t>End-to-end check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9BADF0-C2C9-4211-B1EF-D20A3D416E8D}"/>
              </a:ext>
            </a:extLst>
          </p:cNvPr>
          <p:cNvSpPr>
            <a:spLocks noGrp="1"/>
          </p:cNvSpPr>
          <p:nvPr/>
        </p:nvSpPr>
        <p:spPr>
          <a:xfrm>
            <a:off x="3886200" y="4572000"/>
            <a:ext cx="6381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buNone/>
              <a:defRPr sz="13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18 bảng khớp ngữ nghĩa · 5 hình byte-identical · raw bất biến · dashboard loader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B10CC9-E5C1-46A6-A0EE-1093E7D81014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NASA C-MAPSS FD001 · Phan Nguyễn Mai Phương · 2026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EDBCC0-D3C5-4172-931B-1233A53A5866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buNone/>
              <a:defRPr sz="825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D1700D-1418-4C9A-BA2B-C788FD735207}"/>
              </a:ext>
            </a:extLst>
          </p:cNvPr>
          <p:cNvSpPr>
            <a:spLocks noGrp="1"/>
          </p:cNvSpPr>
          <p:nvPr/>
        </p:nvSpPr>
        <p:spPr>
          <a:xfrm>
            <a:off x="7524750" y="371475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test labels: final evaluation only</a:t>
            </a:r>
          </a:p>
        </p:txBody>
      </p:sp>
    </p:spTree>
    <p:extLst>
      <p:ext uri="{BB962C8B-B14F-4D97-AF65-F5344CB8AC3E}">
        <p14:creationId xmlns:p14="http://schemas.microsoft.com/office/powerpoint/2010/main" val="328364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B561A6-7C37-4026-8502-4CE17391A56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Tín hiệu từ EDA và thống kê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4761FB-0997-4178-BA93-4AA82C9E48E2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Phân tích train-only mô tả xu hướng trước khi modeling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750" y="1476375"/>
            <a:ext cx="6858000" cy="27146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04B53D-E673-4F84-A5A9-9AA9EF5175B5}"/>
              </a:ext>
            </a:extLst>
          </p:cNvPr>
          <p:cNvSpPr>
            <a:spLocks noGrp="1"/>
          </p:cNvSpPr>
          <p:nvPr/>
        </p:nvSpPr>
        <p:spPr>
          <a:xfrm>
            <a:off x="685800" y="4444746"/>
            <a:ext cx="10810875" cy="1000125"/>
          </a:xfrm>
          <a:prstGeom prst="roundRect">
            <a:avLst>
              <a:gd name="adj" fmla="val 17143"/>
            </a:avLst>
          </a:prstGeom>
          <a:solidFill>
            <a:srgbClr val="F4F7FA"/>
          </a:solidFill>
          <a:ln w="9525">
            <a:solidFill>
              <a:srgbClr val="D7E0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6D62DB-0282-4F11-B428-E2FA2E500CB7}"/>
              </a:ext>
            </a:extLst>
          </p:cNvPr>
          <p:cNvSpPr>
            <a:spLocks noGrp="1"/>
          </p:cNvSpPr>
          <p:nvPr/>
        </p:nvSpPr>
        <p:spPr>
          <a:xfrm>
            <a:off x="962025" y="4749546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1">
                <a:solidFill>
                  <a:srgbClr val="1F7A8C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1F7A8C"/>
                </a:solidFill>
                <a:latin typeface="Arial"/>
                <a:ea typeface="Arial"/>
                <a:cs typeface="Arial"/>
              </a:rPr>
              <a:t>Diễn</a:t>
            </a:r>
            <a:r>
              <a:rPr sz="1425" b="1" dirty="0">
                <a:solidFill>
                  <a:srgbClr val="1F7A8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1F7A8C"/>
                </a:solidFill>
                <a:latin typeface="Arial"/>
                <a:ea typeface="Arial"/>
                <a:cs typeface="Arial"/>
              </a:rPr>
              <a:t>giải</a:t>
            </a:r>
            <a:endParaRPr sz="1425" b="1" dirty="0">
              <a:solidFill>
                <a:srgbClr val="1F7A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BD1C0B-DF34-4C3A-A2D8-506B85312C0A}"/>
              </a:ext>
            </a:extLst>
          </p:cNvPr>
          <p:cNvSpPr>
            <a:spLocks noGrp="1"/>
          </p:cNvSpPr>
          <p:nvPr/>
        </p:nvSpPr>
        <p:spPr>
          <a:xfrm>
            <a:off x="2362200" y="4730496"/>
            <a:ext cx="876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Sensor-level paired analysis lưu effect size, confidence interval và FDR trong artifact.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028872-C15D-4C00-8966-F0BE66545868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NASA C-MAPSS FD001 · Phan Nguyễn Mai Phương ·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BB7A77-9572-451D-B389-EEAF8B113586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buNone/>
              <a:defRPr sz="825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1266CF-92A6-475E-B7AA-10B064EC73BC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F7A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7A8C"/>
                </a:solidFill>
                <a:latin typeface="Arial"/>
                <a:ea typeface="Arial"/>
                <a:cs typeface="Arial"/>
              </a:rPr>
              <a:t>Sensor-level paired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11715A-D72F-465B-8C75-EBDC691AA6F6}"/>
              </a:ext>
            </a:extLst>
          </p:cNvPr>
          <p:cNvSpPr>
            <a:spLocks noGrp="1"/>
          </p:cNvSpPr>
          <p:nvPr/>
        </p:nvSpPr>
        <p:spPr>
          <a:xfrm>
            <a:off x="7953375" y="2190750"/>
            <a:ext cx="3143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6202A"/>
                </a:solidFill>
                <a:latin typeface="Arial"/>
                <a:ea typeface="Arial"/>
                <a:cs typeface="Arial"/>
              </a:rPr>
              <a:t>Effect size, confidence interval và FDR được lưu trong artifact. Kết quả mô tả khác biệt đầu/cuối vòng đời trên train, không suy ra quan hệ nhân quả.</a:t>
            </a:r>
          </a:p>
        </p:txBody>
      </p:sp>
    </p:spTree>
    <p:extLst>
      <p:ext uri="{BB962C8B-B14F-4D97-AF65-F5344CB8AC3E}">
        <p14:creationId xmlns:p14="http://schemas.microsoft.com/office/powerpoint/2010/main" val="177684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3D5789A-E275-46E2-BDAA-1DE02DF3F69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Rolling features và kiểm soát data leakage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2B448D-9FB6-4794-86AC-9378FD2EF971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Cửa sổ 30 cycles chỉ nhìn về quá khứ trong cùng engine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F36F7A-F2D4-4426-B22D-1680ACB70142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4857750" cy="3429000"/>
          </a:xfrm>
          <a:prstGeom prst="roundRect">
            <a:avLst>
              <a:gd name="adj" fmla="val 6111"/>
            </a:avLst>
          </a:prstGeom>
          <a:solidFill>
            <a:srgbClr val="F4F7FA"/>
          </a:solidFill>
          <a:ln w="9525">
            <a:solidFill>
              <a:srgbClr val="D7E0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0D06A8-E90E-499B-826A-392344773873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Một window hợp lệ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4A7E84-823B-4017-BCFE-ED90707D97EA}"/>
              </a:ext>
            </a:extLst>
          </p:cNvPr>
          <p:cNvSpPr>
            <a:spLocks noGrp="1"/>
          </p:cNvSpPr>
          <p:nvPr/>
        </p:nvSpPr>
        <p:spPr>
          <a:xfrm>
            <a:off x="933450" y="2371725"/>
            <a:ext cx="3905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950" b="1">
                <a:solidFill>
                  <a:srgbClr val="1F7A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7A8C"/>
                </a:solidFill>
                <a:latin typeface="Arial"/>
                <a:ea typeface="Arial"/>
                <a:cs typeface="Arial"/>
              </a:rPr>
              <a:t>cycle 141  ·  ·  ·  cycle 170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42C32D-6026-476D-B771-120C25868300}"/>
              </a:ext>
            </a:extLst>
          </p:cNvPr>
          <p:cNvSpPr>
            <a:spLocks noGrp="1"/>
          </p:cNvSpPr>
          <p:nvPr/>
        </p:nvSpPr>
        <p:spPr>
          <a:xfrm>
            <a:off x="933450" y="3000375"/>
            <a:ext cx="4095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last · mean · std · min · max · linear slope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E34F51-DA67-489A-AC70-33BB8A1540A6}"/>
              </a:ext>
            </a:extLst>
          </p:cNvPr>
          <p:cNvSpPr>
            <a:spLocks noGrp="1"/>
          </p:cNvSpPr>
          <p:nvPr/>
        </p:nvSpPr>
        <p:spPr>
          <a:xfrm>
            <a:off x="933450" y="3619500"/>
            <a:ext cx="3857625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Full window required</a:t>
            </a:r>
          </a:p>
          <a:p>
            <a:pPr>
              <a:buNone/>
              <a:defRPr sz="14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Không nối qua engine</a:t>
            </a:r>
          </a:p>
          <a:p>
            <a:pPr>
              <a:buNone/>
              <a:defRPr sz="14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Không dùng future observations</a:t>
            </a:r>
          </a:p>
          <a:p>
            <a:pPr>
              <a:buNone/>
              <a:defRPr sz="14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Không join test labels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09B98-C402-436F-B18C-E4EA47CBFA20}"/>
              </a:ext>
            </a:extLst>
          </p:cNvPr>
          <p:cNvSpPr>
            <a:spLocks noGrp="1"/>
          </p:cNvSpPr>
          <p:nvPr/>
        </p:nvSpPr>
        <p:spPr>
          <a:xfrm>
            <a:off x="6524625" y="1809750"/>
            <a:ext cx="1524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CDEF43-9D4C-4486-96AE-F7E4FCF602E0}"/>
              </a:ext>
            </a:extLst>
          </p:cNvPr>
          <p:cNvSpPr>
            <a:spLocks noGrp="1"/>
          </p:cNvSpPr>
          <p:nvPr/>
        </p:nvSpPr>
        <p:spPr>
          <a:xfrm>
            <a:off x="8096250" y="19431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feature columns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0B7543-920B-4F07-8BC8-DF1562C77074}"/>
              </a:ext>
            </a:extLst>
          </p:cNvPr>
          <p:cNvSpPr>
            <a:spLocks noGrp="1"/>
          </p:cNvSpPr>
          <p:nvPr/>
        </p:nvSpPr>
        <p:spPr>
          <a:xfrm>
            <a:off x="6524625" y="2762250"/>
            <a:ext cx="1809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245B8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5B8F"/>
                </a:solidFill>
                <a:latin typeface="Arial"/>
                <a:ea typeface="Arial"/>
                <a:cs typeface="Arial"/>
              </a:rPr>
              <a:t>27,927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C1B09E-094C-4E99-A825-765250EAD183}"/>
              </a:ext>
            </a:extLst>
          </p:cNvPr>
          <p:cNvSpPr>
            <a:spLocks noGrp="1"/>
          </p:cNvSpPr>
          <p:nvPr/>
        </p:nvSpPr>
        <p:spPr>
          <a:xfrm>
            <a:off x="8382000" y="2905125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windows được tạo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D22E3-F31E-4C47-A5A6-B085E41342F5}"/>
              </a:ext>
            </a:extLst>
          </p:cNvPr>
          <p:cNvSpPr>
            <a:spLocks noGrp="1"/>
          </p:cNvSpPr>
          <p:nvPr/>
        </p:nvSpPr>
        <p:spPr>
          <a:xfrm>
            <a:off x="6524625" y="3790950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3A8D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A8D5D"/>
                </a:solidFill>
                <a:latin typeface="Arial"/>
                <a:ea typeface="Arial"/>
                <a:cs typeface="Arial"/>
              </a:rPr>
              <a:t>GroupKFold theo engine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03AE4B-3DA5-4296-8B19-F65AA52F6FE2}"/>
              </a:ext>
            </a:extLst>
          </p:cNvPr>
          <p:cNvSpPr>
            <a:spLocks noGrp="1"/>
          </p:cNvSpPr>
          <p:nvPr/>
        </p:nvSpPr>
        <p:spPr>
          <a:xfrm>
            <a:off x="6524625" y="4238625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639"/>
          </a:bodyPr>
          <a:lstStyle/>
          <a:p>
            <a:pPr algn="l">
              <a:buNone/>
              <a:defRPr sz="14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Preprocessing và model selection chỉ fit trên training folds.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4F8A08-A806-4EB5-9023-7BD4EC72D05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NASA C-MAPSS FD001 · Phan Nguyễn Mai Phương · 2026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E0F681-4594-4877-BDC9-FF842AF07B59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buNone/>
              <a:defRPr sz="825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3734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325945-BC4B-4A51-A04C-C7D48B03778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Model selection theo engine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D89532-B4BF-4527-96D9-EDE6D6725269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Primary metric là mean engine-level MAE trên 5-fold GroupKFold</a:t>
            </a:r>
          </a:p>
        </p:txBody>
      </p:sp>
      <p:graphicFrame>
        <p:nvGraphicFramePr>
          <p:cNvPr id="15" name="Table 14"/>
          <p:cNvGraphicFramePr/>
          <p:nvPr/>
        </p:nvGraphicFramePr>
        <p:xfrm>
          <a:off x="762000" y="1666875"/>
          <a:ext cx="6191250" cy="2857500"/>
        </p:xfrm>
        <a:graphic>
          <a:graphicData uri="http://schemas.openxmlformats.org/drawingml/2006/table">
            <a:tbl>
              <a:tblPr/>
              <a:tblGrid>
                <a:gridCol w="206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engine MAE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Median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46.9543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23.9922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20.2143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580EBA-8528-4657-9917-9F808CF21C5E}"/>
              </a:ext>
            </a:extLst>
          </p:cNvPr>
          <p:cNvSpPr>
            <a:spLocks noGrp="1"/>
          </p:cNvSpPr>
          <p:nvPr/>
        </p:nvSpPr>
        <p:spPr>
          <a:xfrm>
            <a:off x="7524750" y="1571625"/>
            <a:ext cx="3667125" cy="31432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9525">
            <a:solidFill>
              <a:srgbClr val="D7E0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59A43F-2FB8-4532-82B5-8BD9D788C37E}"/>
              </a:ext>
            </a:extLst>
          </p:cNvPr>
          <p:cNvSpPr>
            <a:spLocks noGrp="1"/>
          </p:cNvSpPr>
          <p:nvPr/>
        </p:nvSpPr>
        <p:spPr>
          <a:xfrm>
            <a:off x="7810500" y="185737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1F7A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7A8C"/>
                </a:solidFill>
                <a:latin typeface="Arial"/>
                <a:ea typeface="Arial"/>
                <a:cs typeface="Arial"/>
              </a:rPr>
              <a:t>Protocol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12C4D-8FA4-4EE2-8510-4B2FA8145001}"/>
              </a:ext>
            </a:extLst>
          </p:cNvPr>
          <p:cNvSpPr>
            <a:spLocks noGrp="1"/>
          </p:cNvSpPr>
          <p:nvPr/>
        </p:nvSpPr>
        <p:spPr>
          <a:xfrm>
            <a:off x="7810500" y="2381250"/>
            <a:ext cx="29527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5 folds theo engine</a:t>
            </a:r>
          </a:p>
          <a:p>
            <a:pPr>
              <a:buNone/>
              <a:defRPr sz="15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Engine-equal sample weighting</a:t>
            </a:r>
          </a:p>
          <a:p>
            <a:pPr>
              <a:buNone/>
              <a:defRPr sz="15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Ridge có scaler trong pipeline</a:t>
            </a:r>
          </a:p>
          <a:p>
            <a:pPr>
              <a:buNone/>
              <a:defRPr sz="15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Chọn theo mean_engine_mae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99C657-EFBC-4488-B789-03FE1E83E91F}"/>
              </a:ext>
            </a:extLst>
          </p:cNvPr>
          <p:cNvSpPr>
            <a:spLocks noGrp="1"/>
          </p:cNvSpPr>
          <p:nvPr/>
        </p:nvSpPr>
        <p:spPr>
          <a:xfrm>
            <a:off x="7810500" y="3952875"/>
            <a:ext cx="2095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Model được chọn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E35C84-426A-4BE9-9730-4DC85C70F654}"/>
              </a:ext>
            </a:extLst>
          </p:cNvPr>
          <p:cNvSpPr>
            <a:spLocks noGrp="1"/>
          </p:cNvSpPr>
          <p:nvPr/>
        </p:nvSpPr>
        <p:spPr>
          <a:xfrm>
            <a:off x="7810500" y="4238625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hist_gradient_boosting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CAC96-9A7E-4F71-BA94-A323A850D97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NASA C-MAPSS FD001 · Phan Nguyễn Mai Phương · 2026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BAD582-7602-401C-9411-DA5CEDD53924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buNone/>
              <a:defRPr sz="825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3728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6D74174-EAE2-4372-93F5-CEAAC4588CB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Đánh giá cuối trên 100 test engines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74B8E3-309E-4EA3-B4C0-CE28EA2791D7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Predictions được tạo trước khi join test labels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9613" y="1285875"/>
            <a:ext cx="4867275" cy="347662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853113" y="1285875"/>
            <a:ext cx="4867275" cy="34766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178309-9D20-4821-9832-1A9D1E2A3C6A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10096500" cy="838200"/>
          </a:xfrm>
          <a:prstGeom prst="roundRect">
            <a:avLst>
              <a:gd name="adj" fmla="val 20455"/>
            </a:avLst>
          </a:prstGeom>
          <a:solidFill>
            <a:srgbClr val="0F243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E6532-21C5-4C48-8132-DFBA7D4313D8}"/>
              </a:ext>
            </a:extLst>
          </p:cNvPr>
          <p:cNvSpPr>
            <a:spLocks noGrp="1"/>
          </p:cNvSpPr>
          <p:nvPr/>
        </p:nvSpPr>
        <p:spPr>
          <a:xfrm>
            <a:off x="952500" y="5267325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BFE7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FE7EA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A835AA-359E-495F-A028-66F2AAB57BEB}"/>
              </a:ext>
            </a:extLst>
          </p:cNvPr>
          <p:cNvSpPr>
            <a:spLocks noGrp="1"/>
          </p:cNvSpPr>
          <p:nvPr/>
        </p:nvSpPr>
        <p:spPr>
          <a:xfrm>
            <a:off x="952500" y="5505450"/>
            <a:ext cx="1476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2963"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15,3490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FF30E0-BFAB-4D22-98B4-44F75B75DC89}"/>
              </a:ext>
            </a:extLst>
          </p:cNvPr>
          <p:cNvSpPr>
            <a:spLocks noGrp="1"/>
          </p:cNvSpPr>
          <p:nvPr/>
        </p:nvSpPr>
        <p:spPr>
          <a:xfrm>
            <a:off x="3333750" y="5267325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BFE7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FE7EA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C0F9F2-1FDE-4343-81D6-E0A6F884EC89}"/>
              </a:ext>
            </a:extLst>
          </p:cNvPr>
          <p:cNvSpPr>
            <a:spLocks noGrp="1"/>
          </p:cNvSpPr>
          <p:nvPr/>
        </p:nvSpPr>
        <p:spPr>
          <a:xfrm>
            <a:off x="3333750" y="5505450"/>
            <a:ext cx="1476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2963"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20,5413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B62EDF-2D53-40DC-82C2-B5F4D456D72B}"/>
              </a:ext>
            </a:extLst>
          </p:cNvPr>
          <p:cNvSpPr>
            <a:spLocks noGrp="1"/>
          </p:cNvSpPr>
          <p:nvPr/>
        </p:nvSpPr>
        <p:spPr>
          <a:xfrm>
            <a:off x="5715000" y="5267325"/>
            <a:ext cx="1333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25" b="0">
                <a:solidFill>
                  <a:srgbClr val="BFE7E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FE7EA"/>
                </a:solidFill>
                <a:latin typeface="Arial"/>
                <a:ea typeface="Arial"/>
                <a:cs typeface="Arial"/>
              </a:rPr>
              <a:t>NASA score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8679AE-A164-4A3F-9320-EEF480CBE428}"/>
              </a:ext>
            </a:extLst>
          </p:cNvPr>
          <p:cNvSpPr>
            <a:spLocks noGrp="1"/>
          </p:cNvSpPr>
          <p:nvPr/>
        </p:nvSpPr>
        <p:spPr>
          <a:xfrm>
            <a:off x="5715000" y="55054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2963"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1.513,2577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685E60-1003-4D85-9EFF-7F3F01BE6954}"/>
              </a:ext>
            </a:extLst>
          </p:cNvPr>
          <p:cNvSpPr>
            <a:spLocks noGrp="1"/>
          </p:cNvSpPr>
          <p:nvPr/>
        </p:nvSpPr>
        <p:spPr>
          <a:xfrm>
            <a:off x="7953375" y="5314950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02000"/>
              </a:lnSpc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Bootstrap theo engine, 10.000 lần:</a:t>
            </a:r>
          </a:p>
          <a:p>
            <a:pPr algn="l">
              <a:lnSpc>
                <a:spcPct val="102000"/>
              </a:lnSpc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MAE CI 95% [12,7286; 18,0866]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E7901E-3337-4DE6-A861-40F97143F43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NASA C-MAPSS FD001 · Phan Nguyễn Mai Phương · 2026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A4D749-DF5E-48A3-81CF-48F7A0778221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buNone/>
              <a:defRPr sz="825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1483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31724BB-7565-49C6-8EF7-B3BFE216012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PCA–ARIMA trên Health Index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028D2B-C7E6-4300-833A-CC8CEC54F34F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Phân tích time-series phụ, không thay thế mô hình RUL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750" y="1381125"/>
            <a:ext cx="5715000" cy="28575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73437E-710F-4D75-BF0A-001E95C8C2A7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0810875" cy="1143000"/>
          </a:xfrm>
          <a:prstGeom prst="roundRect">
            <a:avLst>
              <a:gd name="adj" fmla="val 15000"/>
            </a:avLst>
          </a:prstGeom>
          <a:solidFill>
            <a:srgbClr val="FFF4E8"/>
          </a:solidFill>
          <a:ln w="9525">
            <a:solidFill>
              <a:srgbClr val="F7C98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5F4B1-3FAD-4841-BC93-A1805EE30B2A}"/>
              </a:ext>
            </a:extLst>
          </p:cNvPr>
          <p:cNvSpPr>
            <a:spLocks noGrp="1"/>
          </p:cNvSpPr>
          <p:nvPr/>
        </p:nvSpPr>
        <p:spPr>
          <a:xfrm>
            <a:off x="933450" y="4686300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Thiết kế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9AD8F3-4E99-42B2-8F32-9ED4BD48827D}"/>
              </a:ext>
            </a:extLst>
          </p:cNvPr>
          <p:cNvSpPr>
            <a:spLocks noGrp="1"/>
          </p:cNvSpPr>
          <p:nvPr/>
        </p:nvSpPr>
        <p:spPr>
          <a:xfrm>
            <a:off x="2143125" y="46672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03000"/>
              </a:lnSpc>
              <a:buNone/>
              <a:defRPr sz="13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PCA/scaler fit trên 90 engine; 10 engine được chọn chỉ transform; split prefix 70% / suffix 30%.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4DB182-C856-4A61-934F-51D288427247}"/>
              </a:ext>
            </a:extLst>
          </p:cNvPr>
          <p:cNvSpPr>
            <a:spLocks noGrp="1"/>
          </p:cNvSpPr>
          <p:nvPr/>
        </p:nvSpPr>
        <p:spPr>
          <a:xfrm>
            <a:off x="2143125" y="5191125"/>
            <a:ext cx="7810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490"/>
          </a:bodyPr>
          <a:lstStyle/>
          <a:p>
            <a:pPr algn="l"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ARIMA, drift và last-value dùng cùng holdout; baseline không có prediction interval.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A4465D-316E-442F-802D-BC15D2B87A7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NASA C-MAPSS FD001 · Phan Nguyễn Mai Phương · 2026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D3C5F2-AE46-408E-A37F-C4330FEFCCE6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buNone/>
              <a:defRPr sz="825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24" name="Table 23"/>
          <p:cNvGraphicFramePr/>
          <p:nvPr/>
        </p:nvGraphicFramePr>
        <p:xfrm>
          <a:off x="6667500" y="1381125"/>
          <a:ext cx="4762500" cy="2095500"/>
        </p:xfrm>
        <a:graphic>
          <a:graphicData uri="http://schemas.openxmlformats.org/drawingml/2006/table">
            <a:tbl>
              <a:tblPr firstRow="1" bandRow="1"/>
              <a:tblGrid>
                <a:gridCol w="158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0,4110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0,5027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0,7469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0,9128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Last-value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0,9478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6202A"/>
                          </a:solidFill>
                          <a:latin typeface="Arial"/>
                          <a:ea typeface="Arial"/>
                          <a:cs typeface="Arial"/>
                        </a:rPr>
                        <a:t>1,1553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F8382861-FF75-495A-A2A8-33D9B7F205AF}"/>
              </a:ext>
            </a:extLst>
          </p:cNvPr>
          <p:cNvSpPr>
            <a:spLocks noGrp="1"/>
          </p:cNvSpPr>
          <p:nvPr/>
        </p:nvSpPr>
        <p:spPr>
          <a:xfrm>
            <a:off x="6667500" y="366712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06D"/>
                </a:solidFill>
                <a:latin typeface="Arial"/>
                <a:ea typeface="Arial"/>
                <a:cs typeface="Arial"/>
              </a:rPr>
              <a:t>Cùng holdout Health Index: mô tả MAE/RMSE, không phải RUL forecast.</a:t>
            </a:r>
          </a:p>
        </p:txBody>
      </p:sp>
    </p:spTree>
    <p:extLst>
      <p:ext uri="{BB962C8B-B14F-4D97-AF65-F5344CB8AC3E}">
        <p14:creationId xmlns:p14="http://schemas.microsoft.com/office/powerpoint/2010/main" val="19229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1E734B2-6CC6-4E35-B1C4-850BA32F2B8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Cảnh báo sớm, benchmark và tái lập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E944CC-ADE1-4F88-848A-E6E381B9BF5A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06D"/>
                </a:solidFill>
                <a:latin typeface="Arial"/>
                <a:ea typeface="Arial"/>
                <a:cs typeface="Arial"/>
              </a:rPr>
              <a:t>Bằng chứng mô tả trên selected-model OOF và Pandas in-memory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382316"/>
            <a:ext cx="6667500" cy="375046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D55312A-F523-4EF6-AC09-628A39C57792}"/>
              </a:ext>
            </a:extLst>
          </p:cNvPr>
          <p:cNvSpPr>
            <a:spLocks noGrp="1"/>
          </p:cNvSpPr>
          <p:nvPr/>
        </p:nvSpPr>
        <p:spPr>
          <a:xfrm>
            <a:off x="7667625" y="142875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F7A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7A8C"/>
                </a:solidFill>
                <a:latin typeface="Arial"/>
                <a:ea typeface="Arial"/>
                <a:cs typeface="Arial"/>
              </a:rPr>
              <a:t>Ngưỡng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3EB50F-77C6-48FC-AEB0-50FC19C0585E}"/>
              </a:ext>
            </a:extLst>
          </p:cNvPr>
          <p:cNvSpPr>
            <a:spLocks noGrp="1"/>
          </p:cNvSpPr>
          <p:nvPr/>
        </p:nvSpPr>
        <p:spPr>
          <a:xfrm>
            <a:off x="7667625" y="1762125"/>
            <a:ext cx="3619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RUL dự đoán ≤30 cycles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66055-646D-4D9B-A7BA-C29009A779FA}"/>
              </a:ext>
            </a:extLst>
          </p:cNvPr>
          <p:cNvSpPr>
            <a:spLocks noGrp="1"/>
          </p:cNvSpPr>
          <p:nvPr/>
        </p:nvSpPr>
        <p:spPr>
          <a:xfrm>
            <a:off x="7667625" y="233362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F7A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7A8C"/>
                </a:solidFill>
                <a:latin typeface="Arial"/>
                <a:ea typeface="Arial"/>
                <a:cs typeface="Arial"/>
              </a:rPr>
              <a:t>Timing theo engine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E16157-4A10-461E-9FB8-3D7A9E34E838}"/>
              </a:ext>
            </a:extLst>
          </p:cNvPr>
          <p:cNvSpPr>
            <a:spLocks noGrp="1"/>
          </p:cNvSpPr>
          <p:nvPr/>
        </p:nvSpPr>
        <p:spPr>
          <a:xfrm>
            <a:off x="7667625" y="2667000"/>
            <a:ext cx="3714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6202A"/>
                </a:solidFill>
                <a:latin typeface="Arial"/>
                <a:ea typeface="Arial"/>
                <a:cs typeface="Arial"/>
              </a:rPr>
              <a:t>44 trước ngưỡng</a:t>
            </a:r>
          </a:p>
          <a:p>
            <a:pPr algn="l">
              <a:lnSpc>
                <a:spcPct val="108000"/>
              </a:lnSpc>
              <a:buNone/>
              <a:defRPr sz="150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6202A"/>
                </a:solidFill>
                <a:latin typeface="Arial"/>
                <a:ea typeface="Arial"/>
                <a:cs typeface="Arial"/>
              </a:rPr>
              <a:t>7 đúng ngưỡng</a:t>
            </a:r>
          </a:p>
          <a:p>
            <a:pPr algn="l">
              <a:lnSpc>
                <a:spcPct val="108000"/>
              </a:lnSpc>
              <a:buNone/>
              <a:defRPr sz="150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6202A"/>
                </a:solidFill>
                <a:latin typeface="Arial"/>
                <a:ea typeface="Arial"/>
                <a:cs typeface="Arial"/>
              </a:rPr>
              <a:t>49 sau ngưỡng nhưng trước failure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BFFCB4-7961-46B7-917D-08D3D4AAE935}"/>
              </a:ext>
            </a:extLst>
          </p:cNvPr>
          <p:cNvSpPr>
            <a:spLocks noGrp="1"/>
          </p:cNvSpPr>
          <p:nvPr/>
        </p:nvSpPr>
        <p:spPr>
          <a:xfrm>
            <a:off x="7667625" y="3667125"/>
            <a:ext cx="3714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Lead time (min / Q1 / median / Q3 / max)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FE65E5-C858-4072-B829-1D5A77D394CA}"/>
              </a:ext>
            </a:extLst>
          </p:cNvPr>
          <p:cNvSpPr>
            <a:spLocks noGrp="1"/>
          </p:cNvSpPr>
          <p:nvPr/>
        </p:nvSpPr>
        <p:spPr>
          <a:xfrm>
            <a:off x="7667625" y="39433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19 / 26 / 30 / 35 / 55 cycles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31320D-CB78-4C25-BABE-0E7C6028DD7F}"/>
              </a:ext>
            </a:extLst>
          </p:cNvPr>
          <p:cNvSpPr>
            <a:spLocks noGrp="1"/>
          </p:cNvSpPr>
          <p:nvPr/>
        </p:nvSpPr>
        <p:spPr>
          <a:xfrm>
            <a:off x="7667625" y="4429125"/>
            <a:ext cx="371475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06D"/>
                </a:solidFill>
                <a:latin typeface="Arial"/>
                <a:ea typeface="Arial"/>
                <a:cs typeface="Arial"/>
              </a:rPr>
              <a:t>OOF đã dùng để chọn model, nên đây là evidence mô tả nội bộ. False-alarm rate không xác định vì mọi train trajectory đều có failure event.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EB6610-AF67-42FF-9B7A-FDEAE138E02A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0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6202A"/>
                </a:solidFill>
                <a:latin typeface="Arial"/>
                <a:ea typeface="Arial"/>
                <a:cs typeface="Arial"/>
              </a:rPr>
              <a:t>Fresh review: 18 bảng · 5 hình · 151 tests. Benchmark Pandas in-memory: 3.372.700 rows ở scale 100× trong 1,67 s; chưa có PySpark timing.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EE80CF-B4D8-430A-8281-FBE2648A9E5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8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06D"/>
                </a:solidFill>
                <a:latin typeface="Arial"/>
                <a:ea typeface="Arial"/>
                <a:cs typeface="Arial"/>
              </a:rPr>
              <a:t>NASA C-MAPSS FD001 · Phan Nguyễn Mai Phương ·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60B47A-B6D1-4EE1-A576-0ECBF05003FA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93311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B9A340-EAC8-41DE-8A6E-5064009A055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Giới hạn và gói bàn giao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D63226-DA04-415A-A12E-7F7F1724CF4A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Kết quả đã đủ để trình bày trong phạm vi FD001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B3484D-D49D-47C2-A5E7-7DDC6F25C7B6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4953000" cy="3714750"/>
          </a:xfrm>
          <a:prstGeom prst="roundRect">
            <a:avLst>
              <a:gd name="adj" fmla="val 5641"/>
            </a:avLst>
          </a:prstGeom>
          <a:solidFill>
            <a:srgbClr val="F4F7FA"/>
          </a:solidFill>
          <a:ln w="9525">
            <a:solidFill>
              <a:srgbClr val="D7E0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F650DF-455E-4CEE-BABD-DB4345F544FB}"/>
              </a:ext>
            </a:extLst>
          </p:cNvPr>
          <p:cNvSpPr>
            <a:spLocks noGrp="1"/>
          </p:cNvSpPr>
          <p:nvPr/>
        </p:nvSpPr>
        <p:spPr>
          <a:xfrm>
            <a:off x="933450" y="173355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0F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43E"/>
                </a:solidFill>
                <a:latin typeface="Arial"/>
                <a:ea typeface="Arial"/>
                <a:cs typeface="Arial"/>
              </a:rPr>
              <a:t>Giới hạn cần nói rõ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24E74F-6B7E-4F4A-9683-6FFE08DFCE67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4000500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FD001 chỉ có một điều kiện vận hành và một dạng lỗi.</a:t>
            </a:r>
          </a:p>
          <a:p>
            <a:endParaRPr sz="1350" b="0">
              <a:solidFill>
                <a:srgbClr val="16202A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Health Index forecast không phải RUL forecast.</a:t>
            </a:r>
          </a:p>
          <a:p>
            <a:endParaRPr sz="1350" b="0">
              <a:solidFill>
                <a:srgbClr val="16202A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Warning dùng OOF đã chọn model, chưa phải đánh giá độc lập hoặc maintenance policy.</a:t>
            </a:r>
          </a:p>
          <a:p>
            <a:endParaRPr sz="1350" b="0">
              <a:solidFill>
                <a:srgbClr val="16202A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Chưa có cost, downtime hoặc intervention records.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5B0EDB-F61B-41BE-AB62-25A71DC94325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4953000" cy="3714750"/>
          </a:xfrm>
          <a:prstGeom prst="roundRect">
            <a:avLst>
              <a:gd name="adj" fmla="val 5641"/>
            </a:avLst>
          </a:prstGeom>
          <a:solidFill>
            <a:srgbClr val="EAF4F5"/>
          </a:solidFill>
          <a:ln w="9525">
            <a:solidFill>
              <a:srgbClr val="D7E0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ABE42F-5125-4463-AD15-9A445A7D3748}"/>
              </a:ext>
            </a:extLst>
          </p:cNvPr>
          <p:cNvSpPr>
            <a:spLocks noGrp="1"/>
          </p:cNvSpPr>
          <p:nvPr/>
        </p:nvSpPr>
        <p:spPr>
          <a:xfrm>
            <a:off x="6457950" y="173355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1F7A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7A8C"/>
                </a:solidFill>
                <a:latin typeface="Arial"/>
                <a:ea typeface="Arial"/>
                <a:cs typeface="Arial"/>
              </a:rPr>
              <a:t>Thành phần bàn giao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3381EE-B3EA-4A25-9259-2DCFCB5DB5D3}"/>
              </a:ext>
            </a:extLst>
          </p:cNvPr>
          <p:cNvSpPr>
            <a:spLocks noGrp="1"/>
          </p:cNvSpPr>
          <p:nvPr/>
        </p:nvSpPr>
        <p:spPr>
          <a:xfrm>
            <a:off x="6457950" y="2305050"/>
            <a:ext cx="4191000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slides/cmapss_fd001_presentation.pptx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handoff/FINAL_HANDOFF.md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report/main.pdf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src/cmapss/ và tests/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389506-4BB5-4AE0-835D-785D07791FE5}"/>
              </a:ext>
            </a:extLst>
          </p:cNvPr>
          <p:cNvSpPr>
            <a:spLocks noGrp="1"/>
          </p:cNvSpPr>
          <p:nvPr/>
        </p:nvSpPr>
        <p:spPr>
          <a:xfrm>
            <a:off x="6457950" y="4591050"/>
            <a:ext cx="4000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556"/>
          </a:bodyPr>
          <a:lstStyle/>
          <a:p>
            <a:pPr algn="l">
              <a:buNone/>
              <a:defRPr sz="1275" b="1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8E2B"/>
                </a:solidFill>
                <a:latin typeface="Arial"/>
                <a:ea typeface="Arial"/>
                <a:cs typeface="Arial"/>
              </a:rPr>
              <a:t>Tiếp theo: sensitivity window 10/20/30 và outer warning evaluation.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F432AD-215B-4879-9A1D-32E42F56126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NASA C-MAPSS FD001 · Phan Nguyễn Mai Phương · 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0BA791-A949-46CD-818D-2FB0AC980C2E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buNone/>
              <a:defRPr sz="825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19837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1359</Words>
  <Application>Microsoft Office PowerPoint</Application>
  <DocSecurity>0</DocSecurity>
  <PresentationFormat>Widescreen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Phan Nguyễn Mai Phương</cp:lastModifiedBy>
  <cp:revision>1</cp:revision>
  <dcterms:created xsi:type="dcterms:W3CDTF">2026-09-24T02:25:25Z</dcterms:created>
  <dcterms:modified xsi:type="dcterms:W3CDTF">2026-09-24T05:44:50Z</dcterms:modified>
</cp:coreProperties>
</file>