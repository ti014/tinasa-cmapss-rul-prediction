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a89a20f1834292" /><Relationship Type="http://schemas.openxmlformats.org/officeDocument/2006/relationships/extended-properties" Target="/docProps/app.xml" Id="R830e7d49345a4f3f" /><Relationship Type="http://schemas.openxmlformats.org/officeDocument/2006/relationships/officeDocument" Target="/ppt/presentation.xml" Id="R19151134d0134611" /></Relationships>
</file>

<file path=ppt/presentation.xml><?xml version="1.0" encoding="utf-8"?>
<p:presentation xmlns:p="http://schemas.openxmlformats.org/presentationml/2006/main">
  <p:sldMasterIdLst>
    <p:sldMasterId xmlns:r="http://schemas.openxmlformats.org/officeDocument/2006/relationships" id="2147483648" r:id="Re58b5c0bddde4125"/>
  </p:sldMasterIdLst>
  <p:notesMasterIdLst>
    <p:notesMasterId xmlns:r="http://schemas.openxmlformats.org/officeDocument/2006/relationships" r:id="Rcd79f44ee7704b31"/>
  </p:notesMasterIdLst>
  <p:sldIdLst>
    <p:sldId xmlns:r="http://schemas.openxmlformats.org/officeDocument/2006/relationships" id="256" r:id="R943f942bb23f4e94"/>
    <p:sldId xmlns:r="http://schemas.openxmlformats.org/officeDocument/2006/relationships" id="257" r:id="Rf42a1872f4154377"/>
    <p:sldId xmlns:r="http://schemas.openxmlformats.org/officeDocument/2006/relationships" id="258" r:id="R35381d84789240f2"/>
    <p:sldId xmlns:r="http://schemas.openxmlformats.org/officeDocument/2006/relationships" id="259" r:id="R5a6575d339c64d7a"/>
    <p:sldId xmlns:r="http://schemas.openxmlformats.org/officeDocument/2006/relationships" id="260" r:id="Rd45e7be1017442a3"/>
    <p:sldId xmlns:r="http://schemas.openxmlformats.org/officeDocument/2006/relationships" id="261" r:id="R2fb9a20b1a5c4455"/>
    <p:sldId xmlns:r="http://schemas.openxmlformats.org/officeDocument/2006/relationships" id="262" r:id="R9b39a2a8e8924994"/>
    <p:sldId xmlns:r="http://schemas.openxmlformats.org/officeDocument/2006/relationships" id="263" r:id="R9ae74660e8724962"/>
    <p:sldId xmlns:r="http://schemas.openxmlformats.org/officeDocument/2006/relationships" id="264" r:id="R78cafa76bc6d4b51"/>
    <p:sldId xmlns:r="http://schemas.openxmlformats.org/officeDocument/2006/relationships" id="265" r:id="R244f7aa264284356"/>
    <p:sldId xmlns:r="http://schemas.openxmlformats.org/officeDocument/2006/relationships" id="266" r:id="R4ed2ce06188a4eb1"/>
    <p:sldId xmlns:r="http://schemas.openxmlformats.org/officeDocument/2006/relationships" id="267" r:id="R717877d64f884085"/>
    <p:sldId xmlns:r="http://schemas.openxmlformats.org/officeDocument/2006/relationships" id="268" r:id="R41eb0ad303b64bf2"/>
    <p:sldId xmlns:r="http://schemas.openxmlformats.org/officeDocument/2006/relationships" id="269" r:id="R70524e69980341a7"/>
    <p:sldId xmlns:r="http://schemas.openxmlformats.org/officeDocument/2006/relationships" id="270" r:id="R756a1a46ee4c498c"/>
    <p:sldId xmlns:r="http://schemas.openxmlformats.org/officeDocument/2006/relationships" id="271" r:id="R1f5f99211f604516"/>
    <p:sldId xmlns:r="http://schemas.openxmlformats.org/officeDocument/2006/relationships" id="272" r:id="Rd399195afe8147d0"/>
    <p:sldId xmlns:r="http://schemas.openxmlformats.org/officeDocument/2006/relationships" id="273" r:id="Rc6704c059d6d46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427edf18624941" /><Relationship Type="http://schemas.openxmlformats.org/officeDocument/2006/relationships/slideMaster" Target="/ppt/slideMasters/slideMaster1.xml" Id="Re58b5c0bddde4125" /><Relationship Type="http://schemas.openxmlformats.org/officeDocument/2006/relationships/notesMaster" Target="/ppt/notesMasters/notesMaster1.xml" Id="Rcd79f44ee7704b31" /><Relationship Type="http://schemas.openxmlformats.org/officeDocument/2006/relationships/presProps" Target="/ppt/presProps.xml" Id="R9280a09f4a8740c0" /><Relationship Type="http://schemas.openxmlformats.org/officeDocument/2006/relationships/tableStyles" Target="/ppt/tableStyles.xml" Id="R1c8914c0969a4932" /><Relationship Type="http://schemas.openxmlformats.org/officeDocument/2006/relationships/slide" Target="/ppt/slides/slide1.xml" Id="R943f942bb23f4e94" /><Relationship Type="http://schemas.openxmlformats.org/officeDocument/2006/relationships/slide" Target="/ppt/slides/slide2.xml" Id="Rf42a1872f4154377" /><Relationship Type="http://schemas.openxmlformats.org/officeDocument/2006/relationships/slide" Target="/ppt/slides/slide3.xml" Id="R35381d84789240f2" /><Relationship Type="http://schemas.openxmlformats.org/officeDocument/2006/relationships/slide" Target="/ppt/slides/slide4.xml" Id="R5a6575d339c64d7a" /><Relationship Type="http://schemas.openxmlformats.org/officeDocument/2006/relationships/slide" Target="/ppt/slides/slide5.xml" Id="Rd45e7be1017442a3" /><Relationship Type="http://schemas.openxmlformats.org/officeDocument/2006/relationships/slide" Target="/ppt/slides/slide6.xml" Id="R2fb9a20b1a5c4455" /><Relationship Type="http://schemas.openxmlformats.org/officeDocument/2006/relationships/slide" Target="/ppt/slides/slide7.xml" Id="R9b39a2a8e8924994" /><Relationship Type="http://schemas.openxmlformats.org/officeDocument/2006/relationships/slide" Target="/ppt/slides/slide8.xml" Id="R9ae74660e8724962" /><Relationship Type="http://schemas.openxmlformats.org/officeDocument/2006/relationships/slide" Target="/ppt/slides/slide9.xml" Id="R78cafa76bc6d4b51" /><Relationship Type="http://schemas.openxmlformats.org/officeDocument/2006/relationships/slide" Target="/ppt/slides/slide10.xml" Id="R244f7aa264284356" /><Relationship Type="http://schemas.openxmlformats.org/officeDocument/2006/relationships/slide" Target="/ppt/slides/slide11.xml" Id="R4ed2ce06188a4eb1" /><Relationship Type="http://schemas.openxmlformats.org/officeDocument/2006/relationships/slide" Target="/ppt/slides/slide12.xml" Id="R717877d64f884085" /><Relationship Type="http://schemas.openxmlformats.org/officeDocument/2006/relationships/slide" Target="/ppt/slides/slide13.xml" Id="R41eb0ad303b64bf2" /><Relationship Type="http://schemas.openxmlformats.org/officeDocument/2006/relationships/slide" Target="/ppt/slides/slide14.xml" Id="R70524e69980341a7" /><Relationship Type="http://schemas.openxmlformats.org/officeDocument/2006/relationships/slide" Target="/ppt/slides/slide15.xml" Id="R756a1a46ee4c498c" /><Relationship Type="http://schemas.openxmlformats.org/officeDocument/2006/relationships/slide" Target="/ppt/slides/slide16.xml" Id="R1f5f99211f604516" /><Relationship Type="http://schemas.openxmlformats.org/officeDocument/2006/relationships/slide" Target="/ppt/slides/slide17.xml" Id="Rd399195afe8147d0" /><Relationship Type="http://schemas.openxmlformats.org/officeDocument/2006/relationships/slide" Target="/ppt/slides/slide18.xml" Id="Rc6704c059d6d46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7086a6fba44f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1d85976cc147a8" /><Relationship Type="http://schemas.openxmlformats.org/officeDocument/2006/relationships/notesMaster" Target="/ppt/notesMasters/notesMaster1.xml" Id="R54cbd7ca80f547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407022822f4ccb" /><Relationship Type="http://schemas.openxmlformats.org/officeDocument/2006/relationships/notesMaster" Target="/ppt/notesMasters/notesMaster1.xml" Id="R934f720582c541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9abb720e8d4a50" /><Relationship Type="http://schemas.openxmlformats.org/officeDocument/2006/relationships/notesMaster" Target="/ppt/notesMasters/notesMaster1.xml" Id="R7d5927c0f6a944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66b9d6763d4939" /><Relationship Type="http://schemas.openxmlformats.org/officeDocument/2006/relationships/notesMaster" Target="/ppt/notesMasters/notesMaster1.xml" Id="R357d2376319649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28c9f429bb48d4" /><Relationship Type="http://schemas.openxmlformats.org/officeDocument/2006/relationships/notesMaster" Target="/ppt/notesMasters/notesMaster1.xml" Id="R667f2e8ad8d04e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372da0463b4dcd" /><Relationship Type="http://schemas.openxmlformats.org/officeDocument/2006/relationships/notesMaster" Target="/ppt/notesMasters/notesMaster1.xml" Id="R0358e950079d47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1c6dc2c1e84be2" /><Relationship Type="http://schemas.openxmlformats.org/officeDocument/2006/relationships/notesMaster" Target="/ppt/notesMasters/notesMaster1.xml" Id="Rb1913bf2b4b041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2d65f7d6cf4927" /><Relationship Type="http://schemas.openxmlformats.org/officeDocument/2006/relationships/notesMaster" Target="/ppt/notesMasters/notesMaster1.xml" Id="R54bfc27716c04d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9a321941e844e8" /><Relationship Type="http://schemas.openxmlformats.org/officeDocument/2006/relationships/notesMaster" Target="/ppt/notesMasters/notesMaster1.xml" Id="R8cb880dc10a046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2ec74a8a604211" /><Relationship Type="http://schemas.openxmlformats.org/officeDocument/2006/relationships/notesMaster" Target="/ppt/notesMasters/notesMaster1.xml" Id="Rc6da028bfc4f4a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691335918b414e" /><Relationship Type="http://schemas.openxmlformats.org/officeDocument/2006/relationships/notesMaster" Target="/ppt/notesMasters/notesMaster1.xml" Id="Reb406149784644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b3f0ca8e5f4368" /><Relationship Type="http://schemas.openxmlformats.org/officeDocument/2006/relationships/notesMaster" Target="/ppt/notesMasters/notesMaster1.xml" Id="R24d387fb2d79448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0f7ffc3dbf4ff2" /><Relationship Type="http://schemas.openxmlformats.org/officeDocument/2006/relationships/notesMaster" Target="/ppt/notesMasters/notesMaster1.xml" Id="R54bd8d6838a742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4e1e156a424b91" /><Relationship Type="http://schemas.openxmlformats.org/officeDocument/2006/relationships/notesMaster" Target="/ppt/notesMasters/notesMaster1.xml" Id="R525fa3ed02a343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8b0a85948dd4a88" /><Relationship Type="http://schemas.openxmlformats.org/officeDocument/2006/relationships/notesMaster" Target="/ppt/notesMasters/notesMaster1.xml" Id="Rd22028adea5b4b9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d13616169b6413f" /><Relationship Type="http://schemas.openxmlformats.org/officeDocument/2006/relationships/notesMaster" Target="/ppt/notesMasters/notesMaster1.xml" Id="R6fec9da97194419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c941356cec6402c" /><Relationship Type="http://schemas.openxmlformats.org/officeDocument/2006/relationships/notesMaster" Target="/ppt/notesMasters/notesMaster1.xml" Id="R5150db0ff59e42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42426c0b7514021" /><Relationship Type="http://schemas.openxmlformats.org/officeDocument/2006/relationships/notesMaster" Target="/ppt/notesMasters/notesMaster1.xml" Id="Rbcb439d84c014f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chính là Remaining Useful Life (RUL, tuổi thọ hữu ích còn lại) theo cycle. Phần cảnh báo dùng kết quả dự đoán để mô tả thời điểm phát hiện RUL thấp. Nguồn: report/main.pdf.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RUL bằng ví dụ. Trong train, RUL tại cycle t bằng cycle cuối của engine trừ t. Test bị cắt sớm; nhãn NASA chỉ dùng ở điểm quan sát cuối để đánh giá. Không quy đổi cycle ra giờ.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 raw có đủ bốn subset C-MAPSS. Phần chính của báo cáo dùng FD001 với một operating condition và một fault mode. Ma trận bổ sung dùng FD002–FD004 để kiểm tra transfer. Trong train, nhãn RUL suy từ cycle cuối. Nhãn test của từng subset chỉ đọc sau khi ghi final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sơ đồ từ trái sang phải. Raw được kiểm tra schema và khóa, ETL ghi Silver/Gold, rolling features dùng lịch sử của từng engine, GroupKFold chọn model, final evaluation ghép nhãn test ở bước cuối. Nhánh Health Index là phân tích phụ. Nguồn hình: assets/diagrams/fd001-pipeline.png.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engine đóng góp một cặp cho từng sensor. Tính mean đầu và mean cuối, rồi lấy chênh lệch. Bootstrap theo engine để có CI, Wilcoxon signed-rank và Benjamini–Hochberg cho 21 sensor. 15 sensor bác bỏ giả thuyết không sau BH; không được hiểu là bằng chứng nhân quả hoặc giá trị dự báo ngoài mẫu.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Window dài 30. Ví dụ tại cycle 170 dùng 141–170, không dùng 171. Với mỗi trong 21 sensor, tính last, mean, standard deviation, min, max, slope. Tổng 126 đặc trưng. Artifact hiện có 27.927 window. Không nối window qua hai engine.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chia ngẫu nhiên các window vì các cycle trong cùng engine có tương quan. Dùng 5-fold GroupKFold theo engine_id để chọn model bằng mean engine MAE. Sau khi chọn, fit lại trên toàn train và tạo một dự đoán cho mỗi test engine. Nhãn test chỉ dùng để chấm điểm cuối.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Median baseline là mốc hằng đơn giản. Ridge là hồi quy tuyến tính có regularization. HistGradientBoosting là mô hình cây boosting, nắm quan hệ phi tuyến. Cùng protocol, model boosting có mean engine MAE thấp nhất 20,2143. Đây là metric cross-validation, khác với 15,3490 trên final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hình: gần đường chéo nghĩa là dự đoán gần RUL thật. MAE 15,3490 cycles, RMSE 20,5413 cycles. Bootstrap lấy lại 100 engine có hoàn lại 10.000 lần, khoảng tin cậy 95% cho MAE 12,7286–18,0866. NASA score 1.513,2577 là score bất đối xứng, không có đơn vị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74 trên 100 dự đoán cao hơn RUL thật và 26 thấp hơn. Median absolute error là 13,3654 cycles. Engine 23 có RUL thật 113, dự đoán 170,4768, sai 57,4768 cycles. Đây là trường hợp minh họa sai số lớn; không loại khỏi metric. Hình thể hiện prediction minus true theo RUL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StandardScaler và PCA fit trên 90 train engine không được chọn; 10 engine còn lại chỉ transform. ARIMA fit 70% đầu và forecast 30% cuối mỗi chuỗi. So sánh cùng holdout với drift và last-value. Trung bình MAE/RMSE của ARIMA thấp hơn, nhưng chỉ 10 engine và coverage 21,43–97,03%, vì vậy đây là so sánh mô tả.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Warning dùng selected-model out-of-fold predictions trên train. Mỗi engine được dự đoán bởi model không fit engine đó, nhưng cùng OOF đã dùng để chọn model. Timing 44 trước mốc RUL thật 30, 7 đúng mốc, 49 sau mốc nhưng trước failure. Lead time min/Q1/median/Q3/max 19/26/30/35/55 cycles. False alarm rate không xác định vì mọi trajectory train đều đi đến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Pandas/PySpark cho cùng kết quả tại ba boundary Silver/Gold, max absolute difference 0.0. Benchmark chỉ đo build_engine_summary in-memory bằng Pandas. Scale 100x có 3.372.700 rows, hai lần 1,6752 và 1,6732 giây; không bao gồm I/O và không có PySpark timing. Fresh E2E đối chiếu 18 bảng, 5 hình và raw hash; 175 tests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Outer 5-fold được giữ từ baseline. Trong mỗi outer train, inner 3-fold chọn window, tham số và trọng số. Chỉ chấm outer validation sau khi chọn xong. Test đã được xem trước đợt này, không dùng để chọn lại cấu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stage dùng cùng 100 train engines. Window 30 được chọn ở cả 5 vòng. Hai vòng chọn cấu hình HGB khác, ba vòng giữ baseline. Không vòng nào chọn thêm trọng số. Chênh lệch MAE RUL thấp +0,0054 cycles, CI [-0,0506;0,0639]. Tỷ lệ cảnh báo trễ tăng 4 điểm phần trăm, CI [1;8]. Các CI điều kiện trên predictions đã 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ví dụ từ inner selection, không phải outer evaluation độc lập của ứng viên hgb_08. hgb_08 giảm MAE RUL thấp khoảng 9,75% nhưng MAE toàn bộ tăng 0,3233 cycles. Strong weights giảm low-RUL MAE và cảnh báo trễ nhưng tăng MAE toàn bộ và alarm burden. Luật đã chốt không cho phép tăng chỉ số kiểm soát. Không tuning tiếp theo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HistGradientBoosting được chọn theo GroupKFold, final MAE 15,3490 cycles với window 30 trên FD001. Ma trận bổ sung dùng window 10 cho bốn subset. Transfer từ FD001 sang FD002–FD004 có MAE 60,3215; 47,3949; 58,5731 cycles. Cảnh báo OOF vẫn là mô tả nội bộ. Health Index forecast là phân tích phụ.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 trận bổ sung chạy bốn evaluation nội bộ và ba phép transfer. Nội bộ: train và test cùng subset. Transfer: model fit trên toàn bộ train FD001 được giữ cố định khi dự đoán test subset khác. Window 10 khác window 30 của metric chính FD001, nên hai nhóm kết quả được trình bày riêng. Kết luận: dataset shift làm MAE tăng rõ rệt khi chuyển khỏi FD001.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7777dabb7340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01101de3744a6a" /><Relationship Type="http://schemas.openxmlformats.org/officeDocument/2006/relationships/slideLayout" Target="/ppt/slideLayouts/slideLayout1.xml" Id="Re41c164fe7e74f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1c164fe7e74f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5e53746dce4d2f" /><Relationship Type="http://schemas.openxmlformats.org/officeDocument/2006/relationships/notesSlide" Target="/ppt/notesSlides/notesSlide1.xml" Id="Rc979d4fea8794f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3cc1bacdd141eb" /><Relationship Type="http://schemas.openxmlformats.org/officeDocument/2006/relationships/notesSlide" Target="/ppt/notesSlides/notesSlide2.xml" Id="R36f3966e34bf40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597837da5984c12" /><Relationship Type="http://schemas.openxmlformats.org/officeDocument/2006/relationships/notesSlide" Target="/ppt/notesSlides/notesSlide3.xml" Id="R9364f028694348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0ca5e1c27e4308" /><Relationship Type="http://schemas.openxmlformats.org/officeDocument/2006/relationships/image" Target="/ppt/media/image.png" Id="R53fac2c85f5c461d" /><Relationship Type="http://schemas.openxmlformats.org/officeDocument/2006/relationships/notesSlide" Target="/ppt/notesSlides/notesSlide4.xml" Id="R838c38dc5ae44e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2a37dadf4e401b" /><Relationship Type="http://schemas.openxmlformats.org/officeDocument/2006/relationships/notesSlide" Target="/ppt/notesSlides/notesSlide5.xml" Id="Rba5bad17196542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4394b4b59b4da6" /><Relationship Type="http://schemas.openxmlformats.org/officeDocument/2006/relationships/notesSlide" Target="/ppt/notesSlides/notesSlide6.xml" Id="R769185f5ddba4c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8da5e9677341e5" /><Relationship Type="http://schemas.openxmlformats.org/officeDocument/2006/relationships/notesSlide" Target="/ppt/notesSlides/notesSlide7.xml" Id="R33f38bf0dc8c40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0e820fffa4e41b9" /><Relationship Type="http://schemas.openxmlformats.org/officeDocument/2006/relationships/notesSlide" Target="/ppt/notesSlides/notesSlide8.xml" Id="R171ddd1e53d54f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fbf94ff22d7405e" /><Relationship Type="http://schemas.openxmlformats.org/officeDocument/2006/relationships/image" Target="/ppt/media/image2.png" Id="Rad5e71cdda8e4e59" /><Relationship Type="http://schemas.openxmlformats.org/officeDocument/2006/relationships/notesSlide" Target="/ppt/notesSlides/notesSlide9.xml" Id="R1933fa85fe0d42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1fbcc15b9a74ee7" /><Relationship Type="http://schemas.openxmlformats.org/officeDocument/2006/relationships/image" Target="/ppt/media/image3.png" Id="R07eda72a577d4fd1" /><Relationship Type="http://schemas.openxmlformats.org/officeDocument/2006/relationships/notesSlide" Target="/ppt/notesSlides/notesSlide10.xml" Id="R1d9f88f0a6eb42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f8a475ef1e54921" /><Relationship Type="http://schemas.openxmlformats.org/officeDocument/2006/relationships/image" Target="/ppt/media/image4.png" Id="Ra8012491e5fa4881" /><Relationship Type="http://schemas.openxmlformats.org/officeDocument/2006/relationships/notesSlide" Target="/ppt/notesSlides/notesSlide11.xml" Id="R95535d81fe7042d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a758974ae04bf0" /><Relationship Type="http://schemas.openxmlformats.org/officeDocument/2006/relationships/image" Target="/ppt/media/image5.png" Id="Rbb433cb00d7b4833" /><Relationship Type="http://schemas.openxmlformats.org/officeDocument/2006/relationships/notesSlide" Target="/ppt/notesSlides/notesSlide12.xml" Id="R63cd19790072487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164493af95748b5" /><Relationship Type="http://schemas.openxmlformats.org/officeDocument/2006/relationships/notesSlide" Target="/ppt/notesSlides/notesSlide13.xml" Id="R096d13c615bf4e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f81e0794c63494d" /><Relationship Type="http://schemas.openxmlformats.org/officeDocument/2006/relationships/notesSlide" Target="/ppt/notesSlides/notesSlide14.xml" Id="R56e35d93e34147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a9a8e9f81664ce3" /><Relationship Type="http://schemas.openxmlformats.org/officeDocument/2006/relationships/notesSlide" Target="/ppt/notesSlides/notesSlide15.xml" Id="R89fbb8cadeb94f7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1c8a96115804f5f" /><Relationship Type="http://schemas.openxmlformats.org/officeDocument/2006/relationships/notesSlide" Target="/ppt/notesSlides/notesSlide16.xml" Id="Rfa51624e7140436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ac27718de2e4bbd" /><Relationship Type="http://schemas.openxmlformats.org/officeDocument/2006/relationships/notesSlide" Target="/ppt/notesSlides/notesSlide17.xml" Id="R167d5fa0fd0f4c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b1df6e63fe14e11" /><Relationship Type="http://schemas.openxmlformats.org/officeDocument/2006/relationships/notesSlide" Target="/ppt/notesSlides/notesSlide18.xml" Id="Rf75a5834985642f8" /></Relationships>
</file>

<file path=ppt/slides/slide1.xml><?xml version="1.0" encoding="utf-8"?>
<p:sld xmlns:p="http://schemas.openxmlformats.org/presentationml/2006/main">
  <p:cSld>
    <p:bg>
      <p:bgPr>
        <a:solidFill xmlns:a="http://schemas.openxmlformats.org/drawingml/2006/main">
          <a:srgbClr val="0F243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1BE462-9FA0-45FD-979B-4D3032FB84FF}"/>
              </a:ext>
            </a:extLst>
          </p:cNvPr>
          <p:cNvSpPr>
            <a:spLocks xmlns:a="http://schemas.openxmlformats.org/drawingml/2006/main" noGrp="1"/>
          </p:cNvSpPr>
          <p:nvPr/>
        </p:nvSpPr>
        <p:spPr>
          <a:xfrm xmlns:a="http://schemas.openxmlformats.org/drawingml/2006/main">
            <a:off x="762000" y="128587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Dự đoán tuổi thọ còn lại và cảnh báo sớm</a:t>
            </a:r>
          </a:p>
        </p:txBody>
      </p:sp>
      <p:sp>
        <p:nvSpPr>
          <p:cNvPr id="2" name="">
            <a:extLst xmlns:a="http://schemas.openxmlformats.org/drawingml/2006/main">
              <a:ext uri="{FF2B5EF4-FFF2-40B4-BE49-F238E27FC236}">
                <a16:creationId xmlns:a16="http://schemas.microsoft.com/office/drawing/2014/main" id="{788FEA61-D633-4599-B032-C746A875AEAC}"/>
              </a:ext>
            </a:extLst>
          </p:cNvPr>
          <p:cNvSpPr>
            <a:spLocks xmlns:a="http://schemas.openxmlformats.org/drawingml/2006/main" noGrp="1"/>
          </p:cNvSpPr>
          <p:nvPr/>
        </p:nvSpPr>
        <p:spPr>
          <a:xfrm xmlns:a="http://schemas.openxmlformats.org/drawingml/2006/main">
            <a:off x="781050" y="266700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75" b="0">
                <a:solidFill>
                  <a:srgbClr val="BFE7EA"/>
                </a:solidFill>
                <a:latin typeface="Arial"/>
                <a:ea typeface="Arial"/>
                <a:cs typeface="Arial"/>
              </a:defRPr>
            </a:pPr>
            <a:r>
              <a:rPr sz="2175" b="0">
                <a:solidFill>
                  <a:srgbClr val="BFE7EA"/>
                </a:solidFill>
                <a:latin typeface="Arial"/>
                <a:ea typeface="Arial"/>
                <a:cs typeface="Arial"/>
              </a:rPr>
              <a:t>Phân tích dữ liệu động cơ mô phỏng NASA C-MAPSS FD001–FD004</a:t>
            </a:r>
          </a:p>
        </p:txBody>
      </p:sp>
      <p:sp>
        <p:nvSpPr>
          <p:cNvPr id="3" name="">
            <a:extLst xmlns:a="http://schemas.openxmlformats.org/drawingml/2006/main">
              <a:ext uri="{FF2B5EF4-FFF2-40B4-BE49-F238E27FC236}">
                <a16:creationId xmlns:a16="http://schemas.microsoft.com/office/drawing/2014/main" id="{8154D036-4F90-4FAC-81C6-058551F233EE}"/>
              </a:ext>
            </a:extLst>
          </p:cNvPr>
          <p:cNvSpPr>
            <a:spLocks xmlns:a="http://schemas.openxmlformats.org/drawingml/2006/main" noGrp="1"/>
          </p:cNvSpPr>
          <p:nvPr/>
        </p:nvSpPr>
        <p:spPr>
          <a:xfrm xmlns:a="http://schemas.openxmlformats.org/drawingml/2006/main">
            <a:off x="781050" y="37147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FFFFFF"/>
                </a:solidFill>
                <a:latin typeface="Arial"/>
                <a:ea typeface="Arial"/>
                <a:cs typeface="Arial"/>
              </a:defRPr>
            </a:pPr>
            <a:r>
              <a:rPr sz="1725" b="0">
                <a:solidFill>
                  <a:srgbClr val="FFFFFF"/>
                </a:solidFill>
                <a:latin typeface="Arial"/>
                <a:ea typeface="Arial"/>
                <a:cs typeface="Arial"/>
              </a:rPr>
              <a:t>Báo cáo cuối kỳ môn Phân tích dữ liệu lớn</a:t>
            </a:r>
          </a:p>
        </p:txBody>
      </p:sp>
      <p:sp>
        <p:nvSpPr>
          <p:cNvPr id="4" name="">
            <a:extLst xmlns:a="http://schemas.openxmlformats.org/drawingml/2006/main">
              <a:ext uri="{FF2B5EF4-FFF2-40B4-BE49-F238E27FC236}">
                <a16:creationId xmlns:a16="http://schemas.microsoft.com/office/drawing/2014/main" id="{105A829B-F7DE-47C0-AE60-B15984C20EDC}"/>
              </a:ext>
            </a:extLst>
          </p:cNvPr>
          <p:cNvSpPr>
            <a:spLocks xmlns:a="http://schemas.openxmlformats.org/drawingml/2006/main" noGrp="1"/>
          </p:cNvSpPr>
          <p:nvPr/>
        </p:nvSpPr>
        <p:spPr>
          <a:xfrm xmlns:a="http://schemas.openxmlformats.org/drawingml/2006/main">
            <a:off x="781050" y="56197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a:solidFill>
                  <a:srgbClr val="FFFFFF"/>
                </a:solidFill>
                <a:latin typeface="Arial"/>
                <a:ea typeface="Arial"/>
                <a:cs typeface="Arial"/>
              </a:defRPr>
            </a:pPr>
            <a:r>
              <a:rPr sz="1650" b="0">
                <a:solidFill>
                  <a:srgbClr val="FFFFFF"/>
                </a:solidFill>
                <a:latin typeface="Arial"/>
                <a:ea typeface="Arial"/>
                <a:cs typeface="Arial"/>
              </a:rPr>
              <a:t>Phan Nguyễn Mai Phương | MSHV 25002711</a:t>
            </a:r>
          </a:p>
        </p:txBody>
      </p:sp>
    </p:spTree>
    <p:extLst>
      <p:ext uri="{BB962C8B-B14F-4D97-AF65-F5344CB8AC3E}">
        <p14:creationId xmlns:p14="http://schemas.microsoft.com/office/powerpoint/2010/main" val="21472925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13A50A-D47C-41A7-845F-29B08513C4A0}"/>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Bài toán nghiên cứu</a:t>
            </a:r>
          </a:p>
        </p:txBody>
      </p:sp>
      <p:sp>
        <p:nvSpPr>
          <p:cNvPr id="2" name="">
            <a:extLst xmlns:a="http://schemas.openxmlformats.org/drawingml/2006/main">
              <a:ext uri="{FF2B5EF4-FFF2-40B4-BE49-F238E27FC236}">
                <a16:creationId xmlns:a16="http://schemas.microsoft.com/office/drawing/2014/main" id="{E37B7722-6877-49FB-B4B4-E30F6C2BAE24}"/>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Dự đoán số cycle còn lại trước khi một engine đi đến failure</a:t>
            </a:r>
          </a:p>
        </p:txBody>
      </p:sp>
      <p:sp>
        <p:nvSpPr>
          <p:cNvPr id="3" name="">
            <a:extLst xmlns:a="http://schemas.openxmlformats.org/drawingml/2006/main">
              <a:ext uri="{FF2B5EF4-FFF2-40B4-BE49-F238E27FC236}">
                <a16:creationId xmlns:a16="http://schemas.microsoft.com/office/drawing/2014/main" id="{9C0FE028-CBEB-4676-B49B-004AC9F140C2}"/>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report/sections/problem-data.tex; data/CONTRACTS.md</a:t>
            </a:r>
          </a:p>
        </p:txBody>
      </p:sp>
      <p:sp>
        <p:nvSpPr>
          <p:cNvPr id="4" name="">
            <a:extLst xmlns:a="http://schemas.openxmlformats.org/drawingml/2006/main">
              <a:ext uri="{FF2B5EF4-FFF2-40B4-BE49-F238E27FC236}">
                <a16:creationId xmlns:a16="http://schemas.microsoft.com/office/drawing/2014/main" id="{8411D093-FE7E-4CE2-B146-E28306519CB7}"/>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A4D98CB-B6F1-4F22-BEFE-E2C8826055F9}"/>
              </a:ext>
            </a:extLst>
          </p:cNvPr>
          <p:cNvSpPr>
            <a:spLocks xmlns:a="http://schemas.openxmlformats.org/drawingml/2006/main" noGrp="1"/>
          </p:cNvSpPr>
          <p:nvPr/>
        </p:nvSpPr>
        <p:spPr>
          <a:xfrm xmlns:a="http://schemas.openxmlformats.org/drawingml/2006/main">
            <a:off x="723900" y="166687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Đầu vào</a:t>
            </a:r>
          </a:p>
        </p:txBody>
      </p:sp>
      <p:sp>
        <p:nvSpPr>
          <p:cNvPr id="6" name="">
            <a:extLst xmlns:a="http://schemas.openxmlformats.org/drawingml/2006/main">
              <a:ext uri="{FF2B5EF4-FFF2-40B4-BE49-F238E27FC236}">
                <a16:creationId xmlns:a16="http://schemas.microsoft.com/office/drawing/2014/main" id="{E46BBF7F-B03C-4070-BEE2-E151454091B1}"/>
              </a:ext>
            </a:extLst>
          </p:cNvPr>
          <p:cNvSpPr>
            <a:spLocks xmlns:a="http://schemas.openxmlformats.org/drawingml/2006/main" noGrp="1"/>
          </p:cNvSpPr>
          <p:nvPr/>
        </p:nvSpPr>
        <p:spPr>
          <a:xfrm xmlns:a="http://schemas.openxmlformats.org/drawingml/2006/main">
            <a:off x="723900" y="204787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Chuỗi đo của 21 sensor theo từng cycle và từng engine.</a:t>
            </a:r>
          </a:p>
        </p:txBody>
      </p:sp>
      <p:sp>
        <p:nvSpPr>
          <p:cNvPr id="7" name="">
            <a:extLst xmlns:a="http://schemas.openxmlformats.org/drawingml/2006/main">
              <a:ext uri="{FF2B5EF4-FFF2-40B4-BE49-F238E27FC236}">
                <a16:creationId xmlns:a16="http://schemas.microsoft.com/office/drawing/2014/main" id="{C656E694-DFE8-43AC-8A74-BE241EC39633}"/>
              </a:ext>
            </a:extLst>
          </p:cNvPr>
          <p:cNvSpPr>
            <a:spLocks xmlns:a="http://schemas.openxmlformats.org/drawingml/2006/main" noGrp="1"/>
          </p:cNvSpPr>
          <p:nvPr/>
        </p:nvSpPr>
        <p:spPr>
          <a:xfrm xmlns:a="http://schemas.openxmlformats.org/drawingml/2006/main">
            <a:off x="6381750" y="1666875"/>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Đầu ra</a:t>
            </a:r>
          </a:p>
        </p:txBody>
      </p:sp>
      <p:sp>
        <p:nvSpPr>
          <p:cNvPr id="8" name="">
            <a:extLst xmlns:a="http://schemas.openxmlformats.org/drawingml/2006/main">
              <a:ext uri="{FF2B5EF4-FFF2-40B4-BE49-F238E27FC236}">
                <a16:creationId xmlns:a16="http://schemas.microsoft.com/office/drawing/2014/main" id="{FF579DFC-F8D3-4670-8CD0-A6559439BCED}"/>
              </a:ext>
            </a:extLst>
          </p:cNvPr>
          <p:cNvSpPr>
            <a:spLocks xmlns:a="http://schemas.openxmlformats.org/drawingml/2006/main" noGrp="1"/>
          </p:cNvSpPr>
          <p:nvPr/>
        </p:nvSpPr>
        <p:spPr>
          <a:xfrm xmlns:a="http://schemas.openxmlformats.org/drawingml/2006/main">
            <a:off x="6381750" y="2047875"/>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Remaining Useful Life (RUL): số cycle còn lại tại thời điểm dự đoán.</a:t>
            </a:r>
          </a:p>
        </p:txBody>
      </p:sp>
      <p:sp>
        <p:nvSpPr>
          <p:cNvPr id="9" name="">
            <a:extLst xmlns:a="http://schemas.openxmlformats.org/drawingml/2006/main">
              <a:ext uri="{FF2B5EF4-FFF2-40B4-BE49-F238E27FC236}">
                <a16:creationId xmlns:a16="http://schemas.microsoft.com/office/drawing/2014/main" id="{9989521F-ACCB-4F1E-B4A4-E8E6A31384B3}"/>
              </a:ext>
            </a:extLst>
          </p:cNvPr>
          <p:cNvSpPr>
            <a:spLocks xmlns:a="http://schemas.openxmlformats.org/drawingml/2006/main" noGrp="1"/>
          </p:cNvSpPr>
          <p:nvPr/>
        </p:nvSpPr>
        <p:spPr>
          <a:xfrm xmlns:a="http://schemas.openxmlformats.org/drawingml/2006/main">
            <a:off x="723900" y="3857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F243E"/>
                </a:solidFill>
                <a:latin typeface="Arial"/>
                <a:ea typeface="Arial"/>
                <a:cs typeface="Arial"/>
              </a:defRPr>
            </a:pPr>
            <a:r>
              <a:rPr sz="2025" b="1">
                <a:solidFill>
                  <a:srgbClr val="0F243E"/>
                </a:solidFill>
                <a:latin typeface="Arial"/>
                <a:ea typeface="Arial"/>
                <a:cs typeface="Arial"/>
              </a:rPr>
              <a:t>Ví dụ: engine kết thúc ở cycle 200. Tại cycle 170, RUL thật bằng 30 cycles.</a:t>
            </a:r>
          </a:p>
        </p:txBody>
      </p:sp>
      <p:sp>
        <p:nvSpPr>
          <p:cNvPr id="10" name="">
            <a:extLst xmlns:a="http://schemas.openxmlformats.org/drawingml/2006/main">
              <a:ext uri="{FF2B5EF4-FFF2-40B4-BE49-F238E27FC236}">
                <a16:creationId xmlns:a16="http://schemas.microsoft.com/office/drawing/2014/main" id="{148196E8-687A-4F0F-BDAF-C084EB6DA55F}"/>
              </a:ext>
            </a:extLst>
          </p:cNvPr>
          <p:cNvSpPr>
            <a:spLocks xmlns:a="http://schemas.openxmlformats.org/drawingml/2006/main" noGrp="1"/>
          </p:cNvSpPr>
          <p:nvPr/>
        </p:nvSpPr>
        <p:spPr>
          <a:xfrm xmlns:a="http://schemas.openxmlformats.org/drawingml/2006/main">
            <a:off x="723900" y="49530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Câu hỏi chính: đặc trưng từ 30 cycle gần nhất dự đoán RUL tốt đến đâu trên engine chưa thấy?</a:t>
            </a:r>
          </a:p>
        </p:txBody>
      </p:sp>
    </p:spTree>
    <p:extLst>
      <p:ext uri="{BB962C8B-B14F-4D97-AF65-F5344CB8AC3E}">
        <p14:creationId xmlns:p14="http://schemas.microsoft.com/office/powerpoint/2010/main" val="12851674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BA8F71-A922-423C-85D7-D73E89FB174A}"/>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Dữ liệu C-MAPSS và ranh giới nhãn</a:t>
            </a:r>
          </a:p>
        </p:txBody>
      </p:sp>
      <p:sp>
        <p:nvSpPr>
          <p:cNvPr id="2" name="">
            <a:extLst xmlns:a="http://schemas.openxmlformats.org/drawingml/2006/main">
              <a:ext uri="{FF2B5EF4-FFF2-40B4-BE49-F238E27FC236}">
                <a16:creationId xmlns:a16="http://schemas.microsoft.com/office/drawing/2014/main" id="{82D4D4BE-689C-4696-A358-3DCC26D56316}"/>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FD001 là protocol chính; FD002–FD004 dùng cho kiểm tra chuyển miền</a:t>
            </a:r>
          </a:p>
        </p:txBody>
      </p:sp>
      <p:sp>
        <p:nvSpPr>
          <p:cNvPr id="3" name="">
            <a:extLst xmlns:a="http://schemas.openxmlformats.org/drawingml/2006/main">
              <a:ext uri="{FF2B5EF4-FFF2-40B4-BE49-F238E27FC236}">
                <a16:creationId xmlns:a16="http://schemas.microsoft.com/office/drawing/2014/main" id="{3DB052B9-0DDC-4E63-B06F-E1D173BF96D4}"/>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data/raw/DATA_SOURCE.md; outputs/etl/run_info.json; data/CONTRACTS.md</a:t>
            </a:r>
          </a:p>
        </p:txBody>
      </p:sp>
      <p:sp>
        <p:nvSpPr>
          <p:cNvPr id="4" name="">
            <a:extLst xmlns:a="http://schemas.openxmlformats.org/drawingml/2006/main">
              <a:ext uri="{FF2B5EF4-FFF2-40B4-BE49-F238E27FC236}">
                <a16:creationId xmlns:a16="http://schemas.microsoft.com/office/drawing/2014/main" id="{6F2DE2EE-8785-4F73-9A03-BCAD10B7B3D5}"/>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03</a:t>
            </a:r>
          </a:p>
        </p:txBody>
      </p:sp>
      <p:graphicFrame>
        <p:nvGraphicFramePr>
          <p:cNvPr id="12" name=""/>
          <p:cNvGraphicFramePr/>
          <p:nvPr/>
        </p:nvGraphicFramePr>
        <p:xfrm>
          <a:off xmlns:a="http://schemas.openxmlformats.org/drawingml/2006/main" x="742950" y="1666875"/>
          <a:ext xmlns:a="http://schemas.openxmlformats.org/drawingml/2006/main" cx="10620375" cy="2238375"/>
        </p:xfrm>
        <a:graphic xmlns:a="http://schemas.openxmlformats.org/drawingml/2006/main">
          <a:graphicData uri="http://schemas.openxmlformats.org/drawingml/2006/table">
            <a:tbl>
              <a:tblPr firstRow="1" bandRow="1"/>
              <a:tblGrid>
                <a:gridCol w="2655094"/>
                <a:gridCol w="2655094"/>
                <a:gridCol w="2655094"/>
                <a:gridCol w="2655094"/>
              </a:tblGrid>
              <a:tr h="746125">
                <a:tc>
                  <a:txBody>
                    <a:bodyPr/>
                    <a:lstStyle/>
                    <a:p>
                      <a:r>
                        <a:rPr sz="1425" b="1">
                          <a:solidFill>
                            <a:srgbClr val="FFFFFF"/>
                          </a:solidFill>
                          <a:latin typeface="Arial"/>
                          <a:ea typeface="Arial"/>
                          <a:cs typeface="Arial"/>
                        </a:rPr>
                        <a:t>Tập</a:t>
                      </a:r>
                    </a:p>
                  </a:txBody>
                  <a:tcPr marL="91440" marR="91440" marT="45720" marB="45720">
                    <a:solidFill>
                      <a:srgbClr val="0F243E"/>
                    </a:solidFill>
                  </a:tcPr>
                </a:tc>
                <a:tc>
                  <a:txBody>
                    <a:bodyPr/>
                    <a:lstStyle/>
                    <a:p>
                      <a:r>
                        <a:rPr sz="1425" b="1">
                          <a:solidFill>
                            <a:srgbClr val="FFFFFF"/>
                          </a:solidFill>
                          <a:latin typeface="Arial"/>
                          <a:ea typeface="Arial"/>
                          <a:cs typeface="Arial"/>
                        </a:rPr>
                        <a:t>Engine</a:t>
                      </a:r>
                    </a:p>
                  </a:txBody>
                  <a:tcPr marL="91440" marR="91440" marT="45720" marB="45720">
                    <a:solidFill>
                      <a:srgbClr val="0F243E"/>
                    </a:solidFill>
                  </a:tcPr>
                </a:tc>
                <a:tc>
                  <a:txBody>
                    <a:bodyPr/>
                    <a:lstStyle/>
                    <a:p>
                      <a:r>
                        <a:rPr sz="1425" b="1">
                          <a:solidFill>
                            <a:srgbClr val="FFFFFF"/>
                          </a:solidFill>
                          <a:latin typeface="Arial"/>
                          <a:ea typeface="Arial"/>
                          <a:cs typeface="Arial"/>
                        </a:rPr>
                        <a:t>Dòng quan sát</a:t>
                      </a:r>
                    </a:p>
                  </a:txBody>
                  <a:tcPr marL="91440" marR="91440" marT="45720" marB="45720">
                    <a:solidFill>
                      <a:srgbClr val="0F243E"/>
                    </a:solidFill>
                  </a:tcPr>
                </a:tc>
                <a:tc>
                  <a:txBody>
                    <a:bodyPr/>
                    <a:lstStyle/>
                    <a:p>
                      <a:r>
                        <a:rPr sz="1425" b="1">
                          <a:solidFill>
                            <a:srgbClr val="FFFFFF"/>
                          </a:solidFill>
                          <a:latin typeface="Arial"/>
                          <a:ea typeface="Arial"/>
                          <a:cs typeface="Arial"/>
                        </a:rPr>
                        <a:t>Vai trò</a:t>
                      </a:r>
                    </a:p>
                  </a:txBody>
                  <a:tcPr marL="91440" marR="91440" marT="45720" marB="45720">
                    <a:solidFill>
                      <a:srgbClr val="0F243E"/>
                    </a:solidFill>
                  </a:tcPr>
                </a:tc>
              </a:tr>
              <a:tr h="746125">
                <a:tc>
                  <a:txBody>
                    <a:bodyPr/>
                    <a:lstStyle/>
                    <a:p>
                      <a:r>
                        <a:rPr sz="1425" b="0">
                          <a:solidFill>
                            <a:srgbClr val="16202A"/>
                          </a:solidFill>
                          <a:latin typeface="Arial"/>
                          <a:ea typeface="Arial"/>
                          <a:cs typeface="Arial"/>
                        </a:rPr>
                        <a:t>Train</a:t>
                      </a:r>
                    </a:p>
                  </a:txBody>
                  <a:tcPr marL="91440" marR="91440" marT="45720" marB="45720"/>
                </a:tc>
                <a:tc>
                  <a:txBody>
                    <a:bodyPr/>
                    <a:lstStyle/>
                    <a:p>
                      <a:r>
                        <a:rPr sz="1425" b="0">
                          <a:solidFill>
                            <a:srgbClr val="16202A"/>
                          </a:solidFill>
                          <a:latin typeface="Arial"/>
                          <a:ea typeface="Arial"/>
                          <a:cs typeface="Arial"/>
                        </a:rPr>
                        <a:t>100</a:t>
                      </a:r>
                    </a:p>
                  </a:txBody>
                  <a:tcPr marL="91440" marR="91440" marT="45720" marB="45720"/>
                </a:tc>
                <a:tc>
                  <a:txBody>
                    <a:bodyPr/>
                    <a:lstStyle/>
                    <a:p>
                      <a:r>
                        <a:rPr sz="1425" b="0">
                          <a:solidFill>
                            <a:srgbClr val="16202A"/>
                          </a:solidFill>
                          <a:latin typeface="Arial"/>
                          <a:ea typeface="Arial"/>
                          <a:cs typeface="Arial"/>
                        </a:rPr>
                        <a:t>20.631</a:t>
                      </a:r>
                    </a:p>
                  </a:txBody>
                  <a:tcPr marL="91440" marR="91440" marT="45720" marB="45720"/>
                </a:tc>
                <a:tc>
                  <a:txBody>
                    <a:bodyPr/>
                    <a:lstStyle/>
                    <a:p>
                      <a:r>
                        <a:rPr sz="1425" b="0">
                          <a:solidFill>
                            <a:srgbClr val="16202A"/>
                          </a:solidFill>
                          <a:latin typeface="Arial"/>
                          <a:ea typeface="Arial"/>
                          <a:cs typeface="Arial"/>
                        </a:rPr>
                        <a:t>Học và chọn model</a:t>
                      </a:r>
                    </a:p>
                  </a:txBody>
                  <a:tcPr marL="91440" marR="91440" marT="45720" marB="45720"/>
                </a:tc>
              </a:tr>
              <a:tr h="746125">
                <a:tc>
                  <a:txBody>
                    <a:bodyPr/>
                    <a:lstStyle/>
                    <a:p>
                      <a:r>
                        <a:rPr sz="1425" b="0">
                          <a:solidFill>
                            <a:srgbClr val="16202A"/>
                          </a:solidFill>
                          <a:latin typeface="Arial"/>
                          <a:ea typeface="Arial"/>
                          <a:cs typeface="Arial"/>
                        </a:rPr>
                        <a:t>Test</a:t>
                      </a:r>
                    </a:p>
                  </a:txBody>
                  <a:tcPr marL="91440" marR="91440" marT="45720" marB="45720"/>
                </a:tc>
                <a:tc>
                  <a:txBody>
                    <a:bodyPr/>
                    <a:lstStyle/>
                    <a:p>
                      <a:r>
                        <a:rPr sz="1425" b="0">
                          <a:solidFill>
                            <a:srgbClr val="16202A"/>
                          </a:solidFill>
                          <a:latin typeface="Arial"/>
                          <a:ea typeface="Arial"/>
                          <a:cs typeface="Arial"/>
                        </a:rPr>
                        <a:t>100</a:t>
                      </a:r>
                    </a:p>
                  </a:txBody>
                  <a:tcPr marL="91440" marR="91440" marT="45720" marB="45720"/>
                </a:tc>
                <a:tc>
                  <a:txBody>
                    <a:bodyPr/>
                    <a:lstStyle/>
                    <a:p>
                      <a:r>
                        <a:rPr sz="1425" b="0">
                          <a:solidFill>
                            <a:srgbClr val="16202A"/>
                          </a:solidFill>
                          <a:latin typeface="Arial"/>
                          <a:ea typeface="Arial"/>
                          <a:cs typeface="Arial"/>
                        </a:rPr>
                        <a:t>13.096</a:t>
                      </a:r>
                    </a:p>
                  </a:txBody>
                  <a:tcPr marL="91440" marR="91440" marT="45720" marB="45720"/>
                </a:tc>
                <a:tc>
                  <a:txBody>
                    <a:bodyPr/>
                    <a:lstStyle/>
                    <a:p>
                      <a:r>
                        <a:rPr sz="1425" b="0">
                          <a:solidFill>
                            <a:srgbClr val="16202A"/>
                          </a:solidFill>
                          <a:latin typeface="Arial"/>
                          <a:ea typeface="Arial"/>
                          <a:cs typeface="Arial"/>
                        </a:rPr>
                        <a:t>Đánh giá cuối</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8261D291-5364-40C2-B560-3238CF4E27EC}"/>
              </a:ext>
            </a:extLst>
          </p:cNvPr>
          <p:cNvSpPr>
            <a:spLocks xmlns:a="http://schemas.openxmlformats.org/drawingml/2006/main" noGrp="1"/>
          </p:cNvSpPr>
          <p:nvPr/>
        </p:nvSpPr>
        <p:spPr>
          <a:xfrm xmlns:a="http://schemas.openxmlformats.org/drawingml/2006/main">
            <a:off x="781050" y="433387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950" b="1">
                <a:solidFill>
                  <a:srgbClr val="0F243E"/>
                </a:solidFill>
                <a:latin typeface="Arial"/>
                <a:ea typeface="Arial"/>
                <a:cs typeface="Arial"/>
              </a:defRPr>
            </a:pPr>
            <a:r>
              <a:rPr sz="1950" b="1">
                <a:solidFill>
                  <a:srgbClr val="0F243E"/>
                </a:solidFill>
                <a:latin typeface="Arial"/>
                <a:ea typeface="Arial"/>
                <a:cs typeface="Arial"/>
              </a:rPr>
              <a:t>Train: RUL = cycle cuối của engine − cycle hiện tại</a:t>
            </a:r>
          </a:p>
        </p:txBody>
      </p:sp>
      <p:sp>
        <p:nvSpPr>
          <p:cNvPr id="7" name="">
            <a:extLst xmlns:a="http://schemas.openxmlformats.org/drawingml/2006/main">
              <a:ext uri="{FF2B5EF4-FFF2-40B4-BE49-F238E27FC236}">
                <a16:creationId xmlns:a16="http://schemas.microsoft.com/office/drawing/2014/main" id="{62CFE674-7886-4C2D-8A5D-B51660FA3B43}"/>
              </a:ext>
            </a:extLst>
          </p:cNvPr>
          <p:cNvSpPr>
            <a:spLocks xmlns:a="http://schemas.openxmlformats.org/drawingml/2006/main" noGrp="1"/>
          </p:cNvSpPr>
          <p:nvPr/>
        </p:nvSpPr>
        <p:spPr>
          <a:xfrm xmlns:a="http://schemas.openxmlformats.org/drawingml/2006/main">
            <a:off x="781050" y="50006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Test: mỗi engine có một dự đoán tại cycle cuối được quan sát; sau đó mới ghép nhãn NASA của subset tương ứng để chấm điểm.</a:t>
            </a:r>
          </a:p>
        </p:txBody>
      </p:sp>
    </p:spTree>
    <p:extLst>
      <p:ext uri="{BB962C8B-B14F-4D97-AF65-F5344CB8AC3E}">
        <p14:creationId xmlns:p14="http://schemas.microsoft.com/office/powerpoint/2010/main" val="11015792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0F45D1-6A22-4189-88A8-137A629DAF7E}"/>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Quy trình xử lý dữ liệu</a:t>
            </a:r>
          </a:p>
        </p:txBody>
      </p:sp>
      <p:sp>
        <p:nvSpPr>
          <p:cNvPr id="2" name="">
            <a:extLst xmlns:a="http://schemas.openxmlformats.org/drawingml/2006/main">
              <a:ext uri="{FF2B5EF4-FFF2-40B4-BE49-F238E27FC236}">
                <a16:creationId xmlns:a16="http://schemas.microsoft.com/office/drawing/2014/main" id="{CDBBD5EF-C747-45E2-A974-A618B8003A20}"/>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Mỗi bước ghi artifact để có thể kiểm tra và chạy lại</a:t>
            </a:r>
          </a:p>
        </p:txBody>
      </p:sp>
      <p:sp>
        <p:nvSpPr>
          <p:cNvPr id="3" name="">
            <a:extLst xmlns:a="http://schemas.openxmlformats.org/drawingml/2006/main">
              <a:ext uri="{FF2B5EF4-FFF2-40B4-BE49-F238E27FC236}">
                <a16:creationId xmlns:a16="http://schemas.microsoft.com/office/drawing/2014/main" id="{E15B49A3-F91B-433D-99A3-B055EA6206F1}"/>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assets/diagrams/fd001-pipeline.png; outputs/modeling/tables/evaluation_protocol.csv</a:t>
            </a:r>
          </a:p>
        </p:txBody>
      </p:sp>
      <p:sp>
        <p:nvSpPr>
          <p:cNvPr id="4" name="">
            <a:extLst xmlns:a="http://schemas.openxmlformats.org/drawingml/2006/main">
              <a:ext uri="{FF2B5EF4-FFF2-40B4-BE49-F238E27FC236}">
                <a16:creationId xmlns:a16="http://schemas.microsoft.com/office/drawing/2014/main" id="{47282B42-D659-4ABD-8A55-E57845B6EBBE}"/>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3fac2c85f5c461d"/>
          <a:stretch xmlns:a="http://schemas.openxmlformats.org/drawingml/2006/main"/>
        </p:blipFill>
        <p:spPr>
          <a:xfrm xmlns:a="http://schemas.openxmlformats.org/drawingml/2006/main">
            <a:off x="4276117" y="1428750"/>
            <a:ext cx="3649292" cy="3714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970CAE4-C079-4871-BAF4-04985044C3D8}"/>
              </a:ext>
            </a:extLst>
          </p:cNvPr>
          <p:cNvSpPr>
            <a:spLocks xmlns:a="http://schemas.openxmlformats.org/drawingml/2006/main" noGrp="1"/>
          </p:cNvSpPr>
          <p:nvPr/>
        </p:nvSpPr>
        <p:spPr>
          <a:xfrm xmlns:a="http://schemas.openxmlformats.org/drawingml/2006/main">
            <a:off x="714375" y="52387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a:solidFill>
                  <a:srgbClr val="0F243E"/>
                </a:solidFill>
                <a:latin typeface="Arial"/>
                <a:ea typeface="Arial"/>
                <a:cs typeface="Arial"/>
              </a:defRPr>
            </a:pPr>
            <a:r>
              <a:rPr sz="1725" b="1">
                <a:solidFill>
                  <a:srgbClr val="0F243E"/>
                </a:solidFill>
                <a:latin typeface="Arial"/>
                <a:ea typeface="Arial"/>
                <a:cs typeface="Arial"/>
              </a:rPr>
              <a:t>Điểm kiểm soát quan trọng: nhãn test chỉ xuất hiện sau khi model đã tạo dự đoán cuối.</a:t>
            </a:r>
          </a:p>
        </p:txBody>
      </p:sp>
    </p:spTree>
    <p:extLst>
      <p:ext uri="{BB962C8B-B14F-4D97-AF65-F5344CB8AC3E}">
        <p14:creationId xmlns:p14="http://schemas.microsoft.com/office/powerpoint/2010/main" val="12545081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028D6A-D079-4346-BF37-2546CA652E2E}"/>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Sensor thay đổi ra sao theo vòng đời?</a:t>
            </a:r>
          </a:p>
        </p:txBody>
      </p:sp>
      <p:sp>
        <p:nvSpPr>
          <p:cNvPr id="2" name="">
            <a:extLst xmlns:a="http://schemas.openxmlformats.org/drawingml/2006/main">
              <a:ext uri="{FF2B5EF4-FFF2-40B4-BE49-F238E27FC236}">
                <a16:creationId xmlns:a16="http://schemas.microsoft.com/office/drawing/2014/main" id="{5860E559-E756-4BA9-AEA0-A16D2A1DC321}"/>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So sánh 30 cycle đầu và 30 cycle cuối trong cùng một train engine</a:t>
            </a:r>
          </a:p>
        </p:txBody>
      </p:sp>
      <p:sp>
        <p:nvSpPr>
          <p:cNvPr id="3" name="">
            <a:extLst xmlns:a="http://schemas.openxmlformats.org/drawingml/2006/main">
              <a:ext uri="{FF2B5EF4-FFF2-40B4-BE49-F238E27FC236}">
                <a16:creationId xmlns:a16="http://schemas.microsoft.com/office/drawing/2014/main" id="{9724B6FE-551E-4F5A-903E-C2A81145C152}"/>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outputs/statistics/tables/sensor_inference.csv; report/sections/statistical-protocol.tex</a:t>
            </a:r>
          </a:p>
        </p:txBody>
      </p:sp>
      <p:sp>
        <p:nvSpPr>
          <p:cNvPr id="4" name="">
            <a:extLst xmlns:a="http://schemas.openxmlformats.org/drawingml/2006/main">
              <a:ext uri="{FF2B5EF4-FFF2-40B4-BE49-F238E27FC236}">
                <a16:creationId xmlns:a16="http://schemas.microsoft.com/office/drawing/2014/main" id="{9D9A1C4D-9B04-4180-8AFB-95D31B6C20F4}"/>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F1A93D1-EF27-47CC-B089-3CB2251F507A}"/>
              </a:ext>
            </a:extLst>
          </p:cNvPr>
          <p:cNvSpPr>
            <a:spLocks xmlns:a="http://schemas.openxmlformats.org/drawingml/2006/main" noGrp="1"/>
          </p:cNvSpPr>
          <p:nvPr/>
        </p:nvSpPr>
        <p:spPr>
          <a:xfrm xmlns:a="http://schemas.openxmlformats.org/drawingml/2006/main">
            <a:off x="714375" y="16192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Cách so sánh</a:t>
            </a:r>
          </a:p>
        </p:txBody>
      </p:sp>
      <p:sp>
        <p:nvSpPr>
          <p:cNvPr id="6" name="">
            <a:extLst xmlns:a="http://schemas.openxmlformats.org/drawingml/2006/main">
              <a:ext uri="{FF2B5EF4-FFF2-40B4-BE49-F238E27FC236}">
                <a16:creationId xmlns:a16="http://schemas.microsoft.com/office/drawing/2014/main" id="{AD834AEA-86FA-4A5B-96F6-CFB08E963E69}"/>
              </a:ext>
            </a:extLst>
          </p:cNvPr>
          <p:cNvSpPr>
            <a:spLocks xmlns:a="http://schemas.openxmlformats.org/drawingml/2006/main" noGrp="1"/>
          </p:cNvSpPr>
          <p:nvPr/>
        </p:nvSpPr>
        <p:spPr>
          <a:xfrm xmlns:a="http://schemas.openxmlformats.org/drawingml/2006/main">
            <a:off x="714375" y="200025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Với mỗi sensor: chênh lệch = trung bình 30 cycle cuối trừ trung bình 30 cycle đầu.</a:t>
            </a:r>
          </a:p>
        </p:txBody>
      </p:sp>
      <p:sp>
        <p:nvSpPr>
          <p:cNvPr id="7" name="">
            <a:extLst xmlns:a="http://schemas.openxmlformats.org/drawingml/2006/main">
              <a:ext uri="{FF2B5EF4-FFF2-40B4-BE49-F238E27FC236}">
                <a16:creationId xmlns:a16="http://schemas.microsoft.com/office/drawing/2014/main" id="{EC9D7850-6F8E-4A41-B776-F69C2969E9C4}"/>
              </a:ext>
            </a:extLst>
          </p:cNvPr>
          <p:cNvSpPr>
            <a:spLocks xmlns:a="http://schemas.openxmlformats.org/drawingml/2006/main" noGrp="1"/>
          </p:cNvSpPr>
          <p:nvPr/>
        </p:nvSpPr>
        <p:spPr>
          <a:xfrm xmlns:a="http://schemas.openxmlformats.org/drawingml/2006/main">
            <a:off x="714375" y="30956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Cách kiểm tra</a:t>
            </a:r>
          </a:p>
        </p:txBody>
      </p:sp>
      <p:sp>
        <p:nvSpPr>
          <p:cNvPr id="8" name="">
            <a:extLst xmlns:a="http://schemas.openxmlformats.org/drawingml/2006/main">
              <a:ext uri="{FF2B5EF4-FFF2-40B4-BE49-F238E27FC236}">
                <a16:creationId xmlns:a16="http://schemas.microsoft.com/office/drawing/2014/main" id="{0A4C1958-4471-4756-BDA1-0E7010FC8523}"/>
              </a:ext>
            </a:extLst>
          </p:cNvPr>
          <p:cNvSpPr>
            <a:spLocks xmlns:a="http://schemas.openxmlformats.org/drawingml/2006/main" noGrp="1"/>
          </p:cNvSpPr>
          <p:nvPr/>
        </p:nvSpPr>
        <p:spPr>
          <a:xfrm xmlns:a="http://schemas.openxmlformats.org/drawingml/2006/main">
            <a:off x="714375" y="3476625"/>
            <a:ext cx="10001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Ghép cặp trong cùng engine; bootstrap lấy mẫu lại engine; Wilcoxon và hiệu chỉnh Benjamini–Hochberg cho 21 sensor.</a:t>
            </a:r>
          </a:p>
        </p:txBody>
      </p:sp>
      <p:sp>
        <p:nvSpPr>
          <p:cNvPr id="9" name="">
            <a:extLst xmlns:a="http://schemas.openxmlformats.org/drawingml/2006/main">
              <a:ext uri="{FF2B5EF4-FFF2-40B4-BE49-F238E27FC236}">
                <a16:creationId xmlns:a16="http://schemas.microsoft.com/office/drawing/2014/main" id="{3DD107CC-37C6-4E52-BC3D-31D5DE8E4604}"/>
              </a:ext>
            </a:extLst>
          </p:cNvPr>
          <p:cNvSpPr>
            <a:spLocks xmlns:a="http://schemas.openxmlformats.org/drawingml/2006/main" noGrp="1"/>
          </p:cNvSpPr>
          <p:nvPr/>
        </p:nvSpPr>
        <p:spPr>
          <a:xfrm xmlns:a="http://schemas.openxmlformats.org/drawingml/2006/main">
            <a:off x="714375" y="50482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F243E"/>
                </a:solidFill>
                <a:latin typeface="Arial"/>
                <a:ea typeface="Arial"/>
                <a:cs typeface="Arial"/>
              </a:defRPr>
            </a:pPr>
            <a:r>
              <a:rPr sz="2025" b="1">
                <a:solidFill>
                  <a:srgbClr val="0F243E"/>
                </a:solidFill>
                <a:latin typeface="Arial"/>
                <a:ea typeface="Arial"/>
                <a:cs typeface="Arial"/>
              </a:rPr>
              <a:t>Kết quả: 15 sensor có bằng chứng thay đổi theo protocol này.</a:t>
            </a:r>
          </a:p>
        </p:txBody>
      </p:sp>
      <p:sp>
        <p:nvSpPr>
          <p:cNvPr id="10" name="">
            <a:extLst xmlns:a="http://schemas.openxmlformats.org/drawingml/2006/main">
              <a:ext uri="{FF2B5EF4-FFF2-40B4-BE49-F238E27FC236}">
                <a16:creationId xmlns:a16="http://schemas.microsoft.com/office/drawing/2014/main" id="{9481FA4F-2ECA-45EF-9D21-C249A6641605}"/>
              </a:ext>
            </a:extLst>
          </p:cNvPr>
          <p:cNvSpPr>
            <a:spLocks xmlns:a="http://schemas.openxmlformats.org/drawingml/2006/main" noGrp="1"/>
          </p:cNvSpPr>
          <p:nvPr/>
        </p:nvSpPr>
        <p:spPr>
          <a:xfrm xmlns:a="http://schemas.openxmlformats.org/drawingml/2006/main">
            <a:off x="714375" y="5572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06D"/>
                </a:solidFill>
                <a:latin typeface="Arial"/>
                <a:ea typeface="Arial"/>
                <a:cs typeface="Arial"/>
              </a:defRPr>
            </a:pPr>
            <a:r>
              <a:rPr sz="1350" b="0">
                <a:solidFill>
                  <a:srgbClr val="52606D"/>
                </a:solidFill>
                <a:latin typeface="Arial"/>
                <a:ea typeface="Arial"/>
                <a:cs typeface="Arial"/>
              </a:rPr>
              <a:t>Điều này mô tả khác biệt đầu/cuối vòng đời; chưa chứng minh sensor đó dự đoán tốt trên engine mới.</a:t>
            </a:r>
          </a:p>
        </p:txBody>
      </p:sp>
    </p:spTree>
    <p:extLst>
      <p:ext uri="{BB962C8B-B14F-4D97-AF65-F5344CB8AC3E}">
        <p14:creationId xmlns:p14="http://schemas.microsoft.com/office/powerpoint/2010/main" val="21245030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241308-23AD-44D5-BCC5-D8C6AD6F16DC}"/>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Từ chuỗi sensor đến đặc trưng</a:t>
            </a:r>
          </a:p>
        </p:txBody>
      </p:sp>
      <p:sp>
        <p:nvSpPr>
          <p:cNvPr id="2" name="">
            <a:extLst xmlns:a="http://schemas.openxmlformats.org/drawingml/2006/main">
              <a:ext uri="{FF2B5EF4-FFF2-40B4-BE49-F238E27FC236}">
                <a16:creationId xmlns:a16="http://schemas.microsoft.com/office/drawing/2014/main" id="{0D69001E-8C4B-4830-B934-AF2EA3A77EB3}"/>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Một dự đoán dùng 30 cycle gần nhất của chính engine đó</a:t>
            </a:r>
          </a:p>
        </p:txBody>
      </p:sp>
      <p:sp>
        <p:nvSpPr>
          <p:cNvPr id="3" name="">
            <a:extLst xmlns:a="http://schemas.openxmlformats.org/drawingml/2006/main">
              <a:ext uri="{FF2B5EF4-FFF2-40B4-BE49-F238E27FC236}">
                <a16:creationId xmlns:a16="http://schemas.microsoft.com/office/drawing/2014/main" id="{87F1760F-8791-49D6-B548-EEB43EF93D88}"/>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outputs/features/run_info.json; report/sections/theory.tex</a:t>
            </a:r>
          </a:p>
        </p:txBody>
      </p:sp>
      <p:sp>
        <p:nvSpPr>
          <p:cNvPr id="4" name="">
            <a:extLst xmlns:a="http://schemas.openxmlformats.org/drawingml/2006/main">
              <a:ext uri="{FF2B5EF4-FFF2-40B4-BE49-F238E27FC236}">
                <a16:creationId xmlns:a16="http://schemas.microsoft.com/office/drawing/2014/main" id="{62C3F336-0F35-4947-BFBF-B6BDACBEBD23}"/>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2A1008A-DEE9-41E2-8D47-1D8DD283ECC6}"/>
              </a:ext>
            </a:extLst>
          </p:cNvPr>
          <p:cNvSpPr>
            <a:spLocks xmlns:a="http://schemas.openxmlformats.org/drawingml/2006/main" noGrp="1"/>
          </p:cNvSpPr>
          <p:nvPr/>
        </p:nvSpPr>
        <p:spPr>
          <a:xfrm xmlns:a="http://schemas.openxmlformats.org/drawingml/2006/main">
            <a:off x="733425" y="1666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250" b="1">
                <a:solidFill>
                  <a:srgbClr val="0F243E"/>
                </a:solidFill>
                <a:latin typeface="Arial"/>
                <a:ea typeface="Arial"/>
                <a:cs typeface="Arial"/>
              </a:defRPr>
            </a:pPr>
            <a:r>
              <a:rPr sz="2250" b="1">
                <a:solidFill>
                  <a:srgbClr val="0F243E"/>
                </a:solidFill>
                <a:latin typeface="Arial"/>
                <a:ea typeface="Arial"/>
                <a:cs typeface="Arial"/>
              </a:rPr>
              <a:t>Ví dụ tại cycle 170: chỉ đọc cycles 141–170</a:t>
            </a:r>
          </a:p>
        </p:txBody>
      </p:sp>
      <p:graphicFrame>
        <p:nvGraphicFramePr>
          <p:cNvPr id="13" name=""/>
          <p:cNvGraphicFramePr/>
          <p:nvPr/>
        </p:nvGraphicFramePr>
        <p:xfrm>
          <a:off xmlns:a="http://schemas.openxmlformats.org/drawingml/2006/main" x="742950" y="2571750"/>
          <a:ext xmlns:a="http://schemas.openxmlformats.org/drawingml/2006/main" cx="10572750" cy="2428875"/>
        </p:xfrm>
        <a:graphic xmlns:a="http://schemas.openxmlformats.org/drawingml/2006/main">
          <a:graphicData uri="http://schemas.openxmlformats.org/drawingml/2006/table">
            <a:tbl>
              <a:tblPr firstRow="1" bandRow="1"/>
              <a:tblGrid>
                <a:gridCol w="5286375"/>
                <a:gridCol w="5286375"/>
              </a:tblGrid>
              <a:tr h="607219">
                <a:tc>
                  <a:txBody>
                    <a:bodyPr/>
                    <a:lstStyle/>
                    <a:p>
                      <a:r>
                        <a:rPr sz="1425" b="1">
                          <a:solidFill>
                            <a:srgbClr val="FFFFFF"/>
                          </a:solidFill>
                          <a:latin typeface="Arial"/>
                          <a:ea typeface="Arial"/>
                          <a:cs typeface="Arial"/>
                        </a:rPr>
                        <a:t>Mỗi sensor</a:t>
                      </a:r>
                    </a:p>
                  </a:txBody>
                  <a:tcPr marL="91440" marR="91440" marT="45720" marB="45720">
                    <a:solidFill>
                      <a:srgbClr val="0F243E"/>
                    </a:solidFill>
                  </a:tcPr>
                </a:tc>
                <a:tc>
                  <a:txBody>
                    <a:bodyPr/>
                    <a:lstStyle/>
                    <a:p>
                      <a:r>
                        <a:rPr sz="1425" b="1">
                          <a:solidFill>
                            <a:srgbClr val="FFFFFF"/>
                          </a:solidFill>
                          <a:latin typeface="Arial"/>
                          <a:ea typeface="Arial"/>
                          <a:cs typeface="Arial"/>
                        </a:rPr>
                        <a:t>Ý nghĩa ngắn</a:t>
                      </a:r>
                    </a:p>
                  </a:txBody>
                  <a:tcPr marL="91440" marR="91440" marT="45720" marB="45720">
                    <a:solidFill>
                      <a:srgbClr val="0F243E"/>
                    </a:solidFill>
                  </a:tcPr>
                </a:tc>
              </a:tr>
              <a:tr h="607219">
                <a:tc>
                  <a:txBody>
                    <a:bodyPr/>
                    <a:lstStyle/>
                    <a:p>
                      <a:r>
                        <a:rPr sz="1425" b="0">
                          <a:solidFill>
                            <a:srgbClr val="16202A"/>
                          </a:solidFill>
                          <a:latin typeface="Arial"/>
                          <a:ea typeface="Arial"/>
                          <a:cs typeface="Arial"/>
                        </a:rPr>
                        <a:t>Giá trị cuối</a:t>
                      </a:r>
                    </a:p>
                  </a:txBody>
                  <a:tcPr marL="91440" marR="91440" marT="45720" marB="45720"/>
                </a:tc>
                <a:tc>
                  <a:txBody>
                    <a:bodyPr/>
                    <a:lstStyle/>
                    <a:p>
                      <a:r>
                        <a:rPr sz="1425" b="0">
                          <a:solidFill>
                            <a:srgbClr val="16202A"/>
                          </a:solidFill>
                          <a:latin typeface="Arial"/>
                          <a:ea typeface="Arial"/>
                          <a:cs typeface="Arial"/>
                        </a:rPr>
                        <a:t>Trạng thái tại cycle hiện tại</a:t>
                      </a:r>
                    </a:p>
                  </a:txBody>
                  <a:tcPr marL="91440" marR="91440" marT="45720" marB="45720"/>
                </a:tc>
              </a:tr>
              <a:tr h="607219">
                <a:tc>
                  <a:txBody>
                    <a:bodyPr/>
                    <a:lstStyle/>
                    <a:p>
                      <a:r>
                        <a:rPr sz="1425" b="0">
                          <a:solidFill>
                            <a:srgbClr val="16202A"/>
                          </a:solidFill>
                          <a:latin typeface="Arial"/>
                          <a:ea typeface="Arial"/>
                          <a:cs typeface="Arial"/>
                        </a:rPr>
                        <a:t>Mean, độ lệch chuẩn</a:t>
                      </a:r>
                    </a:p>
                  </a:txBody>
                  <a:tcPr marL="91440" marR="91440" marT="45720" marB="45720"/>
                </a:tc>
                <a:tc>
                  <a:txBody>
                    <a:bodyPr/>
                    <a:lstStyle/>
                    <a:p>
                      <a:r>
                        <a:rPr sz="1425" b="0">
                          <a:solidFill>
                            <a:srgbClr val="16202A"/>
                          </a:solidFill>
                          <a:latin typeface="Arial"/>
                          <a:ea typeface="Arial"/>
                          <a:cs typeface="Arial"/>
                        </a:rPr>
                        <a:t>Mức và biến thiên trong window</a:t>
                      </a:r>
                    </a:p>
                  </a:txBody>
                  <a:tcPr marL="91440" marR="91440" marT="45720" marB="45720"/>
                </a:tc>
              </a:tr>
              <a:tr h="607219">
                <a:tc>
                  <a:txBody>
                    <a:bodyPr/>
                    <a:lstStyle/>
                    <a:p>
                      <a:r>
                        <a:rPr sz="1425" b="0">
                          <a:solidFill>
                            <a:srgbClr val="16202A"/>
                          </a:solidFill>
                          <a:latin typeface="Arial"/>
                          <a:ea typeface="Arial"/>
                          <a:cs typeface="Arial"/>
                        </a:rPr>
                        <a:t>Min, max, slope</a:t>
                      </a:r>
                    </a:p>
                  </a:txBody>
                  <a:tcPr marL="91440" marR="91440" marT="45720" marB="45720"/>
                </a:tc>
                <a:tc>
                  <a:txBody>
                    <a:bodyPr/>
                    <a:lstStyle/>
                    <a:p>
                      <a:r>
                        <a:rPr sz="1425" b="0">
                          <a:solidFill>
                            <a:srgbClr val="16202A"/>
                          </a:solidFill>
                          <a:latin typeface="Arial"/>
                          <a:ea typeface="Arial"/>
                          <a:cs typeface="Arial"/>
                        </a:rPr>
                        <a:t>Biên và xu hướng tăng/giảm</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E951A141-F664-41A4-B0DA-9F9E35DF4A20}"/>
              </a:ext>
            </a:extLst>
          </p:cNvPr>
          <p:cNvSpPr>
            <a:spLocks xmlns:a="http://schemas.openxmlformats.org/drawingml/2006/main" noGrp="1"/>
          </p:cNvSpPr>
          <p:nvPr/>
        </p:nvSpPr>
        <p:spPr>
          <a:xfrm xmlns:a="http://schemas.openxmlformats.org/drawingml/2006/main">
            <a:off x="742950" y="53340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a:solidFill>
                  <a:srgbClr val="1F7A8C"/>
                </a:solidFill>
                <a:latin typeface="Arial"/>
                <a:ea typeface="Arial"/>
                <a:cs typeface="Arial"/>
              </a:defRPr>
            </a:pPr>
            <a:r>
              <a:rPr sz="1875" b="1">
                <a:solidFill>
                  <a:srgbClr val="1F7A8C"/>
                </a:solidFill>
                <a:latin typeface="Arial"/>
                <a:ea typeface="Arial"/>
                <a:cs typeface="Arial"/>
              </a:rPr>
              <a:t>21 sensor × 6 phép tóm tắt = 126 đặc trưng; tạo 27.927 window hợp lệ.</a:t>
            </a:r>
          </a:p>
        </p:txBody>
      </p:sp>
    </p:spTree>
    <p:extLst>
      <p:ext uri="{BB962C8B-B14F-4D97-AF65-F5344CB8AC3E}">
        <p14:creationId xmlns:p14="http://schemas.microsoft.com/office/powerpoint/2010/main" val="5869153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961E67-C7DB-40C6-8D17-AAA2A7648579}"/>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Đánh giá theo engine</a:t>
            </a:r>
          </a:p>
        </p:txBody>
      </p:sp>
      <p:sp>
        <p:nvSpPr>
          <p:cNvPr id="2" name="">
            <a:extLst xmlns:a="http://schemas.openxmlformats.org/drawingml/2006/main">
              <a:ext uri="{FF2B5EF4-FFF2-40B4-BE49-F238E27FC236}">
                <a16:creationId xmlns:a16="http://schemas.microsoft.com/office/drawing/2014/main" id="{E228F13A-AE52-4C02-8823-6196DF40CDE1}"/>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Các window của một engine luôn nằm cùng phía của phép chia</a:t>
            </a:r>
          </a:p>
        </p:txBody>
      </p:sp>
      <p:sp>
        <p:nvSpPr>
          <p:cNvPr id="3" name="">
            <a:extLst xmlns:a="http://schemas.openxmlformats.org/drawingml/2006/main">
              <a:ext uri="{FF2B5EF4-FFF2-40B4-BE49-F238E27FC236}">
                <a16:creationId xmlns:a16="http://schemas.microsoft.com/office/drawing/2014/main" id="{24EB219C-33F5-40DC-A874-65DEF8C3CC9D}"/>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outputs/modeling/tables/evaluation_protocol.csv; outputs/modeling/run_info.json</a:t>
            </a:r>
          </a:p>
        </p:txBody>
      </p:sp>
      <p:sp>
        <p:nvSpPr>
          <p:cNvPr id="4" name="">
            <a:extLst xmlns:a="http://schemas.openxmlformats.org/drawingml/2006/main">
              <a:ext uri="{FF2B5EF4-FFF2-40B4-BE49-F238E27FC236}">
                <a16:creationId xmlns:a16="http://schemas.microsoft.com/office/drawing/2014/main" id="{971212AE-D60F-4F2A-B8D2-91AA24E7911F}"/>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07</a:t>
            </a:r>
          </a:p>
        </p:txBody>
      </p:sp>
      <p:graphicFrame>
        <p:nvGraphicFramePr>
          <p:cNvPr id="11" name=""/>
          <p:cNvGraphicFramePr/>
          <p:nvPr/>
        </p:nvGraphicFramePr>
        <p:xfrm>
          <a:off xmlns:a="http://schemas.openxmlformats.org/drawingml/2006/main" x="714375" y="1762125"/>
          <a:ext xmlns:a="http://schemas.openxmlformats.org/drawingml/2006/main" cx="10763250" cy="2857500"/>
        </p:xfrm>
        <a:graphic xmlns:a="http://schemas.openxmlformats.org/drawingml/2006/main">
          <a:graphicData uri="http://schemas.openxmlformats.org/drawingml/2006/table">
            <a:tbl>
              <a:tblPr firstRow="1" bandRow="1"/>
              <a:tblGrid>
                <a:gridCol w="3587750"/>
                <a:gridCol w="3587750"/>
                <a:gridCol w="3587750"/>
              </a:tblGrid>
              <a:tr h="714375">
                <a:tc>
                  <a:txBody>
                    <a:bodyPr/>
                    <a:lstStyle/>
                    <a:p>
                      <a:r>
                        <a:rPr sz="1275" b="1">
                          <a:solidFill>
                            <a:srgbClr val="FFFFFF"/>
                          </a:solidFill>
                          <a:latin typeface="Arial"/>
                          <a:ea typeface="Arial"/>
                          <a:cs typeface="Arial"/>
                        </a:rPr>
                        <a:t>Giai đoạn</a:t>
                      </a:r>
                    </a:p>
                  </a:txBody>
                  <a:tcPr marL="91440" marR="91440" marT="45720" marB="45720">
                    <a:solidFill>
                      <a:srgbClr val="0F243E"/>
                    </a:solidFill>
                  </a:tcPr>
                </a:tc>
                <a:tc>
                  <a:txBody>
                    <a:bodyPr/>
                    <a:lstStyle/>
                    <a:p>
                      <a:r>
                        <a:rPr sz="1275" b="1">
                          <a:solidFill>
                            <a:srgbClr val="FFFFFF"/>
                          </a:solidFill>
                          <a:latin typeface="Arial"/>
                          <a:ea typeface="Arial"/>
                          <a:cs typeface="Arial"/>
                        </a:rPr>
                        <a:t>Dữ liệu</a:t>
                      </a:r>
                    </a:p>
                  </a:txBody>
                  <a:tcPr marL="91440" marR="91440" marT="45720" marB="45720">
                    <a:solidFill>
                      <a:srgbClr val="0F243E"/>
                    </a:solidFill>
                  </a:tcPr>
                </a:tc>
                <a:tc>
                  <a:txBody>
                    <a:bodyPr/>
                    <a:lstStyle/>
                    <a:p>
                      <a:r>
                        <a:rPr sz="1275" b="1">
                          <a:solidFill>
                            <a:srgbClr val="FFFFFF"/>
                          </a:solidFill>
                          <a:latin typeface="Arial"/>
                          <a:ea typeface="Arial"/>
                          <a:cs typeface="Arial"/>
                        </a:rPr>
                        <a:t>Mục đích</a:t>
                      </a:r>
                    </a:p>
                  </a:txBody>
                  <a:tcPr marL="91440" marR="91440" marT="45720" marB="45720">
                    <a:solidFill>
                      <a:srgbClr val="0F243E"/>
                    </a:solidFill>
                  </a:tcPr>
                </a:tc>
              </a:tr>
              <a:tr h="714375">
                <a:tc>
                  <a:txBody>
                    <a:bodyPr/>
                    <a:lstStyle/>
                    <a:p>
                      <a:r>
                        <a:rPr sz="1275" b="0">
                          <a:solidFill>
                            <a:srgbClr val="16202A"/>
                          </a:solidFill>
                          <a:latin typeface="Arial"/>
                          <a:ea typeface="Arial"/>
                          <a:cs typeface="Arial"/>
                        </a:rPr>
                        <a:t>5-fold GroupKFold</a:t>
                      </a:r>
                    </a:p>
                  </a:txBody>
                  <a:tcPr marL="91440" marR="91440" marT="45720" marB="45720"/>
                </a:tc>
                <a:tc>
                  <a:txBody>
                    <a:bodyPr/>
                    <a:lstStyle/>
                    <a:p>
                      <a:r>
                        <a:rPr sz="1275" b="0">
                          <a:solidFill>
                            <a:srgbClr val="16202A"/>
                          </a:solidFill>
                          <a:latin typeface="Arial"/>
                          <a:ea typeface="Arial"/>
                          <a:cs typeface="Arial"/>
                        </a:rPr>
                        <a:t>100 train engines</a:t>
                      </a:r>
                    </a:p>
                  </a:txBody>
                  <a:tcPr marL="91440" marR="91440" marT="45720" marB="45720"/>
                </a:tc>
                <a:tc>
                  <a:txBody>
                    <a:bodyPr/>
                    <a:lstStyle/>
                    <a:p>
                      <a:r>
                        <a:rPr sz="1275" b="0">
                          <a:solidFill>
                            <a:srgbClr val="16202A"/>
                          </a:solidFill>
                          <a:latin typeface="Arial"/>
                          <a:ea typeface="Arial"/>
                          <a:cs typeface="Arial"/>
                        </a:rPr>
                        <a:t>Chọn model bằng MAE trung bình theo engine</a:t>
                      </a:r>
                    </a:p>
                  </a:txBody>
                  <a:tcPr marL="91440" marR="91440" marT="45720" marB="45720"/>
                </a:tc>
              </a:tr>
              <a:tr h="714375">
                <a:tc>
                  <a:txBody>
                    <a:bodyPr/>
                    <a:lstStyle/>
                    <a:p>
                      <a:r>
                        <a:rPr sz="1275" b="0">
                          <a:solidFill>
                            <a:srgbClr val="16202A"/>
                          </a:solidFill>
                          <a:latin typeface="Arial"/>
                          <a:ea typeface="Arial"/>
                          <a:cs typeface="Arial"/>
                        </a:rPr>
                        <a:t>Refit</a:t>
                      </a:r>
                    </a:p>
                  </a:txBody>
                  <a:tcPr marL="91440" marR="91440" marT="45720" marB="45720"/>
                </a:tc>
                <a:tc>
                  <a:txBody>
                    <a:bodyPr/>
                    <a:lstStyle/>
                    <a:p>
                      <a:r>
                        <a:rPr sz="1275" b="0">
                          <a:solidFill>
                            <a:srgbClr val="16202A"/>
                          </a:solidFill>
                          <a:latin typeface="Arial"/>
                          <a:ea typeface="Arial"/>
                          <a:cs typeface="Arial"/>
                        </a:rPr>
                        <a:t>Toàn bộ train</a:t>
                      </a:r>
                    </a:p>
                  </a:txBody>
                  <a:tcPr marL="91440" marR="91440" marT="45720" marB="45720"/>
                </a:tc>
                <a:tc>
                  <a:txBody>
                    <a:bodyPr/>
                    <a:lstStyle/>
                    <a:p>
                      <a:r>
                        <a:rPr sz="1275" b="0">
                          <a:solidFill>
                            <a:srgbClr val="16202A"/>
                          </a:solidFill>
                          <a:latin typeface="Arial"/>
                          <a:ea typeface="Arial"/>
                          <a:cs typeface="Arial"/>
                        </a:rPr>
                        <a:t>Tạo model cuối</a:t>
                      </a:r>
                    </a:p>
                  </a:txBody>
                  <a:tcPr marL="91440" marR="91440" marT="45720" marB="45720"/>
                </a:tc>
              </a:tr>
              <a:tr h="714375">
                <a:tc>
                  <a:txBody>
                    <a:bodyPr/>
                    <a:lstStyle/>
                    <a:p>
                      <a:r>
                        <a:rPr sz="1275" b="0">
                          <a:solidFill>
                            <a:srgbClr val="16202A"/>
                          </a:solidFill>
                          <a:latin typeface="Arial"/>
                          <a:ea typeface="Arial"/>
                          <a:cs typeface="Arial"/>
                        </a:rPr>
                        <a:t>Final test</a:t>
                      </a:r>
                    </a:p>
                  </a:txBody>
                  <a:tcPr marL="91440" marR="91440" marT="45720" marB="45720"/>
                </a:tc>
                <a:tc>
                  <a:txBody>
                    <a:bodyPr/>
                    <a:lstStyle/>
                    <a:p>
                      <a:r>
                        <a:rPr sz="1275" b="0">
                          <a:solidFill>
                            <a:srgbClr val="16202A"/>
                          </a:solidFill>
                          <a:latin typeface="Arial"/>
                          <a:ea typeface="Arial"/>
                          <a:cs typeface="Arial"/>
                        </a:rPr>
                        <a:t>100 test engines</a:t>
                      </a:r>
                    </a:p>
                  </a:txBody>
                  <a:tcPr marL="91440" marR="91440" marT="45720" marB="45720"/>
                </a:tc>
                <a:tc>
                  <a:txBody>
                    <a:bodyPr/>
                    <a:lstStyle/>
                    <a:p>
                      <a:r>
                        <a:rPr sz="1275" b="0">
                          <a:solidFill>
                            <a:srgbClr val="16202A"/>
                          </a:solidFill>
                          <a:latin typeface="Arial"/>
                          <a:ea typeface="Arial"/>
                          <a:cs typeface="Arial"/>
                        </a:rPr>
                        <a:t>Một dự đoán ở cycle cuối mỗi engine</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1EBA7936-CAA8-42EC-808C-1AC9CB46D25A}"/>
              </a:ext>
            </a:extLst>
          </p:cNvPr>
          <p:cNvSpPr>
            <a:spLocks xmlns:a="http://schemas.openxmlformats.org/drawingml/2006/main" noGrp="1"/>
          </p:cNvSpPr>
          <p:nvPr/>
        </p:nvSpPr>
        <p:spPr>
          <a:xfrm xmlns:a="http://schemas.openxmlformats.org/drawingml/2006/main">
            <a:off x="742950" y="50958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F243E"/>
                </a:solidFill>
                <a:latin typeface="Arial"/>
                <a:ea typeface="Arial"/>
                <a:cs typeface="Arial"/>
              </a:defRPr>
            </a:pPr>
            <a:r>
              <a:rPr sz="1650" b="1">
                <a:solidFill>
                  <a:srgbClr val="0F243E"/>
                </a:solidFill>
                <a:latin typeface="Arial"/>
                <a:ea typeface="Arial"/>
                <a:cs typeface="Arial"/>
              </a:rPr>
              <a:t>Vì sao cần GroupKFold? Cùng một engine có nhiều window gần nhau; để chúng ở cả train và validation sẽ làm kết quả lạc quan.</a:t>
            </a:r>
          </a:p>
        </p:txBody>
      </p:sp>
    </p:spTree>
    <p:extLst>
      <p:ext uri="{BB962C8B-B14F-4D97-AF65-F5344CB8AC3E}">
        <p14:creationId xmlns:p14="http://schemas.microsoft.com/office/powerpoint/2010/main" val="495244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FCE2D7-29A4-4DF5-A53F-13479D1FCE1C}"/>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Chọn mô hình dự đoán RUL</a:t>
            </a:r>
          </a:p>
        </p:txBody>
      </p:sp>
      <p:sp>
        <p:nvSpPr>
          <p:cNvPr id="2" name="">
            <a:extLst xmlns:a="http://schemas.openxmlformats.org/drawingml/2006/main">
              <a:ext uri="{FF2B5EF4-FFF2-40B4-BE49-F238E27FC236}">
                <a16:creationId xmlns:a16="http://schemas.microsoft.com/office/drawing/2014/main" id="{2921E09C-BD91-4878-B4BD-A3A4B2137691}"/>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So sánh ba cách dự đoán trên cùng 5 fold và cùng metric</a:t>
            </a:r>
          </a:p>
        </p:txBody>
      </p:sp>
      <p:sp>
        <p:nvSpPr>
          <p:cNvPr id="3" name="">
            <a:extLst xmlns:a="http://schemas.openxmlformats.org/drawingml/2006/main">
              <a:ext uri="{FF2B5EF4-FFF2-40B4-BE49-F238E27FC236}">
                <a16:creationId xmlns:a16="http://schemas.microsoft.com/office/drawing/2014/main" id="{7C6DAD0E-62F1-41D1-96D5-7848A91A3B21}"/>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outputs/modeling/tables/model_metrics.csv</a:t>
            </a:r>
          </a:p>
        </p:txBody>
      </p:sp>
      <p:sp>
        <p:nvSpPr>
          <p:cNvPr id="4" name="">
            <a:extLst xmlns:a="http://schemas.openxmlformats.org/drawingml/2006/main">
              <a:ext uri="{FF2B5EF4-FFF2-40B4-BE49-F238E27FC236}">
                <a16:creationId xmlns:a16="http://schemas.microsoft.com/office/drawing/2014/main" id="{D9019912-2753-4173-9CD9-5DCF60E62D2B}"/>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08</a:t>
            </a:r>
          </a:p>
        </p:txBody>
      </p:sp>
      <p:graphicFrame>
        <p:nvGraphicFramePr>
          <p:cNvPr id="11" name=""/>
          <p:cNvGraphicFramePr/>
          <p:nvPr/>
        </p:nvGraphicFramePr>
        <p:xfrm>
          <a:off xmlns:a="http://schemas.openxmlformats.org/drawingml/2006/main" x="762000" y="1762125"/>
          <a:ext xmlns:a="http://schemas.openxmlformats.org/drawingml/2006/main" cx="10572750" cy="2857500"/>
        </p:xfrm>
        <a:graphic xmlns:a="http://schemas.openxmlformats.org/drawingml/2006/main">
          <a:graphicData uri="http://schemas.openxmlformats.org/drawingml/2006/table">
            <a:tbl>
              <a:tblPr firstRow="1" bandRow="1"/>
              <a:tblGrid>
                <a:gridCol w="3524250"/>
                <a:gridCol w="3524250"/>
                <a:gridCol w="3524250"/>
              </a:tblGrid>
              <a:tr h="714375">
                <a:tc>
                  <a:txBody>
                    <a:bodyPr/>
                    <a:lstStyle/>
                    <a:p>
                      <a:r>
                        <a:rPr sz="1425" b="1">
                          <a:solidFill>
                            <a:srgbClr val="FFFFFF"/>
                          </a:solidFill>
                          <a:latin typeface="Arial"/>
                          <a:ea typeface="Arial"/>
                          <a:cs typeface="Arial"/>
                        </a:rPr>
                        <a:t>Model</a:t>
                      </a:r>
                    </a:p>
                  </a:txBody>
                  <a:tcPr marL="91440" marR="91440" marT="45720" marB="45720">
                    <a:solidFill>
                      <a:srgbClr val="0F243E"/>
                    </a:solidFill>
                  </a:tcPr>
                </a:tc>
                <a:tc>
                  <a:txBody>
                    <a:bodyPr/>
                    <a:lstStyle/>
                    <a:p>
                      <a:r>
                        <a:rPr sz="1425" b="1">
                          <a:solidFill>
                            <a:srgbClr val="FFFFFF"/>
                          </a:solidFill>
                          <a:latin typeface="Arial"/>
                          <a:ea typeface="Arial"/>
                          <a:cs typeface="Arial"/>
                        </a:rPr>
                        <a:t>Mean engine MAE (cycles)</a:t>
                      </a:r>
                    </a:p>
                  </a:txBody>
                  <a:tcPr marL="91440" marR="91440" marT="45720" marB="45720">
                    <a:solidFill>
                      <a:srgbClr val="0F243E"/>
                    </a:solidFill>
                  </a:tcPr>
                </a:tc>
                <a:tc>
                  <a:txBody>
                    <a:bodyPr/>
                    <a:lstStyle/>
                    <a:p>
                      <a:r>
                        <a:rPr sz="1425" b="1">
                          <a:solidFill>
                            <a:srgbClr val="FFFFFF"/>
                          </a:solidFill>
                          <a:latin typeface="Arial"/>
                          <a:ea typeface="Arial"/>
                          <a:cs typeface="Arial"/>
                        </a:rPr>
                        <a:t>Diễn giải</a:t>
                      </a:r>
                    </a:p>
                  </a:txBody>
                  <a:tcPr marL="91440" marR="91440" marT="45720" marB="45720">
                    <a:solidFill>
                      <a:srgbClr val="0F243E"/>
                    </a:solidFill>
                  </a:tcPr>
                </a:tc>
              </a:tr>
              <a:tr h="714375">
                <a:tc>
                  <a:txBody>
                    <a:bodyPr/>
                    <a:lstStyle/>
                    <a:p>
                      <a:r>
                        <a:rPr sz="1425" b="0">
                          <a:solidFill>
                            <a:srgbClr val="16202A"/>
                          </a:solidFill>
                          <a:latin typeface="Arial"/>
                          <a:ea typeface="Arial"/>
                          <a:cs typeface="Arial"/>
                        </a:rPr>
                        <a:t>Median baseline</a:t>
                      </a:r>
                    </a:p>
                  </a:txBody>
                  <a:tcPr marL="91440" marR="91440" marT="45720" marB="45720"/>
                </a:tc>
                <a:tc>
                  <a:txBody>
                    <a:bodyPr/>
                    <a:lstStyle/>
                    <a:p>
                      <a:r>
                        <a:rPr sz="1425" b="0">
                          <a:solidFill>
                            <a:srgbClr val="16202A"/>
                          </a:solidFill>
                          <a:latin typeface="Arial"/>
                          <a:ea typeface="Arial"/>
                          <a:cs typeface="Arial"/>
                        </a:rPr>
                        <a:t>46,9543</a:t>
                      </a:r>
                    </a:p>
                  </a:txBody>
                  <a:tcPr marL="91440" marR="91440" marT="45720" marB="45720"/>
                </a:tc>
                <a:tc>
                  <a:txBody>
                    <a:bodyPr/>
                    <a:lstStyle/>
                    <a:p>
                      <a:r>
                        <a:rPr sz="1425" b="0">
                          <a:solidFill>
                            <a:srgbClr val="16202A"/>
                          </a:solidFill>
                          <a:latin typeface="Arial"/>
                          <a:ea typeface="Arial"/>
                          <a:cs typeface="Arial"/>
                        </a:rPr>
                        <a:t>Mốc dự đoán hằng</a:t>
                      </a:r>
                    </a:p>
                  </a:txBody>
                  <a:tcPr marL="91440" marR="91440" marT="45720" marB="45720"/>
                </a:tc>
              </a:tr>
              <a:tr h="714375">
                <a:tc>
                  <a:txBody>
                    <a:bodyPr/>
                    <a:lstStyle/>
                    <a:p>
                      <a:r>
                        <a:rPr sz="1425" b="0">
                          <a:solidFill>
                            <a:srgbClr val="16202A"/>
                          </a:solidFill>
                          <a:latin typeface="Arial"/>
                          <a:ea typeface="Arial"/>
                          <a:cs typeface="Arial"/>
                        </a:rPr>
                        <a:t>Ridge</a:t>
                      </a:r>
                    </a:p>
                  </a:txBody>
                  <a:tcPr marL="91440" marR="91440" marT="45720" marB="45720"/>
                </a:tc>
                <a:tc>
                  <a:txBody>
                    <a:bodyPr/>
                    <a:lstStyle/>
                    <a:p>
                      <a:r>
                        <a:rPr sz="1425" b="0">
                          <a:solidFill>
                            <a:srgbClr val="16202A"/>
                          </a:solidFill>
                          <a:latin typeface="Arial"/>
                          <a:ea typeface="Arial"/>
                          <a:cs typeface="Arial"/>
                        </a:rPr>
                        <a:t>23,9922</a:t>
                      </a:r>
                    </a:p>
                  </a:txBody>
                  <a:tcPr marL="91440" marR="91440" marT="45720" marB="45720"/>
                </a:tc>
                <a:tc>
                  <a:txBody>
                    <a:bodyPr/>
                    <a:lstStyle/>
                    <a:p>
                      <a:r>
                        <a:rPr sz="1425" b="0">
                          <a:solidFill>
                            <a:srgbClr val="16202A"/>
                          </a:solidFill>
                          <a:latin typeface="Arial"/>
                          <a:ea typeface="Arial"/>
                          <a:cs typeface="Arial"/>
                        </a:rPr>
                        <a:t>Quan hệ tuyến tính</a:t>
                      </a:r>
                    </a:p>
                  </a:txBody>
                  <a:tcPr marL="91440" marR="91440" marT="45720" marB="45720"/>
                </a:tc>
              </a:tr>
              <a:tr h="714375">
                <a:tc>
                  <a:txBody>
                    <a:bodyPr/>
                    <a:lstStyle/>
                    <a:p>
                      <a:r>
                        <a:rPr sz="1425" b="0">
                          <a:solidFill>
                            <a:srgbClr val="16202A"/>
                          </a:solidFill>
                          <a:latin typeface="Arial"/>
                          <a:ea typeface="Arial"/>
                          <a:cs typeface="Arial"/>
                        </a:rPr>
                        <a:t>HistGradientBoosting</a:t>
                      </a:r>
                    </a:p>
                  </a:txBody>
                  <a:tcPr marL="91440" marR="91440" marT="45720" marB="45720"/>
                </a:tc>
                <a:tc>
                  <a:txBody>
                    <a:bodyPr/>
                    <a:lstStyle/>
                    <a:p>
                      <a:r>
                        <a:rPr sz="1425" b="0">
                          <a:solidFill>
                            <a:srgbClr val="16202A"/>
                          </a:solidFill>
                          <a:latin typeface="Arial"/>
                          <a:ea typeface="Arial"/>
                          <a:cs typeface="Arial"/>
                        </a:rPr>
                        <a:t>20,2143</a:t>
                      </a:r>
                    </a:p>
                  </a:txBody>
                  <a:tcPr marL="91440" marR="91440" marT="45720" marB="45720"/>
                </a:tc>
                <a:tc>
                  <a:txBody>
                    <a:bodyPr/>
                    <a:lstStyle/>
                    <a:p>
                      <a:r>
                        <a:rPr sz="1425" b="0">
                          <a:solidFill>
                            <a:srgbClr val="16202A"/>
                          </a:solidFill>
                          <a:latin typeface="Arial"/>
                          <a:ea typeface="Arial"/>
                          <a:cs typeface="Arial"/>
                        </a:rPr>
                        <a:t>Được chọn</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BE9C087C-45DB-495F-9A2D-CA0C3ECE1E67}"/>
              </a:ext>
            </a:extLst>
          </p:cNvPr>
          <p:cNvSpPr>
            <a:spLocks xmlns:a="http://schemas.openxmlformats.org/drawingml/2006/main" noGrp="1"/>
          </p:cNvSpPr>
          <p:nvPr/>
        </p:nvSpPr>
        <p:spPr>
          <a:xfrm xmlns:a="http://schemas.openxmlformats.org/drawingml/2006/main">
            <a:off x="762000" y="50958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950" b="1">
                <a:solidFill>
                  <a:srgbClr val="0F243E"/>
                </a:solidFill>
                <a:latin typeface="Arial"/>
                <a:ea typeface="Arial"/>
                <a:cs typeface="Arial"/>
              </a:defRPr>
            </a:pPr>
            <a:r>
              <a:rPr sz="1950" b="1">
                <a:solidFill>
                  <a:srgbClr val="0F243E"/>
                </a:solidFill>
                <a:latin typeface="Arial"/>
                <a:ea typeface="Arial"/>
                <a:cs typeface="Arial"/>
              </a:rPr>
              <a:t>HistGradientBoosting được chọn vì có MAE thấp nhất trong phép so sánh đã định trước.</a:t>
            </a:r>
          </a:p>
        </p:txBody>
      </p:sp>
    </p:spTree>
    <p:extLst>
      <p:ext uri="{BB962C8B-B14F-4D97-AF65-F5344CB8AC3E}">
        <p14:creationId xmlns:p14="http://schemas.microsoft.com/office/powerpoint/2010/main" val="828406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B963BBE-2042-4EE3-85E2-909941347AD4}"/>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Kết quả trên 100 engine test</a:t>
            </a:r>
          </a:p>
        </p:txBody>
      </p:sp>
      <p:sp>
        <p:nvSpPr>
          <p:cNvPr id="2" name="">
            <a:extLst xmlns:a="http://schemas.openxmlformats.org/drawingml/2006/main">
              <a:ext uri="{FF2B5EF4-FFF2-40B4-BE49-F238E27FC236}">
                <a16:creationId xmlns:a16="http://schemas.microsoft.com/office/drawing/2014/main" id="{6F13F3B1-A368-441E-8058-8080A57EC7C7}"/>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Mỗi engine đóng góp một dự đoán tại cycle cuối được quan sát</a:t>
            </a:r>
          </a:p>
        </p:txBody>
      </p:sp>
      <p:sp>
        <p:nvSpPr>
          <p:cNvPr id="3" name="">
            <a:extLst xmlns:a="http://schemas.openxmlformats.org/drawingml/2006/main">
              <a:ext uri="{FF2B5EF4-FFF2-40B4-BE49-F238E27FC236}">
                <a16:creationId xmlns:a16="http://schemas.microsoft.com/office/drawing/2014/main" id="{AAC3A780-70DC-4CE0-B534-3C9E362CF711}"/>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outputs/modeling/tables/final_metrics.json; outputs/modeling/figures/final_true_vs_predicted.png</a:t>
            </a:r>
          </a:p>
        </p:txBody>
      </p:sp>
      <p:sp>
        <p:nvSpPr>
          <p:cNvPr id="4" name="">
            <a:extLst xmlns:a="http://schemas.openxmlformats.org/drawingml/2006/main">
              <a:ext uri="{FF2B5EF4-FFF2-40B4-BE49-F238E27FC236}">
                <a16:creationId xmlns:a16="http://schemas.microsoft.com/office/drawing/2014/main" id="{729988E6-402D-4051-8D9A-BBEC26D11169}"/>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09</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d5e71cdda8e4e59"/>
          <a:stretch xmlns:a="http://schemas.openxmlformats.org/drawingml/2006/main"/>
        </p:blipFill>
        <p:spPr>
          <a:xfrm xmlns:a="http://schemas.openxmlformats.org/drawingml/2006/main">
            <a:off x="962025" y="1524000"/>
            <a:ext cx="56007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FAE0A82-A779-41A6-8FF0-9BA00CC86B1B}"/>
              </a:ext>
            </a:extLst>
          </p:cNvPr>
          <p:cNvSpPr>
            <a:spLocks xmlns:a="http://schemas.openxmlformats.org/drawingml/2006/main" noGrp="1"/>
          </p:cNvSpPr>
          <p:nvPr/>
        </p:nvSpPr>
        <p:spPr>
          <a:xfrm xmlns:a="http://schemas.openxmlformats.org/drawingml/2006/main">
            <a:off x="7286625" y="1857375"/>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Sai số trung bình</a:t>
            </a:r>
          </a:p>
        </p:txBody>
      </p:sp>
      <p:sp>
        <p:nvSpPr>
          <p:cNvPr id="7" name="">
            <a:extLst xmlns:a="http://schemas.openxmlformats.org/drawingml/2006/main">
              <a:ext uri="{FF2B5EF4-FFF2-40B4-BE49-F238E27FC236}">
                <a16:creationId xmlns:a16="http://schemas.microsoft.com/office/drawing/2014/main" id="{2A2D7CB0-F39C-459F-B037-BF77E9A5CDBE}"/>
              </a:ext>
            </a:extLst>
          </p:cNvPr>
          <p:cNvSpPr>
            <a:spLocks xmlns:a="http://schemas.openxmlformats.org/drawingml/2006/main" noGrp="1"/>
          </p:cNvSpPr>
          <p:nvPr/>
        </p:nvSpPr>
        <p:spPr>
          <a:xfrm xmlns:a="http://schemas.openxmlformats.org/drawingml/2006/main">
            <a:off x="7286625" y="2238375"/>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MAE = 15,3490 cycles</a:t>
            </a:r>
          </a:p>
        </p:txBody>
      </p:sp>
      <p:sp>
        <p:nvSpPr>
          <p:cNvPr id="8" name="">
            <a:extLst xmlns:a="http://schemas.openxmlformats.org/drawingml/2006/main">
              <a:ext uri="{FF2B5EF4-FFF2-40B4-BE49-F238E27FC236}">
                <a16:creationId xmlns:a16="http://schemas.microsoft.com/office/drawing/2014/main" id="{67832740-CE4C-430F-A071-2C58795DF31F}"/>
              </a:ext>
            </a:extLst>
          </p:cNvPr>
          <p:cNvSpPr>
            <a:spLocks xmlns:a="http://schemas.openxmlformats.org/drawingml/2006/main" noGrp="1"/>
          </p:cNvSpPr>
          <p:nvPr/>
        </p:nvSpPr>
        <p:spPr>
          <a:xfrm xmlns:a="http://schemas.openxmlformats.org/drawingml/2006/main">
            <a:off x="7286625" y="2857500"/>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Sai số lớn bị phạt mạnh hơn</a:t>
            </a:r>
          </a:p>
        </p:txBody>
      </p:sp>
      <p:sp>
        <p:nvSpPr>
          <p:cNvPr id="9" name="">
            <a:extLst xmlns:a="http://schemas.openxmlformats.org/drawingml/2006/main">
              <a:ext uri="{FF2B5EF4-FFF2-40B4-BE49-F238E27FC236}">
                <a16:creationId xmlns:a16="http://schemas.microsoft.com/office/drawing/2014/main" id="{FA8E304F-7452-4D35-9AE2-68809C0E2EA8}"/>
              </a:ext>
            </a:extLst>
          </p:cNvPr>
          <p:cNvSpPr>
            <a:spLocks xmlns:a="http://schemas.openxmlformats.org/drawingml/2006/main" noGrp="1"/>
          </p:cNvSpPr>
          <p:nvPr/>
        </p:nvSpPr>
        <p:spPr>
          <a:xfrm xmlns:a="http://schemas.openxmlformats.org/drawingml/2006/main">
            <a:off x="7286625" y="323850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RMSE = 20,5413 cycles</a:t>
            </a:r>
          </a:p>
        </p:txBody>
      </p:sp>
      <p:sp>
        <p:nvSpPr>
          <p:cNvPr id="10" name="">
            <a:extLst xmlns:a="http://schemas.openxmlformats.org/drawingml/2006/main">
              <a:ext uri="{FF2B5EF4-FFF2-40B4-BE49-F238E27FC236}">
                <a16:creationId xmlns:a16="http://schemas.microsoft.com/office/drawing/2014/main" id="{8B98C818-703F-423A-9707-F5C70E2D844B}"/>
              </a:ext>
            </a:extLst>
          </p:cNvPr>
          <p:cNvSpPr>
            <a:spLocks xmlns:a="http://schemas.openxmlformats.org/drawingml/2006/main" noGrp="1"/>
          </p:cNvSpPr>
          <p:nvPr/>
        </p:nvSpPr>
        <p:spPr>
          <a:xfrm xmlns:a="http://schemas.openxmlformats.org/drawingml/2006/main">
            <a:off x="7286625" y="385762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Độ bất định</a:t>
            </a:r>
          </a:p>
        </p:txBody>
      </p:sp>
      <p:sp>
        <p:nvSpPr>
          <p:cNvPr id="11" name="">
            <a:extLst xmlns:a="http://schemas.openxmlformats.org/drawingml/2006/main">
              <a:ext uri="{FF2B5EF4-FFF2-40B4-BE49-F238E27FC236}">
                <a16:creationId xmlns:a16="http://schemas.microsoft.com/office/drawing/2014/main" id="{87191DBA-5968-4E28-AEB1-174F5B135096}"/>
              </a:ext>
            </a:extLst>
          </p:cNvPr>
          <p:cNvSpPr>
            <a:spLocks xmlns:a="http://schemas.openxmlformats.org/drawingml/2006/main" noGrp="1"/>
          </p:cNvSpPr>
          <p:nvPr/>
        </p:nvSpPr>
        <p:spPr>
          <a:xfrm xmlns:a="http://schemas.openxmlformats.org/drawingml/2006/main">
            <a:off x="7286625" y="4238625"/>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CI 95% của MAE: [12,7286; 18,0866]</a:t>
            </a:r>
          </a:p>
        </p:txBody>
      </p:sp>
      <p:sp>
        <p:nvSpPr>
          <p:cNvPr id="12" name="">
            <a:extLst xmlns:a="http://schemas.openxmlformats.org/drawingml/2006/main">
              <a:ext uri="{FF2B5EF4-FFF2-40B4-BE49-F238E27FC236}">
                <a16:creationId xmlns:a16="http://schemas.microsoft.com/office/drawing/2014/main" id="{E49C109F-2709-468D-BE62-5AD8CBAE84E3}"/>
              </a:ext>
            </a:extLst>
          </p:cNvPr>
          <p:cNvSpPr>
            <a:spLocks xmlns:a="http://schemas.openxmlformats.org/drawingml/2006/main" noGrp="1"/>
          </p:cNvSpPr>
          <p:nvPr/>
        </p:nvSpPr>
        <p:spPr>
          <a:xfrm xmlns:a="http://schemas.openxmlformats.org/drawingml/2006/main">
            <a:off x="7286625" y="52387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NASA score: 1.513,2577 (không đo bằng cycle)</a:t>
            </a:r>
          </a:p>
        </p:txBody>
      </p:sp>
    </p:spTree>
    <p:extLst>
      <p:ext uri="{BB962C8B-B14F-4D97-AF65-F5344CB8AC3E}">
        <p14:creationId xmlns:p14="http://schemas.microsoft.com/office/powerpoint/2010/main" val="18954877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B7B2763-2B1C-49A2-8210-19EB93D6623E}"/>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Mô hình sai ở đâu?</a:t>
            </a:r>
          </a:p>
        </p:txBody>
      </p:sp>
      <p:sp>
        <p:nvSpPr>
          <p:cNvPr id="2" name="">
            <a:extLst xmlns:a="http://schemas.openxmlformats.org/drawingml/2006/main">
              <a:ext uri="{FF2B5EF4-FFF2-40B4-BE49-F238E27FC236}">
                <a16:creationId xmlns:a16="http://schemas.microsoft.com/office/drawing/2014/main" id="{F382C42A-C11B-456B-92D5-4B0E2FDB1312}"/>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Sai số lớn nhất xảy ra khi RUL dự đoán cao hơn RUL thật</a:t>
            </a:r>
          </a:p>
        </p:txBody>
      </p:sp>
      <p:sp>
        <p:nvSpPr>
          <p:cNvPr id="3" name="">
            <a:extLst xmlns:a="http://schemas.openxmlformats.org/drawingml/2006/main">
              <a:ext uri="{FF2B5EF4-FFF2-40B4-BE49-F238E27FC236}">
                <a16:creationId xmlns:a16="http://schemas.microsoft.com/office/drawing/2014/main" id="{BE352025-3334-416E-8AFE-7DDA1E1B2C1E}"/>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outputs/modeling/figures/final_residuals_by_rul.png; report/sections/current-results.tex</a:t>
            </a:r>
          </a:p>
        </p:txBody>
      </p:sp>
      <p:sp>
        <p:nvSpPr>
          <p:cNvPr id="4" name="">
            <a:extLst xmlns:a="http://schemas.openxmlformats.org/drawingml/2006/main">
              <a:ext uri="{FF2B5EF4-FFF2-40B4-BE49-F238E27FC236}">
                <a16:creationId xmlns:a16="http://schemas.microsoft.com/office/drawing/2014/main" id="{B958C523-A7B3-45E7-A69A-0AC5FDDD9A1D}"/>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7eda72a577d4fd1"/>
          <a:stretch xmlns:a="http://schemas.openxmlformats.org/drawingml/2006/main"/>
        </p:blipFill>
        <p:spPr>
          <a:xfrm xmlns:a="http://schemas.openxmlformats.org/drawingml/2006/main">
            <a:off x="1081088" y="1524000"/>
            <a:ext cx="56007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3154D58-B44A-488F-B7D7-A714C5E875A6}"/>
              </a:ext>
            </a:extLst>
          </p:cNvPr>
          <p:cNvSpPr>
            <a:spLocks xmlns:a="http://schemas.openxmlformats.org/drawingml/2006/main" noGrp="1"/>
          </p:cNvSpPr>
          <p:nvPr/>
        </p:nvSpPr>
        <p:spPr>
          <a:xfrm xmlns:a="http://schemas.openxmlformats.org/drawingml/2006/main">
            <a:off x="7524750" y="17621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Phân bố hướng sai số</a:t>
            </a:r>
          </a:p>
        </p:txBody>
      </p:sp>
      <p:sp>
        <p:nvSpPr>
          <p:cNvPr id="7" name="">
            <a:extLst xmlns:a="http://schemas.openxmlformats.org/drawingml/2006/main">
              <a:ext uri="{FF2B5EF4-FFF2-40B4-BE49-F238E27FC236}">
                <a16:creationId xmlns:a16="http://schemas.microsoft.com/office/drawing/2014/main" id="{09420CCD-2AAF-414D-BD93-D577DD610489}"/>
              </a:ext>
            </a:extLst>
          </p:cNvPr>
          <p:cNvSpPr>
            <a:spLocks xmlns:a="http://schemas.openxmlformats.org/drawingml/2006/main" noGrp="1"/>
          </p:cNvSpPr>
          <p:nvPr/>
        </p:nvSpPr>
        <p:spPr>
          <a:xfrm xmlns:a="http://schemas.openxmlformats.org/drawingml/2006/main">
            <a:off x="7524750" y="2143125"/>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74 dự đoán cao hơn RUL thật; 26 dự đoán thấp hơn.</a:t>
            </a:r>
          </a:p>
        </p:txBody>
      </p:sp>
      <p:sp>
        <p:nvSpPr>
          <p:cNvPr id="8" name="">
            <a:extLst xmlns:a="http://schemas.openxmlformats.org/drawingml/2006/main">
              <a:ext uri="{FF2B5EF4-FFF2-40B4-BE49-F238E27FC236}">
                <a16:creationId xmlns:a16="http://schemas.microsoft.com/office/drawing/2014/main" id="{F1E077B3-F368-4BA3-B22E-9193E0C7E8BF}"/>
              </a:ext>
            </a:extLst>
          </p:cNvPr>
          <p:cNvSpPr>
            <a:spLocks xmlns:a="http://schemas.openxmlformats.org/drawingml/2006/main" noGrp="1"/>
          </p:cNvSpPr>
          <p:nvPr/>
        </p:nvSpPr>
        <p:spPr>
          <a:xfrm xmlns:a="http://schemas.openxmlformats.org/drawingml/2006/main">
            <a:off x="7524750" y="314325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Ví dụ cần lưu ý</a:t>
            </a:r>
          </a:p>
        </p:txBody>
      </p:sp>
      <p:sp>
        <p:nvSpPr>
          <p:cNvPr id="9" name="">
            <a:extLst xmlns:a="http://schemas.openxmlformats.org/drawingml/2006/main">
              <a:ext uri="{FF2B5EF4-FFF2-40B4-BE49-F238E27FC236}">
                <a16:creationId xmlns:a16="http://schemas.microsoft.com/office/drawing/2014/main" id="{509D60E5-95A0-4A44-A79C-6C00DB6584F0}"/>
              </a:ext>
            </a:extLst>
          </p:cNvPr>
          <p:cNvSpPr>
            <a:spLocks xmlns:a="http://schemas.openxmlformats.org/drawingml/2006/main" noGrp="1"/>
          </p:cNvSpPr>
          <p:nvPr/>
        </p:nvSpPr>
        <p:spPr>
          <a:xfrm xmlns:a="http://schemas.openxmlformats.org/drawingml/2006/main">
            <a:off x="7524750" y="3524250"/>
            <a:ext cx="3810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Engine 23: RUL thật 113, dự đoán 170,48. Sai số 57,48 cycles.</a:t>
            </a:r>
          </a:p>
        </p:txBody>
      </p:sp>
      <p:sp>
        <p:nvSpPr>
          <p:cNvPr id="10" name="">
            <a:extLst xmlns:a="http://schemas.openxmlformats.org/drawingml/2006/main">
              <a:ext uri="{FF2B5EF4-FFF2-40B4-BE49-F238E27FC236}">
                <a16:creationId xmlns:a16="http://schemas.microsoft.com/office/drawing/2014/main" id="{006635FA-73B8-42AD-98DF-1458F3B29814}"/>
              </a:ext>
            </a:extLst>
          </p:cNvPr>
          <p:cNvSpPr>
            <a:spLocks xmlns:a="http://schemas.openxmlformats.org/drawingml/2006/main" noGrp="1"/>
          </p:cNvSpPr>
          <p:nvPr/>
        </p:nvSpPr>
        <p:spPr>
          <a:xfrm xmlns:a="http://schemas.openxmlformats.org/drawingml/2006/main">
            <a:off x="7524750" y="5048250"/>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F243E"/>
                </a:solidFill>
                <a:latin typeface="Arial"/>
                <a:ea typeface="Arial"/>
                <a:cs typeface="Arial"/>
              </a:defRPr>
            </a:pPr>
            <a:r>
              <a:rPr sz="1650" b="1">
                <a:solidFill>
                  <a:srgbClr val="0F243E"/>
                </a:solidFill>
                <a:latin typeface="Arial"/>
                <a:ea typeface="Arial"/>
                <a:cs typeface="Arial"/>
              </a:rPr>
              <a:t>Metric trung bình không thay thế việc xem các trường hợp sai lớn.</a:t>
            </a:r>
          </a:p>
        </p:txBody>
      </p:sp>
    </p:spTree>
    <p:extLst>
      <p:ext uri="{BB962C8B-B14F-4D97-AF65-F5344CB8AC3E}">
        <p14:creationId xmlns:p14="http://schemas.microsoft.com/office/powerpoint/2010/main" val="18684188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C9F2C1-F152-4CE9-937E-F971EA43AD7A}"/>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Phân tích phụ: Health Index và ARIMA</a:t>
            </a:r>
          </a:p>
        </p:txBody>
      </p:sp>
      <p:sp>
        <p:nvSpPr>
          <p:cNvPr id="2" name="">
            <a:extLst xmlns:a="http://schemas.openxmlformats.org/drawingml/2006/main">
              <a:ext uri="{FF2B5EF4-FFF2-40B4-BE49-F238E27FC236}">
                <a16:creationId xmlns:a16="http://schemas.microsoft.com/office/drawing/2014/main" id="{10D721F9-239E-46EB-9E9C-3D0C4AEB0BE6}"/>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Health Index tóm tắt sensor; giá trị của nó không đo bằng cycle</a:t>
            </a:r>
          </a:p>
        </p:txBody>
      </p:sp>
      <p:sp>
        <p:nvSpPr>
          <p:cNvPr id="3" name="">
            <a:extLst xmlns:a="http://schemas.openxmlformats.org/drawingml/2006/main">
              <a:ext uri="{FF2B5EF4-FFF2-40B4-BE49-F238E27FC236}">
                <a16:creationId xmlns:a16="http://schemas.microsoft.com/office/drawing/2014/main" id="{742FF340-4519-4800-BCD7-33A9518CD9C8}"/>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outputs/timeseries/run_info.json; outputs/timeseries/tables/baseline_metrics.csv; outputs/timeseries/tables/forecast_metrics.csv</a:t>
            </a:r>
          </a:p>
        </p:txBody>
      </p:sp>
      <p:sp>
        <p:nvSpPr>
          <p:cNvPr id="4" name="">
            <a:extLst xmlns:a="http://schemas.openxmlformats.org/drawingml/2006/main">
              <a:ext uri="{FF2B5EF4-FFF2-40B4-BE49-F238E27FC236}">
                <a16:creationId xmlns:a16="http://schemas.microsoft.com/office/drawing/2014/main" id="{1AE2B875-A107-4DF6-BB1F-92E48E319857}"/>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11</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8012491e5fa4881"/>
          <a:stretch xmlns:a="http://schemas.openxmlformats.org/drawingml/2006/main"/>
        </p:blipFill>
        <p:spPr>
          <a:xfrm xmlns:a="http://schemas.openxmlformats.org/drawingml/2006/main">
            <a:off x="702469" y="1476375"/>
            <a:ext cx="6024563" cy="3286125"/>
          </a:xfrm>
          <a:prstGeom xmlns:a="http://schemas.openxmlformats.org/drawingml/2006/main" prst="rect">
            <a:avLst/>
          </a:prstGeom>
        </p:spPr>
      </p:pic>
      <p:graphicFrame>
        <p:nvGraphicFramePr>
          <p:cNvPr id="14" name=""/>
          <p:cNvGraphicFramePr/>
          <p:nvPr/>
        </p:nvGraphicFramePr>
        <p:xfrm>
          <a:off xmlns:a="http://schemas.openxmlformats.org/drawingml/2006/main" x="7143750" y="1666875"/>
          <a:ext xmlns:a="http://schemas.openxmlformats.org/drawingml/2006/main" cx="4286250" cy="2714625"/>
        </p:xfrm>
        <a:graphic xmlns:a="http://schemas.openxmlformats.org/drawingml/2006/main">
          <a:graphicData uri="http://schemas.openxmlformats.org/drawingml/2006/table">
            <a:tbl>
              <a:tblPr firstRow="1" bandRow="1"/>
              <a:tblGrid>
                <a:gridCol w="1428750"/>
                <a:gridCol w="1428750"/>
                <a:gridCol w="1428750"/>
              </a:tblGrid>
              <a:tr h="678656">
                <a:tc>
                  <a:txBody>
                    <a:bodyPr/>
                    <a:lstStyle/>
                    <a:p>
                      <a:r>
                        <a:rPr sz="1350" b="1">
                          <a:solidFill>
                            <a:srgbClr val="FFFFFF"/>
                          </a:solidFill>
                          <a:latin typeface="Arial"/>
                          <a:ea typeface="Arial"/>
                          <a:cs typeface="Arial"/>
                        </a:rPr>
                        <a:t>Dự báo</a:t>
                      </a:r>
                    </a:p>
                  </a:txBody>
                  <a:tcPr marL="91440" marR="91440" marT="45720" marB="45720">
                    <a:solidFill>
                      <a:srgbClr val="0F243E"/>
                    </a:solidFill>
                  </a:tcPr>
                </a:tc>
                <a:tc>
                  <a:txBody>
                    <a:bodyPr/>
                    <a:lstStyle/>
                    <a:p>
                      <a:r>
                        <a:rPr sz="1350" b="1">
                          <a:solidFill>
                            <a:srgbClr val="FFFFFF"/>
                          </a:solidFill>
                          <a:latin typeface="Arial"/>
                          <a:ea typeface="Arial"/>
                          <a:cs typeface="Arial"/>
                        </a:rPr>
                        <a:t>MAE</a:t>
                      </a:r>
                    </a:p>
                  </a:txBody>
                  <a:tcPr marL="91440" marR="91440" marT="45720" marB="45720">
                    <a:solidFill>
                      <a:srgbClr val="0F243E"/>
                    </a:solidFill>
                  </a:tcPr>
                </a:tc>
                <a:tc>
                  <a:txBody>
                    <a:bodyPr/>
                    <a:lstStyle/>
                    <a:p>
                      <a:r>
                        <a:rPr sz="1350" b="1">
                          <a:solidFill>
                            <a:srgbClr val="FFFFFF"/>
                          </a:solidFill>
                          <a:latin typeface="Arial"/>
                          <a:ea typeface="Arial"/>
                          <a:cs typeface="Arial"/>
                        </a:rPr>
                        <a:t>RMSE</a:t>
                      </a:r>
                    </a:p>
                  </a:txBody>
                  <a:tcPr marL="91440" marR="91440" marT="45720" marB="45720">
                    <a:solidFill>
                      <a:srgbClr val="0F243E"/>
                    </a:solidFill>
                  </a:tcPr>
                </a:tc>
              </a:tr>
              <a:tr h="678656">
                <a:tc>
                  <a:txBody>
                    <a:bodyPr/>
                    <a:lstStyle/>
                    <a:p>
                      <a:r>
                        <a:rPr sz="1350" b="0">
                          <a:solidFill>
                            <a:srgbClr val="16202A"/>
                          </a:solidFill>
                          <a:latin typeface="Arial"/>
                          <a:ea typeface="Arial"/>
                          <a:cs typeface="Arial"/>
                        </a:rPr>
                        <a:t>ARIMA</a:t>
                      </a:r>
                    </a:p>
                  </a:txBody>
                  <a:tcPr marL="91440" marR="91440" marT="45720" marB="45720"/>
                </a:tc>
                <a:tc>
                  <a:txBody>
                    <a:bodyPr/>
                    <a:lstStyle/>
                    <a:p>
                      <a:r>
                        <a:rPr sz="1350" b="0">
                          <a:solidFill>
                            <a:srgbClr val="16202A"/>
                          </a:solidFill>
                          <a:latin typeface="Arial"/>
                          <a:ea typeface="Arial"/>
                          <a:cs typeface="Arial"/>
                        </a:rPr>
                        <a:t>0,4110</a:t>
                      </a:r>
                    </a:p>
                  </a:txBody>
                  <a:tcPr marL="91440" marR="91440" marT="45720" marB="45720"/>
                </a:tc>
                <a:tc>
                  <a:txBody>
                    <a:bodyPr/>
                    <a:lstStyle/>
                    <a:p>
                      <a:r>
                        <a:rPr sz="1350" b="0">
                          <a:solidFill>
                            <a:srgbClr val="16202A"/>
                          </a:solidFill>
                          <a:latin typeface="Arial"/>
                          <a:ea typeface="Arial"/>
                          <a:cs typeface="Arial"/>
                        </a:rPr>
                        <a:t>0,5027</a:t>
                      </a:r>
                    </a:p>
                  </a:txBody>
                  <a:tcPr marL="91440" marR="91440" marT="45720" marB="45720"/>
                </a:tc>
              </a:tr>
              <a:tr h="678656">
                <a:tc>
                  <a:txBody>
                    <a:bodyPr/>
                    <a:lstStyle/>
                    <a:p>
                      <a:r>
                        <a:rPr sz="1350" b="0">
                          <a:solidFill>
                            <a:srgbClr val="16202A"/>
                          </a:solidFill>
                          <a:latin typeface="Arial"/>
                          <a:ea typeface="Arial"/>
                          <a:cs typeface="Arial"/>
                        </a:rPr>
                        <a:t>Drift</a:t>
                      </a:r>
                    </a:p>
                  </a:txBody>
                  <a:tcPr marL="91440" marR="91440" marT="45720" marB="45720"/>
                </a:tc>
                <a:tc>
                  <a:txBody>
                    <a:bodyPr/>
                    <a:lstStyle/>
                    <a:p>
                      <a:r>
                        <a:rPr sz="1350" b="0">
                          <a:solidFill>
                            <a:srgbClr val="16202A"/>
                          </a:solidFill>
                          <a:latin typeface="Arial"/>
                          <a:ea typeface="Arial"/>
                          <a:cs typeface="Arial"/>
                        </a:rPr>
                        <a:t>0,7469</a:t>
                      </a:r>
                    </a:p>
                  </a:txBody>
                  <a:tcPr marL="91440" marR="91440" marT="45720" marB="45720"/>
                </a:tc>
                <a:tc>
                  <a:txBody>
                    <a:bodyPr/>
                    <a:lstStyle/>
                    <a:p>
                      <a:r>
                        <a:rPr sz="1350" b="0">
                          <a:solidFill>
                            <a:srgbClr val="16202A"/>
                          </a:solidFill>
                          <a:latin typeface="Arial"/>
                          <a:ea typeface="Arial"/>
                          <a:cs typeface="Arial"/>
                        </a:rPr>
                        <a:t>0,9128</a:t>
                      </a:r>
                    </a:p>
                  </a:txBody>
                  <a:tcPr marL="91440" marR="91440" marT="45720" marB="45720"/>
                </a:tc>
              </a:tr>
              <a:tr h="678656">
                <a:tc>
                  <a:txBody>
                    <a:bodyPr/>
                    <a:lstStyle/>
                    <a:p>
                      <a:r>
                        <a:rPr sz="1350" b="0">
                          <a:solidFill>
                            <a:srgbClr val="16202A"/>
                          </a:solidFill>
                          <a:latin typeface="Arial"/>
                          <a:ea typeface="Arial"/>
                          <a:cs typeface="Arial"/>
                        </a:rPr>
                        <a:t>Last-value</a:t>
                      </a:r>
                    </a:p>
                  </a:txBody>
                  <a:tcPr marL="91440" marR="91440" marT="45720" marB="45720"/>
                </a:tc>
                <a:tc>
                  <a:txBody>
                    <a:bodyPr/>
                    <a:lstStyle/>
                    <a:p>
                      <a:r>
                        <a:rPr sz="1350" b="0">
                          <a:solidFill>
                            <a:srgbClr val="16202A"/>
                          </a:solidFill>
                          <a:latin typeface="Arial"/>
                          <a:ea typeface="Arial"/>
                          <a:cs typeface="Arial"/>
                        </a:rPr>
                        <a:t>0,9478</a:t>
                      </a:r>
                    </a:p>
                  </a:txBody>
                  <a:tcPr marL="91440" marR="91440" marT="45720" marB="45720"/>
                </a:tc>
                <a:tc>
                  <a:txBody>
                    <a:bodyPr/>
                    <a:lstStyle/>
                    <a:p>
                      <a:r>
                        <a:rPr sz="1350" b="0">
                          <a:solidFill>
                            <a:srgbClr val="16202A"/>
                          </a:solidFill>
                          <a:latin typeface="Arial"/>
                          <a:ea typeface="Arial"/>
                          <a:cs typeface="Arial"/>
                        </a:rPr>
                        <a:t>1,1553</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AC3A8413-A1CD-4408-B8C9-A2DB11AB76A2}"/>
              </a:ext>
            </a:extLst>
          </p:cNvPr>
          <p:cNvSpPr>
            <a:spLocks xmlns:a="http://schemas.openxmlformats.org/drawingml/2006/main" noGrp="1"/>
          </p:cNvSpPr>
          <p:nvPr/>
        </p:nvSpPr>
        <p:spPr>
          <a:xfrm xmlns:a="http://schemas.openxmlformats.org/drawingml/2006/main">
            <a:off x="714375" y="5048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F243E"/>
                </a:solidFill>
                <a:latin typeface="Arial"/>
                <a:ea typeface="Arial"/>
                <a:cs typeface="Arial"/>
              </a:defRPr>
            </a:pPr>
            <a:r>
              <a:rPr sz="1575" b="1">
                <a:solidFill>
                  <a:srgbClr val="0F243E"/>
                </a:solidFill>
                <a:latin typeface="Arial"/>
                <a:ea typeface="Arial"/>
                <a:cs typeface="Arial"/>
              </a:rPr>
              <a:t>PCA fit trên 90 engine khác; ARIMA học 70% đầu, đánh giá 30% cuối của 10 engine.</a:t>
            </a:r>
          </a:p>
        </p:txBody>
      </p:sp>
      <p:sp>
        <p:nvSpPr>
          <p:cNvPr id="8" name="">
            <a:extLst xmlns:a="http://schemas.openxmlformats.org/drawingml/2006/main">
              <a:ext uri="{FF2B5EF4-FFF2-40B4-BE49-F238E27FC236}">
                <a16:creationId xmlns:a16="http://schemas.microsoft.com/office/drawing/2014/main" id="{33C0F27D-1983-4B9D-84F8-B46BE16E874F}"/>
              </a:ext>
            </a:extLst>
          </p:cNvPr>
          <p:cNvSpPr>
            <a:spLocks xmlns:a="http://schemas.openxmlformats.org/drawingml/2006/main" noGrp="1"/>
          </p:cNvSpPr>
          <p:nvPr/>
        </p:nvSpPr>
        <p:spPr>
          <a:xfrm xmlns:a="http://schemas.openxmlformats.org/drawingml/2006/main">
            <a:off x="714375" y="56197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06D"/>
                </a:solidFill>
                <a:latin typeface="Arial"/>
                <a:ea typeface="Arial"/>
                <a:cs typeface="Arial"/>
              </a:defRPr>
            </a:pPr>
            <a:r>
              <a:rPr sz="1350" b="0">
                <a:solidFill>
                  <a:srgbClr val="52606D"/>
                </a:solidFill>
                <a:latin typeface="Arial"/>
                <a:ea typeface="Arial"/>
                <a:cs typeface="Arial"/>
              </a:rPr>
              <a:t>Kết quả này mô tả Health Index, không suy ra RUL hoặc thời điểm bảo trì.</a:t>
            </a:r>
          </a:p>
        </p:txBody>
      </p:sp>
    </p:spTree>
    <p:extLst>
      <p:ext uri="{BB962C8B-B14F-4D97-AF65-F5344CB8AC3E}">
        <p14:creationId xmlns:p14="http://schemas.microsoft.com/office/powerpoint/2010/main" val="12852668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6A9032-5BC0-4149-A4D4-DC146B0CDF97}"/>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Cảnh báo sớm từ RUL dự đoán</a:t>
            </a:r>
          </a:p>
        </p:txBody>
      </p:sp>
      <p:sp>
        <p:nvSpPr>
          <p:cNvPr id="2" name="">
            <a:extLst xmlns:a="http://schemas.openxmlformats.org/drawingml/2006/main">
              <a:ext uri="{FF2B5EF4-FFF2-40B4-BE49-F238E27FC236}">
                <a16:creationId xmlns:a16="http://schemas.microsoft.com/office/drawing/2014/main" id="{E78E9B39-E68B-4F8F-BFCA-D4ACEEF6029C}"/>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Cảnh báo tại cycle đầu tiên mà RUL dự đoán không quá 30</a:t>
            </a:r>
          </a:p>
        </p:txBody>
      </p:sp>
      <p:sp>
        <p:nvSpPr>
          <p:cNvPr id="3" name="">
            <a:extLst xmlns:a="http://schemas.openxmlformats.org/drawingml/2006/main">
              <a:ext uri="{FF2B5EF4-FFF2-40B4-BE49-F238E27FC236}">
                <a16:creationId xmlns:a16="http://schemas.microsoft.com/office/drawing/2014/main" id="{A62E885C-4229-4B73-8D9B-BBD72B5883FD}"/>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outputs/modeling/tables/warning_summary.json; outputs/modeling/figures/warning_trajectory.png</a:t>
            </a:r>
          </a:p>
        </p:txBody>
      </p:sp>
      <p:sp>
        <p:nvSpPr>
          <p:cNvPr id="4" name="">
            <a:extLst xmlns:a="http://schemas.openxmlformats.org/drawingml/2006/main">
              <a:ext uri="{FF2B5EF4-FFF2-40B4-BE49-F238E27FC236}">
                <a16:creationId xmlns:a16="http://schemas.microsoft.com/office/drawing/2014/main" id="{733545AF-1603-41C4-9686-37559E5C0246}"/>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b433cb00d7b4833"/>
          <a:stretch xmlns:a="http://schemas.openxmlformats.org/drawingml/2006/main"/>
        </p:blipFill>
        <p:spPr>
          <a:xfrm xmlns:a="http://schemas.openxmlformats.org/drawingml/2006/main">
            <a:off x="579438" y="1524000"/>
            <a:ext cx="6604000" cy="3714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05CDF73-F686-4CDD-8238-1AF2CA3D7DCC}"/>
              </a:ext>
            </a:extLst>
          </p:cNvPr>
          <p:cNvSpPr>
            <a:spLocks xmlns:a="http://schemas.openxmlformats.org/drawingml/2006/main" noGrp="1"/>
          </p:cNvSpPr>
          <p:nvPr/>
        </p:nvSpPr>
        <p:spPr>
          <a:xfrm xmlns:a="http://schemas.openxmlformats.org/drawingml/2006/main">
            <a:off x="7524750" y="166687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Thời điểm cảnh báo đầu</a:t>
            </a:r>
          </a:p>
        </p:txBody>
      </p:sp>
      <p:sp>
        <p:nvSpPr>
          <p:cNvPr id="7" name="">
            <a:extLst xmlns:a="http://schemas.openxmlformats.org/drawingml/2006/main">
              <a:ext uri="{FF2B5EF4-FFF2-40B4-BE49-F238E27FC236}">
                <a16:creationId xmlns:a16="http://schemas.microsoft.com/office/drawing/2014/main" id="{7E2E8D65-C249-4F4B-BF39-F39203AB9E61}"/>
              </a:ext>
            </a:extLst>
          </p:cNvPr>
          <p:cNvSpPr>
            <a:spLocks xmlns:a="http://schemas.openxmlformats.org/drawingml/2006/main" noGrp="1"/>
          </p:cNvSpPr>
          <p:nvPr/>
        </p:nvSpPr>
        <p:spPr>
          <a:xfrm xmlns:a="http://schemas.openxmlformats.org/drawingml/2006/main">
            <a:off x="7524750" y="2047875"/>
            <a:ext cx="371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44 trước ngưỡng; 7 đúng ngưỡng; 49 sau ngưỡng.</a:t>
            </a:r>
          </a:p>
        </p:txBody>
      </p:sp>
      <p:sp>
        <p:nvSpPr>
          <p:cNvPr id="8" name="">
            <a:extLst xmlns:a="http://schemas.openxmlformats.org/drawingml/2006/main">
              <a:ext uri="{FF2B5EF4-FFF2-40B4-BE49-F238E27FC236}">
                <a16:creationId xmlns:a16="http://schemas.microsoft.com/office/drawing/2014/main" id="{A0887943-1E8C-47A2-9441-CF4D8AA0513C}"/>
              </a:ext>
            </a:extLst>
          </p:cNvPr>
          <p:cNvSpPr>
            <a:spLocks xmlns:a="http://schemas.openxmlformats.org/drawingml/2006/main" noGrp="1"/>
          </p:cNvSpPr>
          <p:nvPr/>
        </p:nvSpPr>
        <p:spPr>
          <a:xfrm xmlns:a="http://schemas.openxmlformats.org/drawingml/2006/main">
            <a:off x="7524750" y="32385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Thời gian đến failure</a:t>
            </a:r>
          </a:p>
        </p:txBody>
      </p:sp>
      <p:sp>
        <p:nvSpPr>
          <p:cNvPr id="9" name="">
            <a:extLst xmlns:a="http://schemas.openxmlformats.org/drawingml/2006/main">
              <a:ext uri="{FF2B5EF4-FFF2-40B4-BE49-F238E27FC236}">
                <a16:creationId xmlns:a16="http://schemas.microsoft.com/office/drawing/2014/main" id="{92DA953E-1CC1-4BAB-9D18-EA51B3F586F0}"/>
              </a:ext>
            </a:extLst>
          </p:cNvPr>
          <p:cNvSpPr>
            <a:spLocks xmlns:a="http://schemas.openxmlformats.org/drawingml/2006/main" noGrp="1"/>
          </p:cNvSpPr>
          <p:nvPr/>
        </p:nvSpPr>
        <p:spPr>
          <a:xfrm xmlns:a="http://schemas.openxmlformats.org/drawingml/2006/main">
            <a:off x="7524750" y="3619500"/>
            <a:ext cx="371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Trung vị 30 cycles; miền 19–55 cycles.</a:t>
            </a:r>
          </a:p>
        </p:txBody>
      </p:sp>
      <p:sp>
        <p:nvSpPr>
          <p:cNvPr id="10" name="">
            <a:extLst xmlns:a="http://schemas.openxmlformats.org/drawingml/2006/main">
              <a:ext uri="{FF2B5EF4-FFF2-40B4-BE49-F238E27FC236}">
                <a16:creationId xmlns:a16="http://schemas.microsoft.com/office/drawing/2014/main" id="{354254A1-FEE5-44C9-8644-CA0F9A9FC9EA}"/>
              </a:ext>
            </a:extLst>
          </p:cNvPr>
          <p:cNvSpPr>
            <a:spLocks xmlns:a="http://schemas.openxmlformats.org/drawingml/2006/main" noGrp="1"/>
          </p:cNvSpPr>
          <p:nvPr/>
        </p:nvSpPr>
        <p:spPr>
          <a:xfrm xmlns:a="http://schemas.openxmlformats.org/drawingml/2006/main">
            <a:off x="7524750" y="4810125"/>
            <a:ext cx="3714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OOF đã dùng chọn model: kết quả chỉ mô tả nội bộ. Chưa đánh giá utility bảo trì.</a:t>
            </a:r>
          </a:p>
        </p:txBody>
      </p:sp>
    </p:spTree>
    <p:extLst>
      <p:ext uri="{BB962C8B-B14F-4D97-AF65-F5344CB8AC3E}">
        <p14:creationId xmlns:p14="http://schemas.microsoft.com/office/powerpoint/2010/main" val="12839682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AF86465-26BF-4B6D-80A9-F865018FA73A}"/>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ETL và khả năng tái lập</a:t>
            </a:r>
          </a:p>
        </p:txBody>
      </p:sp>
      <p:sp>
        <p:nvSpPr>
          <p:cNvPr id="2" name="">
            <a:extLst xmlns:a="http://schemas.openxmlformats.org/drawingml/2006/main">
              <a:ext uri="{FF2B5EF4-FFF2-40B4-BE49-F238E27FC236}">
                <a16:creationId xmlns:a16="http://schemas.microsoft.com/office/drawing/2014/main" id="{21616687-F611-4A1F-A22D-E921354BCD1A}"/>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Đối chiếu kết quả xử lý; đo runtime cục bộ bằng Pandas</a:t>
            </a:r>
          </a:p>
        </p:txBody>
      </p:sp>
      <p:sp>
        <p:nvSpPr>
          <p:cNvPr id="3" name="">
            <a:extLst xmlns:a="http://schemas.openxmlformats.org/drawingml/2006/main">
              <a:ext uri="{FF2B5EF4-FFF2-40B4-BE49-F238E27FC236}">
                <a16:creationId xmlns:a16="http://schemas.microsoft.com/office/drawing/2014/main" id="{E19651D2-8038-480A-A5CF-7A4E7A25FEBB}"/>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outputs/etl/parity.json; outputs/etl/benchmark.json; tmp/e2e-review-20260924/validation.json</a:t>
            </a:r>
          </a:p>
        </p:txBody>
      </p:sp>
      <p:sp>
        <p:nvSpPr>
          <p:cNvPr id="4" name="">
            <a:extLst xmlns:a="http://schemas.openxmlformats.org/drawingml/2006/main">
              <a:ext uri="{FF2B5EF4-FFF2-40B4-BE49-F238E27FC236}">
                <a16:creationId xmlns:a16="http://schemas.microsoft.com/office/drawing/2014/main" id="{A6EA5691-CA52-4B16-8E64-92D81147FCBB}"/>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3FF8AF82-F680-4BE8-9BEB-98D01363A119}"/>
              </a:ext>
            </a:extLst>
          </p:cNvPr>
          <p:cNvSpPr>
            <a:spLocks xmlns:a="http://schemas.openxmlformats.org/drawingml/2006/main" noGrp="1"/>
          </p:cNvSpPr>
          <p:nvPr/>
        </p:nvSpPr>
        <p:spPr>
          <a:xfrm xmlns:a="http://schemas.openxmlformats.org/drawingml/2006/main">
            <a:off x="714375" y="16192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Độ đúng của ETL</a:t>
            </a:r>
          </a:p>
        </p:txBody>
      </p:sp>
      <p:sp>
        <p:nvSpPr>
          <p:cNvPr id="6" name="">
            <a:extLst xmlns:a="http://schemas.openxmlformats.org/drawingml/2006/main">
              <a:ext uri="{FF2B5EF4-FFF2-40B4-BE49-F238E27FC236}">
                <a16:creationId xmlns:a16="http://schemas.microsoft.com/office/drawing/2014/main" id="{03200E5A-9980-4632-8EEE-314941AEF9AF}"/>
              </a:ext>
            </a:extLst>
          </p:cNvPr>
          <p:cNvSpPr>
            <a:spLocks xmlns:a="http://schemas.openxmlformats.org/drawingml/2006/main" noGrp="1"/>
          </p:cNvSpPr>
          <p:nvPr/>
        </p:nvSpPr>
        <p:spPr>
          <a:xfrm xmlns:a="http://schemas.openxmlformats.org/drawingml/2006/main">
            <a:off x="714375" y="2000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Pandas và PySpark khớp schema, khóa, số dòng và giá trị ở ba bảng Silver/Gold.</a:t>
            </a:r>
          </a:p>
        </p:txBody>
      </p:sp>
      <p:sp>
        <p:nvSpPr>
          <p:cNvPr id="7" name="">
            <a:extLst xmlns:a="http://schemas.openxmlformats.org/drawingml/2006/main">
              <a:ext uri="{FF2B5EF4-FFF2-40B4-BE49-F238E27FC236}">
                <a16:creationId xmlns:a16="http://schemas.microsoft.com/office/drawing/2014/main" id="{5F72297F-4D0D-40FA-A36C-EDE0585F8129}"/>
              </a:ext>
            </a:extLst>
          </p:cNvPr>
          <p:cNvSpPr>
            <a:spLocks xmlns:a="http://schemas.openxmlformats.org/drawingml/2006/main" noGrp="1"/>
          </p:cNvSpPr>
          <p:nvPr/>
        </p:nvSpPr>
        <p:spPr>
          <a:xfrm xmlns:a="http://schemas.openxmlformats.org/drawingml/2006/main">
            <a:off x="714375" y="30480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Thử nghiệm quy mô</a:t>
            </a:r>
          </a:p>
        </p:txBody>
      </p:sp>
      <p:sp>
        <p:nvSpPr>
          <p:cNvPr id="8" name="">
            <a:extLst xmlns:a="http://schemas.openxmlformats.org/drawingml/2006/main">
              <a:ext uri="{FF2B5EF4-FFF2-40B4-BE49-F238E27FC236}">
                <a16:creationId xmlns:a16="http://schemas.microsoft.com/office/drawing/2014/main" id="{D4FB69E5-9C9B-4F0A-B26E-1F83BA5AAE7F}"/>
              </a:ext>
            </a:extLst>
          </p:cNvPr>
          <p:cNvSpPr>
            <a:spLocks xmlns:a="http://schemas.openxmlformats.org/drawingml/2006/main" noGrp="1"/>
          </p:cNvSpPr>
          <p:nvPr/>
        </p:nvSpPr>
        <p:spPr>
          <a:xfrm xmlns:a="http://schemas.openxmlformats.org/drawingml/2006/main">
            <a:off x="714375" y="342900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Pandas tổng hợp 3.372.700 dòng nhân bản trong bộ nhớ: 1,6752 và 1,6732 giây.</a:t>
            </a:r>
          </a:p>
        </p:txBody>
      </p:sp>
      <p:sp>
        <p:nvSpPr>
          <p:cNvPr id="9" name="">
            <a:extLst xmlns:a="http://schemas.openxmlformats.org/drawingml/2006/main">
              <a:ext uri="{FF2B5EF4-FFF2-40B4-BE49-F238E27FC236}">
                <a16:creationId xmlns:a16="http://schemas.microsoft.com/office/drawing/2014/main" id="{626200E8-6309-4504-B7FB-D7EEA85E2F62}"/>
              </a:ext>
            </a:extLst>
          </p:cNvPr>
          <p:cNvSpPr>
            <a:spLocks xmlns:a="http://schemas.openxmlformats.org/drawingml/2006/main" noGrp="1"/>
          </p:cNvSpPr>
          <p:nvPr/>
        </p:nvSpPr>
        <p:spPr>
          <a:xfrm xmlns:a="http://schemas.openxmlformats.org/drawingml/2006/main">
            <a:off x="714375" y="45243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Tái lập</a:t>
            </a:r>
          </a:p>
        </p:txBody>
      </p:sp>
      <p:sp>
        <p:nvSpPr>
          <p:cNvPr id="10" name="">
            <a:extLst xmlns:a="http://schemas.openxmlformats.org/drawingml/2006/main">
              <a:ext uri="{FF2B5EF4-FFF2-40B4-BE49-F238E27FC236}">
                <a16:creationId xmlns:a16="http://schemas.microsoft.com/office/drawing/2014/main" id="{8663E835-E9AE-42AB-9C2B-AAEA35FF51E8}"/>
              </a:ext>
            </a:extLst>
          </p:cNvPr>
          <p:cNvSpPr>
            <a:spLocks xmlns:a="http://schemas.openxmlformats.org/drawingml/2006/main" noGrp="1"/>
          </p:cNvSpPr>
          <p:nvPr/>
        </p:nvSpPr>
        <p:spPr>
          <a:xfrm xmlns:a="http://schemas.openxmlformats.org/drawingml/2006/main">
            <a:off x="714375" y="490537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Chạy lại từ raw: 18 bảng khớp nội dung, 5 hình byte-identical, raw hash không đổi; 175 tests pass.</a:t>
            </a:r>
          </a:p>
        </p:txBody>
      </p:sp>
    </p:spTree>
    <p:extLst>
      <p:ext uri="{BB962C8B-B14F-4D97-AF65-F5344CB8AC3E}">
        <p14:creationId xmlns:p14="http://schemas.microsoft.com/office/powerpoint/2010/main" val="11566846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41B6DE7-7A63-4AF3-9983-83FFC99F88CD}"/>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Thiết kế thử nghiệm cải thiện RUL</a:t>
            </a:r>
          </a:p>
        </p:txBody>
      </p:sp>
      <p:sp>
        <p:nvSpPr>
          <p:cNvPr id="2" name="">
            <a:extLst xmlns:a="http://schemas.openxmlformats.org/drawingml/2006/main">
              <a:ext uri="{FF2B5EF4-FFF2-40B4-BE49-F238E27FC236}">
                <a16:creationId xmlns:a16="http://schemas.microsoft.com/office/drawing/2014/main" id="{B62F893C-F757-46A0-9F98-93A277EAD64D}"/>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100 train engines, cùng 17.731 khóa từ cycle 30</a:t>
            </a:r>
          </a:p>
        </p:txBody>
      </p:sp>
      <p:sp>
        <p:nvSpPr>
          <p:cNvPr id="3" name="">
            <a:extLst xmlns:a="http://schemas.openxmlformats.org/drawingml/2006/main">
              <a:ext uri="{FF2B5EF4-FFF2-40B4-BE49-F238E27FC236}">
                <a16:creationId xmlns:a16="http://schemas.microsoft.com/office/drawing/2014/main" id="{75E74F10-65F1-4BC6-B141-3F32FAD3961B}"/>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experiments/README.md; 20260927_full/search_manifest.json</a:t>
            </a:r>
          </a:p>
        </p:txBody>
      </p:sp>
      <p:sp>
        <p:nvSpPr>
          <p:cNvPr id="4" name="">
            <a:extLst xmlns:a="http://schemas.openxmlformats.org/drawingml/2006/main">
              <a:ext uri="{FF2B5EF4-FFF2-40B4-BE49-F238E27FC236}">
                <a16:creationId xmlns:a16="http://schemas.microsoft.com/office/drawing/2014/main" id="{D825E92B-7EBF-4F7A-826F-B4623816CD14}"/>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D67CFE22-F841-4976-B8F8-BA76DF82A9C9}"/>
              </a:ext>
            </a:extLst>
          </p:cNvPr>
          <p:cNvSpPr>
            <a:spLocks xmlns:a="http://schemas.openxmlformats.org/drawingml/2006/main" noGrp="1"/>
          </p:cNvSpPr>
          <p:nvPr/>
        </p:nvSpPr>
        <p:spPr>
          <a:xfrm xmlns:a="http://schemas.openxmlformats.org/drawingml/2006/main">
            <a:off x="714375" y="16192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Phạm vi đã chạy</a:t>
            </a:r>
          </a:p>
        </p:txBody>
      </p:sp>
      <p:sp>
        <p:nvSpPr>
          <p:cNvPr id="6" name="">
            <a:extLst xmlns:a="http://schemas.openxmlformats.org/drawingml/2006/main">
              <a:ext uri="{FF2B5EF4-FFF2-40B4-BE49-F238E27FC236}">
                <a16:creationId xmlns:a16="http://schemas.microsoft.com/office/drawing/2014/main" id="{C1568799-9501-4390-9EFA-7B6B3E645D0D}"/>
              </a:ext>
            </a:extLst>
          </p:cNvPr>
          <p:cNvSpPr>
            <a:spLocks xmlns:a="http://schemas.openxmlformats.org/drawingml/2006/main" noGrp="1"/>
          </p:cNvSpPr>
          <p:nvPr/>
        </p:nvSpPr>
        <p:spPr>
          <a:xfrm xmlns:a="http://schemas.openxmlformats.org/drawingml/2006/main">
            <a:off x="714375" y="20002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Window 10 / 20 / 30, 24 cấu hình HistGradientBoosting và 3 phương án trọng số RUL.</a:t>
            </a:r>
          </a:p>
        </p:txBody>
      </p:sp>
      <p:sp>
        <p:nvSpPr>
          <p:cNvPr id="7" name="">
            <a:extLst xmlns:a="http://schemas.openxmlformats.org/drawingml/2006/main">
              <a:ext uri="{FF2B5EF4-FFF2-40B4-BE49-F238E27FC236}">
                <a16:creationId xmlns:a16="http://schemas.microsoft.com/office/drawing/2014/main" id="{8C0EA479-D9AC-4D05-8D1F-DD4F25B4E415}"/>
              </a:ext>
            </a:extLst>
          </p:cNvPr>
          <p:cNvSpPr>
            <a:spLocks xmlns:a="http://schemas.openxmlformats.org/drawingml/2006/main" noGrp="1"/>
          </p:cNvSpPr>
          <p:nvPr/>
        </p:nvSpPr>
        <p:spPr>
          <a:xfrm xmlns:a="http://schemas.openxmlformats.org/drawingml/2006/main">
            <a:off x="714375" y="30003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Tách lựa chọn và đánh giá</a:t>
            </a:r>
          </a:p>
        </p:txBody>
      </p:sp>
      <p:sp>
        <p:nvSpPr>
          <p:cNvPr id="8" name="">
            <a:extLst xmlns:a="http://schemas.openxmlformats.org/drawingml/2006/main">
              <a:ext uri="{FF2B5EF4-FFF2-40B4-BE49-F238E27FC236}">
                <a16:creationId xmlns:a16="http://schemas.microsoft.com/office/drawing/2014/main" id="{2E2DC638-765D-4F57-8328-6339EDABDBDD}"/>
              </a:ext>
            </a:extLst>
          </p:cNvPr>
          <p:cNvSpPr>
            <a:spLocks xmlns:a="http://schemas.openxmlformats.org/drawingml/2006/main" noGrp="1"/>
          </p:cNvSpPr>
          <p:nvPr/>
        </p:nvSpPr>
        <p:spPr>
          <a:xfrm xmlns:a="http://schemas.openxmlformats.org/drawingml/2006/main">
            <a:off x="714375" y="33813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5 outer folds đánh giá trên engine được giữ riêng. Mỗi outer train dùng 3 inner folds để chọn cấu hình.</a:t>
            </a:r>
          </a:p>
        </p:txBody>
      </p:sp>
      <p:sp>
        <p:nvSpPr>
          <p:cNvPr id="9" name="">
            <a:extLst xmlns:a="http://schemas.openxmlformats.org/drawingml/2006/main">
              <a:ext uri="{FF2B5EF4-FFF2-40B4-BE49-F238E27FC236}">
                <a16:creationId xmlns:a16="http://schemas.microsoft.com/office/drawing/2014/main" id="{96D07D62-715D-4A15-9DBB-5D3BB3204F9D}"/>
              </a:ext>
            </a:extLst>
          </p:cNvPr>
          <p:cNvSpPr>
            <a:spLocks xmlns:a="http://schemas.openxmlformats.org/drawingml/2006/main" noGrp="1"/>
          </p:cNvSpPr>
          <p:nvPr/>
        </p:nvSpPr>
        <p:spPr>
          <a:xfrm xmlns:a="http://schemas.openxmlformats.org/drawingml/2006/main">
            <a:off x="714375" y="46672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Tiêu chí đã chốt</a:t>
            </a:r>
          </a:p>
        </p:txBody>
      </p:sp>
      <p:sp>
        <p:nvSpPr>
          <p:cNvPr id="10" name="">
            <a:extLst xmlns:a="http://schemas.openxmlformats.org/drawingml/2006/main">
              <a:ext uri="{FF2B5EF4-FFF2-40B4-BE49-F238E27FC236}">
                <a16:creationId xmlns:a16="http://schemas.microsoft.com/office/drawing/2014/main" id="{8ABEF3A2-D842-434F-9A25-9346899A7F08}"/>
              </a:ext>
            </a:extLst>
          </p:cNvPr>
          <p:cNvSpPr>
            <a:spLocks xmlns:a="http://schemas.openxmlformats.org/drawingml/2006/main" noGrp="1"/>
          </p:cNvSpPr>
          <p:nvPr/>
        </p:nvSpPr>
        <p:spPr>
          <a:xfrm xmlns:a="http://schemas.openxmlformats.org/drawingml/2006/main">
            <a:off x="714375" y="50482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Ưu tiên MAE khi RUL ≤ 30. MAE toàn bộ, tỷ lệ cảnh báo trễ và thời gian báo sớm phải không tăng.</a:t>
            </a:r>
          </a:p>
        </p:txBody>
      </p:sp>
    </p:spTree>
    <p:extLst>
      <p:ext uri="{BB962C8B-B14F-4D97-AF65-F5344CB8AC3E}">
        <p14:creationId xmlns:p14="http://schemas.microsoft.com/office/powerpoint/2010/main" val="24923188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6F23E5-6510-4160-88AE-1A2EB8C41C60}"/>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Kết quả chưa đạt tiêu chí cải thiện</a:t>
            </a:r>
          </a:p>
        </p:txBody>
      </p:sp>
      <p:sp>
        <p:nvSpPr>
          <p:cNvPr id="2" name="">
            <a:extLst xmlns:a="http://schemas.openxmlformats.org/drawingml/2006/main">
              <a:ext uri="{FF2B5EF4-FFF2-40B4-BE49-F238E27FC236}">
                <a16:creationId xmlns:a16="http://schemas.microsoft.com/office/drawing/2014/main" id="{3F99A810-D2F7-44C9-B03B-E2B4F1A87005}"/>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Outer evaluation của cả quy trình chọn cấu hình</a:t>
            </a:r>
          </a:p>
        </p:txBody>
      </p:sp>
      <p:sp>
        <p:nvSpPr>
          <p:cNvPr id="3" name="">
            <a:extLst xmlns:a="http://schemas.openxmlformats.org/drawingml/2006/main">
              <a:ext uri="{FF2B5EF4-FFF2-40B4-BE49-F238E27FC236}">
                <a16:creationId xmlns:a16="http://schemas.microsoft.com/office/drawing/2014/main" id="{64B9C10B-569A-482A-A6B1-20C32F8E8C46}"/>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20260927_full/ablation_metrics.csv; paired_comparison.csv</a:t>
            </a:r>
          </a:p>
        </p:txBody>
      </p:sp>
      <p:sp>
        <p:nvSpPr>
          <p:cNvPr id="4" name="">
            <a:extLst xmlns:a="http://schemas.openxmlformats.org/drawingml/2006/main">
              <a:ext uri="{FF2B5EF4-FFF2-40B4-BE49-F238E27FC236}">
                <a16:creationId xmlns:a16="http://schemas.microsoft.com/office/drawing/2014/main" id="{274FDC0F-639A-4DC6-BBDE-E409E6458741}"/>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15</a:t>
            </a:r>
          </a:p>
        </p:txBody>
      </p:sp>
      <p:graphicFrame>
        <p:nvGraphicFramePr>
          <p:cNvPr id="12" name=""/>
          <p:cNvGraphicFramePr/>
          <p:nvPr/>
        </p:nvGraphicFramePr>
        <p:xfrm>
          <a:off xmlns:a="http://schemas.openxmlformats.org/drawingml/2006/main" x="666750" y="1619250"/>
          <a:ext xmlns:a="http://schemas.openxmlformats.org/drawingml/2006/main" cx="10858500" cy="2571750"/>
        </p:xfrm>
        <a:graphic xmlns:a="http://schemas.openxmlformats.org/drawingml/2006/main">
          <a:graphicData uri="http://schemas.openxmlformats.org/drawingml/2006/table">
            <a:tbl>
              <a:tblPr firstRow="1" bandRow="1"/>
              <a:tblGrid>
                <a:gridCol w="2714625"/>
                <a:gridCol w="2714625"/>
                <a:gridCol w="2714625"/>
                <a:gridCol w="2714625"/>
              </a:tblGrid>
              <a:tr h="514350">
                <a:tc>
                  <a:txBody>
                    <a:bodyPr/>
                    <a:lstStyle/>
                    <a:p>
                      <a:r>
                        <a:rPr sz="1575" b="1">
                          <a:solidFill>
                            <a:srgbClr val="FFFFFF"/>
                          </a:solidFill>
                          <a:latin typeface="Arial"/>
                          <a:ea typeface="Arial"/>
                          <a:cs typeface="Arial"/>
                        </a:rPr>
                        <a:t>Phương án</a:t>
                      </a:r>
                    </a:p>
                  </a:txBody>
                  <a:tcPr marL="91440" marR="91440" marT="45720" marB="45720">
                    <a:solidFill>
                      <a:srgbClr val="0F243E"/>
                    </a:solidFill>
                  </a:tcPr>
                </a:tc>
                <a:tc>
                  <a:txBody>
                    <a:bodyPr/>
                    <a:lstStyle/>
                    <a:p>
                      <a:r>
                        <a:rPr sz="1575" b="1">
                          <a:solidFill>
                            <a:srgbClr val="FFFFFF"/>
                          </a:solidFill>
                          <a:latin typeface="Arial"/>
                          <a:ea typeface="Arial"/>
                          <a:cs typeface="Arial"/>
                        </a:rPr>
                        <a:t>MAE toàn bộ</a:t>
                      </a:r>
                    </a:p>
                  </a:txBody>
                  <a:tcPr marL="91440" marR="91440" marT="45720" marB="45720">
                    <a:solidFill>
                      <a:srgbClr val="0F243E"/>
                    </a:solidFill>
                  </a:tcPr>
                </a:tc>
                <a:tc>
                  <a:txBody>
                    <a:bodyPr/>
                    <a:lstStyle/>
                    <a:p>
                      <a:r>
                        <a:rPr sz="1575" b="1">
                          <a:solidFill>
                            <a:srgbClr val="FFFFFF"/>
                          </a:solidFill>
                          <a:latin typeface="Arial"/>
                          <a:ea typeface="Arial"/>
                          <a:cs typeface="Arial"/>
                        </a:rPr>
                        <a:t>MAE RUL ≤ 30</a:t>
                      </a:r>
                    </a:p>
                  </a:txBody>
                  <a:tcPr marL="91440" marR="91440" marT="45720" marB="45720">
                    <a:solidFill>
                      <a:srgbClr val="0F243E"/>
                    </a:solidFill>
                  </a:tcPr>
                </a:tc>
                <a:tc>
                  <a:txBody>
                    <a:bodyPr/>
                    <a:lstStyle/>
                    <a:p>
                      <a:r>
                        <a:rPr sz="1575" b="1">
                          <a:solidFill>
                            <a:srgbClr val="FFFFFF"/>
                          </a:solidFill>
                          <a:latin typeface="Arial"/>
                          <a:ea typeface="Arial"/>
                          <a:cs typeface="Arial"/>
                        </a:rPr>
                        <a:t>Trễ / bỏ lỡ</a:t>
                      </a:r>
                    </a:p>
                  </a:txBody>
                  <a:tcPr marL="91440" marR="91440" marT="45720" marB="45720">
                    <a:solidFill>
                      <a:srgbClr val="0F243E"/>
                    </a:solidFill>
                  </a:tcPr>
                </a:tc>
              </a:tr>
              <a:tr h="514350">
                <a:tc>
                  <a:txBody>
                    <a:bodyPr/>
                    <a:lstStyle/>
                    <a:p>
                      <a:r>
                        <a:rPr sz="1575" b="0">
                          <a:solidFill>
                            <a:srgbClr val="16202A"/>
                          </a:solidFill>
                          <a:latin typeface="Arial"/>
                          <a:ea typeface="Arial"/>
                          <a:cs typeface="Arial"/>
                        </a:rPr>
                        <a:t>Baseline</a:t>
                      </a:r>
                    </a:p>
                  </a:txBody>
                  <a:tcPr marL="91440" marR="91440" marT="45720" marB="45720"/>
                </a:tc>
                <a:tc>
                  <a:txBody>
                    <a:bodyPr/>
                    <a:lstStyle/>
                    <a:p>
                      <a:r>
                        <a:rPr sz="1575" b="0">
                          <a:solidFill>
                            <a:srgbClr val="16202A"/>
                          </a:solidFill>
                          <a:latin typeface="Arial"/>
                          <a:ea typeface="Arial"/>
                          <a:cs typeface="Arial"/>
                        </a:rPr>
                        <a:t>20,2143</a:t>
                      </a:r>
                    </a:p>
                  </a:txBody>
                  <a:tcPr marL="91440" marR="91440" marT="45720" marB="45720"/>
                </a:tc>
                <a:tc>
                  <a:txBody>
                    <a:bodyPr/>
                    <a:lstStyle/>
                    <a:p>
                      <a:r>
                        <a:rPr sz="1575" b="0">
                          <a:solidFill>
                            <a:srgbClr val="16202A"/>
                          </a:solidFill>
                          <a:latin typeface="Arial"/>
                          <a:ea typeface="Arial"/>
                          <a:cs typeface="Arial"/>
                        </a:rPr>
                        <a:t>3,6676</a:t>
                      </a:r>
                    </a:p>
                  </a:txBody>
                  <a:tcPr marL="91440" marR="91440" marT="45720" marB="45720"/>
                </a:tc>
                <a:tc>
                  <a:txBody>
                    <a:bodyPr/>
                    <a:lstStyle/>
                    <a:p>
                      <a:r>
                        <a:rPr sz="1575" b="0">
                          <a:solidFill>
                            <a:srgbClr val="16202A"/>
                          </a:solidFill>
                          <a:latin typeface="Arial"/>
                          <a:ea typeface="Arial"/>
                          <a:cs typeface="Arial"/>
                        </a:rPr>
                        <a:t>49 / 100</a:t>
                      </a:r>
                    </a:p>
                  </a:txBody>
                  <a:tcPr marL="91440" marR="91440" marT="45720" marB="45720"/>
                </a:tc>
              </a:tr>
              <a:tr h="514350">
                <a:tc>
                  <a:txBody>
                    <a:bodyPr/>
                    <a:lstStyle/>
                    <a:p>
                      <a:r>
                        <a:rPr sz="1575" b="0">
                          <a:solidFill>
                            <a:srgbClr val="16202A"/>
                          </a:solidFill>
                          <a:latin typeface="Arial"/>
                          <a:ea typeface="Arial"/>
                          <a:cs typeface="Arial"/>
                        </a:rPr>
                        <a:t>Chọn window</a:t>
                      </a:r>
                    </a:p>
                  </a:txBody>
                  <a:tcPr marL="91440" marR="91440" marT="45720" marB="45720"/>
                </a:tc>
                <a:tc>
                  <a:txBody>
                    <a:bodyPr/>
                    <a:lstStyle/>
                    <a:p>
                      <a:r>
                        <a:rPr sz="1575" b="0">
                          <a:solidFill>
                            <a:srgbClr val="16202A"/>
                          </a:solidFill>
                          <a:latin typeface="Arial"/>
                          <a:ea typeface="Arial"/>
                          <a:cs typeface="Arial"/>
                        </a:rPr>
                        <a:t>20,2143</a:t>
                      </a:r>
                    </a:p>
                  </a:txBody>
                  <a:tcPr marL="91440" marR="91440" marT="45720" marB="45720"/>
                </a:tc>
                <a:tc>
                  <a:txBody>
                    <a:bodyPr/>
                    <a:lstStyle/>
                    <a:p>
                      <a:r>
                        <a:rPr sz="1575" b="0">
                          <a:solidFill>
                            <a:srgbClr val="16202A"/>
                          </a:solidFill>
                          <a:latin typeface="Arial"/>
                          <a:ea typeface="Arial"/>
                          <a:cs typeface="Arial"/>
                        </a:rPr>
                        <a:t>3,6676</a:t>
                      </a:r>
                    </a:p>
                  </a:txBody>
                  <a:tcPr marL="91440" marR="91440" marT="45720" marB="45720"/>
                </a:tc>
                <a:tc>
                  <a:txBody>
                    <a:bodyPr/>
                    <a:lstStyle/>
                    <a:p>
                      <a:r>
                        <a:rPr sz="1575" b="0">
                          <a:solidFill>
                            <a:srgbClr val="16202A"/>
                          </a:solidFill>
                          <a:latin typeface="Arial"/>
                          <a:ea typeface="Arial"/>
                          <a:cs typeface="Arial"/>
                        </a:rPr>
                        <a:t>49 / 100</a:t>
                      </a:r>
                    </a:p>
                  </a:txBody>
                  <a:tcPr marL="91440" marR="91440" marT="45720" marB="45720"/>
                </a:tc>
              </a:tr>
              <a:tr h="514350">
                <a:tc>
                  <a:txBody>
                    <a:bodyPr/>
                    <a:lstStyle/>
                    <a:p>
                      <a:r>
                        <a:rPr sz="1575" b="0">
                          <a:solidFill>
                            <a:srgbClr val="16202A"/>
                          </a:solidFill>
                          <a:latin typeface="Arial"/>
                          <a:ea typeface="Arial"/>
                          <a:cs typeface="Arial"/>
                        </a:rPr>
                        <a:t>Chỉnh tham số</a:t>
                      </a:r>
                    </a:p>
                  </a:txBody>
                  <a:tcPr marL="91440" marR="91440" marT="45720" marB="45720"/>
                </a:tc>
                <a:tc>
                  <a:txBody>
                    <a:bodyPr/>
                    <a:lstStyle/>
                    <a:p>
                      <a:r>
                        <a:rPr sz="1575" b="0">
                          <a:solidFill>
                            <a:srgbClr val="16202A"/>
                          </a:solidFill>
                          <a:latin typeface="Arial"/>
                          <a:ea typeface="Arial"/>
                          <a:cs typeface="Arial"/>
                        </a:rPr>
                        <a:t>20,2459</a:t>
                      </a:r>
                    </a:p>
                  </a:txBody>
                  <a:tcPr marL="91440" marR="91440" marT="45720" marB="45720"/>
                </a:tc>
                <a:tc>
                  <a:txBody>
                    <a:bodyPr/>
                    <a:lstStyle/>
                    <a:p>
                      <a:r>
                        <a:rPr sz="1575" b="0">
                          <a:solidFill>
                            <a:srgbClr val="16202A"/>
                          </a:solidFill>
                          <a:latin typeface="Arial"/>
                          <a:ea typeface="Arial"/>
                          <a:cs typeface="Arial"/>
                        </a:rPr>
                        <a:t>3,6730</a:t>
                      </a:r>
                    </a:p>
                  </a:txBody>
                  <a:tcPr marL="91440" marR="91440" marT="45720" marB="45720"/>
                </a:tc>
                <a:tc>
                  <a:txBody>
                    <a:bodyPr/>
                    <a:lstStyle/>
                    <a:p>
                      <a:r>
                        <a:rPr sz="1575" b="0">
                          <a:solidFill>
                            <a:srgbClr val="16202A"/>
                          </a:solidFill>
                          <a:latin typeface="Arial"/>
                          <a:ea typeface="Arial"/>
                          <a:cs typeface="Arial"/>
                        </a:rPr>
                        <a:t>53 / 100</a:t>
                      </a:r>
                    </a:p>
                  </a:txBody>
                  <a:tcPr marL="91440" marR="91440" marT="45720" marB="45720"/>
                </a:tc>
              </a:tr>
              <a:tr h="514350">
                <a:tc>
                  <a:txBody>
                    <a:bodyPr/>
                    <a:lstStyle/>
                    <a:p>
                      <a:r>
                        <a:rPr sz="1575" b="0">
                          <a:solidFill>
                            <a:srgbClr val="16202A"/>
                          </a:solidFill>
                          <a:latin typeface="Arial"/>
                          <a:ea typeface="Arial"/>
                          <a:cs typeface="Arial"/>
                        </a:rPr>
                        <a:t>Chọn trọng số</a:t>
                      </a:r>
                    </a:p>
                  </a:txBody>
                  <a:tcPr marL="91440" marR="91440" marT="45720" marB="45720"/>
                </a:tc>
                <a:tc>
                  <a:txBody>
                    <a:bodyPr/>
                    <a:lstStyle/>
                    <a:p>
                      <a:r>
                        <a:rPr sz="1575" b="0">
                          <a:solidFill>
                            <a:srgbClr val="16202A"/>
                          </a:solidFill>
                          <a:latin typeface="Arial"/>
                          <a:ea typeface="Arial"/>
                          <a:cs typeface="Arial"/>
                        </a:rPr>
                        <a:t>20,2459</a:t>
                      </a:r>
                    </a:p>
                  </a:txBody>
                  <a:tcPr marL="91440" marR="91440" marT="45720" marB="45720"/>
                </a:tc>
                <a:tc>
                  <a:txBody>
                    <a:bodyPr/>
                    <a:lstStyle/>
                    <a:p>
                      <a:r>
                        <a:rPr sz="1575" b="0">
                          <a:solidFill>
                            <a:srgbClr val="16202A"/>
                          </a:solidFill>
                          <a:latin typeface="Arial"/>
                          <a:ea typeface="Arial"/>
                          <a:cs typeface="Arial"/>
                        </a:rPr>
                        <a:t>3,6730</a:t>
                      </a:r>
                    </a:p>
                  </a:txBody>
                  <a:tcPr marL="91440" marR="91440" marT="45720" marB="45720"/>
                </a:tc>
                <a:tc>
                  <a:txBody>
                    <a:bodyPr/>
                    <a:lstStyle/>
                    <a:p>
                      <a:r>
                        <a:rPr sz="1575" b="0">
                          <a:solidFill>
                            <a:srgbClr val="16202A"/>
                          </a:solidFill>
                          <a:latin typeface="Arial"/>
                          <a:ea typeface="Arial"/>
                          <a:cs typeface="Arial"/>
                        </a:rPr>
                        <a:t>53 / 100</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8B2031A4-0830-47A4-99C1-F54918297302}"/>
              </a:ext>
            </a:extLst>
          </p:cNvPr>
          <p:cNvSpPr>
            <a:spLocks xmlns:a="http://schemas.openxmlformats.org/drawingml/2006/main" noGrp="1"/>
          </p:cNvSpPr>
          <p:nvPr/>
        </p:nvSpPr>
        <p:spPr>
          <a:xfrm xmlns:a="http://schemas.openxmlformats.org/drawingml/2006/main">
            <a:off x="714375" y="4619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a:solidFill>
                  <a:srgbClr val="0F243E"/>
                </a:solidFill>
                <a:latin typeface="Arial"/>
                <a:ea typeface="Arial"/>
                <a:cs typeface="Arial"/>
              </a:defRPr>
            </a:pPr>
            <a:r>
              <a:rPr sz="1725" b="1">
                <a:solidFill>
                  <a:srgbClr val="0F243E"/>
                </a:solidFill>
                <a:latin typeface="Arial"/>
                <a:ea typeface="Arial"/>
                <a:cs typeface="Arial"/>
              </a:rPr>
              <a:t>MAE RUL thấp thay đổi +0,0054 cycles, CI 95% [−0,0506; 0,0639].</a:t>
            </a:r>
          </a:p>
        </p:txBody>
      </p:sp>
      <p:sp>
        <p:nvSpPr>
          <p:cNvPr id="7" name="">
            <a:extLst xmlns:a="http://schemas.openxmlformats.org/drawingml/2006/main">
              <a:ext uri="{FF2B5EF4-FFF2-40B4-BE49-F238E27FC236}">
                <a16:creationId xmlns:a16="http://schemas.microsoft.com/office/drawing/2014/main" id="{20EC9E5F-B840-4E12-9781-52E7F074A5DE}"/>
              </a:ext>
            </a:extLst>
          </p:cNvPr>
          <p:cNvSpPr>
            <a:spLocks xmlns:a="http://schemas.openxmlformats.org/drawingml/2006/main" noGrp="1"/>
          </p:cNvSpPr>
          <p:nvPr/>
        </p:nvSpPr>
        <p:spPr>
          <a:xfrm xmlns:a="http://schemas.openxmlformats.org/drawingml/2006/main">
            <a:off x="714375" y="53340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a:solidFill>
                  <a:srgbClr val="16202A"/>
                </a:solidFill>
                <a:latin typeface="Arial"/>
                <a:ea typeface="Arial"/>
                <a:cs typeface="Arial"/>
              </a:defRPr>
            </a:pPr>
            <a:r>
              <a:rPr sz="1800" b="0">
                <a:solidFill>
                  <a:srgbClr val="16202A"/>
                </a:solidFill>
                <a:latin typeface="Arial"/>
                <a:ea typeface="Arial"/>
                <a:cs typeface="Arial"/>
              </a:rPr>
              <a:t>Cấu hình cuối trùng baseline. Test MAE giữ nguyên 15,3490 cycles.</a:t>
            </a:r>
          </a:p>
        </p:txBody>
      </p:sp>
    </p:spTree>
    <p:extLst>
      <p:ext uri="{BB962C8B-B14F-4D97-AF65-F5344CB8AC3E}">
        <p14:creationId xmlns:p14="http://schemas.microsoft.com/office/powerpoint/2010/main" val="106415639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91DEB7-210D-4453-B81C-FC32A6BDF26C}"/>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Giảm sai số có thể đi kèm đánh đổi</a:t>
            </a:r>
          </a:p>
        </p:txBody>
      </p:sp>
      <p:sp>
        <p:nvSpPr>
          <p:cNvPr id="2" name="">
            <a:extLst xmlns:a="http://schemas.openxmlformats.org/drawingml/2006/main">
              <a:ext uri="{FF2B5EF4-FFF2-40B4-BE49-F238E27FC236}">
                <a16:creationId xmlns:a16="http://schemas.microsoft.com/office/drawing/2014/main" id="{1DC390D2-F4E5-4535-BF34-2D3BA53E2407}"/>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Ví dụ trong inner CV trên toàn train, phục vụ chọn cấu hình</a:t>
            </a:r>
          </a:p>
        </p:txBody>
      </p:sp>
      <p:sp>
        <p:nvSpPr>
          <p:cNvPr id="3" name="">
            <a:extLst xmlns:a="http://schemas.openxmlformats.org/drawingml/2006/main">
              <a:ext uri="{FF2B5EF4-FFF2-40B4-BE49-F238E27FC236}">
                <a16:creationId xmlns:a16="http://schemas.microsoft.com/office/drawing/2014/main" id="{687B6976-B8EB-4637-A0ED-CA870B44884D}"/>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20260927_full/final_selection_metrics.csv</a:t>
            </a:r>
          </a:p>
        </p:txBody>
      </p:sp>
      <p:sp>
        <p:nvSpPr>
          <p:cNvPr id="4" name="">
            <a:extLst xmlns:a="http://schemas.openxmlformats.org/drawingml/2006/main">
              <a:ext uri="{FF2B5EF4-FFF2-40B4-BE49-F238E27FC236}">
                <a16:creationId xmlns:a16="http://schemas.microsoft.com/office/drawing/2014/main" id="{4B6B763B-0D56-4C5D-81A8-84F21C240DE1}"/>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16</a:t>
            </a:r>
          </a:p>
        </p:txBody>
      </p:sp>
      <p:graphicFrame>
        <p:nvGraphicFramePr>
          <p:cNvPr id="13" name=""/>
          <p:cNvGraphicFramePr/>
          <p:nvPr/>
        </p:nvGraphicFramePr>
        <p:xfrm>
          <a:off xmlns:a="http://schemas.openxmlformats.org/drawingml/2006/main" x="666750" y="1619250"/>
          <a:ext xmlns:a="http://schemas.openxmlformats.org/drawingml/2006/main" cx="10858500" cy="2190750"/>
        </p:xfrm>
        <a:graphic xmlns:a="http://schemas.openxmlformats.org/drawingml/2006/main">
          <a:graphicData uri="http://schemas.openxmlformats.org/drawingml/2006/table">
            <a:tbl>
              <a:tblPr firstRow="1" bandRow="1"/>
              <a:tblGrid>
                <a:gridCol w="2714625"/>
                <a:gridCol w="2714625"/>
                <a:gridCol w="2714625"/>
                <a:gridCol w="2714625"/>
              </a:tblGrid>
              <a:tr h="547688">
                <a:tc>
                  <a:txBody>
                    <a:bodyPr/>
                    <a:lstStyle/>
                    <a:p>
                      <a:r>
                        <a:rPr sz="1575" b="1">
                          <a:solidFill>
                            <a:srgbClr val="FFFFFF"/>
                          </a:solidFill>
                          <a:latin typeface="Arial"/>
                          <a:ea typeface="Arial"/>
                          <a:cs typeface="Arial"/>
                        </a:rPr>
                        <a:t>Ứng viên</a:t>
                      </a:r>
                    </a:p>
                  </a:txBody>
                  <a:tcPr marL="91440" marR="91440" marT="45720" marB="45720">
                    <a:solidFill>
                      <a:srgbClr val="0F243E"/>
                    </a:solidFill>
                  </a:tcPr>
                </a:tc>
                <a:tc>
                  <a:txBody>
                    <a:bodyPr/>
                    <a:lstStyle/>
                    <a:p>
                      <a:r>
                        <a:rPr sz="1575" b="1">
                          <a:solidFill>
                            <a:srgbClr val="FFFFFF"/>
                          </a:solidFill>
                          <a:latin typeface="Arial"/>
                          <a:ea typeface="Arial"/>
                          <a:cs typeface="Arial"/>
                        </a:rPr>
                        <a:t>MAE RUL ≤ 30</a:t>
                      </a:r>
                    </a:p>
                  </a:txBody>
                  <a:tcPr marL="91440" marR="91440" marT="45720" marB="45720">
                    <a:solidFill>
                      <a:srgbClr val="0F243E"/>
                    </a:solidFill>
                  </a:tcPr>
                </a:tc>
                <a:tc>
                  <a:txBody>
                    <a:bodyPr/>
                    <a:lstStyle/>
                    <a:p>
                      <a:r>
                        <a:rPr sz="1575" b="1">
                          <a:solidFill>
                            <a:srgbClr val="FFFFFF"/>
                          </a:solidFill>
                          <a:latin typeface="Arial"/>
                          <a:ea typeface="Arial"/>
                          <a:cs typeface="Arial"/>
                        </a:rPr>
                        <a:t>MAE toàn bộ</a:t>
                      </a:r>
                    </a:p>
                  </a:txBody>
                  <a:tcPr marL="91440" marR="91440" marT="45720" marB="45720">
                    <a:solidFill>
                      <a:srgbClr val="0F243E"/>
                    </a:solidFill>
                  </a:tcPr>
                </a:tc>
                <a:tc>
                  <a:txBody>
                    <a:bodyPr/>
                    <a:lstStyle/>
                    <a:p>
                      <a:r>
                        <a:rPr sz="1575" b="1">
                          <a:solidFill>
                            <a:srgbClr val="FFFFFF"/>
                          </a:solidFill>
                          <a:latin typeface="Arial"/>
                          <a:ea typeface="Arial"/>
                          <a:cs typeface="Arial"/>
                        </a:rPr>
                        <a:t>Trễ / bỏ lỡ</a:t>
                      </a:r>
                    </a:p>
                  </a:txBody>
                  <a:tcPr marL="91440" marR="91440" marT="45720" marB="45720">
                    <a:solidFill>
                      <a:srgbClr val="0F243E"/>
                    </a:solidFill>
                  </a:tcPr>
                </a:tc>
              </a:tr>
              <a:tr h="547688">
                <a:tc>
                  <a:txBody>
                    <a:bodyPr/>
                    <a:lstStyle/>
                    <a:p>
                      <a:r>
                        <a:rPr sz="1575" b="0">
                          <a:solidFill>
                            <a:srgbClr val="16202A"/>
                          </a:solidFill>
                          <a:latin typeface="Arial"/>
                          <a:ea typeface="Arial"/>
                          <a:cs typeface="Arial"/>
                        </a:rPr>
                        <a:t>Baseline</a:t>
                      </a:r>
                    </a:p>
                  </a:txBody>
                  <a:tcPr marL="91440" marR="91440" marT="45720" marB="45720"/>
                </a:tc>
                <a:tc>
                  <a:txBody>
                    <a:bodyPr/>
                    <a:lstStyle/>
                    <a:p>
                      <a:r>
                        <a:rPr sz="1575" b="0">
                          <a:solidFill>
                            <a:srgbClr val="16202A"/>
                          </a:solidFill>
                          <a:latin typeface="Arial"/>
                          <a:ea typeface="Arial"/>
                          <a:cs typeface="Arial"/>
                        </a:rPr>
                        <a:t>3,6148</a:t>
                      </a:r>
                    </a:p>
                  </a:txBody>
                  <a:tcPr marL="91440" marR="91440" marT="45720" marB="45720"/>
                </a:tc>
                <a:tc>
                  <a:txBody>
                    <a:bodyPr/>
                    <a:lstStyle/>
                    <a:p>
                      <a:r>
                        <a:rPr sz="1575" b="0">
                          <a:solidFill>
                            <a:srgbClr val="16202A"/>
                          </a:solidFill>
                          <a:latin typeface="Arial"/>
                          <a:ea typeface="Arial"/>
                          <a:cs typeface="Arial"/>
                        </a:rPr>
                        <a:t>20,3613</a:t>
                      </a:r>
                    </a:p>
                  </a:txBody>
                  <a:tcPr marL="91440" marR="91440" marT="45720" marB="45720"/>
                </a:tc>
                <a:tc>
                  <a:txBody>
                    <a:bodyPr/>
                    <a:lstStyle/>
                    <a:p>
                      <a:r>
                        <a:rPr sz="1575" b="0">
                          <a:solidFill>
                            <a:srgbClr val="16202A"/>
                          </a:solidFill>
                          <a:latin typeface="Arial"/>
                          <a:ea typeface="Arial"/>
                          <a:cs typeface="Arial"/>
                        </a:rPr>
                        <a:t>50 / 100</a:t>
                      </a:r>
                    </a:p>
                  </a:txBody>
                  <a:tcPr marL="91440" marR="91440" marT="45720" marB="45720"/>
                </a:tc>
              </a:tr>
              <a:tr h="547688">
                <a:tc>
                  <a:txBody>
                    <a:bodyPr/>
                    <a:lstStyle/>
                    <a:p>
                      <a:r>
                        <a:rPr sz="1575" b="0">
                          <a:solidFill>
                            <a:srgbClr val="16202A"/>
                          </a:solidFill>
                          <a:latin typeface="Arial"/>
                          <a:ea typeface="Arial"/>
                          <a:cs typeface="Arial"/>
                        </a:rPr>
                        <a:t>hgb_08</a:t>
                      </a:r>
                    </a:p>
                  </a:txBody>
                  <a:tcPr marL="91440" marR="91440" marT="45720" marB="45720"/>
                </a:tc>
                <a:tc>
                  <a:txBody>
                    <a:bodyPr/>
                    <a:lstStyle/>
                    <a:p>
                      <a:r>
                        <a:rPr sz="1575" b="0">
                          <a:solidFill>
                            <a:srgbClr val="16202A"/>
                          </a:solidFill>
                          <a:latin typeface="Arial"/>
                          <a:ea typeface="Arial"/>
                          <a:cs typeface="Arial"/>
                        </a:rPr>
                        <a:t>3,2625</a:t>
                      </a:r>
                    </a:p>
                  </a:txBody>
                  <a:tcPr marL="91440" marR="91440" marT="45720" marB="45720"/>
                </a:tc>
                <a:tc>
                  <a:txBody>
                    <a:bodyPr/>
                    <a:lstStyle/>
                    <a:p>
                      <a:r>
                        <a:rPr sz="1575" b="0">
                          <a:solidFill>
                            <a:srgbClr val="16202A"/>
                          </a:solidFill>
                          <a:latin typeface="Arial"/>
                          <a:ea typeface="Arial"/>
                          <a:cs typeface="Arial"/>
                        </a:rPr>
                        <a:t>20,6846</a:t>
                      </a:r>
                    </a:p>
                  </a:txBody>
                  <a:tcPr marL="91440" marR="91440" marT="45720" marB="45720"/>
                </a:tc>
                <a:tc>
                  <a:txBody>
                    <a:bodyPr/>
                    <a:lstStyle/>
                    <a:p>
                      <a:r>
                        <a:rPr sz="1575" b="0">
                          <a:solidFill>
                            <a:srgbClr val="16202A"/>
                          </a:solidFill>
                          <a:latin typeface="Arial"/>
                          <a:ea typeface="Arial"/>
                          <a:cs typeface="Arial"/>
                        </a:rPr>
                        <a:t>49 / 100</a:t>
                      </a:r>
                    </a:p>
                  </a:txBody>
                  <a:tcPr marL="91440" marR="91440" marT="45720" marB="45720"/>
                </a:tc>
              </a:tr>
              <a:tr h="547688">
                <a:tc>
                  <a:txBody>
                    <a:bodyPr/>
                    <a:lstStyle/>
                    <a:p>
                      <a:r>
                        <a:rPr sz="1575" b="0">
                          <a:solidFill>
                            <a:srgbClr val="16202A"/>
                          </a:solidFill>
                          <a:latin typeface="Arial"/>
                          <a:ea typeface="Arial"/>
                          <a:cs typeface="Arial"/>
                        </a:rPr>
                        <a:t>Ưu tiên RUL thấp cao</a:t>
                      </a:r>
                    </a:p>
                  </a:txBody>
                  <a:tcPr marL="91440" marR="91440" marT="45720" marB="45720"/>
                </a:tc>
                <a:tc>
                  <a:txBody>
                    <a:bodyPr/>
                    <a:lstStyle/>
                    <a:p>
                      <a:r>
                        <a:rPr sz="1575" b="0">
                          <a:solidFill>
                            <a:srgbClr val="16202A"/>
                          </a:solidFill>
                          <a:latin typeface="Arial"/>
                          <a:ea typeface="Arial"/>
                          <a:cs typeface="Arial"/>
                        </a:rPr>
                        <a:t>3,3901</a:t>
                      </a:r>
                    </a:p>
                  </a:txBody>
                  <a:tcPr marL="91440" marR="91440" marT="45720" marB="45720"/>
                </a:tc>
                <a:tc>
                  <a:txBody>
                    <a:bodyPr/>
                    <a:lstStyle/>
                    <a:p>
                      <a:r>
                        <a:rPr sz="1575" b="0">
                          <a:solidFill>
                            <a:srgbClr val="16202A"/>
                          </a:solidFill>
                          <a:latin typeface="Arial"/>
                          <a:ea typeface="Arial"/>
                          <a:cs typeface="Arial"/>
                        </a:rPr>
                        <a:t>20,4072</a:t>
                      </a:r>
                    </a:p>
                  </a:txBody>
                  <a:tcPr marL="91440" marR="91440" marT="45720" marB="45720"/>
                </a:tc>
                <a:tc>
                  <a:txBody>
                    <a:bodyPr/>
                    <a:lstStyle/>
                    <a:p>
                      <a:r>
                        <a:rPr sz="1575" b="0">
                          <a:solidFill>
                            <a:srgbClr val="16202A"/>
                          </a:solidFill>
                          <a:latin typeface="Arial"/>
                          <a:ea typeface="Arial"/>
                          <a:cs typeface="Arial"/>
                        </a:rPr>
                        <a:t>47 / 100</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140675A1-B358-47D9-8211-685E961051A7}"/>
              </a:ext>
            </a:extLst>
          </p:cNvPr>
          <p:cNvSpPr>
            <a:spLocks xmlns:a="http://schemas.openxmlformats.org/drawingml/2006/main" noGrp="1"/>
          </p:cNvSpPr>
          <p:nvPr/>
        </p:nvSpPr>
        <p:spPr>
          <a:xfrm xmlns:a="http://schemas.openxmlformats.org/drawingml/2006/main">
            <a:off x="714375" y="42862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Lý do chưa thay model</a:t>
            </a:r>
          </a:p>
        </p:txBody>
      </p:sp>
      <p:sp>
        <p:nvSpPr>
          <p:cNvPr id="7" name="">
            <a:extLst xmlns:a="http://schemas.openxmlformats.org/drawingml/2006/main">
              <a:ext uri="{FF2B5EF4-FFF2-40B4-BE49-F238E27FC236}">
                <a16:creationId xmlns:a16="http://schemas.microsoft.com/office/drawing/2014/main" id="{B9ED52AE-F227-42DA-8037-D8EC0D01FA36}"/>
              </a:ext>
            </a:extLst>
          </p:cNvPr>
          <p:cNvSpPr>
            <a:spLocks xmlns:a="http://schemas.openxmlformats.org/drawingml/2006/main" noGrp="1"/>
          </p:cNvSpPr>
          <p:nvPr/>
        </p:nvSpPr>
        <p:spPr>
          <a:xfrm xmlns:a="http://schemas.openxmlformats.org/drawingml/2006/main">
            <a:off x="714375" y="466725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hgb_08 giảm sai số RUL thấp khoảng 9,75% nhưng tăng MAE toàn bộ. Phương án trọng số cao còn tăng thời gian báo sớm.</a:t>
            </a:r>
          </a:p>
        </p:txBody>
      </p:sp>
      <p:sp>
        <p:nvSpPr>
          <p:cNvPr id="8" name="">
            <a:extLst xmlns:a="http://schemas.openxmlformats.org/drawingml/2006/main">
              <a:ext uri="{FF2B5EF4-FFF2-40B4-BE49-F238E27FC236}">
                <a16:creationId xmlns:a16="http://schemas.microsoft.com/office/drawing/2014/main" id="{1C821484-2E9A-489A-901A-677C734ED3E6}"/>
              </a:ext>
            </a:extLst>
          </p:cNvPr>
          <p:cNvSpPr>
            <a:spLocks xmlns:a="http://schemas.openxmlformats.org/drawingml/2006/main" noGrp="1"/>
          </p:cNvSpPr>
          <p:nvPr/>
        </p:nvSpPr>
        <p:spPr>
          <a:xfrm xmlns:a="http://schemas.openxmlformats.org/drawingml/2006/main">
            <a:off x="714375" y="57626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F243E"/>
                </a:solidFill>
                <a:latin typeface="Arial"/>
                <a:ea typeface="Arial"/>
                <a:cs typeface="Arial"/>
              </a:defRPr>
            </a:pPr>
            <a:r>
              <a:rPr sz="1575" b="1">
                <a:solidFill>
                  <a:srgbClr val="0F243E"/>
                </a:solidFill>
                <a:latin typeface="Arial"/>
                <a:ea typeface="Arial"/>
                <a:cs typeface="Arial"/>
              </a:rPr>
              <a:t>Đợt tiếp theo cần chốt mức đánh đổi chấp nhận được trước khi thử lại.</a:t>
            </a:r>
          </a:p>
        </p:txBody>
      </p:sp>
    </p:spTree>
    <p:extLst>
      <p:ext uri="{BB962C8B-B14F-4D97-AF65-F5344CB8AC3E}">
        <p14:creationId xmlns:p14="http://schemas.microsoft.com/office/powerpoint/2010/main" val="117267371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E6F597-DE63-406E-86A8-782AB3392698}"/>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Kết luận và giới hạn</a:t>
            </a:r>
          </a:p>
        </p:txBody>
      </p:sp>
      <p:sp>
        <p:nvSpPr>
          <p:cNvPr id="2" name="">
            <a:extLst xmlns:a="http://schemas.openxmlformats.org/drawingml/2006/main">
              <a:ext uri="{FF2B5EF4-FFF2-40B4-BE49-F238E27FC236}">
                <a16:creationId xmlns:a16="http://schemas.microsoft.com/office/drawing/2014/main" id="{DD68E398-3833-4AD0-B74C-D8C90ADCB691}"/>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Kết quả chính trên FD001 và bằng chứng chuyển miền trong C-MAPSS</a:t>
            </a:r>
          </a:p>
        </p:txBody>
      </p:sp>
      <p:sp>
        <p:nvSpPr>
          <p:cNvPr id="3" name="">
            <a:extLst xmlns:a="http://schemas.openxmlformats.org/drawingml/2006/main">
              <a:ext uri="{FF2B5EF4-FFF2-40B4-BE49-F238E27FC236}">
                <a16:creationId xmlns:a16="http://schemas.microsoft.com/office/drawing/2014/main" id="{F07D4E4B-81DC-4841-B9B5-485D13C6908A}"/>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report/sections/conclusion.tex; outputs/cross_dataset/matrix.json</a:t>
            </a:r>
          </a:p>
        </p:txBody>
      </p:sp>
      <p:sp>
        <p:nvSpPr>
          <p:cNvPr id="4" name="">
            <a:extLst xmlns:a="http://schemas.openxmlformats.org/drawingml/2006/main">
              <a:ext uri="{FF2B5EF4-FFF2-40B4-BE49-F238E27FC236}">
                <a16:creationId xmlns:a16="http://schemas.microsoft.com/office/drawing/2014/main" id="{B84F7688-69DA-4792-9184-8D407A66DB35}"/>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EB40D202-ACA0-49F1-B359-1A9A78D147B4}"/>
              </a:ext>
            </a:extLst>
          </p:cNvPr>
          <p:cNvSpPr>
            <a:spLocks xmlns:a="http://schemas.openxmlformats.org/drawingml/2006/main" noGrp="1"/>
          </p:cNvSpPr>
          <p:nvPr/>
        </p:nvSpPr>
        <p:spPr>
          <a:xfrm xmlns:a="http://schemas.openxmlformats.org/drawingml/2006/main">
            <a:off x="714375" y="16192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Kết quả chính</a:t>
            </a:r>
          </a:p>
        </p:txBody>
      </p:sp>
      <p:sp>
        <p:nvSpPr>
          <p:cNvPr id="6" name="">
            <a:extLst xmlns:a="http://schemas.openxmlformats.org/drawingml/2006/main">
              <a:ext uri="{FF2B5EF4-FFF2-40B4-BE49-F238E27FC236}">
                <a16:creationId xmlns:a16="http://schemas.microsoft.com/office/drawing/2014/main" id="{EC55127C-CFC4-4B0D-AA75-EDBE546144B5}"/>
              </a:ext>
            </a:extLst>
          </p:cNvPr>
          <p:cNvSpPr>
            <a:spLocks xmlns:a="http://schemas.openxmlformats.org/drawingml/2006/main" noGrp="1"/>
          </p:cNvSpPr>
          <p:nvPr/>
        </p:nvSpPr>
        <p:spPr>
          <a:xfrm xmlns:a="http://schemas.openxmlformats.org/drawingml/2006/main">
            <a:off x="714375" y="2000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HistGradientBoosting đạt MAE 15,3490 cycles trên 100 test engines; CI 95% [12,7286; 18,0866].</a:t>
            </a:r>
          </a:p>
        </p:txBody>
      </p:sp>
      <p:sp>
        <p:nvSpPr>
          <p:cNvPr id="7" name="">
            <a:extLst xmlns:a="http://schemas.openxmlformats.org/drawingml/2006/main">
              <a:ext uri="{FF2B5EF4-FFF2-40B4-BE49-F238E27FC236}">
                <a16:creationId xmlns:a16="http://schemas.microsoft.com/office/drawing/2014/main" id="{653970EE-1659-4F02-BFBC-75A477C76F45}"/>
              </a:ext>
            </a:extLst>
          </p:cNvPr>
          <p:cNvSpPr>
            <a:spLocks xmlns:a="http://schemas.openxmlformats.org/drawingml/2006/main" noGrp="1"/>
          </p:cNvSpPr>
          <p:nvPr/>
        </p:nvSpPr>
        <p:spPr>
          <a:xfrm xmlns:a="http://schemas.openxmlformats.org/drawingml/2006/main">
            <a:off x="714375" y="31432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Giới hạn cần nhớ</a:t>
            </a:r>
          </a:p>
        </p:txBody>
      </p:sp>
      <p:sp>
        <p:nvSpPr>
          <p:cNvPr id="8" name="">
            <a:extLst xmlns:a="http://schemas.openxmlformats.org/drawingml/2006/main">
              <a:ext uri="{FF2B5EF4-FFF2-40B4-BE49-F238E27FC236}">
                <a16:creationId xmlns:a16="http://schemas.microsoft.com/office/drawing/2014/main" id="{76F83EF9-4987-4C1C-8CAA-7330395B3F47}"/>
              </a:ext>
            </a:extLst>
          </p:cNvPr>
          <p:cNvSpPr>
            <a:spLocks xmlns:a="http://schemas.openxmlformats.org/drawingml/2006/main" noGrp="1"/>
          </p:cNvSpPr>
          <p:nvPr/>
        </p:nvSpPr>
        <p:spPr>
          <a:xfrm xmlns:a="http://schemas.openxmlformats.org/drawingml/2006/main">
            <a:off x="714375" y="3524250"/>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Kết quả chính FD001 dùng window 30; ma trận transfer dùng window 10. Test chỉ đánh giá một điểm cắt mỗi engine. Đợt nested CV bổ sung chưa cải thiện các tiêu chí đã chốt.</a:t>
            </a:r>
          </a:p>
        </p:txBody>
      </p:sp>
      <p:sp>
        <p:nvSpPr>
          <p:cNvPr id="9" name="">
            <a:extLst xmlns:a="http://schemas.openxmlformats.org/drawingml/2006/main">
              <a:ext uri="{FF2B5EF4-FFF2-40B4-BE49-F238E27FC236}">
                <a16:creationId xmlns:a16="http://schemas.microsoft.com/office/drawing/2014/main" id="{7C24A1F4-E6E3-413F-94FB-2E76A93B71D0}"/>
              </a:ext>
            </a:extLst>
          </p:cNvPr>
          <p:cNvSpPr>
            <a:spLocks xmlns:a="http://schemas.openxmlformats.org/drawingml/2006/main" noGrp="1"/>
          </p:cNvSpPr>
          <p:nvPr/>
        </p:nvSpPr>
        <p:spPr>
          <a:xfrm xmlns:a="http://schemas.openxmlformats.org/drawingml/2006/main">
            <a:off x="714375" y="49053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Bước nghiên cứu tiếp</a:t>
            </a:r>
          </a:p>
        </p:txBody>
      </p:sp>
      <p:sp>
        <p:nvSpPr>
          <p:cNvPr id="10" name="">
            <a:extLst xmlns:a="http://schemas.openxmlformats.org/drawingml/2006/main">
              <a:ext uri="{FF2B5EF4-FFF2-40B4-BE49-F238E27FC236}">
                <a16:creationId xmlns:a16="http://schemas.microsoft.com/office/drawing/2014/main" id="{173E1E94-CA9A-41C9-8BAD-CB1D75F4D4F1}"/>
              </a:ext>
            </a:extLst>
          </p:cNvPr>
          <p:cNvSpPr>
            <a:spLocks xmlns:a="http://schemas.openxmlformats.org/drawingml/2006/main" noGrp="1"/>
          </p:cNvSpPr>
          <p:nvPr/>
        </p:nvSpPr>
        <p:spPr>
          <a:xfrm xmlns:a="http://schemas.openxmlformats.org/drawingml/2006/main">
            <a:off x="714375" y="52863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Chốt mức đánh đổi cho vùng RUL thấp, thử đặc trưng mới trong training fold, rồi đánh giá bằng protocol mới đã công bố trước.</a:t>
            </a:r>
          </a:p>
        </p:txBody>
      </p:sp>
    </p:spTree>
    <p:extLst>
      <p:ext uri="{BB962C8B-B14F-4D97-AF65-F5344CB8AC3E}">
        <p14:creationId xmlns:p14="http://schemas.microsoft.com/office/powerpoint/2010/main" val="106797134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FFD5B0-FC5A-4C16-B698-FC3FC6CCC76A}"/>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Transfer giữa các subset C-MAPSS</a:t>
            </a:r>
          </a:p>
        </p:txBody>
      </p:sp>
      <p:sp>
        <p:nvSpPr>
          <p:cNvPr id="2" name="">
            <a:extLst xmlns:a="http://schemas.openxmlformats.org/drawingml/2006/main">
              <a:ext uri="{FF2B5EF4-FFF2-40B4-BE49-F238E27FC236}">
                <a16:creationId xmlns:a16="http://schemas.microsoft.com/office/drawing/2014/main" id="{05C2E80A-6720-4E45-B089-FCCBA1AAE482}"/>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Window 10 cho phép giữ đủ test engines trong FD001–FD004</a:t>
            </a:r>
          </a:p>
        </p:txBody>
      </p:sp>
      <p:sp>
        <p:nvSpPr>
          <p:cNvPr id="3" name="">
            <a:extLst xmlns:a="http://schemas.openxmlformats.org/drawingml/2006/main">
              <a:ext uri="{FF2B5EF4-FFF2-40B4-BE49-F238E27FC236}">
                <a16:creationId xmlns:a16="http://schemas.microsoft.com/office/drawing/2014/main" id="{40BC05FE-59E6-44E6-9E89-FBD66F4D7A7B}"/>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outputs/cross_dataset/matrix.json; outputs/cross_dataset/README.md</a:t>
            </a:r>
          </a:p>
        </p:txBody>
      </p:sp>
      <p:sp>
        <p:nvSpPr>
          <p:cNvPr id="4" name="">
            <a:extLst xmlns:a="http://schemas.openxmlformats.org/drawingml/2006/main">
              <a:ext uri="{FF2B5EF4-FFF2-40B4-BE49-F238E27FC236}">
                <a16:creationId xmlns:a16="http://schemas.microsoft.com/office/drawing/2014/main" id="{796323EF-344A-43AF-9649-CF11804C2B71}"/>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18</a:t>
            </a:r>
          </a:p>
        </p:txBody>
      </p:sp>
      <p:graphicFrame>
        <p:nvGraphicFramePr>
          <p:cNvPr id="12" name=""/>
          <p:cNvGraphicFramePr/>
          <p:nvPr/>
        </p:nvGraphicFramePr>
        <p:xfrm>
          <a:off xmlns:a="http://schemas.openxmlformats.org/drawingml/2006/main" x="666750" y="1381125"/>
          <a:ext xmlns:a="http://schemas.openxmlformats.org/drawingml/2006/main" cx="10858500" cy="3667125"/>
        </p:xfrm>
        <a:graphic xmlns:a="http://schemas.openxmlformats.org/drawingml/2006/main">
          <a:graphicData uri="http://schemas.openxmlformats.org/drawingml/2006/table">
            <a:tbl>
              <a:tblPr firstRow="1" bandRow="1"/>
              <a:tblGrid>
                <a:gridCol w="2714625"/>
                <a:gridCol w="2714625"/>
                <a:gridCol w="2714625"/>
                <a:gridCol w="2714625"/>
              </a:tblGrid>
              <a:tr h="458391">
                <a:tc>
                  <a:txBody>
                    <a:bodyPr/>
                    <a:lstStyle/>
                    <a:p>
                      <a:r>
                        <a:rPr sz="1200" b="1">
                          <a:solidFill>
                            <a:srgbClr val="FFFFFF"/>
                          </a:solidFill>
                          <a:latin typeface="Arial"/>
                          <a:ea typeface="Arial"/>
                          <a:cs typeface="Arial"/>
                        </a:rPr>
                        <a:t>Train → Test</a:t>
                      </a:r>
                    </a:p>
                  </a:txBody>
                  <a:tcPr marL="91440" marR="91440" marT="45720" marB="45720">
                    <a:solidFill>
                      <a:srgbClr val="0F243E"/>
                    </a:solidFill>
                  </a:tcPr>
                </a:tc>
                <a:tc>
                  <a:txBody>
                    <a:bodyPr/>
                    <a:lstStyle/>
                    <a:p>
                      <a:r>
                        <a:rPr sz="1200" b="1">
                          <a:solidFill>
                            <a:srgbClr val="FFFFFF"/>
                          </a:solidFill>
                          <a:latin typeface="Arial"/>
                          <a:ea typeface="Arial"/>
                          <a:cs typeface="Arial"/>
                        </a:rPr>
                        <a:t>Loại</a:t>
                      </a:r>
                    </a:p>
                  </a:txBody>
                  <a:tcPr marL="91440" marR="91440" marT="45720" marB="45720">
                    <a:solidFill>
                      <a:srgbClr val="0F243E"/>
                    </a:solidFill>
                  </a:tcPr>
                </a:tc>
                <a:tc>
                  <a:txBody>
                    <a:bodyPr/>
                    <a:lstStyle/>
                    <a:p>
                      <a:r>
                        <a:rPr sz="1200" b="1">
                          <a:solidFill>
                            <a:srgbClr val="FFFFFF"/>
                          </a:solidFill>
                          <a:latin typeface="Arial"/>
                          <a:ea typeface="Arial"/>
                          <a:cs typeface="Arial"/>
                        </a:rPr>
                        <a:t>MAE (cycles)</a:t>
                      </a:r>
                    </a:p>
                  </a:txBody>
                  <a:tcPr marL="91440" marR="91440" marT="45720" marB="45720">
                    <a:solidFill>
                      <a:srgbClr val="0F243E"/>
                    </a:solidFill>
                  </a:tcPr>
                </a:tc>
                <a:tc>
                  <a:txBody>
                    <a:bodyPr/>
                    <a:lstStyle/>
                    <a:p>
                      <a:r>
                        <a:rPr sz="1200" b="1">
                          <a:solidFill>
                            <a:srgbClr val="FFFFFF"/>
                          </a:solidFill>
                          <a:latin typeface="Arial"/>
                          <a:ea typeface="Arial"/>
                          <a:cs typeface="Arial"/>
                        </a:rPr>
                        <a:t>RMSE (cycles)</a:t>
                      </a:r>
                    </a:p>
                  </a:txBody>
                  <a:tcPr marL="91440" marR="91440" marT="45720" marB="45720">
                    <a:solidFill>
                      <a:srgbClr val="0F243E"/>
                    </a:solidFill>
                  </a:tcPr>
                </a:tc>
              </a:tr>
              <a:tr h="458391">
                <a:tc>
                  <a:txBody>
                    <a:bodyPr/>
                    <a:lstStyle/>
                    <a:p>
                      <a:r>
                        <a:rPr sz="1200" b="0">
                          <a:solidFill>
                            <a:srgbClr val="16202A"/>
                          </a:solidFill>
                          <a:latin typeface="Arial"/>
                          <a:ea typeface="Arial"/>
                          <a:cs typeface="Arial"/>
                        </a:rPr>
                        <a:t>FD001 → FD001</a:t>
                      </a:r>
                    </a:p>
                  </a:txBody>
                  <a:tcPr marL="91440" marR="91440" marT="45720" marB="45720"/>
                </a:tc>
                <a:tc>
                  <a:txBody>
                    <a:bodyPr/>
                    <a:lstStyle/>
                    <a:p>
                      <a:r>
                        <a:rPr sz="1200" b="0">
                          <a:solidFill>
                            <a:srgbClr val="16202A"/>
                          </a:solidFill>
                          <a:latin typeface="Arial"/>
                          <a:ea typeface="Arial"/>
                          <a:cs typeface="Arial"/>
                        </a:rPr>
                        <a:t>Nội bộ</a:t>
                      </a:r>
                    </a:p>
                  </a:txBody>
                  <a:tcPr marL="91440" marR="91440" marT="45720" marB="45720"/>
                </a:tc>
                <a:tc>
                  <a:txBody>
                    <a:bodyPr/>
                    <a:lstStyle/>
                    <a:p>
                      <a:r>
                        <a:rPr sz="1200" b="0">
                          <a:solidFill>
                            <a:srgbClr val="16202A"/>
                          </a:solidFill>
                          <a:latin typeface="Arial"/>
                          <a:ea typeface="Arial"/>
                          <a:cs typeface="Arial"/>
                        </a:rPr>
                        <a:t>21,9258</a:t>
                      </a:r>
                    </a:p>
                  </a:txBody>
                  <a:tcPr marL="91440" marR="91440" marT="45720" marB="45720"/>
                </a:tc>
                <a:tc>
                  <a:txBody>
                    <a:bodyPr/>
                    <a:lstStyle/>
                    <a:p>
                      <a:r>
                        <a:rPr sz="1200" b="0">
                          <a:solidFill>
                            <a:srgbClr val="16202A"/>
                          </a:solidFill>
                          <a:latin typeface="Arial"/>
                          <a:ea typeface="Arial"/>
                          <a:cs typeface="Arial"/>
                        </a:rPr>
                        <a:t>29,5936</a:t>
                      </a:r>
                    </a:p>
                  </a:txBody>
                  <a:tcPr marL="91440" marR="91440" marT="45720" marB="45720"/>
                </a:tc>
              </a:tr>
              <a:tr h="458391">
                <a:tc>
                  <a:txBody>
                    <a:bodyPr/>
                    <a:lstStyle/>
                    <a:p>
                      <a:r>
                        <a:rPr sz="1200" b="0">
                          <a:solidFill>
                            <a:srgbClr val="16202A"/>
                          </a:solidFill>
                          <a:latin typeface="Arial"/>
                          <a:ea typeface="Arial"/>
                          <a:cs typeface="Arial"/>
                        </a:rPr>
                        <a:t>FD002 → FD002</a:t>
                      </a:r>
                    </a:p>
                  </a:txBody>
                  <a:tcPr marL="91440" marR="91440" marT="45720" marB="45720"/>
                </a:tc>
                <a:tc>
                  <a:txBody>
                    <a:bodyPr/>
                    <a:lstStyle/>
                    <a:p>
                      <a:r>
                        <a:rPr sz="1200" b="0">
                          <a:solidFill>
                            <a:srgbClr val="16202A"/>
                          </a:solidFill>
                          <a:latin typeface="Arial"/>
                          <a:ea typeface="Arial"/>
                          <a:cs typeface="Arial"/>
                        </a:rPr>
                        <a:t>Nội bộ</a:t>
                      </a:r>
                    </a:p>
                  </a:txBody>
                  <a:tcPr marL="91440" marR="91440" marT="45720" marB="45720"/>
                </a:tc>
                <a:tc>
                  <a:txBody>
                    <a:bodyPr/>
                    <a:lstStyle/>
                    <a:p>
                      <a:r>
                        <a:rPr sz="1200" b="0">
                          <a:solidFill>
                            <a:srgbClr val="16202A"/>
                          </a:solidFill>
                          <a:latin typeface="Arial"/>
                          <a:ea typeface="Arial"/>
                          <a:cs typeface="Arial"/>
                        </a:rPr>
                        <a:t>22,3556</a:t>
                      </a:r>
                    </a:p>
                  </a:txBody>
                  <a:tcPr marL="91440" marR="91440" marT="45720" marB="45720"/>
                </a:tc>
                <a:tc>
                  <a:txBody>
                    <a:bodyPr/>
                    <a:lstStyle/>
                    <a:p>
                      <a:r>
                        <a:rPr sz="1200" b="0">
                          <a:solidFill>
                            <a:srgbClr val="16202A"/>
                          </a:solidFill>
                          <a:latin typeface="Arial"/>
                          <a:ea typeface="Arial"/>
                          <a:cs typeface="Arial"/>
                        </a:rPr>
                        <a:t>31,3077</a:t>
                      </a:r>
                    </a:p>
                  </a:txBody>
                  <a:tcPr marL="91440" marR="91440" marT="45720" marB="45720"/>
                </a:tc>
              </a:tr>
              <a:tr h="458391">
                <a:tc>
                  <a:txBody>
                    <a:bodyPr/>
                    <a:lstStyle/>
                    <a:p>
                      <a:r>
                        <a:rPr sz="1200" b="0">
                          <a:solidFill>
                            <a:srgbClr val="16202A"/>
                          </a:solidFill>
                          <a:latin typeface="Arial"/>
                          <a:ea typeface="Arial"/>
                          <a:cs typeface="Arial"/>
                        </a:rPr>
                        <a:t>FD003 → FD003</a:t>
                      </a:r>
                    </a:p>
                  </a:txBody>
                  <a:tcPr marL="91440" marR="91440" marT="45720" marB="45720"/>
                </a:tc>
                <a:tc>
                  <a:txBody>
                    <a:bodyPr/>
                    <a:lstStyle/>
                    <a:p>
                      <a:r>
                        <a:rPr sz="1200" b="0">
                          <a:solidFill>
                            <a:srgbClr val="16202A"/>
                          </a:solidFill>
                          <a:latin typeface="Arial"/>
                          <a:ea typeface="Arial"/>
                          <a:cs typeface="Arial"/>
                        </a:rPr>
                        <a:t>Nội bộ</a:t>
                      </a:r>
                    </a:p>
                  </a:txBody>
                  <a:tcPr marL="91440" marR="91440" marT="45720" marB="45720"/>
                </a:tc>
                <a:tc>
                  <a:txBody>
                    <a:bodyPr/>
                    <a:lstStyle/>
                    <a:p>
                      <a:r>
                        <a:rPr sz="1200" b="0">
                          <a:solidFill>
                            <a:srgbClr val="16202A"/>
                          </a:solidFill>
                          <a:latin typeface="Arial"/>
                          <a:ea typeface="Arial"/>
                          <a:cs typeface="Arial"/>
                        </a:rPr>
                        <a:t>28,3255</a:t>
                      </a:r>
                    </a:p>
                  </a:txBody>
                  <a:tcPr marL="91440" marR="91440" marT="45720" marB="45720"/>
                </a:tc>
                <a:tc>
                  <a:txBody>
                    <a:bodyPr/>
                    <a:lstStyle/>
                    <a:p>
                      <a:r>
                        <a:rPr sz="1200" b="0">
                          <a:solidFill>
                            <a:srgbClr val="16202A"/>
                          </a:solidFill>
                          <a:latin typeface="Arial"/>
                          <a:ea typeface="Arial"/>
                          <a:cs typeface="Arial"/>
                        </a:rPr>
                        <a:t>41,7606</a:t>
                      </a:r>
                    </a:p>
                  </a:txBody>
                  <a:tcPr marL="91440" marR="91440" marT="45720" marB="45720"/>
                </a:tc>
              </a:tr>
              <a:tr h="458391">
                <a:tc>
                  <a:txBody>
                    <a:bodyPr/>
                    <a:lstStyle/>
                    <a:p>
                      <a:r>
                        <a:rPr sz="1200" b="0">
                          <a:solidFill>
                            <a:srgbClr val="16202A"/>
                          </a:solidFill>
                          <a:latin typeface="Arial"/>
                          <a:ea typeface="Arial"/>
                          <a:cs typeface="Arial"/>
                        </a:rPr>
                        <a:t>FD004 → FD004</a:t>
                      </a:r>
                    </a:p>
                  </a:txBody>
                  <a:tcPr marL="91440" marR="91440" marT="45720" marB="45720"/>
                </a:tc>
                <a:tc>
                  <a:txBody>
                    <a:bodyPr/>
                    <a:lstStyle/>
                    <a:p>
                      <a:r>
                        <a:rPr sz="1200" b="0">
                          <a:solidFill>
                            <a:srgbClr val="16202A"/>
                          </a:solidFill>
                          <a:latin typeface="Arial"/>
                          <a:ea typeface="Arial"/>
                          <a:cs typeface="Arial"/>
                        </a:rPr>
                        <a:t>Nội bộ</a:t>
                      </a:r>
                    </a:p>
                  </a:txBody>
                  <a:tcPr marL="91440" marR="91440" marT="45720" marB="45720"/>
                </a:tc>
                <a:tc>
                  <a:txBody>
                    <a:bodyPr/>
                    <a:lstStyle/>
                    <a:p>
                      <a:r>
                        <a:rPr sz="1200" b="0">
                          <a:solidFill>
                            <a:srgbClr val="16202A"/>
                          </a:solidFill>
                          <a:latin typeface="Arial"/>
                          <a:ea typeface="Arial"/>
                          <a:cs typeface="Arial"/>
                        </a:rPr>
                        <a:t>27,2218</a:t>
                      </a:r>
                    </a:p>
                  </a:txBody>
                  <a:tcPr marL="91440" marR="91440" marT="45720" marB="45720"/>
                </a:tc>
                <a:tc>
                  <a:txBody>
                    <a:bodyPr/>
                    <a:lstStyle/>
                    <a:p>
                      <a:r>
                        <a:rPr sz="1200" b="0">
                          <a:solidFill>
                            <a:srgbClr val="16202A"/>
                          </a:solidFill>
                          <a:latin typeface="Arial"/>
                          <a:ea typeface="Arial"/>
                          <a:cs typeface="Arial"/>
                        </a:rPr>
                        <a:t>36,9311</a:t>
                      </a:r>
                    </a:p>
                  </a:txBody>
                  <a:tcPr marL="91440" marR="91440" marT="45720" marB="45720"/>
                </a:tc>
              </a:tr>
              <a:tr h="458391">
                <a:tc>
                  <a:txBody>
                    <a:bodyPr/>
                    <a:lstStyle/>
                    <a:p>
                      <a:r>
                        <a:rPr sz="1200" b="0">
                          <a:solidFill>
                            <a:srgbClr val="16202A"/>
                          </a:solidFill>
                          <a:latin typeface="Arial"/>
                          <a:ea typeface="Arial"/>
                          <a:cs typeface="Arial"/>
                        </a:rPr>
                        <a:t>FD001 → FD002</a:t>
                      </a:r>
                    </a:p>
                  </a:txBody>
                  <a:tcPr marL="91440" marR="91440" marT="45720" marB="45720"/>
                </a:tc>
                <a:tc>
                  <a:txBody>
                    <a:bodyPr/>
                    <a:lstStyle/>
                    <a:p>
                      <a:r>
                        <a:rPr sz="1200" b="0">
                          <a:solidFill>
                            <a:srgbClr val="16202A"/>
                          </a:solidFill>
                          <a:latin typeface="Arial"/>
                          <a:ea typeface="Arial"/>
                          <a:cs typeface="Arial"/>
                        </a:rPr>
                        <a:t>Transfer</a:t>
                      </a:r>
                    </a:p>
                  </a:txBody>
                  <a:tcPr marL="91440" marR="91440" marT="45720" marB="45720"/>
                </a:tc>
                <a:tc>
                  <a:txBody>
                    <a:bodyPr/>
                    <a:lstStyle/>
                    <a:p>
                      <a:r>
                        <a:rPr sz="1200" b="0">
                          <a:solidFill>
                            <a:srgbClr val="16202A"/>
                          </a:solidFill>
                          <a:latin typeface="Arial"/>
                          <a:ea typeface="Arial"/>
                          <a:cs typeface="Arial"/>
                        </a:rPr>
                        <a:t>60,3215</a:t>
                      </a:r>
                    </a:p>
                  </a:txBody>
                  <a:tcPr marL="91440" marR="91440" marT="45720" marB="45720"/>
                </a:tc>
                <a:tc>
                  <a:txBody>
                    <a:bodyPr/>
                    <a:lstStyle/>
                    <a:p>
                      <a:r>
                        <a:rPr sz="1200" b="0">
                          <a:solidFill>
                            <a:srgbClr val="16202A"/>
                          </a:solidFill>
                          <a:latin typeface="Arial"/>
                          <a:ea typeface="Arial"/>
                          <a:cs typeface="Arial"/>
                        </a:rPr>
                        <a:t>70,4603</a:t>
                      </a:r>
                    </a:p>
                  </a:txBody>
                  <a:tcPr marL="91440" marR="91440" marT="45720" marB="45720"/>
                </a:tc>
              </a:tr>
              <a:tr h="458391">
                <a:tc>
                  <a:txBody>
                    <a:bodyPr/>
                    <a:lstStyle/>
                    <a:p>
                      <a:r>
                        <a:rPr sz="1200" b="0">
                          <a:solidFill>
                            <a:srgbClr val="16202A"/>
                          </a:solidFill>
                          <a:latin typeface="Arial"/>
                          <a:ea typeface="Arial"/>
                          <a:cs typeface="Arial"/>
                        </a:rPr>
                        <a:t>FD001 → FD003</a:t>
                      </a:r>
                    </a:p>
                  </a:txBody>
                  <a:tcPr marL="91440" marR="91440" marT="45720" marB="45720"/>
                </a:tc>
                <a:tc>
                  <a:txBody>
                    <a:bodyPr/>
                    <a:lstStyle/>
                    <a:p>
                      <a:r>
                        <a:rPr sz="1200" b="0">
                          <a:solidFill>
                            <a:srgbClr val="16202A"/>
                          </a:solidFill>
                          <a:latin typeface="Arial"/>
                          <a:ea typeface="Arial"/>
                          <a:cs typeface="Arial"/>
                        </a:rPr>
                        <a:t>Transfer</a:t>
                      </a:r>
                    </a:p>
                  </a:txBody>
                  <a:tcPr marL="91440" marR="91440" marT="45720" marB="45720"/>
                </a:tc>
                <a:tc>
                  <a:txBody>
                    <a:bodyPr/>
                    <a:lstStyle/>
                    <a:p>
                      <a:r>
                        <a:rPr sz="1200" b="0">
                          <a:solidFill>
                            <a:srgbClr val="16202A"/>
                          </a:solidFill>
                          <a:latin typeface="Arial"/>
                          <a:ea typeface="Arial"/>
                          <a:cs typeface="Arial"/>
                        </a:rPr>
                        <a:t>47,3949</a:t>
                      </a:r>
                    </a:p>
                  </a:txBody>
                  <a:tcPr marL="91440" marR="91440" marT="45720" marB="45720"/>
                </a:tc>
                <a:tc>
                  <a:txBody>
                    <a:bodyPr/>
                    <a:lstStyle/>
                    <a:p>
                      <a:r>
                        <a:rPr sz="1200" b="0">
                          <a:solidFill>
                            <a:srgbClr val="16202A"/>
                          </a:solidFill>
                          <a:latin typeface="Arial"/>
                          <a:ea typeface="Arial"/>
                          <a:cs typeface="Arial"/>
                        </a:rPr>
                        <a:t>59,2140</a:t>
                      </a:r>
                    </a:p>
                  </a:txBody>
                  <a:tcPr marL="91440" marR="91440" marT="45720" marB="45720"/>
                </a:tc>
              </a:tr>
              <a:tr h="458391">
                <a:tc>
                  <a:txBody>
                    <a:bodyPr/>
                    <a:lstStyle/>
                    <a:p>
                      <a:r>
                        <a:rPr sz="1200" b="0">
                          <a:solidFill>
                            <a:srgbClr val="16202A"/>
                          </a:solidFill>
                          <a:latin typeface="Arial"/>
                          <a:ea typeface="Arial"/>
                          <a:cs typeface="Arial"/>
                        </a:rPr>
                        <a:t>FD001 → FD004</a:t>
                      </a:r>
                    </a:p>
                  </a:txBody>
                  <a:tcPr marL="91440" marR="91440" marT="45720" marB="45720"/>
                </a:tc>
                <a:tc>
                  <a:txBody>
                    <a:bodyPr/>
                    <a:lstStyle/>
                    <a:p>
                      <a:r>
                        <a:rPr sz="1200" b="0">
                          <a:solidFill>
                            <a:srgbClr val="16202A"/>
                          </a:solidFill>
                          <a:latin typeface="Arial"/>
                          <a:ea typeface="Arial"/>
                          <a:cs typeface="Arial"/>
                        </a:rPr>
                        <a:t>Transfer</a:t>
                      </a:r>
                    </a:p>
                  </a:txBody>
                  <a:tcPr marL="91440" marR="91440" marT="45720" marB="45720"/>
                </a:tc>
                <a:tc>
                  <a:txBody>
                    <a:bodyPr/>
                    <a:lstStyle/>
                    <a:p>
                      <a:r>
                        <a:rPr sz="1200" b="0">
                          <a:solidFill>
                            <a:srgbClr val="16202A"/>
                          </a:solidFill>
                          <a:latin typeface="Arial"/>
                          <a:ea typeface="Arial"/>
                          <a:cs typeface="Arial"/>
                        </a:rPr>
                        <a:t>58,5731</a:t>
                      </a:r>
                    </a:p>
                  </a:txBody>
                  <a:tcPr marL="91440" marR="91440" marT="45720" marB="45720"/>
                </a:tc>
                <a:tc>
                  <a:txBody>
                    <a:bodyPr/>
                    <a:lstStyle/>
                    <a:p>
                      <a:r>
                        <a:rPr sz="1200" b="0">
                          <a:solidFill>
                            <a:srgbClr val="16202A"/>
                          </a:solidFill>
                          <a:latin typeface="Arial"/>
                          <a:ea typeface="Arial"/>
                          <a:cs typeface="Arial"/>
                        </a:rPr>
                        <a:t>69,8148</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4864DE71-7875-4CF9-863B-BA5B52F6F6B3}"/>
              </a:ext>
            </a:extLst>
          </p:cNvPr>
          <p:cNvSpPr>
            <a:spLocks xmlns:a="http://schemas.openxmlformats.org/drawingml/2006/main" noGrp="1"/>
          </p:cNvSpPr>
          <p:nvPr/>
        </p:nvSpPr>
        <p:spPr>
          <a:xfrm xmlns:a="http://schemas.openxmlformats.org/drawingml/2006/main">
            <a:off x="714375" y="53816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451"/>
          </a:bodyPr>
          <a:lstStyle xmlns:a="http://schemas.openxmlformats.org/drawingml/2006/main"/>
          <a:p xmlns:a="http://schemas.openxmlformats.org/drawingml/2006/main">
            <a:pPr algn="l">
              <a:lnSpc>
                <a:spcPct val="108000"/>
              </a:lnSpc>
              <a:buNone/>
              <a:defRPr sz="1800" b="1">
                <a:solidFill>
                  <a:srgbClr val="0F243E"/>
                </a:solidFill>
                <a:latin typeface="Arial"/>
                <a:ea typeface="Arial"/>
                <a:cs typeface="Arial"/>
              </a:defRPr>
            </a:pPr>
            <a:r>
              <a:rPr sz="1800" b="1">
                <a:solidFill>
                  <a:srgbClr val="0F243E"/>
                </a:solidFill>
                <a:latin typeface="Arial"/>
                <a:ea typeface="Arial"/>
                <a:cs typeface="Arial"/>
              </a:rPr>
              <a:t>Model fit riêng trên FD001 không nên dùng trực tiếp cho subset khác nếu chưa retraining hoặc domain adaptation.</a:t>
            </a:r>
          </a:p>
        </p:txBody>
      </p:sp>
      <p:sp>
        <p:nvSpPr>
          <p:cNvPr id="7" name="">
            <a:extLst xmlns:a="http://schemas.openxmlformats.org/drawingml/2006/main">
              <a:ext uri="{FF2B5EF4-FFF2-40B4-BE49-F238E27FC236}">
                <a16:creationId xmlns:a16="http://schemas.microsoft.com/office/drawing/2014/main" id="{520178CD-CACA-4C48-90CF-07ACD6C5182C}"/>
              </a:ext>
            </a:extLst>
          </p:cNvPr>
          <p:cNvSpPr>
            <a:spLocks xmlns:a="http://schemas.openxmlformats.org/drawingml/2006/main" noGrp="1"/>
          </p:cNvSpPr>
          <p:nvPr/>
        </p:nvSpPr>
        <p:spPr>
          <a:xfrm xmlns:a="http://schemas.openxmlformats.org/drawingml/2006/main">
            <a:off x="714375" y="59531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2606D"/>
                </a:solidFill>
                <a:latin typeface="Arial"/>
                <a:ea typeface="Arial"/>
                <a:cs typeface="Arial"/>
              </a:defRPr>
            </a:pPr>
            <a:r>
              <a:rPr sz="1275" b="0">
                <a:solidFill>
                  <a:srgbClr val="52606D"/>
                </a:solidFill>
                <a:latin typeface="Arial"/>
                <a:ea typeface="Arial"/>
                <a:cs typeface="Arial"/>
              </a:rPr>
              <a:t>Các metric này dùng window 10; metric chính FD001 trên slide 9 dùng window 30.</a:t>
            </a:r>
          </a:p>
        </p:txBody>
      </p:sp>
    </p:spTree>
    <p:extLst>
      <p:ext uri="{BB962C8B-B14F-4D97-AF65-F5344CB8AC3E}">
        <p14:creationId xmlns:p14="http://schemas.microsoft.com/office/powerpoint/2010/main" val="4291670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2026-09-27T05:29:36.4860000Z</dcterms:created>
  <dcterms:modified xsi:type="dcterms:W3CDTF">2026-09-27T05:29:36.4860000Z</dcterms:modified>
</coreProperties>
</file>