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charts/chart1.xml" ContentType="application/vnd.openxmlformats-officedocument.drawingml.chart+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charts/chart2.xml" ContentType="application/vnd.openxmlformats-officedocument.drawingml.chart+xml"/>
  <Override PartName="/ppt/slides/slide12.xml" ContentType="application/vnd.openxmlformats-officedocument.presentationml.slide+xml"/>
  <Override PartName="/ppt/slides/slide13.xml" ContentType="application/vnd.openxmlformats-officedocument.presentationml.slide+xml"/>
  <Override PartName="/ppt/charts/chart3.xml" ContentType="application/vnd.openxmlformats-officedocument.drawingml.chart+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charts/chart4.xml" ContentType="application/vnd.openxmlformats-officedocument.drawingml.chart+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733"/>
                </a:solidFill>
                <a:latin typeface="Arial"/>
              </a:defRPr>
            </a:pPr>
            <a:r>
              <a:rPr sz="1200" b="0" i="0" u="none" strike="noStrike">
                <a:solidFill>
                  <a:srgbClr val="1B2733"/>
                </a:solidFill>
                <a:latin typeface="Arial"/>
              </a:rPr>
              <a:t>Pipeline gồm I/O · trung vị 3 lượt (giây)</a:t>
            </a:r>
          </a:p>
        </c:rich>
      </c:tx>
      <c:layout/>
      <c:overlay val="0"/>
    </c:title>
    <c:autoTitleDeleted val="0"/>
    <c:plotArea>
      <c:layout/>
      <c:barChart>
        <c:barDir val="col"/>
        <c:grouping val="clustered"/>
        <c:varyColors val="0"/>
        <c:ser>
          <c:idx val="0"/>
          <c:order val="0"/>
          <c:tx>
            <c:strRef>
              <c:f>Sheet1!$B$1</c:f>
              <c:strCache>
                <c:ptCount val="1"/>
                <c:pt idx="0">
                  <c:v>Pandas</c:v>
                </c:pt>
              </c:strCache>
            </c:strRef>
          </c:tx>
          <c:spPr>
            <a:solidFill>
              <a:srgbClr val="157A7F"/>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C8701E"/>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B2733"/>
                </a:solidFill>
                <a:latin typeface="Arial"/>
              </a:defRPr>
            </a:pPr>
            <a:r>
              <a:rPr sz="1150" b="0" i="0" u="none" strike="noStrike">
                <a:solidFill>
                  <a:srgbClr val="1B2733"/>
                </a:solidFill>
                <a:latin typeface="Arial"/>
              </a:rPr>
              <a:t>MAE trung bình trên 10 engine (thang Health Index)</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157A7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strRef>
              <c:f>Sheet1!$A$2:$A$4</c:f>
              <c:strCache>
                <c:ptCount val="3"/>
                <c:pt idx="0">
                  <c:v>ARIMA · 0,4110</c:v>
                </c:pt>
                <c:pt idx="1">
                  <c:v>Drift · 0,7469</c:v>
                </c:pt>
                <c:pt idx="2">
                  <c:v>Last-value · 0,9478</c:v>
                </c:pt>
              </c:strCache>
            </c:strRef>
          </c:cat>
          <c:val>
            <c:numRef>
              <c:f>Sheet1!$B$2:$B$4</c:f>
              <c:numCache>
                <c:formatCode>General</c:formatCode>
                <c:ptCount val="3"/>
                <c:pt idx="0">
                  <c:v>0.411</c:v>
                </c:pt>
                <c:pt idx="1">
                  <c:v>0.7469</c:v>
                </c:pt>
                <c:pt idx="2">
                  <c:v>0.9478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733"/>
                </a:solidFill>
                <a:latin typeface="Arial"/>
              </a:defRPr>
            </a:pPr>
            <a:r>
              <a:rPr sz="1300" b="0" i="0" u="none" strike="noStrike">
                <a:solidFill>
                  <a:srgbClr val="1B2733"/>
                </a:solidFill>
                <a:latin typeface="Arial"/>
              </a:rPr>
              <a:t>MAE trên panel chung (cycles)</a:t>
            </a:r>
          </a:p>
        </c:rich>
      </c:tx>
      <c:layout/>
      <c:overlay val="0"/>
    </c:title>
    <c:autoTitleDeleted val="0"/>
    <c:plotArea>
      <c:layout/>
      <c:barChart>
        <c:barDir val="col"/>
        <c:grouping val="clustered"/>
        <c:varyColors val="0"/>
        <c:ser>
          <c:idx val="0"/>
          <c:order val="0"/>
          <c:tx>
            <c:strRef>
              <c:f>Sheet1!$B$1</c:f>
              <c:strCache>
                <c:ptCount val="1"/>
                <c:pt idx="0">
                  <c:v>HGB126 baseline</c:v>
                </c:pt>
              </c:strCache>
            </c:strRef>
          </c:tx>
          <c:spPr>
            <a:solidFill>
              <a:srgbClr val="BFD9E3"/>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Sheet1!$A$2:$A$3</c:f>
              <c:strCache>
                <c:ptCount val="2"/>
                <c:pt idx="0">
                  <c:v>Trajectory MAE</c:v>
                </c:pt>
                <c:pt idx="1">
                  <c:v>Endpoint MAE</c:v>
                </c:pt>
              </c:strCache>
            </c:strRef>
          </c:cat>
          <c:val>
            <c:numRef>
              <c:f>Sheet1!$B$2:$B$3</c:f>
              <c:numCache>
                <c:formatCode>General</c:formatCode>
                <c:ptCount val="2"/>
                <c:pt idx="0">
                  <c:v>20.21</c:v>
                </c:pt>
                <c:pt idx="1">
                  <c:v>15.26</c:v>
                </c:pt>
              </c:numCache>
            </c:numRef>
          </c:val>
        </c:ser>
        <c:ser>
          <c:idx val="1"/>
          <c:order val="1"/>
          <c:tx>
            <c:strRef>
              <c:f>Sheet1!$C$1</c:f>
              <c:strCache>
                <c:ptCount val="1"/>
                <c:pt idx="0">
                  <c:v>HGB169 candidate</c:v>
                </c:pt>
              </c:strCache>
            </c:strRef>
          </c:tx>
          <c:spPr>
            <a:solidFill>
              <a:srgbClr val="157A7F"/>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Sheet1!$A$2:$A$3</c:f>
              <c:strCache>
                <c:ptCount val="2"/>
                <c:pt idx="0">
                  <c:v>Trajectory MAE</c:v>
                </c:pt>
                <c:pt idx="1">
                  <c:v>Endpoint MAE</c:v>
                </c:pt>
              </c:strCache>
            </c:strRef>
          </c:cat>
          <c:val>
            <c:numRef>
              <c:f>Sheet1!$C$2:$C$3</c:f>
              <c:numCache>
                <c:formatCode>General</c:formatCode>
                <c:ptCount val="2"/>
                <c:pt idx="0">
                  <c:v>17</c:v>
                </c:pt>
                <c:pt idx="1">
                  <c:v>9.89</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733"/>
                </a:solidFill>
                <a:latin typeface="Arial"/>
              </a:defRPr>
            </a:pPr>
            <a:r>
              <a:rPr sz="1300" b="0" i="0" u="none" strike="noStrike">
                <a:solidFill>
                  <a:srgbClr val="1B2733"/>
                </a:solidFill>
                <a:latin typeface="Arial"/>
              </a:rPr>
              <a:t>Mean engine MAE trên test (cycles, làm tròn), window 10</a:t>
            </a:r>
          </a:p>
        </c:rich>
      </c:tx>
      <c:layout/>
      <c:overlay val="0"/>
    </c:title>
    <c:autoTitleDeleted val="0"/>
    <c:plotArea>
      <c:layout/>
      <c:barChart>
        <c:barDir val="col"/>
        <c:grouping val="clustered"/>
        <c:varyColors val="0"/>
        <c:ser>
          <c:idx val="0"/>
          <c:order val="0"/>
          <c:tx>
            <c:strRef>
              <c:f>Sheet1!$B$1</c:f>
              <c:strCache>
                <c:ptCount val="1"/>
                <c:pt idx="0">
                  <c:v>Train và test cùng subset</c:v>
                </c:pt>
              </c:strCache>
            </c:strRef>
          </c:tx>
          <c:spPr>
            <a:solidFill>
              <a:srgbClr val="BFD9E3"/>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Sheet1!$A$2:$A$4</c:f>
              <c:strCache>
                <c:ptCount val="3"/>
                <c:pt idx="0">
                  <c:v>FD002</c:v>
                </c:pt>
                <c:pt idx="1">
                  <c:v>FD003</c:v>
                </c:pt>
                <c:pt idx="2">
                  <c:v>FD004</c:v>
                </c:pt>
              </c:strCache>
            </c:strRef>
          </c:cat>
          <c:val>
            <c:numRef>
              <c:f>Sheet1!$B$2:$B$4</c:f>
              <c:numCache>
                <c:formatCode>General</c:formatCode>
                <c:ptCount val="3"/>
                <c:pt idx="0">
                  <c:v>22.36</c:v>
                </c:pt>
                <c:pt idx="1">
                  <c:v>28.33</c:v>
                </c:pt>
                <c:pt idx="2">
                  <c:v>27.22</c:v>
                </c:pt>
              </c:numCache>
            </c:numRef>
          </c:val>
        </c:ser>
        <c:ser>
          <c:idx val="1"/>
          <c:order val="1"/>
          <c:tx>
            <c:strRef>
              <c:f>Sheet1!$C$1</c:f>
              <c:strCache>
                <c:ptCount val="1"/>
                <c:pt idx="0">
                  <c:v>Train FD001 → test subset</c:v>
                </c:pt>
              </c:strCache>
            </c:strRef>
          </c:tx>
          <c:spPr>
            <a:solidFill>
              <a:srgbClr val="C8701E"/>
            </a:solidFill>
            <a:effectLst/>
          </c:spPr>
          <c:invertIfNegative val="0"/>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cat>
            <c:strRef>
              <c:f>Sheet1!$A$2:$A$4</c:f>
              <c:strCache>
                <c:ptCount val="3"/>
                <c:pt idx="0">
                  <c:v>FD002</c:v>
                </c:pt>
                <c:pt idx="1">
                  <c:v>FD003</c:v>
                </c:pt>
                <c:pt idx="2">
                  <c:v>FD004</c:v>
                </c:pt>
              </c:strCache>
            </c:strRef>
          </c:cat>
          <c:val>
            <c:numRef>
              <c:f>Sheet1!$C$2:$C$4</c:f>
              <c:numCache>
                <c:formatCode>General</c:formatCode>
                <c:ptCount val="3"/>
                <c:pt idx="0">
                  <c:v>60.32</c:v>
                </c:pt>
                <c:pt idx="1">
                  <c:v>47.39</c:v>
                </c:pt>
                <c:pt idx="2">
                  <c:v>58.57</c:v>
                </c:pt>
              </c:numCache>
            </c:numRef>
          </c:val>
        </c:ser>
        <c:dLbls>
          <c:numFmt formatCode="0" sourceLinked="0"/>
          <c:txPr>
            <a:bodyPr/>
            <a:lstStyle/>
            <a:p>
              <a:pPr>
                <a:defRPr b="0" i="0" strike="noStrike" sz="13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20 giây.
Chào thầy/cô. Giới thiệu tên, môn học. Nêu một câu mục tiêu: xây dựng pipeline từ raw data đến dự đoán RUL và cảnh báo sớm, có thể kiểm tra và tái lập.
Bốn con số ở dưới là khung của bài: 100 train engines, 21 sensor, 169 đặc trưng của predictor candidate và MAE trajectory 17,0009 cycles trên panel OOF chung. Đây là kết quả alignment audit có điều kiện, không phải metric test độc lập sau refit.
Metric test lịch sử của HGB126 được giữ riêng ở slide 14. Nguồn: outputs/course_alignment/20261007/summary.json; outputs/course_alignment/20261007/model_metrics.csv.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25 giây.
Đọc nhanh 5 phần và thời lượng. Nhấn mạnh sáu câu hỏi nghiên cứu; slide 19 sẽ trả lời lại từng câu bằng bằng chứng tương ứng. Demo dashboard dự kiến 3 phút ở cuối, chỉ trình diễn artifact đã tạo.
Q1 kiểm tra dữ liệu; Q2 xu hướng sensor; Q3 parity ETL; Q4 so sánh HGB126/HGB169; Q5 cảnh báo; Q6 chuyển miền.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35 giây.
Remaining Useful Life (RUL, tuổi thọ hữu ích còn lại) là số cycle vận hành còn lại trước failure. Đây là supervised regression.
Ví dụ: engine kết thúc ở cycle 200, tại cycle 170 thì RUL = 30 cycles. Đơn vị là cycle; dữ liệu không có thông tin quy đổi ra giờ hoặc ngày.
Bảng bên phải đối chiếu từng yêu cầu kỹ thuật của đề tài với phần đã làm và slide trình bày. Nói rõ: xử lý nhiễu được thực hiện qua thống kê trên window và Health Index; repository chưa dùng bộ lọc tín hiệu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50 giây.
C-MAPSS là dữ liệu mô phỏng động cơ turbofan của NASA. Mỗi subset có train (chạy đến failure), test (bị cắt trước failure) và file RUL_FD00x.txt chứa nhãn test.
FD001: 1 điều kiện vận hành, 1 fault mode (HPC degradation), 100 train và 100 test engines, 33.727 observations.
FD002 thêm 6 điều kiện vận hành; FD003 thêm fault mode Fan; FD004 có cả hai.
Mỗi dòng có 26 trường: engine_id, cycle, 3 operational settings, 21 sensor. Khóa trong một subset là (split, engine_id,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55 giây.
Train: mỗi engine chạy đến failure nên nhãn suy ra trực tiếp: RUL = cycle cuối − cycle hiện tại. FD001 có 20.631 nhãn train.
Test: chuỗi bị cắt trước failure. Không được lấy cycle cuối quan sát làm failure. Model tạo đúng một dự đoán tại cycle cuối quan sát của mỗi test engine; sau khi ghi final predictions mới ghép RUL_FD001.txt để chấm điểm. run_info ghi test_label_join.status = completed_after_final_predictions.
Bên phải: ba kiểm soát cho nhãn test. final_metrics.json ghi test_label_sha256 để đối chiếu file nhãn đã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55 giây.
Đọc sơ đồ từ trái sang phải. Bronze là file raw. Reader kiểm tra đúng 26 trường, kiểu dữ liệu, khóa duy nhất và cycle liên tục; train và test được union theo dòng (Pandas concat hoặc PySpark unionByName), không phải join.
Silver lưu observations và train_targets dạng Parquet. Gold lưu engine_summary dạng Parquet và SQLite. Từ Silver, bước đặc trưng tạo trailing window 30 cycles.
Modeling dùng GroupKFold, refit và tạo 100 dự đoán test. Hai nhánh phụ EDA/thống kê và Health Index chỉ dùng train.
Phần Big Data nằm ở batch ETL nhiều file, Parquet Silver/Gold và parity Pandas–PySpark. Modeling và rolling features dùng Pandas/scikit-learn.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5 giây.
Bảng trái: cùng input, Pandas pipeline và PySpark pipeline cho cùng schema, khóa, số dòng và giá trị ở ba boundary; sai khác tuyệt đối lớn nhất bằng 0.
Biểu đồ phải: trung vị ba lượt đo trong process riêng, cùng input Parquet, 33.727 và 337.270 dòng. Pipeline gồm đọc, engine summary, rolling features, ghi file; startup Spark báo riêng. Peak RSS gồm Python và JVM.
Spark local[4], bốn partition, driver/executor heap 4 GiB. Lượt heap mặc định bị OOM ở 10x được lưu riêng, không đưa vào median. Ghi Parquet qua PyArrow trên driver; thời gian Spark gồm cả toArrow. Chưa đo distributed writer hoặc cluster. Không xóa OS cache giữa lượt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30 giây.
Histogram và boxplot: tuổi thọ train từ 128 đến 362 cycles, trung vị 199, có vài engine dài bất thường ở đuôi phải.
Bảy cột không đổi trong cả 100 engine: sensor 1, 5, 10, 16, 18, 19 và setting_3. sensor_6 không đổi trong 38/100 engine.
Repository chưa làm feature selection dựa trên EDA; các cột này vẫn nằm trong 126 đặc trưng. Đây là quyết định có chủ đích để không dùng kết quả EDA làm bước chọn biến ngoài training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40 giây.
Hai hình là quỹ đạo gốc của ba train engine có tuổi thọ 178, 199 và 229 cycles. sensor_4 tăng dần, sensor_7 giảm dần khi tiến gần failure; tín hiệu có nhiễu theo từng cycle.
Kiểm định: với mỗi train engine, lấy mean 30 cycle cuối trừ mean 30 cycle đầu. Bootstrap theo engine 10.000 lần cho khoảng tin cậy, Wilcoxon signed-rank cho p-value, Benjamini–Hochberg với q = 0,05 cho 21 sensor.
Kết quả: 15 sensor bác bỏ giả thuyết không; 6 sensor hằng số nên không kiểm định.
Giới hạn: đây là mô tả khác biệt đầu/cuối vòng đời, không chứng minh nhân quả và không phải feature selection.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45 giây.
Ví dụ tại cycle 170: window gồm cycles 141–170. Cycle 171 trở đi không được dùng.
Với mỗi sensor tính 6 thống kê: last, mean, sample std, min, max, slope tuyến tính. 21 × 6 = 126 cột.
29 cycle đầu mỗi engine chưa đủ window nên không tạo dòng; không padding. FD001 có 17.731 train windows và 10.196 test windows.
Về yêu cầu xử lý nhiễu và chuẩn hóa: mean, min, max, slope trên 30 cycle tóm tắt dao động từng cycle; repository chưa dùng bộ lọc tín hiệu riêng. ETL chuẩn hóa schema và kiểu dữ liệu. StandardScaler fit trong training fold cho Ridge và trên 90 engine cho Health Index; HGB dùng thang đo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35 giây.
Health Index là PC1 sau StandardScaler; scaler, PCA và hướng PC1 fit trên 90 train engines, 10 engine còn lại chỉ được transform. Hình cho thấy chỉ số giảm dần và giảm nhanh ở cuối vòng đời: đây là biểu đồ xu hướng suy giảm mà đề tài yêu cầu.
ARIMA fit 70% đầu chuỗi, dự báo 30% cuối. MAE trung bình 0,4110, thấp hơn drift 0,7469 và last-value 0,9478 (thang Health Index, không phải cycle).
Giới hạn: ARIMA chỉ thấp hơn drift ở 7/10 engine; coverage khoảng dự đoán 95% dao động 21,43%–97,03%. Health Index forecast không phải RUL forecast; đây là phân tích phụ.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45 giây.
Sơ đồ trái: 100 train engines chia thành 5 nhóm 20 engine. Mỗi fold dùng một nhóm làm validation, bốn nhóm còn lại để fit.
Vì sao không chia ngẫu nhiên theo dòng: hai window liền kề của cùng engine chồng lấn 29/30 cycle. Nếu một window ở train và window kề nó ở validation, metric sẽ lạc quan.
Bốn bước bên phải: chọn model bằng mean engine-level MAE; đặt trọng số để tổng trọng số mỗi engine bằng 1, engine dài không chi phối loss; refit trên toàn bộ 17.731 train windows; dự đoán một điểm cho mỗi test engine rồi mới ghép nhãn.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55 giây.
Alignment audit chấm lại HGB126 và HGB169 trên cùng 17.731 dòng train, cùng khóa engine và cùng grouped folds. HGB126 gồm 126 rolling features; HGB169 thêm cycle và 42 history features, thành 169 features.
Trajectory: MAE 20,2143 → 17,0009 và RMSE 33,6359 → 29,8068 cycles. Endpoint tại các mốc 0,5/0,7/0,9: MAE 15,2577 → 9,8913 cycles.
Paired bootstrap trên prediction đã lưu: delta trajectory MAE -3,2134 cycles, CI 95% [-4,4586; -1,9220]. Đây chưa phải refit mù và chưa bao gồm seed/model-selection uncertainty.
Vì vậy HGB169 là predictor candidate chính trong phạm vi audit; HGB126 vẫn giữ vai trò baseline lịch sử để báo cáo metric test ở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5 giây.
Đây là metric test lịch sử của HGB126, không phải kết quả test độc lập của HGB169: mean engine MAE 15,3490 cycles, RMSE 20,5413 cycles, NASA score 1.513,2577.
Bootstrap theo engine 10.000 lần: khoảng tin cậy 95% cho MAE là [12,7286; 18,0866].
HGB169 được báo cáo ở slide 13 trên panel trajectory và endpoint chung; không trộn các metric đó với metric test lịch sử này.
Đọc hình: trục ngang là RUL thật, trục dọc là RUL dự đoán; điểm càng gần đường chéo càng đúng. Vùng RUL thấp bám sát đường chéo hơn vùng RUL cao.
Trên slide làm tròn 2 chữ số; số đầy đủ nằm trong notes và báo cáo. NASA score bất đối xứng, không có đơn vị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45 giây.
Hình là residual của metric test lịch sử HGB126: residual = dự đoán − thật theo RUL thật. Residual dương nghĩa là model nghĩ engine còn sống lâu hơn thực tế.
74 dự đoán cao hơn RUL thật, 26 dự đoán thấp hơn. Sai số tăng khi RUL thật lớn: ở đầu vòng đời tín hiệu suy giảm còn yếu.
Ví dụ engine 23: RUL thật 113, dự đoán 170,4768, sai 57,4768 cycles. Không loại engine này khỏi metric.
Mười trường hợp sai lớn nhất chiếm 75,5% NASA score. Trên OOF, khi RUL thật 150–200 dự đoán trung bình 147,16; khi 200–400 là 145,36 cycles: model không phân biệt được các trạng thái còn khỏe (outputs/diagnostics/error_diagnostics.json).
Thông điệp: metric trung bình không thay thế việc xem từng trường hợp sai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30 giây.
Đây là biểu đồ xu hướng của HGB126 baseline ở threshold 30: đường xanh là RUL thật, đường đỏ là RUL dự đoán OOF, đường cam là ngưỡng 30 cycles. Cảnh báo đầu tiên tại cycle 162, trước failure ở cycle 192 đúng 30 cycles.
Trên HGB126 threshold 30: 44 cảnh báo trước khi RUL thật chạm 30, 7 đúng ngưỡng, 49 sau ngưỡng nhưng vẫn trước failure. Lead time trung vị 30 cycles.
Bảng bên phải là fixed-policy sensitivity trên cùng 100 engine: threshold 30 và 40, persistence 1, lead requirement 30. HGB126 và HGB169 không được chọn lại bằng warning policy này.
Không tuyên bố cải thiện toàn bộ quy trình: threshold 30 HGB169 kém đúng thời điểm hơn; threshold 40 HGB169 nhỉnh hơn nhưng burden tăng nhẹ. Chưa có chi phí bảo trì nên đây chưa phải chính sách triển khai.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15 giây.
Mục tiêu: giảm sai số khi RUL ≤ 30 và giảm cảnh báo trễ, không làm tăng MAE toàn bộ. Nested GroupKFold 5×3: vòng ngoài giữ riêng một nhóm engine để đánh giá; vòng trong chia phần còn lại thành 3 nhóm để chọn cấu hình.
Vòng ngoài trên 17.731 dòng: MAE RUL thấp 3,6676 → 3,6730 cycles (Δ +0,0054, CI 95% [-0,0506; 0,0639]); cảnh báo trễ/bỏ lỡ 49 → 53. Không đạt tiêu chí, giữ baseline; metric test lịch sử HGB126 vẫn 15,3490.
Bảng dưới là outer CV của đợt bổ sung: FD001 capped RUL/history, FD002/FD004 settings/condition normalization. FD002/FD004 là within-subset, không phải transfer. Test lịch sử đã được xem nên đây là exploratory follow-up.
FD001: outer MAE 20,2143 → 20,2966, gate chưa đạt; test MAE 13,0460.
FD002: outer MAE 29,2861 → 28,0390, gate đạt; test MAE 19,1797.
FD004: outer MAE 36,7428 → 35,4491, gate đạt; test MAE 26,6123.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55 giây.
Câu hỏi: model FD001 có dùng được cho subset khác không. Chạy cùng pipeline với window 10 vì FD004 có test engine ngắn nhất chỉ 19 cycles. Không so các số này với MAE 15,3490 dùng window 30.
Cột xanh nhạt: train và test cùng subset (FD002 22,3556, FD003 28,3255, FD004 27,2218). Cột cam: giữ model FD001 áp dụng sang test subset khác (60,3215, 47,3949, 58,5731). FD001 nội bộ với window 10 là 21,9258.
Chẩn đoán: với FD002 và FD004 chỉ khoảng 15% và 14% giá trị sensor test nằm trong miền train FD001, dự đoán gần như hằng số (độ lệch chuẩn 13,3 và 12,7). FD003 có 95% giá trị trong miền nhưng dự đoán lệch cao trung bình 45,3 cycles.
Diễn giải: khác biệt điều kiện vận hành (FD002) và fault mode (FD003) đều làm MAE tăng; FD004 có cả hai. Kết luận thực tế: cần huấn luyện lại hoặc domain adaptation trước khi áp dụng. Đây là negative result nhưng trả lời trực tiếp câu hỏi tổng quát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15 giây.
Q1: FD001 đạt kiểm tra schema, khóa và cycle; Q2: 15/21 sensor thay đổi giữa đầu và cuối vòng đời, Health Index giảm rõ ở cuối vòng đời.
Q3: parity Pandas–PySpark đạt trên ba artifact với sai khác tuyệt đối tối đa bằng 0.
Q4: HGB169 là predictor candidate chính có điều kiện; trajectory MAE 17,0009 so với 20,2143 của HGB126.
Q5: warning policy threshold 30 đúng thời điểm 51% với HGB126 và 45% với HGB169; threshold 40 lần lượt 94% và 96%. Q6: FD001 không chuyển trực tiếp sang FD002–FD004.
Đóng góp Big Data: batch ETL nhiều file, Parquet Silver/Gold, parity Pandas–PySpark, artifact có hash và run_info.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 phút, sau đó hỏi đáp.
HGB169 hiện là predictor candidate có điều kiện từ alignment audit; bước xác nhận cần refit mù độc lập. Warning policy phải được hiệu chuẩn riêng, vì threshold 30 và 40 cho trade-off khác nhau. Capped RUL, history features, condition normalization và benchmark local có I/O đã được kiểm tra; chưa mở thêm nhánh CNN/LSTM hoặc training mới.
Nếu còn thời gian hoặc cô yêu cầu: mở dashboard theo handoff/DEMO_SCRIPT.md (khoảng 4 phút); không chạy lại training khi trình bày.
Nguồn: report/sections/discussion.tex.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9"/>
        </a:solidFill>
      </p:bgPr>
    </p:bg>
    <p:spTree>
      <p:nvGrpSpPr>
        <p:cNvPr id="1" name=""/>
        <p:cNvGrpSpPr/>
        <p:nvPr/>
      </p:nvGrpSpPr>
      <p:grpSpPr>
        <a:xfrm>
          <a:off x="0" y="0"/>
          <a:ext cx="0" cy="0"/>
          <a:chOff x="0" y="0"/>
          <a:chExt cx="0" cy="0"/>
        </a:xfrm>
      </p:grpSpPr>
      <p:sp>
        <p:nvSpPr>
          <p:cNvPr id="2" name="Text 0"/>
          <p:cNvSpPr txBox="1"/>
          <p:nvPr/>
        </p:nvSpPr>
        <p:spPr>
          <a:xfrm>
            <a:off x="731520" y="731520"/>
            <a:ext cx="9144000" cy="320040"/>
          </a:xfrm>
          <a:prstGeom prst="rect">
            <a:avLst/>
          </a:prstGeom>
          <a:noFill/>
          <a:ln/>
        </p:spPr>
        <p:txBody>
          <a:bodyPr wrap="square" lIns="0" tIns="0" rIns="0" bIns="0" rtlCol="0" anchor="t"/>
          <a:lstStyle/>
          <a:p>
            <a:pPr indent="0" marL="0">
              <a:buNone/>
            </a:pPr>
            <a:r>
              <a:rPr lang="en-US" sz="1300" b="1" spc="200" kern="0" dirty="0">
                <a:solidFill>
                  <a:srgbClr val="BFD9E3"/>
                </a:solidFill>
                <a:latin typeface="Arial" pitchFamily="34" charset="0"/>
                <a:ea typeface="Arial" pitchFamily="34" charset="-122"/>
                <a:cs typeface="Arial" pitchFamily="34" charset="-120"/>
              </a:rPr>
              <a:t>BÁO CÁO CUỐI KỲ · PHÂN TÍCH DỮ LIỆU LỚN</a:t>
            </a:r>
            <a:endParaRPr lang="en-US" sz="1300" dirty="0"/>
          </a:p>
        </p:txBody>
      </p:sp>
      <p:sp>
        <p:nvSpPr>
          <p:cNvPr id="3" name="Text 1"/>
          <p:cNvSpPr txBox="1"/>
          <p:nvPr/>
        </p:nvSpPr>
        <p:spPr>
          <a:xfrm>
            <a:off x="731520" y="1325880"/>
            <a:ext cx="10241280" cy="146304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Dự đoán tuổi thọ còn lại và cảnh báo sớm cho động cơ turbofan</a:t>
            </a:r>
            <a:endParaRPr lang="en-US" sz="4000" dirty="0"/>
          </a:p>
        </p:txBody>
      </p:sp>
      <p:sp>
        <p:nvSpPr>
          <p:cNvPr id="4" name="Text 2"/>
          <p:cNvSpPr txBox="1"/>
          <p:nvPr/>
        </p:nvSpPr>
        <p:spPr>
          <a:xfrm>
            <a:off x="731520" y="2880360"/>
            <a:ext cx="10058400" cy="457200"/>
          </a:xfrm>
          <a:prstGeom prst="rect">
            <a:avLst/>
          </a:prstGeom>
          <a:noFill/>
          <a:ln/>
        </p:spPr>
        <p:txBody>
          <a:bodyPr wrap="square" lIns="0" tIns="0" rIns="0" bIns="0" rtlCol="0" anchor="t"/>
          <a:lstStyle/>
          <a:p>
            <a:pPr indent="0" marL="0">
              <a:buNone/>
            </a:pPr>
            <a:r>
              <a:rPr lang="en-US" sz="2000" dirty="0">
                <a:solidFill>
                  <a:srgbClr val="BFD9E3"/>
                </a:solidFill>
                <a:latin typeface="Arial" pitchFamily="34" charset="0"/>
                <a:ea typeface="Arial" pitchFamily="34" charset="-122"/>
                <a:cs typeface="Arial" pitchFamily="34" charset="-120"/>
              </a:rPr>
              <a:t>Pipeline dữ liệu chuỗi thời gian trên NASA C-MAPSS FD001–FD004</a:t>
            </a:r>
            <a:endParaRPr lang="en-US" sz="2000" dirty="0"/>
          </a:p>
        </p:txBody>
      </p:sp>
      <p:sp>
        <p:nvSpPr>
          <p:cNvPr id="5" name="Text 3"/>
          <p:cNvSpPr txBox="1"/>
          <p:nvPr/>
        </p:nvSpPr>
        <p:spPr>
          <a:xfrm>
            <a:off x="73152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100</a:t>
            </a:r>
            <a:endParaRPr lang="en-US" sz="3000" dirty="0"/>
          </a:p>
        </p:txBody>
      </p:sp>
      <p:sp>
        <p:nvSpPr>
          <p:cNvPr id="6" name="Text 4"/>
          <p:cNvSpPr txBox="1"/>
          <p:nvPr/>
        </p:nvSpPr>
        <p:spPr>
          <a:xfrm>
            <a:off x="73152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train engines FD001</a:t>
            </a:r>
            <a:endParaRPr lang="en-US" sz="1300" dirty="0"/>
          </a:p>
        </p:txBody>
      </p:sp>
      <p:sp>
        <p:nvSpPr>
          <p:cNvPr id="7" name="Text 5"/>
          <p:cNvSpPr txBox="1"/>
          <p:nvPr/>
        </p:nvSpPr>
        <p:spPr>
          <a:xfrm>
            <a:off x="338328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21</a:t>
            </a:r>
            <a:endParaRPr lang="en-US" sz="3000" dirty="0"/>
          </a:p>
        </p:txBody>
      </p:sp>
      <p:sp>
        <p:nvSpPr>
          <p:cNvPr id="8" name="Text 6"/>
          <p:cNvSpPr txBox="1"/>
          <p:nvPr/>
        </p:nvSpPr>
        <p:spPr>
          <a:xfrm>
            <a:off x="338328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sensor mỗi cycle</a:t>
            </a:r>
            <a:endParaRPr lang="en-US" sz="1300" dirty="0"/>
          </a:p>
        </p:txBody>
      </p:sp>
      <p:sp>
        <p:nvSpPr>
          <p:cNvPr id="9" name="Text 7"/>
          <p:cNvSpPr txBox="1"/>
          <p:nvPr/>
        </p:nvSpPr>
        <p:spPr>
          <a:xfrm>
            <a:off x="603504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169</a:t>
            </a:r>
            <a:endParaRPr lang="en-US" sz="3000" dirty="0"/>
          </a:p>
        </p:txBody>
      </p:sp>
      <p:sp>
        <p:nvSpPr>
          <p:cNvPr id="10" name="Text 8"/>
          <p:cNvSpPr txBox="1"/>
          <p:nvPr/>
        </p:nvSpPr>
        <p:spPr>
          <a:xfrm>
            <a:off x="603504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features HGB169 · FD001</a:t>
            </a:r>
            <a:endParaRPr lang="en-US" sz="1300" dirty="0"/>
          </a:p>
        </p:txBody>
      </p:sp>
      <p:sp>
        <p:nvSpPr>
          <p:cNvPr id="11" name="Text 9"/>
          <p:cNvSpPr txBox="1"/>
          <p:nvPr/>
        </p:nvSpPr>
        <p:spPr>
          <a:xfrm>
            <a:off x="8686800" y="3886200"/>
            <a:ext cx="237744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17,00</a:t>
            </a:r>
            <a:endParaRPr lang="en-US" sz="3000" dirty="0"/>
          </a:p>
        </p:txBody>
      </p:sp>
      <p:sp>
        <p:nvSpPr>
          <p:cNvPr id="12" name="Text 10"/>
          <p:cNvSpPr txBox="1"/>
          <p:nvPr/>
        </p:nvSpPr>
        <p:spPr>
          <a:xfrm>
            <a:off x="8686800" y="4462272"/>
            <a:ext cx="23774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MAE trajectory candidate</a:t>
            </a:r>
            <a:endParaRPr lang="en-US" sz="1300" dirty="0"/>
          </a:p>
        </p:txBody>
      </p:sp>
      <p:sp>
        <p:nvSpPr>
          <p:cNvPr id="13" name="Text 11"/>
          <p:cNvSpPr txBox="1"/>
          <p:nvPr/>
        </p:nvSpPr>
        <p:spPr>
          <a:xfrm>
            <a:off x="731520" y="5532120"/>
            <a:ext cx="7315200" cy="347472"/>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Phan Nguyễn Mai Phương · MSHV 25002711</a:t>
            </a:r>
            <a:endParaRPr lang="en-US" sz="1700" dirty="0"/>
          </a:p>
        </p:txBody>
      </p:sp>
      <p:sp>
        <p:nvSpPr>
          <p:cNvPr id="14" name="Text 12"/>
          <p:cNvSpPr txBox="1"/>
          <p:nvPr/>
        </p:nvSpPr>
        <p:spPr>
          <a:xfrm>
            <a:off x="731520" y="5897880"/>
            <a:ext cx="731520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Học viên cao học ngành Khoa học máy tính · Tháng 10/2026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Nội dung trình bày và sáu câu hỏi nghiên cứu</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18–20 phút gồm demo dashboard; kết luận ở slide 19 trả lời lần lượt Q1–Q6</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report/main.pdf; handoff/SPEECH_SCRIPT_VI.pdf</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2 / 20</a:t>
            </a:r>
            <a:endParaRPr lang="en-US" sz="1000" dirty="0"/>
          </a:p>
        </p:txBody>
      </p:sp>
      <p:sp>
        <p:nvSpPr>
          <p:cNvPr id="9" name="Shape 6"/>
          <p:cNvSpPr/>
          <p:nvPr/>
        </p:nvSpPr>
        <p:spPr>
          <a:xfrm>
            <a:off x="548640" y="1938528"/>
            <a:ext cx="438912" cy="438912"/>
          </a:xfrm>
          <a:prstGeom prst="ellipse">
            <a:avLst/>
          </a:prstGeom>
          <a:solidFill>
            <a:srgbClr val="0B2239"/>
          </a:solidFill>
          <a:ln/>
        </p:spPr>
      </p:sp>
      <p:sp>
        <p:nvSpPr>
          <p:cNvPr id="10" name="Text 7"/>
          <p:cNvSpPr txBox="1"/>
          <p:nvPr/>
        </p:nvSpPr>
        <p:spPr>
          <a:xfrm>
            <a:off x="548640" y="193852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1143000" y="1929384"/>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Bài toán và dữ liệu</a:t>
            </a:r>
            <a:endParaRPr lang="en-US" sz="1550" dirty="0"/>
          </a:p>
        </p:txBody>
      </p:sp>
      <p:sp>
        <p:nvSpPr>
          <p:cNvPr id="12" name="Text 9"/>
          <p:cNvSpPr txBox="1"/>
          <p:nvPr/>
        </p:nvSpPr>
        <p:spPr>
          <a:xfrm>
            <a:off x="1143000" y="2203704"/>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2–5 · 3 phút</a:t>
            </a:r>
            <a:endParaRPr lang="en-US" sz="1150" dirty="0"/>
          </a:p>
        </p:txBody>
      </p:sp>
      <p:sp>
        <p:nvSpPr>
          <p:cNvPr id="13" name="Shape 10"/>
          <p:cNvSpPr/>
          <p:nvPr/>
        </p:nvSpPr>
        <p:spPr>
          <a:xfrm>
            <a:off x="548640" y="2560320"/>
            <a:ext cx="438912" cy="438912"/>
          </a:xfrm>
          <a:prstGeom prst="ellipse">
            <a:avLst/>
          </a:prstGeom>
          <a:solidFill>
            <a:srgbClr val="0B2239"/>
          </a:solidFill>
          <a:ln/>
        </p:spPr>
      </p:sp>
      <p:sp>
        <p:nvSpPr>
          <p:cNvPr id="14" name="Text 11"/>
          <p:cNvSpPr txBox="1"/>
          <p:nvPr/>
        </p:nvSpPr>
        <p:spPr>
          <a:xfrm>
            <a:off x="548640" y="256032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5" name="Text 12"/>
          <p:cNvSpPr txBox="1"/>
          <p:nvPr/>
        </p:nvSpPr>
        <p:spPr>
          <a:xfrm>
            <a:off x="1143000" y="2551176"/>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Pipeline Big Data</a:t>
            </a:r>
            <a:endParaRPr lang="en-US" sz="1550" dirty="0"/>
          </a:p>
        </p:txBody>
      </p:sp>
      <p:sp>
        <p:nvSpPr>
          <p:cNvPr id="16" name="Text 13"/>
          <p:cNvSpPr txBox="1"/>
          <p:nvPr/>
        </p:nvSpPr>
        <p:spPr>
          <a:xfrm>
            <a:off x="1143000" y="2825496"/>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6–7 · 3 phút</a:t>
            </a:r>
            <a:endParaRPr lang="en-US" sz="1150" dirty="0"/>
          </a:p>
        </p:txBody>
      </p:sp>
      <p:sp>
        <p:nvSpPr>
          <p:cNvPr id="17" name="Shape 14"/>
          <p:cNvSpPr/>
          <p:nvPr/>
        </p:nvSpPr>
        <p:spPr>
          <a:xfrm>
            <a:off x="548640" y="3182112"/>
            <a:ext cx="438912" cy="438912"/>
          </a:xfrm>
          <a:prstGeom prst="ellipse">
            <a:avLst/>
          </a:prstGeom>
          <a:solidFill>
            <a:srgbClr val="0B2239"/>
          </a:solidFill>
          <a:ln/>
        </p:spPr>
      </p:sp>
      <p:sp>
        <p:nvSpPr>
          <p:cNvPr id="18" name="Text 15"/>
          <p:cNvSpPr txBox="1"/>
          <p:nvPr/>
        </p:nvSpPr>
        <p:spPr>
          <a:xfrm>
            <a:off x="548640" y="318211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6"/>
          <p:cNvSpPr txBox="1"/>
          <p:nvPr/>
        </p:nvSpPr>
        <p:spPr>
          <a:xfrm>
            <a:off x="1143000" y="3172968"/>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Phân tích chuỗi thời gian</a:t>
            </a:r>
            <a:endParaRPr lang="en-US" sz="1550" dirty="0"/>
          </a:p>
        </p:txBody>
      </p:sp>
      <p:sp>
        <p:nvSpPr>
          <p:cNvPr id="20" name="Text 17"/>
          <p:cNvSpPr txBox="1"/>
          <p:nvPr/>
        </p:nvSpPr>
        <p:spPr>
          <a:xfrm>
            <a:off x="1143000" y="3447288"/>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8–11 · 3 phút</a:t>
            </a:r>
            <a:endParaRPr lang="en-US" sz="1150" dirty="0"/>
          </a:p>
        </p:txBody>
      </p:sp>
      <p:sp>
        <p:nvSpPr>
          <p:cNvPr id="21" name="Shape 18"/>
          <p:cNvSpPr/>
          <p:nvPr/>
        </p:nvSpPr>
        <p:spPr>
          <a:xfrm>
            <a:off x="548640" y="3803904"/>
            <a:ext cx="438912" cy="438912"/>
          </a:xfrm>
          <a:prstGeom prst="ellipse">
            <a:avLst/>
          </a:prstGeom>
          <a:solidFill>
            <a:srgbClr val="0B2239"/>
          </a:solidFill>
          <a:ln/>
        </p:spPr>
      </p:sp>
      <p:sp>
        <p:nvSpPr>
          <p:cNvPr id="22" name="Text 19"/>
          <p:cNvSpPr txBox="1"/>
          <p:nvPr/>
        </p:nvSpPr>
        <p:spPr>
          <a:xfrm>
            <a:off x="548640" y="3803904"/>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0"/>
          <p:cNvSpPr txBox="1"/>
          <p:nvPr/>
        </p:nvSpPr>
        <p:spPr>
          <a:xfrm>
            <a:off x="1143000" y="3794760"/>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Mô hình và đánh giá</a:t>
            </a:r>
            <a:endParaRPr lang="en-US" sz="1550" dirty="0"/>
          </a:p>
        </p:txBody>
      </p:sp>
      <p:sp>
        <p:nvSpPr>
          <p:cNvPr id="24" name="Text 21"/>
          <p:cNvSpPr txBox="1"/>
          <p:nvPr/>
        </p:nvSpPr>
        <p:spPr>
          <a:xfrm>
            <a:off x="1143000" y="4069080"/>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12–16 · 5 phút</a:t>
            </a:r>
            <a:endParaRPr lang="en-US" sz="1150" dirty="0"/>
          </a:p>
        </p:txBody>
      </p:sp>
      <p:sp>
        <p:nvSpPr>
          <p:cNvPr id="25" name="Shape 22"/>
          <p:cNvSpPr/>
          <p:nvPr/>
        </p:nvSpPr>
        <p:spPr>
          <a:xfrm>
            <a:off x="548640" y="4425696"/>
            <a:ext cx="438912" cy="438912"/>
          </a:xfrm>
          <a:prstGeom prst="ellipse">
            <a:avLst/>
          </a:prstGeom>
          <a:solidFill>
            <a:srgbClr val="0B2239"/>
          </a:solidFill>
          <a:ln/>
        </p:spPr>
      </p:sp>
      <p:sp>
        <p:nvSpPr>
          <p:cNvPr id="26" name="Text 23"/>
          <p:cNvSpPr txBox="1"/>
          <p:nvPr/>
        </p:nvSpPr>
        <p:spPr>
          <a:xfrm>
            <a:off x="548640" y="442569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7" name="Text 24"/>
          <p:cNvSpPr txBox="1"/>
          <p:nvPr/>
        </p:nvSpPr>
        <p:spPr>
          <a:xfrm>
            <a:off x="1143000" y="4416552"/>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Mở rộng và kết luận</a:t>
            </a:r>
            <a:endParaRPr lang="en-US" sz="1550" dirty="0"/>
          </a:p>
        </p:txBody>
      </p:sp>
      <p:sp>
        <p:nvSpPr>
          <p:cNvPr id="28" name="Text 25"/>
          <p:cNvSpPr txBox="1"/>
          <p:nvPr/>
        </p:nvSpPr>
        <p:spPr>
          <a:xfrm>
            <a:off x="1143000" y="4690872"/>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17–20 · 3 phút</a:t>
            </a:r>
            <a:endParaRPr lang="en-US" sz="1150" dirty="0"/>
          </a:p>
        </p:txBody>
      </p:sp>
      <p:sp>
        <p:nvSpPr>
          <p:cNvPr id="29" name="Shape 26"/>
          <p:cNvSpPr/>
          <p:nvPr/>
        </p:nvSpPr>
        <p:spPr>
          <a:xfrm>
            <a:off x="548640" y="5047488"/>
            <a:ext cx="438912" cy="438912"/>
          </a:xfrm>
          <a:prstGeom prst="ellipse">
            <a:avLst/>
          </a:prstGeom>
          <a:solidFill>
            <a:srgbClr val="C8701E"/>
          </a:solidFill>
          <a:ln/>
        </p:spPr>
      </p:sp>
      <p:sp>
        <p:nvSpPr>
          <p:cNvPr id="30" name="Text 27"/>
          <p:cNvSpPr txBox="1"/>
          <p:nvPr/>
        </p:nvSpPr>
        <p:spPr>
          <a:xfrm>
            <a:off x="548640" y="504748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8"/>
          <p:cNvSpPr txBox="1"/>
          <p:nvPr/>
        </p:nvSpPr>
        <p:spPr>
          <a:xfrm>
            <a:off x="1143000" y="5038344"/>
            <a:ext cx="4389120" cy="256032"/>
          </a:xfrm>
          <a:prstGeom prst="rect">
            <a:avLst/>
          </a:prstGeom>
          <a:noFill/>
          <a:ln/>
        </p:spPr>
        <p:txBody>
          <a:bodyPr wrap="square" lIns="0" tIns="0" rIns="0" bIns="0" rtlCol="0" anchor="t"/>
          <a:lstStyle/>
          <a:p>
            <a:pPr indent="0" marL="0">
              <a:buNone/>
            </a:pPr>
            <a:r>
              <a:rPr lang="en-US" sz="1550" b="1" dirty="0">
                <a:solidFill>
                  <a:srgbClr val="1B2733"/>
                </a:solidFill>
                <a:latin typeface="Arial" pitchFamily="34" charset="0"/>
                <a:ea typeface="Arial" pitchFamily="34" charset="-122"/>
                <a:cs typeface="Arial" pitchFamily="34" charset="-120"/>
              </a:rPr>
              <a:t>Demo dashboard</a:t>
            </a:r>
            <a:endParaRPr lang="en-US" sz="1550" dirty="0"/>
          </a:p>
        </p:txBody>
      </p:sp>
      <p:sp>
        <p:nvSpPr>
          <p:cNvPr id="32" name="Text 29"/>
          <p:cNvSpPr txBox="1"/>
          <p:nvPr/>
        </p:nvSpPr>
        <p:spPr>
          <a:xfrm>
            <a:off x="1143000" y="5312664"/>
            <a:ext cx="4389120" cy="210312"/>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Artifact đã tạo · 3 phút</a:t>
            </a:r>
            <a:endParaRPr lang="en-US" sz="1150" dirty="0"/>
          </a:p>
        </p:txBody>
      </p:sp>
      <p:sp>
        <p:nvSpPr>
          <p:cNvPr id="33" name="Shape 30"/>
          <p:cNvSpPr/>
          <p:nvPr/>
        </p:nvSpPr>
        <p:spPr>
          <a:xfrm>
            <a:off x="6172200" y="1920240"/>
            <a:ext cx="5468112" cy="4251960"/>
          </a:xfrm>
          <a:prstGeom prst="roundRect">
            <a:avLst>
              <a:gd name="adj" fmla="val 1720"/>
            </a:avLst>
          </a:prstGeom>
          <a:solidFill>
            <a:srgbClr val="EEF3F6"/>
          </a:solidFill>
          <a:ln/>
        </p:spPr>
      </p:sp>
      <p:sp>
        <p:nvSpPr>
          <p:cNvPr id="34" name="Text 31"/>
          <p:cNvSpPr txBox="1"/>
          <p:nvPr/>
        </p:nvSpPr>
        <p:spPr>
          <a:xfrm>
            <a:off x="6492240" y="2148840"/>
            <a:ext cx="4846320" cy="365760"/>
          </a:xfrm>
          <a:prstGeom prst="rect">
            <a:avLst/>
          </a:prstGeom>
          <a:noFill/>
          <a:ln/>
        </p:spPr>
        <p:txBody>
          <a:bodyPr wrap="square" lIns="0" tIns="0" rIns="0" bIns="0" rtlCol="0" anchor="t"/>
          <a:lstStyle/>
          <a:p>
            <a:pPr indent="0" marL="0">
              <a:buNone/>
            </a:pPr>
            <a:r>
              <a:rPr lang="en-US" sz="1800" b="1" dirty="0">
                <a:solidFill>
                  <a:srgbClr val="0B2239"/>
                </a:solidFill>
                <a:latin typeface="Arial" pitchFamily="34" charset="0"/>
                <a:ea typeface="Arial" pitchFamily="34" charset="-122"/>
                <a:cs typeface="Arial" pitchFamily="34" charset="-120"/>
              </a:rPr>
              <a:t>Câu hỏi nghiên cứu</a:t>
            </a:r>
            <a:endParaRPr lang="en-US" sz="1800" dirty="0"/>
          </a:p>
        </p:txBody>
      </p:sp>
      <p:sp>
        <p:nvSpPr>
          <p:cNvPr id="35" name="Shape 32"/>
          <p:cNvSpPr/>
          <p:nvPr/>
        </p:nvSpPr>
        <p:spPr>
          <a:xfrm>
            <a:off x="6492240" y="2615184"/>
            <a:ext cx="384048" cy="384048"/>
          </a:xfrm>
          <a:prstGeom prst="ellipse">
            <a:avLst/>
          </a:prstGeom>
          <a:solidFill>
            <a:srgbClr val="C8701E"/>
          </a:solidFill>
          <a:ln/>
        </p:spPr>
      </p:sp>
      <p:sp>
        <p:nvSpPr>
          <p:cNvPr id="36" name="Text 33"/>
          <p:cNvSpPr txBox="1"/>
          <p:nvPr/>
        </p:nvSpPr>
        <p:spPr>
          <a:xfrm>
            <a:off x="6492240" y="2615184"/>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Q1</a:t>
            </a:r>
            <a:endParaRPr lang="en-US" sz="1050" dirty="0"/>
          </a:p>
        </p:txBody>
      </p:sp>
      <p:sp>
        <p:nvSpPr>
          <p:cNvPr id="37" name="Text 34"/>
          <p:cNvSpPr txBox="1"/>
          <p:nvPr/>
        </p:nvSpPr>
        <p:spPr>
          <a:xfrm>
            <a:off x="7059168" y="2606040"/>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FD001 có hợp lệ về schema, khóa và tính liên tục của cycle không?</a:t>
            </a:r>
            <a:endParaRPr lang="en-US" sz="1250" dirty="0"/>
          </a:p>
        </p:txBody>
      </p:sp>
      <p:sp>
        <p:nvSpPr>
          <p:cNvPr id="38" name="Shape 35"/>
          <p:cNvSpPr/>
          <p:nvPr/>
        </p:nvSpPr>
        <p:spPr>
          <a:xfrm>
            <a:off x="6492240" y="3172968"/>
            <a:ext cx="384048" cy="384048"/>
          </a:xfrm>
          <a:prstGeom prst="ellipse">
            <a:avLst/>
          </a:prstGeom>
          <a:solidFill>
            <a:srgbClr val="C8701E"/>
          </a:solidFill>
          <a:ln/>
        </p:spPr>
      </p:sp>
      <p:sp>
        <p:nvSpPr>
          <p:cNvPr id="39" name="Text 36"/>
          <p:cNvSpPr txBox="1"/>
          <p:nvPr/>
        </p:nvSpPr>
        <p:spPr>
          <a:xfrm>
            <a:off x="6492240" y="3172968"/>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Q2</a:t>
            </a:r>
            <a:endParaRPr lang="en-US" sz="1050" dirty="0"/>
          </a:p>
        </p:txBody>
      </p:sp>
      <p:sp>
        <p:nvSpPr>
          <p:cNvPr id="40" name="Text 37"/>
          <p:cNvSpPr txBox="1"/>
          <p:nvPr/>
        </p:nvSpPr>
        <p:spPr>
          <a:xfrm>
            <a:off x="7059168" y="3163824"/>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Sensor thay đổi thế nào giữa đầu và cuối vòng đời engine?</a:t>
            </a:r>
            <a:endParaRPr lang="en-US" sz="1250" dirty="0"/>
          </a:p>
        </p:txBody>
      </p:sp>
      <p:sp>
        <p:nvSpPr>
          <p:cNvPr id="41" name="Shape 38"/>
          <p:cNvSpPr/>
          <p:nvPr/>
        </p:nvSpPr>
        <p:spPr>
          <a:xfrm>
            <a:off x="6492240" y="3730752"/>
            <a:ext cx="384048" cy="384048"/>
          </a:xfrm>
          <a:prstGeom prst="ellipse">
            <a:avLst/>
          </a:prstGeom>
          <a:solidFill>
            <a:srgbClr val="C8701E"/>
          </a:solidFill>
          <a:ln/>
        </p:spPr>
      </p:sp>
      <p:sp>
        <p:nvSpPr>
          <p:cNvPr id="42" name="Text 39"/>
          <p:cNvSpPr txBox="1"/>
          <p:nvPr/>
        </p:nvSpPr>
        <p:spPr>
          <a:xfrm>
            <a:off x="6492240" y="3730752"/>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Q3</a:t>
            </a:r>
            <a:endParaRPr lang="en-US" sz="1050" dirty="0"/>
          </a:p>
        </p:txBody>
      </p:sp>
      <p:sp>
        <p:nvSpPr>
          <p:cNvPr id="43" name="Text 40"/>
          <p:cNvSpPr txBox="1"/>
          <p:nvPr/>
        </p:nvSpPr>
        <p:spPr>
          <a:xfrm>
            <a:off x="7059168" y="3721608"/>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ETL bằng Pandas và PySpark có cho kết quả giống nhau không?</a:t>
            </a:r>
            <a:endParaRPr lang="en-US" sz="1250" dirty="0"/>
          </a:p>
        </p:txBody>
      </p:sp>
      <p:sp>
        <p:nvSpPr>
          <p:cNvPr id="44" name="Shape 41"/>
          <p:cNvSpPr/>
          <p:nvPr/>
        </p:nvSpPr>
        <p:spPr>
          <a:xfrm>
            <a:off x="6492240" y="4288536"/>
            <a:ext cx="384048" cy="384048"/>
          </a:xfrm>
          <a:prstGeom prst="ellipse">
            <a:avLst/>
          </a:prstGeom>
          <a:solidFill>
            <a:srgbClr val="C8701E"/>
          </a:solidFill>
          <a:ln/>
        </p:spPr>
      </p:sp>
      <p:sp>
        <p:nvSpPr>
          <p:cNvPr id="45" name="Text 42"/>
          <p:cNvSpPr txBox="1"/>
          <p:nvPr/>
        </p:nvSpPr>
        <p:spPr>
          <a:xfrm>
            <a:off x="6492240" y="4288536"/>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Q4</a:t>
            </a:r>
            <a:endParaRPr lang="en-US" sz="1050" dirty="0"/>
          </a:p>
        </p:txBody>
      </p:sp>
      <p:sp>
        <p:nvSpPr>
          <p:cNvPr id="46" name="Text 43"/>
          <p:cNvSpPr txBox="1"/>
          <p:nvPr/>
        </p:nvSpPr>
        <p:spPr>
          <a:xfrm>
            <a:off x="7059168" y="4279392"/>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HGB126 hay HGB169 ổn định hơn trên cùng panel và các mốc vòng đời?</a:t>
            </a:r>
            <a:endParaRPr lang="en-US" sz="1250" dirty="0"/>
          </a:p>
        </p:txBody>
      </p:sp>
      <p:sp>
        <p:nvSpPr>
          <p:cNvPr id="47" name="Shape 44"/>
          <p:cNvSpPr/>
          <p:nvPr/>
        </p:nvSpPr>
        <p:spPr>
          <a:xfrm>
            <a:off x="6492240" y="4846320"/>
            <a:ext cx="384048" cy="384048"/>
          </a:xfrm>
          <a:prstGeom prst="ellipse">
            <a:avLst/>
          </a:prstGeom>
          <a:solidFill>
            <a:srgbClr val="C8701E"/>
          </a:solidFill>
          <a:ln/>
        </p:spPr>
      </p:sp>
      <p:sp>
        <p:nvSpPr>
          <p:cNvPr id="48" name="Text 45"/>
          <p:cNvSpPr txBox="1"/>
          <p:nvPr/>
        </p:nvSpPr>
        <p:spPr>
          <a:xfrm>
            <a:off x="6492240" y="4846320"/>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Q5</a:t>
            </a:r>
            <a:endParaRPr lang="en-US" sz="1050" dirty="0"/>
          </a:p>
        </p:txBody>
      </p:sp>
      <p:sp>
        <p:nvSpPr>
          <p:cNvPr id="49" name="Text 46"/>
          <p:cNvSpPr txBox="1"/>
          <p:nvPr/>
        </p:nvSpPr>
        <p:spPr>
          <a:xfrm>
            <a:off x="7059168" y="4837176"/>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RUL có chuyển thành cảnh báo sớm với chất lượng chấp nhận được không?</a:t>
            </a:r>
            <a:endParaRPr lang="en-US" sz="1250" dirty="0"/>
          </a:p>
        </p:txBody>
      </p:sp>
      <p:sp>
        <p:nvSpPr>
          <p:cNvPr id="50" name="Shape 47"/>
          <p:cNvSpPr/>
          <p:nvPr/>
        </p:nvSpPr>
        <p:spPr>
          <a:xfrm>
            <a:off x="6492240" y="5404104"/>
            <a:ext cx="384048" cy="384048"/>
          </a:xfrm>
          <a:prstGeom prst="ellipse">
            <a:avLst/>
          </a:prstGeom>
          <a:solidFill>
            <a:srgbClr val="C8701E"/>
          </a:solidFill>
          <a:ln/>
        </p:spPr>
      </p:sp>
      <p:sp>
        <p:nvSpPr>
          <p:cNvPr id="51" name="Text 48"/>
          <p:cNvSpPr txBox="1"/>
          <p:nvPr/>
        </p:nvSpPr>
        <p:spPr>
          <a:xfrm>
            <a:off x="6492240" y="5404104"/>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Q6</a:t>
            </a:r>
            <a:endParaRPr lang="en-US" sz="1050" dirty="0"/>
          </a:p>
        </p:txBody>
      </p:sp>
      <p:sp>
        <p:nvSpPr>
          <p:cNvPr id="52" name="Text 49"/>
          <p:cNvSpPr txBox="1"/>
          <p:nvPr/>
        </p:nvSpPr>
        <p:spPr>
          <a:xfrm>
            <a:off x="7059168" y="5394960"/>
            <a:ext cx="4224528" cy="45720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Model huấn luyện trên FD001 hoạt động thế nào khi áp dụng FD002–FD004?</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Bài toán: ước lượng số cycle còn lại trước failure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Đề tài 8 yêu cầu phát hiện dấu hiệu suy giảm và dự đoán thời điểm cần bảo trì từ dữ liệu cảm biến</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references/context/assignment-brief.png; report/sections/problem-data.tex; data/CONTRACTS.md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3 / 20</a:t>
            </a:r>
            <a:endParaRPr lang="en-US" sz="1000" dirty="0"/>
          </a:p>
        </p:txBody>
      </p:sp>
      <p:sp>
        <p:nvSpPr>
          <p:cNvPr id="9" name="Text 6"/>
          <p:cNvSpPr txBox="1"/>
          <p:nvPr/>
        </p:nvSpPr>
        <p:spPr>
          <a:xfrm>
            <a:off x="548640" y="1965960"/>
            <a:ext cx="475488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Ví dụ trên một train engine</a:t>
            </a:r>
            <a:endParaRPr lang="en-US" sz="1500" dirty="0"/>
          </a:p>
        </p:txBody>
      </p:sp>
      <p:sp>
        <p:nvSpPr>
          <p:cNvPr id="10" name="Shape 7"/>
          <p:cNvSpPr/>
          <p:nvPr/>
        </p:nvSpPr>
        <p:spPr>
          <a:xfrm>
            <a:off x="685800" y="2788920"/>
            <a:ext cx="4389120" cy="182880"/>
          </a:xfrm>
          <a:prstGeom prst="rect">
            <a:avLst/>
          </a:prstGeom>
          <a:solidFill>
            <a:srgbClr val="DCEFEF"/>
          </a:solidFill>
          <a:ln/>
        </p:spPr>
      </p:sp>
      <p:sp>
        <p:nvSpPr>
          <p:cNvPr id="11" name="Shape 8"/>
          <p:cNvSpPr/>
          <p:nvPr/>
        </p:nvSpPr>
        <p:spPr>
          <a:xfrm>
            <a:off x="4416552" y="2788920"/>
            <a:ext cx="658368" cy="182880"/>
          </a:xfrm>
          <a:prstGeom prst="rect">
            <a:avLst/>
          </a:prstGeom>
          <a:solidFill>
            <a:srgbClr val="C8701E"/>
          </a:solidFill>
          <a:ln/>
        </p:spPr>
      </p:sp>
      <p:sp>
        <p:nvSpPr>
          <p:cNvPr id="12" name="Shape 9"/>
          <p:cNvSpPr/>
          <p:nvPr/>
        </p:nvSpPr>
        <p:spPr>
          <a:xfrm>
            <a:off x="4983480" y="2743200"/>
            <a:ext cx="274320" cy="274320"/>
          </a:xfrm>
          <a:prstGeom prst="ellipse">
            <a:avLst/>
          </a:prstGeom>
          <a:solidFill>
            <a:srgbClr val="B23A3A"/>
          </a:solidFill>
          <a:ln/>
        </p:spPr>
      </p:sp>
      <p:sp>
        <p:nvSpPr>
          <p:cNvPr id="13" name="Text 10"/>
          <p:cNvSpPr txBox="1"/>
          <p:nvPr/>
        </p:nvSpPr>
        <p:spPr>
          <a:xfrm>
            <a:off x="594360" y="3081528"/>
            <a:ext cx="914400" cy="256032"/>
          </a:xfrm>
          <a:prstGeom prst="rect">
            <a:avLst/>
          </a:prstGeom>
          <a:noFill/>
          <a:ln/>
        </p:spPr>
        <p:txBody>
          <a:bodyPr wrap="square" lIns="0" tIns="0" rIns="0" bIns="0" rtlCol="0" anchor="t"/>
          <a:lstStyle/>
          <a:p>
            <a:pPr indent="0" marL="0">
              <a:buNone/>
            </a:pPr>
            <a:r>
              <a:rPr lang="en-US" sz="1100" dirty="0">
                <a:solidFill>
                  <a:srgbClr val="5A6B7B"/>
                </a:solidFill>
                <a:latin typeface="Arial" pitchFamily="34" charset="0"/>
                <a:ea typeface="Arial" pitchFamily="34" charset="-122"/>
                <a:cs typeface="Arial" pitchFamily="34" charset="-120"/>
              </a:rPr>
              <a:t>cycle 1</a:t>
            </a:r>
            <a:endParaRPr lang="en-US" sz="1100" dirty="0"/>
          </a:p>
        </p:txBody>
      </p:sp>
      <p:sp>
        <p:nvSpPr>
          <p:cNvPr id="14" name="Text 11"/>
          <p:cNvSpPr txBox="1"/>
          <p:nvPr/>
        </p:nvSpPr>
        <p:spPr>
          <a:xfrm>
            <a:off x="3959352" y="2404872"/>
            <a:ext cx="914400" cy="274320"/>
          </a:xfrm>
          <a:prstGeom prst="rect">
            <a:avLst/>
          </a:prstGeom>
          <a:noFill/>
          <a:ln/>
        </p:spPr>
        <p:txBody>
          <a:bodyPr wrap="square" lIns="0" tIns="0" rIns="0" bIns="0" rtlCol="0" anchor="t"/>
          <a:lstStyle/>
          <a:p>
            <a:pPr algn="ctr" indent="0" marL="0">
              <a:buNone/>
            </a:pPr>
            <a:r>
              <a:rPr lang="en-US" sz="1200" b="1" dirty="0">
                <a:solidFill>
                  <a:srgbClr val="C8701E"/>
                </a:solidFill>
                <a:latin typeface="Arial" pitchFamily="34" charset="0"/>
                <a:ea typeface="Arial" pitchFamily="34" charset="-122"/>
                <a:cs typeface="Arial" pitchFamily="34" charset="-120"/>
              </a:rPr>
              <a:t>t = 170</a:t>
            </a:r>
            <a:endParaRPr lang="en-US" sz="1200" dirty="0"/>
          </a:p>
        </p:txBody>
      </p:sp>
      <p:sp>
        <p:nvSpPr>
          <p:cNvPr id="15" name="Text 12"/>
          <p:cNvSpPr txBox="1"/>
          <p:nvPr/>
        </p:nvSpPr>
        <p:spPr>
          <a:xfrm>
            <a:off x="4572000" y="3081528"/>
            <a:ext cx="1005840" cy="457200"/>
          </a:xfrm>
          <a:prstGeom prst="rect">
            <a:avLst/>
          </a:prstGeom>
          <a:noFill/>
          <a:ln/>
        </p:spPr>
        <p:txBody>
          <a:bodyPr wrap="square" lIns="0" tIns="0" rIns="0" bIns="0" rtlCol="0" anchor="t"/>
          <a:lstStyle/>
          <a:p>
            <a:pPr algn="ctr" indent="0" marL="0">
              <a:buNone/>
            </a:pPr>
            <a:r>
              <a:rPr lang="en-US" sz="1100" dirty="0">
                <a:solidFill>
                  <a:srgbClr val="B23A3A"/>
                </a:solidFill>
                <a:latin typeface="Arial" pitchFamily="34" charset="0"/>
                <a:ea typeface="Arial" pitchFamily="34" charset="-122"/>
                <a:cs typeface="Arial" pitchFamily="34" charset="-120"/>
              </a:rPr>
              <a:t>failure</a:t>
            </a:r>
            <a:endParaRPr lang="en-US" sz="1100" dirty="0"/>
          </a:p>
          <a:p>
            <a:pPr algn="ctr" indent="0" marL="0">
              <a:buNone/>
            </a:pPr>
            <a:r>
              <a:rPr lang="en-US" sz="1100" dirty="0">
                <a:solidFill>
                  <a:srgbClr val="B23A3A"/>
                </a:solidFill>
                <a:latin typeface="Arial" pitchFamily="34" charset="0"/>
                <a:ea typeface="Arial" pitchFamily="34" charset="-122"/>
                <a:cs typeface="Arial" pitchFamily="34" charset="-120"/>
              </a:rPr>
              <a:t>cycle 200</a:t>
            </a:r>
            <a:endParaRPr lang="en-US" sz="1100" dirty="0"/>
          </a:p>
        </p:txBody>
      </p:sp>
      <p:sp>
        <p:nvSpPr>
          <p:cNvPr id="16" name="Text 13"/>
          <p:cNvSpPr txBox="1"/>
          <p:nvPr/>
        </p:nvSpPr>
        <p:spPr>
          <a:xfrm>
            <a:off x="548640" y="3749040"/>
            <a:ext cx="4937760" cy="411480"/>
          </a:xfrm>
          <a:prstGeom prst="rect">
            <a:avLst/>
          </a:prstGeom>
          <a:noFill/>
          <a:ln/>
        </p:spPr>
        <p:txBody>
          <a:bodyPr wrap="square" lIns="0" tIns="0" rIns="0" bIns="0" rtlCol="0" anchor="t"/>
          <a:lstStyle/>
          <a:p>
            <a:pPr indent="0" marL="0">
              <a:buNone/>
            </a:pPr>
            <a:r>
              <a:rPr lang="en-US" sz="2200" b="1" dirty="0">
                <a:solidFill>
                  <a:srgbClr val="0B2239"/>
                </a:solidFill>
                <a:latin typeface="Arial" pitchFamily="34" charset="0"/>
                <a:ea typeface="Arial" pitchFamily="34" charset="-122"/>
                <a:cs typeface="Arial" pitchFamily="34" charset="-120"/>
              </a:rPr>
              <a:t>RUL(t) = cycle cuối − t</a:t>
            </a:r>
            <a:endParaRPr lang="en-US" sz="2200" dirty="0"/>
          </a:p>
        </p:txBody>
      </p:sp>
      <p:sp>
        <p:nvSpPr>
          <p:cNvPr id="17" name="Text 14"/>
          <p:cNvSpPr txBox="1"/>
          <p:nvPr/>
        </p:nvSpPr>
        <p:spPr>
          <a:xfrm>
            <a:off x="548640" y="4206240"/>
            <a:ext cx="4937760" cy="365760"/>
          </a:xfrm>
          <a:prstGeom prst="rect">
            <a:avLst/>
          </a:prstGeom>
          <a:noFill/>
          <a:ln/>
        </p:spPr>
        <p:txBody>
          <a:bodyPr wrap="square" lIns="0" tIns="0" rIns="0" bIns="0" rtlCol="0" anchor="t"/>
          <a:lstStyle/>
          <a:p>
            <a:pPr indent="0" marL="0">
              <a:buNone/>
            </a:pPr>
            <a:r>
              <a:rPr lang="en-US" sz="1600" b="1" dirty="0">
                <a:solidFill>
                  <a:srgbClr val="C8701E"/>
                </a:solidFill>
                <a:latin typeface="Arial" pitchFamily="34" charset="0"/>
                <a:ea typeface="Arial" pitchFamily="34" charset="-122"/>
                <a:cs typeface="Arial" pitchFamily="34" charset="-120"/>
              </a:rPr>
              <a:t>RUL(170) = 200 − 170 = 30 cycles</a:t>
            </a:r>
            <a:endParaRPr lang="en-US" sz="1600" dirty="0"/>
          </a:p>
        </p:txBody>
      </p:sp>
      <p:sp>
        <p:nvSpPr>
          <p:cNvPr id="18" name="Text 15"/>
          <p:cNvSpPr txBox="1"/>
          <p:nvPr/>
        </p:nvSpPr>
        <p:spPr>
          <a:xfrm>
            <a:off x="548640" y="4800600"/>
            <a:ext cx="4846320" cy="1097280"/>
          </a:xfrm>
          <a:prstGeom prst="rect">
            <a:avLst/>
          </a:prstGeom>
          <a:noFill/>
          <a:ln/>
        </p:spPr>
        <p:txBody>
          <a:bodyPr wrap="square" lIns="0" tIns="0" rIns="0" bIns="0" rtlCol="0" anchor="t"/>
          <a:lstStyle/>
          <a:p>
            <a:pPr indent="0" marL="0">
              <a:buNone/>
            </a:pPr>
            <a:r>
              <a:rPr lang="en-US" sz="1400" dirty="0">
                <a:solidFill>
                  <a:srgbClr val="1B2733"/>
                </a:solidFill>
                <a:latin typeface="Arial" pitchFamily="34" charset="0"/>
                <a:ea typeface="Arial" pitchFamily="34" charset="-122"/>
                <a:cs typeface="Arial" pitchFamily="34" charset="-120"/>
              </a:rPr>
              <a:t>Supervised regression: input là chuỗi 21 sensor theo cycle, output là một số RUL. Đơn vị là cycle, không quy đổi ra giờ.</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06440" y="1965960"/>
          <a:ext cx="5833872" cy="914400"/>
        </p:xfrm>
        <a:graphic>
          <a:graphicData uri="http://schemas.openxmlformats.org/drawingml/2006/table">
            <a:tbl>
              <a:tblPr/>
              <a:tblGrid>
                <a:gridCol w="2011680"/>
                <a:gridCol w="3136392"/>
                <a:gridCol w="685800"/>
              </a:tblGrid>
              <a:tr h="64008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Yêu cầu của đề tài</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Cách đáp ứng trong báo cáo</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Slide</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Xử lý chuỗi thời gian cảm biến</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Kiểm tra schema, khóa, cycle liên tục; window theo từng engine</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6, 10</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Xử lý nhiễu tín hiệu</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Thống kê trên window 30 và Health Index PCA; chưa dùng bộ lọc riêng</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10, 11</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Chuẩn hóa, tổng hợp theo window</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Chuẩn hóa schema; StandardScaler trong fold; 126 đặc trưng</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Trực quan xu hướng suy giảm</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Quỹ đạo sensor, kiểm định đầu/cuối vòng đời, Health Index</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9, 11</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640080">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Dự đoán thời điểm bảo trì, cảnh báo sớm</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Dự đoán RUL; cảnh báo khi RUL dự đoán ≤ 30 cycles</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33"/>
                          </a:solidFill>
                          <a:latin typeface="Arial" pitchFamily="34" charset="0"/>
                          <a:ea typeface="Arial" pitchFamily="34" charset="-122"/>
                          <a:cs typeface="Arial" pitchFamily="34" charset="-120"/>
                        </a:rPr>
                        <a:t>14, 16</a:t>
                      </a:r>
                      <a:endParaRPr lang="en-US" sz="12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NASA C-MAPSS: bốn subset, hai trục khác biệt</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Hai trục là số điều kiện vận hành và số fault mode; FD001 là protocol chính, FD002–FD004 dùng ở slide 18</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data/raw/readme.txt; outputs/cross_dataset/FD00x/etl/run_info.json; data/CONTRACTS.md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4 / 20</a:t>
            </a:r>
            <a:endParaRPr lang="en-US" sz="1000" dirty="0"/>
          </a:p>
        </p:txBody>
      </p:sp>
      <p:sp>
        <p:nvSpPr>
          <p:cNvPr id="9" name="Shape 6"/>
          <p:cNvSpPr/>
          <p:nvPr/>
        </p:nvSpPr>
        <p:spPr>
          <a:xfrm>
            <a:off x="548640" y="1920240"/>
            <a:ext cx="2651760" cy="2514600"/>
          </a:xfrm>
          <a:prstGeom prst="roundRect">
            <a:avLst>
              <a:gd name="adj" fmla="val 2909"/>
            </a:avLst>
          </a:prstGeom>
          <a:solidFill>
            <a:srgbClr val="0B2239"/>
          </a:solidFill>
          <a:ln/>
        </p:spPr>
      </p:sp>
      <p:sp>
        <p:nvSpPr>
          <p:cNvPr id="10" name="Text 7"/>
          <p:cNvSpPr txBox="1"/>
          <p:nvPr/>
        </p:nvSpPr>
        <p:spPr>
          <a:xfrm>
            <a:off x="777240" y="2057400"/>
            <a:ext cx="2194560" cy="45720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FD001</a:t>
            </a:r>
            <a:endParaRPr lang="en-US" sz="2400" dirty="0"/>
          </a:p>
        </p:txBody>
      </p:sp>
      <p:sp>
        <p:nvSpPr>
          <p:cNvPr id="11" name="Text 8"/>
          <p:cNvSpPr txBox="1"/>
          <p:nvPr/>
        </p:nvSpPr>
        <p:spPr>
          <a:xfrm>
            <a:off x="777240" y="2514600"/>
            <a:ext cx="2194560" cy="274320"/>
          </a:xfrm>
          <a:prstGeom prst="rect">
            <a:avLst/>
          </a:prstGeom>
          <a:noFill/>
          <a:ln/>
        </p:spPr>
        <p:txBody>
          <a:bodyPr wrap="square" lIns="0" tIns="0" rIns="0" bIns="0" rtlCol="0" anchor="t"/>
          <a:lstStyle/>
          <a:p>
            <a:pPr indent="0" marL="0">
              <a:buNone/>
            </a:pPr>
            <a:r>
              <a:rPr lang="en-US" sz="1150" b="1" dirty="0">
                <a:solidFill>
                  <a:srgbClr val="BFD9E3"/>
                </a:solidFill>
                <a:latin typeface="Arial" pitchFamily="34" charset="0"/>
                <a:ea typeface="Arial" pitchFamily="34" charset="-122"/>
                <a:cs typeface="Arial" pitchFamily="34" charset="-120"/>
              </a:rPr>
              <a:t>Protocol chính</a:t>
            </a:r>
            <a:endParaRPr lang="en-US" sz="1150" dirty="0"/>
          </a:p>
        </p:txBody>
      </p:sp>
      <p:sp>
        <p:nvSpPr>
          <p:cNvPr id="12" name="Text 9"/>
          <p:cNvSpPr txBox="1"/>
          <p:nvPr/>
        </p:nvSpPr>
        <p:spPr>
          <a:xfrm>
            <a:off x="777240" y="2880360"/>
            <a:ext cx="2286000"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1 điều kiện vận hành</a:t>
            </a:r>
            <a:endParaRPr lang="en-US" sz="1300" dirty="0"/>
          </a:p>
          <a:p>
            <a:pPr indent="0" marL="0">
              <a:buNone/>
            </a:pPr>
            <a:r>
              <a:rPr lang="en-US" sz="1300" dirty="0">
                <a:solidFill>
                  <a:srgbClr val="FFFFFF"/>
                </a:solidFill>
                <a:latin typeface="Arial" pitchFamily="34" charset="0"/>
                <a:ea typeface="Arial" pitchFamily="34" charset="-122"/>
                <a:cs typeface="Arial" pitchFamily="34" charset="-120"/>
              </a:rPr>
              <a:t>1 fault mode (HPC)</a:t>
            </a:r>
            <a:endParaRPr lang="en-US" sz="1300" dirty="0"/>
          </a:p>
        </p:txBody>
      </p:sp>
      <p:sp>
        <p:nvSpPr>
          <p:cNvPr id="13" name="Text 10"/>
          <p:cNvSpPr txBox="1"/>
          <p:nvPr/>
        </p:nvSpPr>
        <p:spPr>
          <a:xfrm>
            <a:off x="777240" y="3566160"/>
            <a:ext cx="2286000" cy="566928"/>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100 train / 100 test engines</a:t>
            </a:r>
            <a:endParaRPr lang="en-US" sz="1300" dirty="0"/>
          </a:p>
          <a:p>
            <a:pPr indent="0" marL="0">
              <a:buNone/>
            </a:pPr>
            <a:r>
              <a:rPr lang="en-US" sz="1300" dirty="0">
                <a:solidFill>
                  <a:srgbClr val="BFD9E3"/>
                </a:solidFill>
                <a:latin typeface="Arial" pitchFamily="34" charset="0"/>
                <a:ea typeface="Arial" pitchFamily="34" charset="-122"/>
                <a:cs typeface="Arial" pitchFamily="34" charset="-120"/>
              </a:rPr>
              <a:t>33.727 observations</a:t>
            </a:r>
            <a:endParaRPr lang="en-US" sz="1300" dirty="0"/>
          </a:p>
        </p:txBody>
      </p:sp>
      <p:sp>
        <p:nvSpPr>
          <p:cNvPr id="14" name="Shape 11"/>
          <p:cNvSpPr/>
          <p:nvPr/>
        </p:nvSpPr>
        <p:spPr>
          <a:xfrm>
            <a:off x="3364992" y="1920240"/>
            <a:ext cx="2651760" cy="2514600"/>
          </a:xfrm>
          <a:prstGeom prst="roundRect">
            <a:avLst>
              <a:gd name="adj" fmla="val 2909"/>
            </a:avLst>
          </a:prstGeom>
          <a:solidFill>
            <a:srgbClr val="EEF3F6"/>
          </a:solidFill>
          <a:ln/>
        </p:spPr>
      </p:sp>
      <p:sp>
        <p:nvSpPr>
          <p:cNvPr id="15" name="Text 12"/>
          <p:cNvSpPr txBox="1"/>
          <p:nvPr/>
        </p:nvSpPr>
        <p:spPr>
          <a:xfrm>
            <a:off x="3593592"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FD002</a:t>
            </a:r>
            <a:endParaRPr lang="en-US" sz="2400" dirty="0"/>
          </a:p>
        </p:txBody>
      </p:sp>
      <p:sp>
        <p:nvSpPr>
          <p:cNvPr id="16" name="Text 13"/>
          <p:cNvSpPr txBox="1"/>
          <p:nvPr/>
        </p:nvSpPr>
        <p:spPr>
          <a:xfrm>
            <a:off x="3593592"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17" name="Text 14"/>
          <p:cNvSpPr txBox="1"/>
          <p:nvPr/>
        </p:nvSpPr>
        <p:spPr>
          <a:xfrm>
            <a:off x="3593592"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1 fault mode (HPC)</a:t>
            </a:r>
            <a:endParaRPr lang="en-US" sz="1300" dirty="0"/>
          </a:p>
        </p:txBody>
      </p:sp>
      <p:sp>
        <p:nvSpPr>
          <p:cNvPr id="18" name="Text 15"/>
          <p:cNvSpPr txBox="1"/>
          <p:nvPr/>
        </p:nvSpPr>
        <p:spPr>
          <a:xfrm>
            <a:off x="3593592"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260 train / 259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87.750 observations</a:t>
            </a:r>
            <a:endParaRPr lang="en-US" sz="1300" dirty="0"/>
          </a:p>
        </p:txBody>
      </p:sp>
      <p:sp>
        <p:nvSpPr>
          <p:cNvPr id="19" name="Shape 16"/>
          <p:cNvSpPr/>
          <p:nvPr/>
        </p:nvSpPr>
        <p:spPr>
          <a:xfrm>
            <a:off x="6181344" y="1920240"/>
            <a:ext cx="2651760" cy="2514600"/>
          </a:xfrm>
          <a:prstGeom prst="roundRect">
            <a:avLst>
              <a:gd name="adj" fmla="val 2909"/>
            </a:avLst>
          </a:prstGeom>
          <a:solidFill>
            <a:srgbClr val="EEF3F6"/>
          </a:solidFill>
          <a:ln/>
        </p:spPr>
      </p:sp>
      <p:sp>
        <p:nvSpPr>
          <p:cNvPr id="20" name="Text 17"/>
          <p:cNvSpPr txBox="1"/>
          <p:nvPr/>
        </p:nvSpPr>
        <p:spPr>
          <a:xfrm>
            <a:off x="6409944"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FD003</a:t>
            </a:r>
            <a:endParaRPr lang="en-US" sz="2400" dirty="0"/>
          </a:p>
        </p:txBody>
      </p:sp>
      <p:sp>
        <p:nvSpPr>
          <p:cNvPr id="21" name="Text 18"/>
          <p:cNvSpPr txBox="1"/>
          <p:nvPr/>
        </p:nvSpPr>
        <p:spPr>
          <a:xfrm>
            <a:off x="6409944"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22" name="Text 19"/>
          <p:cNvSpPr txBox="1"/>
          <p:nvPr/>
        </p:nvSpPr>
        <p:spPr>
          <a:xfrm>
            <a:off x="6409944"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1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2 fault mode (HPC, Fan)</a:t>
            </a:r>
            <a:endParaRPr lang="en-US" sz="1300" dirty="0"/>
          </a:p>
        </p:txBody>
      </p:sp>
      <p:sp>
        <p:nvSpPr>
          <p:cNvPr id="23" name="Text 20"/>
          <p:cNvSpPr txBox="1"/>
          <p:nvPr/>
        </p:nvSpPr>
        <p:spPr>
          <a:xfrm>
            <a:off x="6409944"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100 train / 100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41.316 observations</a:t>
            </a:r>
            <a:endParaRPr lang="en-US" sz="1300" dirty="0"/>
          </a:p>
        </p:txBody>
      </p:sp>
      <p:sp>
        <p:nvSpPr>
          <p:cNvPr id="24" name="Shape 21"/>
          <p:cNvSpPr/>
          <p:nvPr/>
        </p:nvSpPr>
        <p:spPr>
          <a:xfrm>
            <a:off x="8997696" y="1920240"/>
            <a:ext cx="2651760" cy="2514600"/>
          </a:xfrm>
          <a:prstGeom prst="roundRect">
            <a:avLst>
              <a:gd name="adj" fmla="val 2909"/>
            </a:avLst>
          </a:prstGeom>
          <a:solidFill>
            <a:srgbClr val="EEF3F6"/>
          </a:solidFill>
          <a:ln/>
        </p:spPr>
      </p:sp>
      <p:sp>
        <p:nvSpPr>
          <p:cNvPr id="25" name="Text 22"/>
          <p:cNvSpPr txBox="1"/>
          <p:nvPr/>
        </p:nvSpPr>
        <p:spPr>
          <a:xfrm>
            <a:off x="9226296" y="2057400"/>
            <a:ext cx="2194560" cy="457200"/>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FD004</a:t>
            </a:r>
            <a:endParaRPr lang="en-US" sz="2400" dirty="0"/>
          </a:p>
        </p:txBody>
      </p:sp>
      <p:sp>
        <p:nvSpPr>
          <p:cNvPr id="26" name="Text 23"/>
          <p:cNvSpPr txBox="1"/>
          <p:nvPr/>
        </p:nvSpPr>
        <p:spPr>
          <a:xfrm>
            <a:off x="9226296" y="2514600"/>
            <a:ext cx="2194560" cy="274320"/>
          </a:xfrm>
          <a:prstGeom prst="rect">
            <a:avLst/>
          </a:prstGeom>
          <a:noFill/>
          <a:ln/>
        </p:spPr>
        <p:txBody>
          <a:bodyPr wrap="square" lIns="0" tIns="0" rIns="0" bIns="0" rtlCol="0" anchor="t"/>
          <a:lstStyle/>
          <a:p>
            <a:pPr indent="0" marL="0">
              <a:buNone/>
            </a:pPr>
            <a:r>
              <a:rPr lang="en-US" sz="1150" b="1" dirty="0">
                <a:solidFill>
                  <a:srgbClr val="157A7F"/>
                </a:solidFill>
                <a:latin typeface="Arial" pitchFamily="34" charset="0"/>
                <a:ea typeface="Arial" pitchFamily="34" charset="-122"/>
                <a:cs typeface="Arial" pitchFamily="34" charset="-120"/>
              </a:rPr>
              <a:t>Kiểm tra chuyển miền</a:t>
            </a:r>
            <a:endParaRPr lang="en-US" sz="1150" dirty="0"/>
          </a:p>
        </p:txBody>
      </p:sp>
      <p:sp>
        <p:nvSpPr>
          <p:cNvPr id="27" name="Text 24"/>
          <p:cNvSpPr txBox="1"/>
          <p:nvPr/>
        </p:nvSpPr>
        <p:spPr>
          <a:xfrm>
            <a:off x="9226296" y="2880360"/>
            <a:ext cx="2286000" cy="566928"/>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điều kiện vận hành</a:t>
            </a:r>
            <a:endParaRPr lang="en-US" sz="1300" dirty="0"/>
          </a:p>
          <a:p>
            <a:pPr indent="0" marL="0">
              <a:buNone/>
            </a:pPr>
            <a:r>
              <a:rPr lang="en-US" sz="1300" dirty="0">
                <a:solidFill>
                  <a:srgbClr val="1B2733"/>
                </a:solidFill>
                <a:latin typeface="Arial" pitchFamily="34" charset="0"/>
                <a:ea typeface="Arial" pitchFamily="34" charset="-122"/>
                <a:cs typeface="Arial" pitchFamily="34" charset="-120"/>
              </a:rPr>
              <a:t>2 fault mode (HPC, Fan)</a:t>
            </a:r>
            <a:endParaRPr lang="en-US" sz="1300" dirty="0"/>
          </a:p>
        </p:txBody>
      </p:sp>
      <p:sp>
        <p:nvSpPr>
          <p:cNvPr id="28" name="Text 25"/>
          <p:cNvSpPr txBox="1"/>
          <p:nvPr/>
        </p:nvSpPr>
        <p:spPr>
          <a:xfrm>
            <a:off x="9226296" y="3566160"/>
            <a:ext cx="2286000" cy="566928"/>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249 train / 248 test engines</a:t>
            </a:r>
            <a:endParaRPr lang="en-US" sz="1300" dirty="0"/>
          </a:p>
          <a:p>
            <a:pPr indent="0" marL="0">
              <a:buNone/>
            </a:pPr>
            <a:r>
              <a:rPr lang="en-US" sz="1300" dirty="0">
                <a:solidFill>
                  <a:srgbClr val="5A6B7B"/>
                </a:solidFill>
                <a:latin typeface="Arial" pitchFamily="34" charset="0"/>
                <a:ea typeface="Arial" pitchFamily="34" charset="-122"/>
                <a:cs typeface="Arial" pitchFamily="34" charset="-120"/>
              </a:rPr>
              <a:t>102.463 observations</a:t>
            </a:r>
            <a:endParaRPr lang="en-US" sz="1300" dirty="0"/>
          </a:p>
        </p:txBody>
      </p:sp>
      <p:sp>
        <p:nvSpPr>
          <p:cNvPr id="29" name="Text 26"/>
          <p:cNvSpPr txBox="1"/>
          <p:nvPr/>
        </p:nvSpPr>
        <p:spPr>
          <a:xfrm>
            <a:off x="548640" y="4681728"/>
            <a:ext cx="731520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Một dòng observation có 26 trường</a:t>
            </a:r>
            <a:endParaRPr lang="en-US" sz="1500" dirty="0"/>
          </a:p>
        </p:txBody>
      </p:sp>
      <p:sp>
        <p:nvSpPr>
          <p:cNvPr id="30" name="Shape 27"/>
          <p:cNvSpPr/>
          <p:nvPr/>
        </p:nvSpPr>
        <p:spPr>
          <a:xfrm>
            <a:off x="548640" y="5074920"/>
            <a:ext cx="1234440" cy="457200"/>
          </a:xfrm>
          <a:prstGeom prst="roundRect">
            <a:avLst>
              <a:gd name="adj" fmla="val 16000"/>
            </a:avLst>
          </a:prstGeom>
          <a:solidFill>
            <a:srgbClr val="0B2239"/>
          </a:solidFill>
          <a:ln/>
        </p:spPr>
      </p:sp>
      <p:sp>
        <p:nvSpPr>
          <p:cNvPr id="31" name="Text 28"/>
          <p:cNvSpPr txBox="1"/>
          <p:nvPr/>
        </p:nvSpPr>
        <p:spPr>
          <a:xfrm>
            <a:off x="548640" y="507492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engine_id</a:t>
            </a:r>
            <a:endParaRPr lang="en-US" sz="1300" dirty="0"/>
          </a:p>
        </p:txBody>
      </p:sp>
      <p:sp>
        <p:nvSpPr>
          <p:cNvPr id="32" name="Shape 29"/>
          <p:cNvSpPr/>
          <p:nvPr/>
        </p:nvSpPr>
        <p:spPr>
          <a:xfrm>
            <a:off x="1856232" y="5074920"/>
            <a:ext cx="914400" cy="457200"/>
          </a:xfrm>
          <a:prstGeom prst="roundRect">
            <a:avLst>
              <a:gd name="adj" fmla="val 16000"/>
            </a:avLst>
          </a:prstGeom>
          <a:solidFill>
            <a:srgbClr val="0B2239"/>
          </a:solidFill>
          <a:ln/>
        </p:spPr>
      </p:sp>
      <p:sp>
        <p:nvSpPr>
          <p:cNvPr id="33" name="Text 30"/>
          <p:cNvSpPr txBox="1"/>
          <p:nvPr/>
        </p:nvSpPr>
        <p:spPr>
          <a:xfrm>
            <a:off x="1856232" y="5074920"/>
            <a:ext cx="9144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cycle</a:t>
            </a:r>
            <a:endParaRPr lang="en-US" sz="1300" dirty="0"/>
          </a:p>
        </p:txBody>
      </p:sp>
      <p:sp>
        <p:nvSpPr>
          <p:cNvPr id="34" name="Shape 31"/>
          <p:cNvSpPr/>
          <p:nvPr/>
        </p:nvSpPr>
        <p:spPr>
          <a:xfrm>
            <a:off x="2843784" y="5074920"/>
            <a:ext cx="2331720" cy="457200"/>
          </a:xfrm>
          <a:prstGeom prst="roundRect">
            <a:avLst>
              <a:gd name="adj" fmla="val 16000"/>
            </a:avLst>
          </a:prstGeom>
          <a:solidFill>
            <a:srgbClr val="157A7F"/>
          </a:solidFill>
          <a:ln/>
        </p:spPr>
      </p:sp>
      <p:sp>
        <p:nvSpPr>
          <p:cNvPr id="35" name="Text 32"/>
          <p:cNvSpPr txBox="1"/>
          <p:nvPr/>
        </p:nvSpPr>
        <p:spPr>
          <a:xfrm>
            <a:off x="2843784" y="5074920"/>
            <a:ext cx="2331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setting_1 … setting_3</a:t>
            </a:r>
            <a:endParaRPr lang="en-US" sz="1300" dirty="0"/>
          </a:p>
        </p:txBody>
      </p:sp>
      <p:sp>
        <p:nvSpPr>
          <p:cNvPr id="36" name="Shape 33"/>
          <p:cNvSpPr/>
          <p:nvPr/>
        </p:nvSpPr>
        <p:spPr>
          <a:xfrm>
            <a:off x="5248656" y="5074920"/>
            <a:ext cx="6400800" cy="457200"/>
          </a:xfrm>
          <a:prstGeom prst="roundRect">
            <a:avLst>
              <a:gd name="adj" fmla="val 16000"/>
            </a:avLst>
          </a:prstGeom>
          <a:solidFill>
            <a:srgbClr val="C8701E"/>
          </a:solidFill>
          <a:ln/>
        </p:spPr>
      </p:sp>
      <p:sp>
        <p:nvSpPr>
          <p:cNvPr id="37" name="Text 34"/>
          <p:cNvSpPr txBox="1"/>
          <p:nvPr/>
        </p:nvSpPr>
        <p:spPr>
          <a:xfrm>
            <a:off x="5248656" y="5074920"/>
            <a:ext cx="64008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sensor_1 … sensor_21</a:t>
            </a:r>
            <a:endParaRPr lang="en-US" sz="1300" dirty="0"/>
          </a:p>
        </p:txBody>
      </p:sp>
      <p:sp>
        <p:nvSpPr>
          <p:cNvPr id="38" name="Text 35"/>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Khóa trong một subset: (split, engine_id, cycle). Bốn subset được xử lý riêng vì khóa chưa có dataset_id.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1 · BÀI TOÁN VÀ DỮ LIỆU</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Nhãn RUL tạo từ train; nhãn test chỉ mở sau khi đã dự đoán</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Ranh giới này ngăn data leakage (rò rỉ dữ liệu) từ test vào EDA, đặc trưng và chọn mô hình</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data/CONTRACTS.md; outputs/etl/parity.json; outputs/modeling/run_info.json; outputs/modeling/tables/final_metrics.json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5 / 20</a:t>
            </a:r>
            <a:endParaRPr lang="en-US" sz="1000" dirty="0"/>
          </a:p>
        </p:txBody>
      </p:sp>
      <p:sp>
        <p:nvSpPr>
          <p:cNvPr id="9" name="Text 6"/>
          <p:cNvSpPr txBox="1"/>
          <p:nvPr/>
        </p:nvSpPr>
        <p:spPr>
          <a:xfrm>
            <a:off x="548640" y="2011680"/>
            <a:ext cx="1463040" cy="310896"/>
          </a:xfrm>
          <a:prstGeom prst="rect">
            <a:avLst/>
          </a:prstGeom>
          <a:noFill/>
          <a:ln/>
        </p:spPr>
        <p:txBody>
          <a:bodyPr wrap="square" lIns="0" tIns="0" rIns="0" bIns="0" rtlCol="0" anchor="t"/>
          <a:lstStyle/>
          <a:p>
            <a:pPr indent="0" marL="0">
              <a:buNone/>
            </a:pPr>
            <a:r>
              <a:rPr lang="en-US" sz="1700" b="1" dirty="0">
                <a:solidFill>
                  <a:srgbClr val="0B2239"/>
                </a:solidFill>
                <a:latin typeface="Arial" pitchFamily="34" charset="0"/>
                <a:ea typeface="Arial" pitchFamily="34" charset="-122"/>
                <a:cs typeface="Arial" pitchFamily="34" charset="-120"/>
              </a:rPr>
              <a:t>Train</a:t>
            </a:r>
            <a:endParaRPr lang="en-US" sz="1700" dirty="0"/>
          </a:p>
        </p:txBody>
      </p:sp>
      <p:sp>
        <p:nvSpPr>
          <p:cNvPr id="10" name="Text 7"/>
          <p:cNvSpPr txBox="1"/>
          <p:nvPr/>
        </p:nvSpPr>
        <p:spPr>
          <a:xfrm>
            <a:off x="548640" y="2340864"/>
            <a:ext cx="1554480" cy="54864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100 engines chạy đến failure</a:t>
            </a:r>
            <a:endParaRPr lang="en-US" sz="1150" dirty="0"/>
          </a:p>
        </p:txBody>
      </p:sp>
      <p:sp>
        <p:nvSpPr>
          <p:cNvPr id="11" name="Shape 8"/>
          <p:cNvSpPr/>
          <p:nvPr/>
        </p:nvSpPr>
        <p:spPr>
          <a:xfrm>
            <a:off x="2194560" y="2121408"/>
            <a:ext cx="5212080" cy="237744"/>
          </a:xfrm>
          <a:prstGeom prst="rect">
            <a:avLst/>
          </a:prstGeom>
          <a:solidFill>
            <a:srgbClr val="DCEFEF"/>
          </a:solidFill>
          <a:ln/>
        </p:spPr>
      </p:sp>
      <p:sp>
        <p:nvSpPr>
          <p:cNvPr id="12" name="Shape 9"/>
          <p:cNvSpPr/>
          <p:nvPr/>
        </p:nvSpPr>
        <p:spPr>
          <a:xfrm>
            <a:off x="7269480" y="2075688"/>
            <a:ext cx="329184" cy="329184"/>
          </a:xfrm>
          <a:prstGeom prst="ellipse">
            <a:avLst/>
          </a:prstGeom>
          <a:solidFill>
            <a:srgbClr val="B23A3A"/>
          </a:solidFill>
          <a:ln/>
        </p:spPr>
      </p:sp>
      <p:sp>
        <p:nvSpPr>
          <p:cNvPr id="13" name="Text 10"/>
          <p:cNvSpPr txBox="1"/>
          <p:nvPr/>
        </p:nvSpPr>
        <p:spPr>
          <a:xfrm>
            <a:off x="6949440" y="2468880"/>
            <a:ext cx="914400" cy="256032"/>
          </a:xfrm>
          <a:prstGeom prst="rect">
            <a:avLst/>
          </a:prstGeom>
          <a:noFill/>
          <a:ln/>
        </p:spPr>
        <p:txBody>
          <a:bodyPr wrap="square" lIns="0" tIns="0" rIns="0" bIns="0" rtlCol="0" anchor="t"/>
          <a:lstStyle/>
          <a:p>
            <a:pPr algn="ctr" indent="0" marL="0">
              <a:buNone/>
            </a:pPr>
            <a:r>
              <a:rPr lang="en-US" sz="1150" dirty="0">
                <a:solidFill>
                  <a:srgbClr val="B23A3A"/>
                </a:solidFill>
                <a:latin typeface="Arial" pitchFamily="34" charset="0"/>
                <a:ea typeface="Arial" pitchFamily="34" charset="-122"/>
                <a:cs typeface="Arial" pitchFamily="34" charset="-120"/>
              </a:rPr>
              <a:t>failure</a:t>
            </a:r>
            <a:endParaRPr lang="en-US" sz="1150" dirty="0"/>
          </a:p>
        </p:txBody>
      </p:sp>
      <p:sp>
        <p:nvSpPr>
          <p:cNvPr id="14" name="Text 11"/>
          <p:cNvSpPr txBox="1"/>
          <p:nvPr/>
        </p:nvSpPr>
        <p:spPr>
          <a:xfrm>
            <a:off x="548640" y="3337560"/>
            <a:ext cx="1463040" cy="310896"/>
          </a:xfrm>
          <a:prstGeom prst="rect">
            <a:avLst/>
          </a:prstGeom>
          <a:noFill/>
          <a:ln/>
        </p:spPr>
        <p:txBody>
          <a:bodyPr wrap="square" lIns="0" tIns="0" rIns="0" bIns="0" rtlCol="0" anchor="t"/>
          <a:lstStyle/>
          <a:p>
            <a:pPr indent="0" marL="0">
              <a:buNone/>
            </a:pPr>
            <a:r>
              <a:rPr lang="en-US" sz="1700" b="1" dirty="0">
                <a:solidFill>
                  <a:srgbClr val="0B2239"/>
                </a:solidFill>
                <a:latin typeface="Arial" pitchFamily="34" charset="0"/>
                <a:ea typeface="Arial" pitchFamily="34" charset="-122"/>
                <a:cs typeface="Arial" pitchFamily="34" charset="-120"/>
              </a:rPr>
              <a:t>Test</a:t>
            </a:r>
            <a:endParaRPr lang="en-US" sz="1700" dirty="0"/>
          </a:p>
        </p:txBody>
      </p:sp>
      <p:sp>
        <p:nvSpPr>
          <p:cNvPr id="15" name="Text 12"/>
          <p:cNvSpPr txBox="1"/>
          <p:nvPr/>
        </p:nvSpPr>
        <p:spPr>
          <a:xfrm>
            <a:off x="548640" y="3666744"/>
            <a:ext cx="1554480" cy="54864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100 engines bị cắt trước failure</a:t>
            </a:r>
            <a:endParaRPr lang="en-US" sz="1150" dirty="0"/>
          </a:p>
        </p:txBody>
      </p:sp>
      <p:sp>
        <p:nvSpPr>
          <p:cNvPr id="16" name="Shape 13"/>
          <p:cNvSpPr/>
          <p:nvPr/>
        </p:nvSpPr>
        <p:spPr>
          <a:xfrm>
            <a:off x="2194560" y="3447288"/>
            <a:ext cx="3566160" cy="237744"/>
          </a:xfrm>
          <a:prstGeom prst="rect">
            <a:avLst/>
          </a:prstGeom>
          <a:solidFill>
            <a:srgbClr val="DCEFEF"/>
          </a:solidFill>
          <a:ln/>
        </p:spPr>
      </p:sp>
      <p:sp>
        <p:nvSpPr>
          <p:cNvPr id="17" name="Shape 14"/>
          <p:cNvSpPr/>
          <p:nvPr/>
        </p:nvSpPr>
        <p:spPr>
          <a:xfrm>
            <a:off x="5760720" y="3566160"/>
            <a:ext cx="1645920" cy="0"/>
          </a:xfrm>
          <a:prstGeom prst="line">
            <a:avLst/>
          </a:prstGeom>
          <a:noFill/>
          <a:ln w="19050">
            <a:solidFill>
              <a:srgbClr val="9AA8B5"/>
            </a:solidFill>
            <a:prstDash val="dash"/>
          </a:ln>
        </p:spPr>
      </p:sp>
      <p:sp>
        <p:nvSpPr>
          <p:cNvPr id="18" name="Shape 15"/>
          <p:cNvSpPr/>
          <p:nvPr/>
        </p:nvSpPr>
        <p:spPr>
          <a:xfrm>
            <a:off x="5641848" y="3429000"/>
            <a:ext cx="274320" cy="274320"/>
          </a:xfrm>
          <a:prstGeom prst="ellipse">
            <a:avLst/>
          </a:prstGeom>
          <a:solidFill>
            <a:srgbClr val="C8701E"/>
          </a:solidFill>
          <a:ln/>
        </p:spPr>
      </p:sp>
      <p:sp>
        <p:nvSpPr>
          <p:cNvPr id="19" name="Text 16"/>
          <p:cNvSpPr txBox="1"/>
          <p:nvPr/>
        </p:nvSpPr>
        <p:spPr>
          <a:xfrm>
            <a:off x="4297680" y="3794760"/>
            <a:ext cx="1645920" cy="256032"/>
          </a:xfrm>
          <a:prstGeom prst="rect">
            <a:avLst/>
          </a:prstGeom>
          <a:noFill/>
          <a:ln/>
        </p:spPr>
        <p:txBody>
          <a:bodyPr wrap="square" lIns="0" tIns="0" rIns="0" bIns="0" rtlCol="0" anchor="t"/>
          <a:lstStyle/>
          <a:p>
            <a:pPr algn="r" indent="0" marL="0">
              <a:buNone/>
            </a:pPr>
            <a:r>
              <a:rPr lang="en-US" sz="1150" dirty="0">
                <a:solidFill>
                  <a:srgbClr val="C8701E"/>
                </a:solidFill>
                <a:latin typeface="Arial" pitchFamily="34" charset="0"/>
                <a:ea typeface="Arial" pitchFamily="34" charset="-122"/>
                <a:cs typeface="Arial" pitchFamily="34" charset="-120"/>
              </a:rPr>
              <a:t>cycle cuối quan sát</a:t>
            </a:r>
            <a:endParaRPr lang="en-US" sz="1150" dirty="0"/>
          </a:p>
        </p:txBody>
      </p:sp>
      <p:sp>
        <p:nvSpPr>
          <p:cNvPr id="20" name="Text 17"/>
          <p:cNvSpPr txBox="1"/>
          <p:nvPr/>
        </p:nvSpPr>
        <p:spPr>
          <a:xfrm>
            <a:off x="6035040" y="3794760"/>
            <a:ext cx="1463040" cy="256032"/>
          </a:xfrm>
          <a:prstGeom prst="rect">
            <a:avLst/>
          </a:prstGeom>
          <a:noFill/>
          <a:ln/>
        </p:spPr>
        <p:txBody>
          <a:bodyPr wrap="square" lIns="0" tIns="0" rIns="0" bIns="0" rtlCol="0" anchor="t"/>
          <a:lstStyle/>
          <a:p>
            <a:pPr algn="r" indent="0" marL="0">
              <a:buNone/>
            </a:pPr>
            <a:r>
              <a:rPr lang="en-US" sz="1150" dirty="0">
                <a:solidFill>
                  <a:srgbClr val="9AA8B5"/>
                </a:solidFill>
                <a:latin typeface="Arial" pitchFamily="34" charset="0"/>
                <a:ea typeface="Arial" pitchFamily="34" charset="-122"/>
                <a:cs typeface="Arial" pitchFamily="34" charset="-120"/>
              </a:rPr>
              <a:t>failure chưa biết</a:t>
            </a:r>
            <a:endParaRPr lang="en-US" sz="1150" dirty="0"/>
          </a:p>
        </p:txBody>
      </p:sp>
      <p:sp>
        <p:nvSpPr>
          <p:cNvPr id="21" name="Shape 18"/>
          <p:cNvSpPr/>
          <p:nvPr/>
        </p:nvSpPr>
        <p:spPr>
          <a:xfrm>
            <a:off x="548640" y="4572000"/>
            <a:ext cx="7223760" cy="1371600"/>
          </a:xfrm>
          <a:prstGeom prst="roundRect">
            <a:avLst>
              <a:gd name="adj" fmla="val 5333"/>
            </a:avLst>
          </a:prstGeom>
          <a:solidFill>
            <a:srgbClr val="EEF3F6"/>
          </a:solidFill>
          <a:ln/>
        </p:spPr>
      </p:sp>
      <p:sp>
        <p:nvSpPr>
          <p:cNvPr id="22" name="Text 19"/>
          <p:cNvSpPr txBox="1"/>
          <p:nvPr/>
        </p:nvSpPr>
        <p:spPr>
          <a:xfrm>
            <a:off x="777240" y="4736592"/>
            <a:ext cx="6858000" cy="1325880"/>
          </a:xfrm>
          <a:prstGeom prst="rect">
            <a:avLst/>
          </a:prstGeom>
          <a:noFill/>
          <a:ln/>
        </p:spPr>
        <p:txBody>
          <a:bodyPr wrap="square" lIns="0" tIns="0" rIns="0" bIns="0" rtlCol="0" anchor="t"/>
          <a:lstStyle/>
          <a:p>
            <a:pPr indent="0" marL="0">
              <a:spcAft>
                <a:spcPts val="800"/>
              </a:spcAft>
              <a:buNone/>
            </a:pPr>
            <a:r>
              <a:rPr lang="en-US" sz="1450" b="1" dirty="0">
                <a:solidFill>
                  <a:srgbClr val="0B2239"/>
                </a:solidFill>
                <a:latin typeface="Arial" pitchFamily="34" charset="0"/>
                <a:ea typeface="Arial" pitchFamily="34" charset="-122"/>
                <a:cs typeface="Arial" pitchFamily="34" charset="-120"/>
              </a:rPr>
              <a:t>Train: </a:t>
            </a:r>
            <a:pPr indent="0" marL="0">
              <a:spcAft>
                <a:spcPts val="800"/>
              </a:spcAft>
              <a:buNone/>
            </a:pPr>
            <a:r>
              <a:rPr lang="en-US" sz="1450" dirty="0">
                <a:solidFill>
                  <a:srgbClr val="1B2733"/>
                </a:solidFill>
                <a:latin typeface="Arial" pitchFamily="34" charset="0"/>
                <a:ea typeface="Arial" pitchFamily="34" charset="-122"/>
                <a:cs typeface="Arial" pitchFamily="34" charset="-120"/>
              </a:rPr>
              <a:t>RUL(t) = cycle cuối − t → 20.631 nhãn</a:t>
            </a:r>
            <a:endParaRPr lang="en-US" sz="1450" dirty="0"/>
          </a:p>
          <a:p>
            <a:pPr indent="0" marL="0">
              <a:spcAft>
                <a:spcPts val="800"/>
              </a:spcAft>
              <a:buNone/>
            </a:pPr>
            <a:r>
              <a:rPr lang="en-US" sz="1450" b="1" dirty="0">
                <a:solidFill>
                  <a:srgbClr val="0B2239"/>
                </a:solidFill>
                <a:latin typeface="Arial" pitchFamily="34" charset="0"/>
                <a:ea typeface="Arial" pitchFamily="34" charset="-122"/>
                <a:cs typeface="Arial" pitchFamily="34" charset="-120"/>
              </a:rPr>
              <a:t>Test: </a:t>
            </a:r>
            <a:pPr indent="0" marL="0">
              <a:spcAft>
                <a:spcPts val="800"/>
              </a:spcAft>
              <a:buNone/>
            </a:pPr>
            <a:r>
              <a:rPr lang="en-US" sz="1450" dirty="0">
                <a:solidFill>
                  <a:srgbClr val="1B2733"/>
                </a:solidFill>
                <a:latin typeface="Arial" pitchFamily="34" charset="0"/>
                <a:ea typeface="Arial" pitchFamily="34" charset="-122"/>
                <a:cs typeface="Arial" pitchFamily="34" charset="-120"/>
              </a:rPr>
              <a:t>1 dự đoán/engine tại cycle cuối → ghi final predictions → mới ghép RUL_FD001.txt</a:t>
            </a:r>
            <a:endParaRPr lang="en-US" sz="1450" dirty="0"/>
          </a:p>
        </p:txBody>
      </p:sp>
      <p:sp>
        <p:nvSpPr>
          <p:cNvPr id="23" name="Shape 20"/>
          <p:cNvSpPr/>
          <p:nvPr/>
        </p:nvSpPr>
        <p:spPr>
          <a:xfrm>
            <a:off x="8229600" y="1920240"/>
            <a:ext cx="3410712" cy="4251960"/>
          </a:xfrm>
          <a:prstGeom prst="roundRect">
            <a:avLst>
              <a:gd name="adj" fmla="val 2145"/>
            </a:avLst>
          </a:prstGeom>
          <a:solidFill>
            <a:srgbClr val="0B2239"/>
          </a:solidFill>
          <a:ln/>
        </p:spPr>
      </p:sp>
      <p:sp>
        <p:nvSpPr>
          <p:cNvPr id="24" name="Text 21"/>
          <p:cNvSpPr txBox="1"/>
          <p:nvPr/>
        </p:nvSpPr>
        <p:spPr>
          <a:xfrm>
            <a:off x="8503920" y="2103120"/>
            <a:ext cx="292608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Kiểm soát nhãn test</a:t>
            </a:r>
            <a:endParaRPr lang="en-US" sz="1600" dirty="0"/>
          </a:p>
        </p:txBody>
      </p:sp>
      <p:sp>
        <p:nvSpPr>
          <p:cNvPr id="25" name="Text 22"/>
          <p:cNvSpPr txBox="1"/>
          <p:nvPr/>
        </p:nvSpPr>
        <p:spPr>
          <a:xfrm>
            <a:off x="8503920" y="2651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Không dùng</a:t>
            </a:r>
            <a:endParaRPr lang="en-US" sz="1900" dirty="0"/>
          </a:p>
        </p:txBody>
      </p:sp>
      <p:sp>
        <p:nvSpPr>
          <p:cNvPr id="26" name="Text 23"/>
          <p:cNvSpPr txBox="1"/>
          <p:nvPr/>
        </p:nvSpPr>
        <p:spPr>
          <a:xfrm>
            <a:off x="8503920" y="3035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trong EDA, đặc trưng, chọn model</a:t>
            </a:r>
            <a:endParaRPr lang="en-US" sz="1250" dirty="0"/>
          </a:p>
        </p:txBody>
      </p:sp>
      <p:sp>
        <p:nvSpPr>
          <p:cNvPr id="27" name="Text 24"/>
          <p:cNvSpPr txBox="1"/>
          <p:nvPr/>
        </p:nvSpPr>
        <p:spPr>
          <a:xfrm>
            <a:off x="8503920" y="3794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Ghép muộn</a:t>
            </a:r>
            <a:endParaRPr lang="en-US" sz="1900" dirty="0"/>
          </a:p>
        </p:txBody>
      </p:sp>
      <p:sp>
        <p:nvSpPr>
          <p:cNvPr id="28" name="Text 25"/>
          <p:cNvSpPr txBox="1"/>
          <p:nvPr/>
        </p:nvSpPr>
        <p:spPr>
          <a:xfrm>
            <a:off x="8503920" y="4178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sau khi đã ghi final predictions</a:t>
            </a:r>
            <a:endParaRPr lang="en-US" sz="1250" dirty="0"/>
          </a:p>
        </p:txBody>
      </p:sp>
      <p:sp>
        <p:nvSpPr>
          <p:cNvPr id="29" name="Text 26"/>
          <p:cNvSpPr txBox="1"/>
          <p:nvPr/>
        </p:nvSpPr>
        <p:spPr>
          <a:xfrm>
            <a:off x="8503920" y="4937760"/>
            <a:ext cx="2926080" cy="365760"/>
          </a:xfrm>
          <a:prstGeom prst="rect">
            <a:avLst/>
          </a:prstGeom>
          <a:noFill/>
          <a:ln/>
        </p:spPr>
        <p:txBody>
          <a:bodyPr wrap="square" lIns="0" tIns="0" rIns="0" bIns="0" rtlCol="0" anchor="t"/>
          <a:lstStyle/>
          <a:p>
            <a:pPr indent="0" marL="0">
              <a:buNone/>
            </a:pPr>
            <a:r>
              <a:rPr lang="en-US" sz="1900" b="1" dirty="0">
                <a:solidFill>
                  <a:srgbClr val="F2B880"/>
                </a:solidFill>
                <a:latin typeface="Arial" pitchFamily="34" charset="0"/>
                <a:ea typeface="Arial" pitchFamily="34" charset="-122"/>
                <a:cs typeface="Arial" pitchFamily="34" charset="-120"/>
              </a:rPr>
              <a:t>Có dấu vết</a:t>
            </a:r>
            <a:endParaRPr lang="en-US" sz="1900" dirty="0"/>
          </a:p>
        </p:txBody>
      </p:sp>
      <p:sp>
        <p:nvSpPr>
          <p:cNvPr id="30" name="Text 27"/>
          <p:cNvSpPr txBox="1"/>
          <p:nvPr/>
        </p:nvSpPr>
        <p:spPr>
          <a:xfrm>
            <a:off x="8503920" y="5321808"/>
            <a:ext cx="2926080" cy="64008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run_info ghi trạng thái join; final_metrics ghi SHA-256 của nhãn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65176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2 · PIPELINE BIG DATA</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Pipeline Bronze → Silver → Gold → đặc trưng → mô hình</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Mỗi bước ghi artifact kèm hash và run_info để truy vết và chạy lại</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assets/diagrams/fd001-pipeline.drawio; handoff/DATA_WALKTHROUGH.md; outputs/*/run_info.json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6 / 20</a:t>
            </a:r>
            <a:endParaRPr lang="en-US" sz="1000" dirty="0"/>
          </a:p>
        </p:txBody>
      </p:sp>
      <p:sp>
        <p:nvSpPr>
          <p:cNvPr id="9" name="Shape 6"/>
          <p:cNvSpPr/>
          <p:nvPr/>
        </p:nvSpPr>
        <p:spPr>
          <a:xfrm>
            <a:off x="4242816" y="1847088"/>
            <a:ext cx="3703320" cy="329184"/>
          </a:xfrm>
          <a:prstGeom prst="rect">
            <a:avLst/>
          </a:prstGeom>
          <a:solidFill>
            <a:srgbClr val="FBEBD9"/>
          </a:solidFill>
          <a:ln/>
        </p:spPr>
      </p:sp>
      <p:sp>
        <p:nvSpPr>
          <p:cNvPr id="10" name="Text 7"/>
          <p:cNvSpPr txBox="1"/>
          <p:nvPr/>
        </p:nvSpPr>
        <p:spPr>
          <a:xfrm>
            <a:off x="4242816" y="1847088"/>
            <a:ext cx="3703320" cy="329184"/>
          </a:xfrm>
          <a:prstGeom prst="rect">
            <a:avLst/>
          </a:prstGeom>
          <a:noFill/>
          <a:ln/>
        </p:spPr>
        <p:txBody>
          <a:bodyPr wrap="square" lIns="0" tIns="0" rIns="0" bIns="0" rtlCol="0" anchor="ctr"/>
          <a:lstStyle/>
          <a:p>
            <a:pPr algn="ctr" indent="0" marL="0">
              <a:buNone/>
            </a:pPr>
            <a:r>
              <a:rPr lang="en-US" sz="1200" b="1" dirty="0">
                <a:solidFill>
                  <a:srgbClr val="C8701E"/>
                </a:solidFill>
                <a:latin typeface="Arial" pitchFamily="34" charset="0"/>
                <a:ea typeface="Arial" pitchFamily="34" charset="-122"/>
                <a:cs typeface="Arial" pitchFamily="34" charset="-120"/>
              </a:rPr>
              <a:t>Pandas và PySpark: kết quả khớp</a:t>
            </a:r>
            <a:endParaRPr lang="en-US" sz="1200" dirty="0"/>
          </a:p>
        </p:txBody>
      </p:sp>
      <p:sp>
        <p:nvSpPr>
          <p:cNvPr id="11" name="Shape 8"/>
          <p:cNvSpPr/>
          <p:nvPr/>
        </p:nvSpPr>
        <p:spPr>
          <a:xfrm>
            <a:off x="548640" y="2331720"/>
            <a:ext cx="1627632" cy="1600200"/>
          </a:xfrm>
          <a:prstGeom prst="roundRect">
            <a:avLst>
              <a:gd name="adj" fmla="val 4571"/>
            </a:avLst>
          </a:prstGeom>
          <a:solidFill>
            <a:srgbClr val="EEF3F6"/>
          </a:solidFill>
          <a:ln/>
        </p:spPr>
      </p:sp>
      <p:sp>
        <p:nvSpPr>
          <p:cNvPr id="12" name="Text 9"/>
          <p:cNvSpPr txBox="1"/>
          <p:nvPr/>
        </p:nvSpPr>
        <p:spPr>
          <a:xfrm>
            <a:off x="658368"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Bronze</a:t>
            </a:r>
            <a:endParaRPr lang="en-US" sz="1500" dirty="0"/>
          </a:p>
        </p:txBody>
      </p:sp>
      <p:sp>
        <p:nvSpPr>
          <p:cNvPr id="13" name="Text 10"/>
          <p:cNvSpPr txBox="1"/>
          <p:nvPr/>
        </p:nvSpPr>
        <p:spPr>
          <a:xfrm>
            <a:off x="658368"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Raw TXT</a:t>
            </a:r>
            <a:endParaRPr lang="en-US" sz="1200" dirty="0"/>
          </a:p>
        </p:txBody>
      </p:sp>
      <p:sp>
        <p:nvSpPr>
          <p:cNvPr id="14" name="Text 11"/>
          <p:cNvSpPr txBox="1"/>
          <p:nvPr/>
        </p:nvSpPr>
        <p:spPr>
          <a:xfrm>
            <a:off x="658368"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train, test,</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RUL_FD00x</a:t>
            </a:r>
            <a:endParaRPr lang="en-US" sz="1150" dirty="0"/>
          </a:p>
        </p:txBody>
      </p:sp>
      <p:sp>
        <p:nvSpPr>
          <p:cNvPr id="15" name="Shape 12"/>
          <p:cNvSpPr/>
          <p:nvPr/>
        </p:nvSpPr>
        <p:spPr>
          <a:xfrm>
            <a:off x="2203704" y="3131820"/>
            <a:ext cx="210312" cy="0"/>
          </a:xfrm>
          <a:prstGeom prst="line">
            <a:avLst/>
          </a:prstGeom>
          <a:noFill/>
          <a:ln w="19050">
            <a:solidFill>
              <a:srgbClr val="5A6B7B"/>
            </a:solidFill>
            <a:prstDash val="solid"/>
            <a:tailEnd type="triangle"/>
          </a:ln>
        </p:spPr>
      </p:sp>
      <p:sp>
        <p:nvSpPr>
          <p:cNvPr id="16" name="Shape 13"/>
          <p:cNvSpPr/>
          <p:nvPr/>
        </p:nvSpPr>
        <p:spPr>
          <a:xfrm>
            <a:off x="2441448" y="2331720"/>
            <a:ext cx="1627632" cy="1600200"/>
          </a:xfrm>
          <a:prstGeom prst="roundRect">
            <a:avLst>
              <a:gd name="adj" fmla="val 4571"/>
            </a:avLst>
          </a:prstGeom>
          <a:solidFill>
            <a:srgbClr val="EEF3F6"/>
          </a:solidFill>
          <a:ln/>
        </p:spPr>
      </p:sp>
      <p:sp>
        <p:nvSpPr>
          <p:cNvPr id="17" name="Text 14"/>
          <p:cNvSpPr txBox="1"/>
          <p:nvPr/>
        </p:nvSpPr>
        <p:spPr>
          <a:xfrm>
            <a:off x="2551176"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Validation</a:t>
            </a:r>
            <a:endParaRPr lang="en-US" sz="1500" dirty="0"/>
          </a:p>
        </p:txBody>
      </p:sp>
      <p:sp>
        <p:nvSpPr>
          <p:cNvPr id="18" name="Text 15"/>
          <p:cNvSpPr txBox="1"/>
          <p:nvPr/>
        </p:nvSpPr>
        <p:spPr>
          <a:xfrm>
            <a:off x="2551176"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Reader</a:t>
            </a:r>
            <a:endParaRPr lang="en-US" sz="1200" dirty="0"/>
          </a:p>
        </p:txBody>
      </p:sp>
      <p:sp>
        <p:nvSpPr>
          <p:cNvPr id="19" name="Text 16"/>
          <p:cNvSpPr txBox="1"/>
          <p:nvPr/>
        </p:nvSpPr>
        <p:spPr>
          <a:xfrm>
            <a:off x="2551176"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26 trường, kiểu,</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khóa, cycle liên tục</a:t>
            </a:r>
            <a:endParaRPr lang="en-US" sz="1150" dirty="0"/>
          </a:p>
        </p:txBody>
      </p:sp>
      <p:sp>
        <p:nvSpPr>
          <p:cNvPr id="20" name="Shape 17"/>
          <p:cNvSpPr/>
          <p:nvPr/>
        </p:nvSpPr>
        <p:spPr>
          <a:xfrm>
            <a:off x="4096512" y="3131820"/>
            <a:ext cx="210312" cy="0"/>
          </a:xfrm>
          <a:prstGeom prst="line">
            <a:avLst/>
          </a:prstGeom>
          <a:noFill/>
          <a:ln w="19050">
            <a:solidFill>
              <a:srgbClr val="5A6B7B"/>
            </a:solidFill>
            <a:prstDash val="solid"/>
            <a:tailEnd type="triangle"/>
          </a:ln>
        </p:spPr>
      </p:sp>
      <p:sp>
        <p:nvSpPr>
          <p:cNvPr id="21" name="Shape 18"/>
          <p:cNvSpPr/>
          <p:nvPr/>
        </p:nvSpPr>
        <p:spPr>
          <a:xfrm>
            <a:off x="4334256" y="2331720"/>
            <a:ext cx="1627632" cy="1600200"/>
          </a:xfrm>
          <a:prstGeom prst="roundRect">
            <a:avLst>
              <a:gd name="adj" fmla="val 4571"/>
            </a:avLst>
          </a:prstGeom>
          <a:solidFill>
            <a:srgbClr val="EEF3F6"/>
          </a:solidFill>
          <a:ln/>
        </p:spPr>
      </p:sp>
      <p:sp>
        <p:nvSpPr>
          <p:cNvPr id="22" name="Text 19"/>
          <p:cNvSpPr txBox="1"/>
          <p:nvPr/>
        </p:nvSpPr>
        <p:spPr>
          <a:xfrm>
            <a:off x="4443984"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Silver</a:t>
            </a:r>
            <a:endParaRPr lang="en-US" sz="1500" dirty="0"/>
          </a:p>
        </p:txBody>
      </p:sp>
      <p:sp>
        <p:nvSpPr>
          <p:cNvPr id="23" name="Text 20"/>
          <p:cNvSpPr txBox="1"/>
          <p:nvPr/>
        </p:nvSpPr>
        <p:spPr>
          <a:xfrm>
            <a:off x="4443984"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Parquet</a:t>
            </a:r>
            <a:endParaRPr lang="en-US" sz="1200" dirty="0"/>
          </a:p>
        </p:txBody>
      </p:sp>
      <p:sp>
        <p:nvSpPr>
          <p:cNvPr id="24" name="Text 21"/>
          <p:cNvSpPr txBox="1"/>
          <p:nvPr/>
        </p:nvSpPr>
        <p:spPr>
          <a:xfrm>
            <a:off x="4443984"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observations 33.727</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train_targets 20.631</a:t>
            </a:r>
            <a:endParaRPr lang="en-US" sz="1150" dirty="0"/>
          </a:p>
        </p:txBody>
      </p:sp>
      <p:sp>
        <p:nvSpPr>
          <p:cNvPr id="25" name="Shape 22"/>
          <p:cNvSpPr/>
          <p:nvPr/>
        </p:nvSpPr>
        <p:spPr>
          <a:xfrm>
            <a:off x="5989320" y="3131820"/>
            <a:ext cx="210312" cy="0"/>
          </a:xfrm>
          <a:prstGeom prst="line">
            <a:avLst/>
          </a:prstGeom>
          <a:noFill/>
          <a:ln w="19050">
            <a:solidFill>
              <a:srgbClr val="5A6B7B"/>
            </a:solidFill>
            <a:prstDash val="solid"/>
            <a:tailEnd type="triangle"/>
          </a:ln>
        </p:spPr>
      </p:sp>
      <p:sp>
        <p:nvSpPr>
          <p:cNvPr id="26" name="Shape 23"/>
          <p:cNvSpPr/>
          <p:nvPr/>
        </p:nvSpPr>
        <p:spPr>
          <a:xfrm>
            <a:off x="6227064" y="2331720"/>
            <a:ext cx="1627632" cy="1600200"/>
          </a:xfrm>
          <a:prstGeom prst="roundRect">
            <a:avLst>
              <a:gd name="adj" fmla="val 4571"/>
            </a:avLst>
          </a:prstGeom>
          <a:solidFill>
            <a:srgbClr val="EEF3F6"/>
          </a:solidFill>
          <a:ln/>
        </p:spPr>
      </p:sp>
      <p:sp>
        <p:nvSpPr>
          <p:cNvPr id="27" name="Text 24"/>
          <p:cNvSpPr txBox="1"/>
          <p:nvPr/>
        </p:nvSpPr>
        <p:spPr>
          <a:xfrm>
            <a:off x="6336792" y="2441448"/>
            <a:ext cx="1408176"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Gold</a:t>
            </a:r>
            <a:endParaRPr lang="en-US" sz="1500" dirty="0"/>
          </a:p>
        </p:txBody>
      </p:sp>
      <p:sp>
        <p:nvSpPr>
          <p:cNvPr id="28" name="Text 25"/>
          <p:cNvSpPr txBox="1"/>
          <p:nvPr/>
        </p:nvSpPr>
        <p:spPr>
          <a:xfrm>
            <a:off x="6336792" y="2761488"/>
            <a:ext cx="1408176" cy="274320"/>
          </a:xfrm>
          <a:prstGeom prst="rect">
            <a:avLst/>
          </a:prstGeom>
          <a:noFill/>
          <a:ln/>
        </p:spPr>
        <p:txBody>
          <a:bodyPr wrap="square" lIns="0" tIns="0" rIns="0" bIns="0" rtlCol="0" anchor="t"/>
          <a:lstStyle/>
          <a:p>
            <a:pPr indent="0" marL="0">
              <a:buNone/>
            </a:pPr>
            <a:r>
              <a:rPr lang="en-US" sz="1200" b="1" dirty="0">
                <a:solidFill>
                  <a:srgbClr val="157A7F"/>
                </a:solidFill>
                <a:latin typeface="Arial" pitchFamily="34" charset="0"/>
                <a:ea typeface="Arial" pitchFamily="34" charset="-122"/>
                <a:cs typeface="Arial" pitchFamily="34" charset="-120"/>
              </a:rPr>
              <a:t>Parquet + SQLite</a:t>
            </a:r>
            <a:endParaRPr lang="en-US" sz="1200" dirty="0"/>
          </a:p>
        </p:txBody>
      </p:sp>
      <p:sp>
        <p:nvSpPr>
          <p:cNvPr id="29" name="Text 26"/>
          <p:cNvSpPr txBox="1"/>
          <p:nvPr/>
        </p:nvSpPr>
        <p:spPr>
          <a:xfrm>
            <a:off x="6336792" y="3108960"/>
            <a:ext cx="1444752" cy="731520"/>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engine_summary</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200 engines</a:t>
            </a:r>
            <a:endParaRPr lang="en-US" sz="1150" dirty="0"/>
          </a:p>
        </p:txBody>
      </p:sp>
      <p:sp>
        <p:nvSpPr>
          <p:cNvPr id="30" name="Shape 27"/>
          <p:cNvSpPr/>
          <p:nvPr/>
        </p:nvSpPr>
        <p:spPr>
          <a:xfrm>
            <a:off x="7882128" y="3131820"/>
            <a:ext cx="210312" cy="0"/>
          </a:xfrm>
          <a:prstGeom prst="line">
            <a:avLst/>
          </a:prstGeom>
          <a:noFill/>
          <a:ln w="19050">
            <a:solidFill>
              <a:srgbClr val="5A6B7B"/>
            </a:solidFill>
            <a:prstDash val="solid"/>
            <a:tailEnd type="triangle"/>
          </a:ln>
        </p:spPr>
      </p:sp>
      <p:sp>
        <p:nvSpPr>
          <p:cNvPr id="31" name="Shape 28"/>
          <p:cNvSpPr/>
          <p:nvPr/>
        </p:nvSpPr>
        <p:spPr>
          <a:xfrm>
            <a:off x="8119872" y="2331720"/>
            <a:ext cx="1627632" cy="1600200"/>
          </a:xfrm>
          <a:prstGeom prst="roundRect">
            <a:avLst>
              <a:gd name="adj" fmla="val 4571"/>
            </a:avLst>
          </a:prstGeom>
          <a:solidFill>
            <a:srgbClr val="157A7F"/>
          </a:solidFill>
          <a:ln/>
        </p:spPr>
      </p:sp>
      <p:sp>
        <p:nvSpPr>
          <p:cNvPr id="32" name="Text 29"/>
          <p:cNvSpPr txBox="1"/>
          <p:nvPr/>
        </p:nvSpPr>
        <p:spPr>
          <a:xfrm>
            <a:off x="8229600" y="2441448"/>
            <a:ext cx="1408176"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Đặc trưng</a:t>
            </a:r>
            <a:endParaRPr lang="en-US" sz="1500" dirty="0"/>
          </a:p>
        </p:txBody>
      </p:sp>
      <p:sp>
        <p:nvSpPr>
          <p:cNvPr id="33" name="Text 30"/>
          <p:cNvSpPr txBox="1"/>
          <p:nvPr/>
        </p:nvSpPr>
        <p:spPr>
          <a:xfrm>
            <a:off x="8229600" y="2761488"/>
            <a:ext cx="1408176" cy="274320"/>
          </a:xfrm>
          <a:prstGeom prst="rect">
            <a:avLst/>
          </a:prstGeom>
          <a:noFill/>
          <a:ln/>
        </p:spPr>
        <p:txBody>
          <a:bodyPr wrap="square" lIns="0" tIns="0" rIns="0" bIns="0" rtlCol="0" anchor="t"/>
          <a:lstStyle/>
          <a:p>
            <a:pPr indent="0" marL="0">
              <a:buNone/>
            </a:pPr>
            <a:r>
              <a:rPr lang="en-US" sz="1200" b="1" dirty="0">
                <a:solidFill>
                  <a:srgbClr val="BFD9E3"/>
                </a:solidFill>
                <a:latin typeface="Arial" pitchFamily="34" charset="0"/>
                <a:ea typeface="Arial" pitchFamily="34" charset="-122"/>
                <a:cs typeface="Arial" pitchFamily="34" charset="-120"/>
              </a:rPr>
              <a:t>Window 30</a:t>
            </a:r>
            <a:endParaRPr lang="en-US" sz="1200" dirty="0"/>
          </a:p>
        </p:txBody>
      </p:sp>
      <p:sp>
        <p:nvSpPr>
          <p:cNvPr id="34" name="Text 31"/>
          <p:cNvSpPr txBox="1"/>
          <p:nvPr/>
        </p:nvSpPr>
        <p:spPr>
          <a:xfrm>
            <a:off x="8229600" y="3108960"/>
            <a:ext cx="1444752" cy="73152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27.927 dòng</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 126 cột</a:t>
            </a:r>
            <a:endParaRPr lang="en-US" sz="1150" dirty="0"/>
          </a:p>
        </p:txBody>
      </p:sp>
      <p:sp>
        <p:nvSpPr>
          <p:cNvPr id="35" name="Shape 32"/>
          <p:cNvSpPr/>
          <p:nvPr/>
        </p:nvSpPr>
        <p:spPr>
          <a:xfrm>
            <a:off x="9774936" y="3131820"/>
            <a:ext cx="210312" cy="0"/>
          </a:xfrm>
          <a:prstGeom prst="line">
            <a:avLst/>
          </a:prstGeom>
          <a:noFill/>
          <a:ln w="19050">
            <a:solidFill>
              <a:srgbClr val="5A6B7B"/>
            </a:solidFill>
            <a:prstDash val="solid"/>
            <a:tailEnd type="triangle"/>
          </a:ln>
        </p:spPr>
      </p:sp>
      <p:sp>
        <p:nvSpPr>
          <p:cNvPr id="36" name="Shape 33"/>
          <p:cNvSpPr/>
          <p:nvPr/>
        </p:nvSpPr>
        <p:spPr>
          <a:xfrm>
            <a:off x="10012680" y="2331720"/>
            <a:ext cx="1627632" cy="1600200"/>
          </a:xfrm>
          <a:prstGeom prst="roundRect">
            <a:avLst>
              <a:gd name="adj" fmla="val 4571"/>
            </a:avLst>
          </a:prstGeom>
          <a:solidFill>
            <a:srgbClr val="0B2239"/>
          </a:solidFill>
          <a:ln/>
        </p:spPr>
      </p:sp>
      <p:sp>
        <p:nvSpPr>
          <p:cNvPr id="37" name="Text 34"/>
          <p:cNvSpPr txBox="1"/>
          <p:nvPr/>
        </p:nvSpPr>
        <p:spPr>
          <a:xfrm>
            <a:off x="10122408" y="2441448"/>
            <a:ext cx="1408176"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Mô hình</a:t>
            </a:r>
            <a:endParaRPr lang="en-US" sz="1500" dirty="0"/>
          </a:p>
        </p:txBody>
      </p:sp>
      <p:sp>
        <p:nvSpPr>
          <p:cNvPr id="38" name="Text 35"/>
          <p:cNvSpPr txBox="1"/>
          <p:nvPr/>
        </p:nvSpPr>
        <p:spPr>
          <a:xfrm>
            <a:off x="10122408" y="2761488"/>
            <a:ext cx="1408176" cy="274320"/>
          </a:xfrm>
          <a:prstGeom prst="rect">
            <a:avLst/>
          </a:prstGeom>
          <a:noFill/>
          <a:ln/>
        </p:spPr>
        <p:txBody>
          <a:bodyPr wrap="square" lIns="0" tIns="0" rIns="0" bIns="0" rtlCol="0" anchor="t"/>
          <a:lstStyle/>
          <a:p>
            <a:pPr indent="0" marL="0">
              <a:buNone/>
            </a:pPr>
            <a:r>
              <a:rPr lang="en-US" sz="1200" b="1" dirty="0">
                <a:solidFill>
                  <a:srgbClr val="BFD9E3"/>
                </a:solidFill>
                <a:latin typeface="Arial" pitchFamily="34" charset="0"/>
                <a:ea typeface="Arial" pitchFamily="34" charset="-122"/>
                <a:cs typeface="Arial" pitchFamily="34" charset="-120"/>
              </a:rPr>
              <a:t>HGB</a:t>
            </a:r>
            <a:endParaRPr lang="en-US" sz="1200" dirty="0"/>
          </a:p>
        </p:txBody>
      </p:sp>
      <p:sp>
        <p:nvSpPr>
          <p:cNvPr id="39" name="Text 36"/>
          <p:cNvSpPr txBox="1"/>
          <p:nvPr/>
        </p:nvSpPr>
        <p:spPr>
          <a:xfrm>
            <a:off x="10122408" y="3108960"/>
            <a:ext cx="1444752" cy="73152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GroupKFold → refit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 100 dự đoán test</a:t>
            </a:r>
            <a:endParaRPr lang="en-US" sz="1150" dirty="0"/>
          </a:p>
        </p:txBody>
      </p:sp>
      <p:sp>
        <p:nvSpPr>
          <p:cNvPr id="40" name="Shape 37"/>
          <p:cNvSpPr/>
          <p:nvPr/>
        </p:nvSpPr>
        <p:spPr>
          <a:xfrm>
            <a:off x="5148072" y="3977640"/>
            <a:ext cx="0" cy="612648"/>
          </a:xfrm>
          <a:prstGeom prst="line">
            <a:avLst/>
          </a:prstGeom>
          <a:noFill/>
          <a:ln w="19050">
            <a:solidFill>
              <a:srgbClr val="5A6B7B"/>
            </a:solidFill>
            <a:prstDash val="solid"/>
            <a:tailEnd type="triangle"/>
          </a:ln>
        </p:spPr>
      </p:sp>
      <p:sp>
        <p:nvSpPr>
          <p:cNvPr id="41" name="Shape 38"/>
          <p:cNvSpPr/>
          <p:nvPr/>
        </p:nvSpPr>
        <p:spPr>
          <a:xfrm>
            <a:off x="3364992" y="4617720"/>
            <a:ext cx="3566160" cy="822960"/>
          </a:xfrm>
          <a:prstGeom prst="roundRect">
            <a:avLst>
              <a:gd name="adj" fmla="val 8889"/>
            </a:avLst>
          </a:prstGeom>
          <a:solidFill>
            <a:srgbClr val="FFFFFF"/>
          </a:solidFill>
          <a:ln w="9525">
            <a:solidFill>
              <a:srgbClr val="C9D4DD"/>
            </a:solidFill>
            <a:prstDash val="solid"/>
          </a:ln>
        </p:spPr>
      </p:sp>
      <p:sp>
        <p:nvSpPr>
          <p:cNvPr id="42" name="Text 39"/>
          <p:cNvSpPr txBox="1"/>
          <p:nvPr/>
        </p:nvSpPr>
        <p:spPr>
          <a:xfrm>
            <a:off x="3502152" y="4690872"/>
            <a:ext cx="3291840" cy="3657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EDA, kiểm định, Health Index–ARIMA</a:t>
            </a:r>
            <a:endParaRPr lang="en-US" sz="1300" dirty="0"/>
          </a:p>
        </p:txBody>
      </p:sp>
      <p:sp>
        <p:nvSpPr>
          <p:cNvPr id="43" name="Text 40"/>
          <p:cNvSpPr txBox="1"/>
          <p:nvPr/>
        </p:nvSpPr>
        <p:spPr>
          <a:xfrm>
            <a:off x="3502152" y="5056632"/>
            <a:ext cx="329184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chỉ dùng train · slide 8–11</a:t>
            </a:r>
            <a:endParaRPr lang="en-US" sz="1150" dirty="0"/>
          </a:p>
        </p:txBody>
      </p:sp>
      <p:sp>
        <p:nvSpPr>
          <p:cNvPr id="44" name="Shape 41"/>
          <p:cNvSpPr/>
          <p:nvPr/>
        </p:nvSpPr>
        <p:spPr>
          <a:xfrm>
            <a:off x="10826496" y="3977640"/>
            <a:ext cx="0" cy="612648"/>
          </a:xfrm>
          <a:prstGeom prst="line">
            <a:avLst/>
          </a:prstGeom>
          <a:noFill/>
          <a:ln w="19050">
            <a:solidFill>
              <a:srgbClr val="5A6B7B"/>
            </a:solidFill>
            <a:prstDash val="solid"/>
            <a:tailEnd type="triangle"/>
          </a:ln>
        </p:spPr>
      </p:sp>
      <p:sp>
        <p:nvSpPr>
          <p:cNvPr id="45" name="Shape 42"/>
          <p:cNvSpPr/>
          <p:nvPr/>
        </p:nvSpPr>
        <p:spPr>
          <a:xfrm>
            <a:off x="9262872" y="4617720"/>
            <a:ext cx="2377440" cy="822960"/>
          </a:xfrm>
          <a:prstGeom prst="roundRect">
            <a:avLst>
              <a:gd name="adj" fmla="val 8889"/>
            </a:avLst>
          </a:prstGeom>
          <a:solidFill>
            <a:srgbClr val="FFFFFF"/>
          </a:solidFill>
          <a:ln w="9525">
            <a:solidFill>
              <a:srgbClr val="C9D4DD"/>
            </a:solidFill>
            <a:prstDash val="solid"/>
          </a:ln>
        </p:spPr>
      </p:sp>
      <p:sp>
        <p:nvSpPr>
          <p:cNvPr id="46" name="Text 43"/>
          <p:cNvSpPr txBox="1"/>
          <p:nvPr/>
        </p:nvSpPr>
        <p:spPr>
          <a:xfrm>
            <a:off x="9400032" y="4690872"/>
            <a:ext cx="2103120" cy="3657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Metric, hình, dashboard</a:t>
            </a:r>
            <a:endParaRPr lang="en-US" sz="1300" dirty="0"/>
          </a:p>
        </p:txBody>
      </p:sp>
      <p:sp>
        <p:nvSpPr>
          <p:cNvPr id="47" name="Text 44"/>
          <p:cNvSpPr txBox="1"/>
          <p:nvPr/>
        </p:nvSpPr>
        <p:spPr>
          <a:xfrm>
            <a:off x="9400032" y="5056632"/>
            <a:ext cx="210312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slide 14–16</a:t>
            </a:r>
            <a:endParaRPr lang="en-US" sz="1150" dirty="0"/>
          </a:p>
        </p:txBody>
      </p:sp>
      <p:sp>
        <p:nvSpPr>
          <p:cNvPr id="48" name="Text 45"/>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300" dirty="0">
                <a:solidFill>
                  <a:srgbClr val="5A6B7B"/>
                </a:solidFill>
                <a:latin typeface="Arial" pitchFamily="34" charset="0"/>
                <a:ea typeface="Arial" pitchFamily="34" charset="-122"/>
                <a:cs typeface="Arial" pitchFamily="34" charset="-120"/>
              </a:rPr>
              <a:t>Khóa observation: (split, engine_id, cycle). Feature và target được join bằng đủ ba cột khóa và kiểm tra quan hệ 1:1.</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65176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2 · PIPELINE BIG DATA</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Pandas và PySpark cho cùng kết quả tại ba boundary</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Đã bổ sung parity 126 rolling features và benchmark local 1×/10×: đọc, tổng hợp, tạo feature, ghi file</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outputs/etl/parity.json; outputs/benchmarks/20260929/{measurements.csv,run_info.json}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7 / 20</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669280" cy="914400"/>
        </p:xfrm>
        <a:graphic>
          <a:graphicData uri="http://schemas.openxmlformats.org/drawingml/2006/table">
            <a:tbl>
              <a:tblPr/>
              <a:tblGrid>
                <a:gridCol w="2148840"/>
                <a:gridCol w="1097280"/>
                <a:gridCol w="1417320"/>
                <a:gridCol w="1005840"/>
              </a:tblGrid>
              <a:tr h="50292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Boundary</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Số dòng</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Sai khác lớn nhất</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Kết quả</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silver_observations</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33.727</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silver_train_targets</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20.631</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502920">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gold_engine_summary</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200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Arial" pitchFamily="34" charset="0"/>
                          <a:ea typeface="Arial" pitchFamily="34" charset="-122"/>
                          <a:cs typeface="Arial" pitchFamily="34" charset="-120"/>
                        </a:rPr>
                        <a:t>Khớp</a:t>
                      </a:r>
                      <a:endParaRPr lang="en-US" sz="130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4251960"/>
            <a:ext cx="5669280" cy="1600200"/>
          </a:xfrm>
          <a:prstGeom prst="roundRect">
            <a:avLst>
              <a:gd name="adj" fmla="val 4571"/>
            </a:avLst>
          </a:prstGeom>
          <a:solidFill>
            <a:srgbClr val="EEF3F6"/>
          </a:solidFill>
          <a:ln/>
        </p:spPr>
      </p:sp>
      <p:sp>
        <p:nvSpPr>
          <p:cNvPr id="11" name="Text 7"/>
          <p:cNvSpPr txBox="1"/>
          <p:nvPr/>
        </p:nvSpPr>
        <p:spPr>
          <a:xfrm>
            <a:off x="777240" y="4389120"/>
            <a:ext cx="5303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Kiểm tra cùng một input bằng hai engine xử lý</a:t>
            </a:r>
            <a:endParaRPr lang="en-US" sz="1400" dirty="0"/>
          </a:p>
        </p:txBody>
      </p:sp>
      <p:sp>
        <p:nvSpPr>
          <p:cNvPr id="12" name="Text 8"/>
          <p:cNvSpPr txBox="1"/>
          <p:nvPr/>
        </p:nvSpPr>
        <p:spPr>
          <a:xfrm>
            <a:off x="777240" y="4754880"/>
            <a:ext cx="5257800" cy="128016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Rolling features: so toàn bộ 27.927 dòng × 126 features, tolerance 10⁻⁷. Cùng window 30, std ddof=1 và slope nhân quả theo từng engine.</a:t>
            </a:r>
            <a:endParaRPr lang="en-US" sz="1300" dirty="0"/>
          </a:p>
        </p:txBody>
      </p:sp>
      <p:graphicFrame>
        <p:nvGraphicFramePr>
          <p:cNvPr id="13" name="Chart 0" descr=""/>
          <p:cNvGraphicFramePr/>
          <p:nvPr/>
        </p:nvGraphicFramePr>
        <p:xfrm>
          <a:off x="6583680" y="1920240"/>
          <a:ext cx="5056632" cy="3566160"/>
        </p:xfrm>
        <a:graphic xmlns:a="http://schemas.openxmlformats.org/drawingml/2006/main">
          <a:graphicData uri="http://schemas.openxmlformats.org/drawingml/2006/chart">
            <c:chart xmlns:c="http://schemas.openxmlformats.org/drawingml/2006/chart" r:id="rId1"/>
          </a:graphicData>
        </a:graphic>
      </p:graphicFrame>
      <p:sp>
        <p:nvSpPr>
          <p:cNvPr id="14" name="Text 9"/>
          <p:cNvSpPr txBox="1"/>
          <p:nvPr/>
        </p:nvSpPr>
        <p:spPr>
          <a:xfrm>
            <a:off x="6583680" y="5577840"/>
            <a:ext cx="5056632" cy="54864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Chưa gồm startup Spark. Ghi qua Arrow trên driver; chưa suy rộng hiệu năng sang cluster.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EDA: tuổi thọ phân tán rộng và 7 cột không đổi</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EDA chỉ dùng train để hiểu dữ liệu trước khi xây dựng đặc trưng</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outputs/eda/figures/engine_lifetimes.png; outputs/eda/tables/constant_engine_counts.csv; lifetime_summary.csv</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8 / 20</a:t>
            </a:r>
            <a:endParaRPr lang="en-US" sz="1000" dirty="0"/>
          </a:p>
        </p:txBody>
      </p:sp>
      <p:pic>
        <p:nvPicPr>
          <p:cNvPr id="9" name="Image 0" descr="Histogram và boxplot tuổi thọ 100 train engines">    </p:cNvPr>
          <p:cNvPicPr>
            <a:picLocks noChangeAspect="1"/>
          </p:cNvPicPr>
          <p:nvPr/>
        </p:nvPicPr>
        <p:blipFill>
          <a:blip r:embed="rId1"/>
          <a:stretch>
            <a:fillRect/>
          </a:stretch>
        </p:blipFill>
        <p:spPr>
          <a:xfrm>
            <a:off x="548640" y="1965960"/>
            <a:ext cx="6949440" cy="2359826"/>
          </a:xfrm>
          <a:prstGeom prst="rect">
            <a:avLst/>
          </a:prstGeom>
        </p:spPr>
      </p:pic>
      <p:sp>
        <p:nvSpPr>
          <p:cNvPr id="10" name="Text 6"/>
          <p:cNvSpPr txBox="1"/>
          <p:nvPr/>
        </p:nvSpPr>
        <p:spPr>
          <a:xfrm>
            <a:off x="54864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128</a:t>
            </a:r>
            <a:endParaRPr lang="en-US" sz="2600" dirty="0"/>
          </a:p>
        </p:txBody>
      </p:sp>
      <p:sp>
        <p:nvSpPr>
          <p:cNvPr id="11" name="Text 7"/>
          <p:cNvSpPr txBox="1"/>
          <p:nvPr/>
        </p:nvSpPr>
        <p:spPr>
          <a:xfrm>
            <a:off x="54864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Ngắn nhất (cycles)</a:t>
            </a:r>
            <a:endParaRPr lang="en-US" sz="1200" dirty="0"/>
          </a:p>
        </p:txBody>
      </p:sp>
      <p:sp>
        <p:nvSpPr>
          <p:cNvPr id="12" name="Text 8"/>
          <p:cNvSpPr txBox="1"/>
          <p:nvPr/>
        </p:nvSpPr>
        <p:spPr>
          <a:xfrm>
            <a:off x="233172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199</a:t>
            </a:r>
            <a:endParaRPr lang="en-US" sz="2600" dirty="0"/>
          </a:p>
        </p:txBody>
      </p:sp>
      <p:sp>
        <p:nvSpPr>
          <p:cNvPr id="13" name="Text 9"/>
          <p:cNvSpPr txBox="1"/>
          <p:nvPr/>
        </p:nvSpPr>
        <p:spPr>
          <a:xfrm>
            <a:off x="233172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Trung vị (cycles)</a:t>
            </a:r>
            <a:endParaRPr lang="en-US" sz="1200" dirty="0"/>
          </a:p>
        </p:txBody>
      </p:sp>
      <p:sp>
        <p:nvSpPr>
          <p:cNvPr id="14" name="Text 10"/>
          <p:cNvSpPr txBox="1"/>
          <p:nvPr/>
        </p:nvSpPr>
        <p:spPr>
          <a:xfrm>
            <a:off x="411480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206,31</a:t>
            </a:r>
            <a:endParaRPr lang="en-US" sz="2600" dirty="0"/>
          </a:p>
        </p:txBody>
      </p:sp>
      <p:sp>
        <p:nvSpPr>
          <p:cNvPr id="15" name="Text 11"/>
          <p:cNvSpPr txBox="1"/>
          <p:nvPr/>
        </p:nvSpPr>
        <p:spPr>
          <a:xfrm>
            <a:off x="411480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Trung bình (cycles)</a:t>
            </a:r>
            <a:endParaRPr lang="en-US" sz="1200" dirty="0"/>
          </a:p>
        </p:txBody>
      </p:sp>
      <p:sp>
        <p:nvSpPr>
          <p:cNvPr id="16" name="Text 12"/>
          <p:cNvSpPr txBox="1"/>
          <p:nvPr/>
        </p:nvSpPr>
        <p:spPr>
          <a:xfrm>
            <a:off x="5897880" y="4617720"/>
            <a:ext cx="1737360" cy="566928"/>
          </a:xfrm>
          <a:prstGeom prst="rect">
            <a:avLst/>
          </a:prstGeom>
          <a:noFill/>
          <a:ln/>
        </p:spPr>
        <p:txBody>
          <a:bodyPr wrap="square" lIns="0" tIns="0" rIns="0" bIns="0" rtlCol="0" anchor="b"/>
          <a:lstStyle/>
          <a:p>
            <a:pPr indent="0" marL="0">
              <a:buNone/>
            </a:pPr>
            <a:r>
              <a:rPr lang="en-US" sz="2600" b="1" dirty="0">
                <a:solidFill>
                  <a:srgbClr val="0B2239"/>
                </a:solidFill>
                <a:latin typeface="Arial" pitchFamily="34" charset="0"/>
                <a:ea typeface="Arial" pitchFamily="34" charset="-122"/>
                <a:cs typeface="Arial" pitchFamily="34" charset="-120"/>
              </a:rPr>
              <a:t>362</a:t>
            </a:r>
            <a:endParaRPr lang="en-US" sz="2600" dirty="0"/>
          </a:p>
        </p:txBody>
      </p:sp>
      <p:sp>
        <p:nvSpPr>
          <p:cNvPr id="17" name="Text 13"/>
          <p:cNvSpPr txBox="1"/>
          <p:nvPr/>
        </p:nvSpPr>
        <p:spPr>
          <a:xfrm>
            <a:off x="5897880" y="5221224"/>
            <a:ext cx="1737360" cy="4572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Dài nhất (cycles)</a:t>
            </a:r>
            <a:endParaRPr lang="en-US" sz="1200" dirty="0"/>
          </a:p>
        </p:txBody>
      </p:sp>
      <p:sp>
        <p:nvSpPr>
          <p:cNvPr id="18" name="Shape 14"/>
          <p:cNvSpPr/>
          <p:nvPr/>
        </p:nvSpPr>
        <p:spPr>
          <a:xfrm>
            <a:off x="7863840" y="1920240"/>
            <a:ext cx="3776472" cy="4251960"/>
          </a:xfrm>
          <a:prstGeom prst="roundRect">
            <a:avLst>
              <a:gd name="adj" fmla="val 1937"/>
            </a:avLst>
          </a:prstGeom>
          <a:solidFill>
            <a:srgbClr val="EEF3F6"/>
          </a:solidFill>
          <a:ln/>
        </p:spPr>
      </p:sp>
      <p:sp>
        <p:nvSpPr>
          <p:cNvPr id="19" name="Text 15"/>
          <p:cNvSpPr txBox="1"/>
          <p:nvPr/>
        </p:nvSpPr>
        <p:spPr>
          <a:xfrm>
            <a:off x="8092440" y="2103120"/>
            <a:ext cx="338328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Không đổi trong cả 100 engine</a:t>
            </a:r>
            <a:endParaRPr lang="en-US" sz="1500" dirty="0"/>
          </a:p>
        </p:txBody>
      </p:sp>
      <p:sp>
        <p:nvSpPr>
          <p:cNvPr id="20" name="Shape 16"/>
          <p:cNvSpPr/>
          <p:nvPr/>
        </p:nvSpPr>
        <p:spPr>
          <a:xfrm>
            <a:off x="8092440" y="2560320"/>
            <a:ext cx="1572768" cy="402336"/>
          </a:xfrm>
          <a:prstGeom prst="roundRect">
            <a:avLst>
              <a:gd name="adj" fmla="val 18182"/>
            </a:avLst>
          </a:prstGeom>
          <a:solidFill>
            <a:srgbClr val="5A6B7B"/>
          </a:solidFill>
          <a:ln/>
        </p:spPr>
      </p:sp>
      <p:sp>
        <p:nvSpPr>
          <p:cNvPr id="21" name="Text 17"/>
          <p:cNvSpPr txBox="1"/>
          <p:nvPr/>
        </p:nvSpPr>
        <p:spPr>
          <a:xfrm>
            <a:off x="8092440" y="256032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a:t>
            </a:r>
            <a:endParaRPr lang="en-US" sz="1250" dirty="0"/>
          </a:p>
        </p:txBody>
      </p:sp>
      <p:sp>
        <p:nvSpPr>
          <p:cNvPr id="22" name="Shape 18"/>
          <p:cNvSpPr/>
          <p:nvPr/>
        </p:nvSpPr>
        <p:spPr>
          <a:xfrm>
            <a:off x="9784080" y="2560320"/>
            <a:ext cx="1572768" cy="402336"/>
          </a:xfrm>
          <a:prstGeom prst="roundRect">
            <a:avLst>
              <a:gd name="adj" fmla="val 18182"/>
            </a:avLst>
          </a:prstGeom>
          <a:solidFill>
            <a:srgbClr val="5A6B7B"/>
          </a:solidFill>
          <a:ln/>
        </p:spPr>
      </p:sp>
      <p:sp>
        <p:nvSpPr>
          <p:cNvPr id="23" name="Text 19"/>
          <p:cNvSpPr txBox="1"/>
          <p:nvPr/>
        </p:nvSpPr>
        <p:spPr>
          <a:xfrm>
            <a:off x="9784080" y="256032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sensor_5</a:t>
            </a:r>
            <a:endParaRPr lang="en-US" sz="1250" dirty="0"/>
          </a:p>
        </p:txBody>
      </p:sp>
      <p:sp>
        <p:nvSpPr>
          <p:cNvPr id="24" name="Shape 20"/>
          <p:cNvSpPr/>
          <p:nvPr/>
        </p:nvSpPr>
        <p:spPr>
          <a:xfrm>
            <a:off x="8092440" y="3063240"/>
            <a:ext cx="1572768" cy="402336"/>
          </a:xfrm>
          <a:prstGeom prst="roundRect">
            <a:avLst>
              <a:gd name="adj" fmla="val 18182"/>
            </a:avLst>
          </a:prstGeom>
          <a:solidFill>
            <a:srgbClr val="5A6B7B"/>
          </a:solidFill>
          <a:ln/>
        </p:spPr>
      </p:sp>
      <p:sp>
        <p:nvSpPr>
          <p:cNvPr id="25" name="Text 21"/>
          <p:cNvSpPr txBox="1"/>
          <p:nvPr/>
        </p:nvSpPr>
        <p:spPr>
          <a:xfrm>
            <a:off x="8092440" y="306324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sensor_10</a:t>
            </a:r>
            <a:endParaRPr lang="en-US" sz="1250" dirty="0"/>
          </a:p>
        </p:txBody>
      </p:sp>
      <p:sp>
        <p:nvSpPr>
          <p:cNvPr id="26" name="Shape 22"/>
          <p:cNvSpPr/>
          <p:nvPr/>
        </p:nvSpPr>
        <p:spPr>
          <a:xfrm>
            <a:off x="9784080" y="3063240"/>
            <a:ext cx="1572768" cy="402336"/>
          </a:xfrm>
          <a:prstGeom prst="roundRect">
            <a:avLst>
              <a:gd name="adj" fmla="val 18182"/>
            </a:avLst>
          </a:prstGeom>
          <a:solidFill>
            <a:srgbClr val="5A6B7B"/>
          </a:solidFill>
          <a:ln/>
        </p:spPr>
      </p:sp>
      <p:sp>
        <p:nvSpPr>
          <p:cNvPr id="27" name="Text 23"/>
          <p:cNvSpPr txBox="1"/>
          <p:nvPr/>
        </p:nvSpPr>
        <p:spPr>
          <a:xfrm>
            <a:off x="9784080" y="306324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sensor_16</a:t>
            </a:r>
            <a:endParaRPr lang="en-US" sz="1250" dirty="0"/>
          </a:p>
        </p:txBody>
      </p:sp>
      <p:sp>
        <p:nvSpPr>
          <p:cNvPr id="28" name="Shape 24"/>
          <p:cNvSpPr/>
          <p:nvPr/>
        </p:nvSpPr>
        <p:spPr>
          <a:xfrm>
            <a:off x="8092440" y="3566160"/>
            <a:ext cx="1572768" cy="402336"/>
          </a:xfrm>
          <a:prstGeom prst="roundRect">
            <a:avLst>
              <a:gd name="adj" fmla="val 18182"/>
            </a:avLst>
          </a:prstGeom>
          <a:solidFill>
            <a:srgbClr val="5A6B7B"/>
          </a:solidFill>
          <a:ln/>
        </p:spPr>
      </p:sp>
      <p:sp>
        <p:nvSpPr>
          <p:cNvPr id="29" name="Text 25"/>
          <p:cNvSpPr txBox="1"/>
          <p:nvPr/>
        </p:nvSpPr>
        <p:spPr>
          <a:xfrm>
            <a:off x="8092440" y="356616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sensor_18</a:t>
            </a:r>
            <a:endParaRPr lang="en-US" sz="1250" dirty="0"/>
          </a:p>
        </p:txBody>
      </p:sp>
      <p:sp>
        <p:nvSpPr>
          <p:cNvPr id="30" name="Shape 26"/>
          <p:cNvSpPr/>
          <p:nvPr/>
        </p:nvSpPr>
        <p:spPr>
          <a:xfrm>
            <a:off x="9784080" y="3566160"/>
            <a:ext cx="1572768" cy="402336"/>
          </a:xfrm>
          <a:prstGeom prst="roundRect">
            <a:avLst>
              <a:gd name="adj" fmla="val 18182"/>
            </a:avLst>
          </a:prstGeom>
          <a:solidFill>
            <a:srgbClr val="5A6B7B"/>
          </a:solidFill>
          <a:ln/>
        </p:spPr>
      </p:sp>
      <p:sp>
        <p:nvSpPr>
          <p:cNvPr id="31" name="Text 27"/>
          <p:cNvSpPr txBox="1"/>
          <p:nvPr/>
        </p:nvSpPr>
        <p:spPr>
          <a:xfrm>
            <a:off x="9784080" y="356616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sensor_19</a:t>
            </a:r>
            <a:endParaRPr lang="en-US" sz="1250" dirty="0"/>
          </a:p>
        </p:txBody>
      </p:sp>
      <p:sp>
        <p:nvSpPr>
          <p:cNvPr id="32" name="Shape 28"/>
          <p:cNvSpPr/>
          <p:nvPr/>
        </p:nvSpPr>
        <p:spPr>
          <a:xfrm>
            <a:off x="8092440" y="4069080"/>
            <a:ext cx="1572768" cy="402336"/>
          </a:xfrm>
          <a:prstGeom prst="roundRect">
            <a:avLst>
              <a:gd name="adj" fmla="val 18182"/>
            </a:avLst>
          </a:prstGeom>
          <a:solidFill>
            <a:srgbClr val="157A7F"/>
          </a:solidFill>
          <a:ln/>
        </p:spPr>
      </p:sp>
      <p:sp>
        <p:nvSpPr>
          <p:cNvPr id="33" name="Text 29"/>
          <p:cNvSpPr txBox="1"/>
          <p:nvPr/>
        </p:nvSpPr>
        <p:spPr>
          <a:xfrm>
            <a:off x="8092440" y="4069080"/>
            <a:ext cx="1572768"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setting_3</a:t>
            </a:r>
            <a:endParaRPr lang="en-US" sz="1250" dirty="0"/>
          </a:p>
        </p:txBody>
      </p:sp>
      <p:sp>
        <p:nvSpPr>
          <p:cNvPr id="34" name="Text 30"/>
          <p:cNvSpPr txBox="1"/>
          <p:nvPr/>
        </p:nvSpPr>
        <p:spPr>
          <a:xfrm>
            <a:off x="8092440" y="4663440"/>
            <a:ext cx="3383280" cy="36576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sensor_6 không đổi trong 38/100 engine.</a:t>
            </a:r>
            <a:endParaRPr lang="en-US" sz="1300" dirty="0"/>
          </a:p>
        </p:txBody>
      </p:sp>
      <p:sp>
        <p:nvSpPr>
          <p:cNvPr id="35" name="Text 31"/>
          <p:cNvSpPr txBox="1"/>
          <p:nvPr/>
        </p:nvSpPr>
        <p:spPr>
          <a:xfrm>
            <a:off x="8092440" y="5120640"/>
            <a:ext cx="3383280" cy="868680"/>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Chưa loại cột nào: 126 đặc trưng vẫn gồm đủ 21 sensor; không làm feature selection từ EDA.</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Nhiều sensor thay đổi rõ khi engine tiến gần failure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So sánh 30 cycle đầu và 30 cycle cuối trên cùng engine: 15/21 sensor có thay đổi sau hiệu chỉnh FDR</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outputs/eda/figures/sensor_trajectories_1.png; outputs/statistics/tables/sensor_inference.csv; report/sections/methodology.tex</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9 / 20</a:t>
            </a:r>
            <a:endParaRPr lang="en-US" sz="1000" dirty="0"/>
          </a:p>
        </p:txBody>
      </p:sp>
      <p:pic>
        <p:nvPicPr>
          <p:cNvPr id="9" name="Image 0" descr="Quỹ đạo sensor_4 của ba train engine">    </p:cNvPr>
          <p:cNvPicPr>
            <a:picLocks noChangeAspect="1"/>
          </p:cNvPicPr>
          <p:nvPr/>
        </p:nvPicPr>
        <p:blipFill>
          <a:blip r:embed="rId1"/>
          <a:stretch>
            <a:fillRect/>
          </a:stretch>
        </p:blipFill>
        <p:spPr>
          <a:xfrm>
            <a:off x="548640" y="1828800"/>
            <a:ext cx="4069080" cy="1954229"/>
          </a:xfrm>
          <a:prstGeom prst="rect">
            <a:avLst/>
          </a:prstGeom>
        </p:spPr>
      </p:pic>
      <p:pic>
        <p:nvPicPr>
          <p:cNvPr id="10" name="Image 1" descr="Quỹ đạo sensor_7 của ba train engine">    </p:cNvPr>
          <p:cNvPicPr>
            <a:picLocks noChangeAspect="1"/>
          </p:cNvPicPr>
          <p:nvPr/>
        </p:nvPicPr>
        <p:blipFill>
          <a:blip r:embed="rId2"/>
          <a:stretch>
            <a:fillRect/>
          </a:stretch>
        </p:blipFill>
        <p:spPr>
          <a:xfrm>
            <a:off x="548640" y="3856181"/>
            <a:ext cx="4069080" cy="2000818"/>
          </a:xfrm>
          <a:prstGeom prst="rect">
            <a:avLst/>
          </a:prstGeom>
        </p:spPr>
      </p:pic>
      <p:sp>
        <p:nvSpPr>
          <p:cNvPr id="11" name="Text 6"/>
          <p:cNvSpPr txBox="1"/>
          <p:nvPr/>
        </p:nvSpPr>
        <p:spPr>
          <a:xfrm>
            <a:off x="548640" y="6089904"/>
            <a:ext cx="4206240" cy="274320"/>
          </a:xfrm>
          <a:prstGeom prst="rect">
            <a:avLst/>
          </a:prstGeom>
          <a:noFill/>
          <a:ln/>
        </p:spPr>
        <p:txBody>
          <a:bodyPr wrap="square" lIns="0" tIns="0" rIns="0" bIns="0" rtlCol="0" anchor="t"/>
          <a:lstStyle/>
          <a:p>
            <a:pPr indent="0" marL="0">
              <a:buNone/>
            </a:pPr>
            <a:r>
              <a:rPr lang="en-US" sz="1000" dirty="0">
                <a:solidFill>
                  <a:srgbClr val="5A6B7B"/>
                </a:solidFill>
                <a:latin typeface="Arial" pitchFamily="34" charset="0"/>
                <a:ea typeface="Arial" pitchFamily="34" charset="-122"/>
                <a:cs typeface="Arial" pitchFamily="34" charset="-120"/>
              </a:rPr>
              <a:t>Engine 87 (178 cycles), 26 (199), 75 (229); giá trị gốc chưa chuẩn hóa.</a:t>
            </a:r>
            <a:endParaRPr lang="en-US" sz="1000" dirty="0"/>
          </a:p>
        </p:txBody>
      </p:sp>
      <p:sp>
        <p:nvSpPr>
          <p:cNvPr id="12" name="Shape 7"/>
          <p:cNvSpPr/>
          <p:nvPr/>
        </p:nvSpPr>
        <p:spPr>
          <a:xfrm>
            <a:off x="5120640" y="1965960"/>
            <a:ext cx="457200" cy="457200"/>
          </a:xfrm>
          <a:prstGeom prst="ellipse">
            <a:avLst/>
          </a:prstGeom>
          <a:solidFill>
            <a:srgbClr val="157A7F"/>
          </a:solidFill>
          <a:ln/>
        </p:spPr>
      </p:sp>
      <p:sp>
        <p:nvSpPr>
          <p:cNvPr id="13" name="Text 8"/>
          <p:cNvSpPr txBox="1"/>
          <p:nvPr/>
        </p:nvSpPr>
        <p:spPr>
          <a:xfrm>
            <a:off x="512064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4" name="Text 9"/>
          <p:cNvSpPr txBox="1"/>
          <p:nvPr/>
        </p:nvSpPr>
        <p:spPr>
          <a:xfrm>
            <a:off x="5760720" y="193852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Ghép cặp trong engine</a:t>
            </a:r>
            <a:endParaRPr lang="en-US" sz="1500" dirty="0"/>
          </a:p>
        </p:txBody>
      </p:sp>
      <p:sp>
        <p:nvSpPr>
          <p:cNvPr id="15" name="Text 10"/>
          <p:cNvSpPr txBox="1"/>
          <p:nvPr/>
        </p:nvSpPr>
        <p:spPr>
          <a:xfrm>
            <a:off x="5760720" y="224028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Δ = mean(30 cycle cuối) − mean(30 cycle đầu)</a:t>
            </a:r>
            <a:endParaRPr lang="en-US" sz="1350" dirty="0"/>
          </a:p>
        </p:txBody>
      </p:sp>
      <p:sp>
        <p:nvSpPr>
          <p:cNvPr id="16" name="Shape 11"/>
          <p:cNvSpPr/>
          <p:nvPr/>
        </p:nvSpPr>
        <p:spPr>
          <a:xfrm>
            <a:off x="5120640" y="2834640"/>
            <a:ext cx="457200" cy="457200"/>
          </a:xfrm>
          <a:prstGeom prst="ellipse">
            <a:avLst/>
          </a:prstGeom>
          <a:solidFill>
            <a:srgbClr val="157A7F"/>
          </a:solidFill>
          <a:ln/>
        </p:spPr>
      </p:sp>
      <p:sp>
        <p:nvSpPr>
          <p:cNvPr id="17" name="Text 12"/>
          <p:cNvSpPr txBox="1"/>
          <p:nvPr/>
        </p:nvSpPr>
        <p:spPr>
          <a:xfrm>
            <a:off x="5120640" y="2834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Text 13"/>
          <p:cNvSpPr txBox="1"/>
          <p:nvPr/>
        </p:nvSpPr>
        <p:spPr>
          <a:xfrm>
            <a:off x="5760720" y="280720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Bootstrap và Wilcoxon</a:t>
            </a:r>
            <a:endParaRPr lang="en-US" sz="1500" dirty="0"/>
          </a:p>
        </p:txBody>
      </p:sp>
      <p:sp>
        <p:nvSpPr>
          <p:cNvPr id="19" name="Text 14"/>
          <p:cNvSpPr txBox="1"/>
          <p:nvPr/>
        </p:nvSpPr>
        <p:spPr>
          <a:xfrm>
            <a:off x="5760720" y="310896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Lấy mẫu lại engine 10.000 lần; Wilcoxon signed-rank</a:t>
            </a:r>
            <a:endParaRPr lang="en-US" sz="1350" dirty="0"/>
          </a:p>
        </p:txBody>
      </p:sp>
      <p:sp>
        <p:nvSpPr>
          <p:cNvPr id="20" name="Shape 15"/>
          <p:cNvSpPr/>
          <p:nvPr/>
        </p:nvSpPr>
        <p:spPr>
          <a:xfrm>
            <a:off x="5120640" y="3703320"/>
            <a:ext cx="457200" cy="457200"/>
          </a:xfrm>
          <a:prstGeom prst="ellipse">
            <a:avLst/>
          </a:prstGeom>
          <a:solidFill>
            <a:srgbClr val="157A7F"/>
          </a:solidFill>
          <a:ln/>
        </p:spPr>
      </p:sp>
      <p:sp>
        <p:nvSpPr>
          <p:cNvPr id="21" name="Text 16"/>
          <p:cNvSpPr txBox="1"/>
          <p:nvPr/>
        </p:nvSpPr>
        <p:spPr>
          <a:xfrm>
            <a:off x="5120640" y="3703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7"/>
          <p:cNvSpPr txBox="1"/>
          <p:nvPr/>
        </p:nvSpPr>
        <p:spPr>
          <a:xfrm>
            <a:off x="5760720" y="3675888"/>
            <a:ext cx="58521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Hiệu chỉnh đa kiểm định</a:t>
            </a:r>
            <a:endParaRPr lang="en-US" sz="1500" dirty="0"/>
          </a:p>
        </p:txBody>
      </p:sp>
      <p:sp>
        <p:nvSpPr>
          <p:cNvPr id="23" name="Text 18"/>
          <p:cNvSpPr txBox="1"/>
          <p:nvPr/>
        </p:nvSpPr>
        <p:spPr>
          <a:xfrm>
            <a:off x="5760720" y="3977640"/>
            <a:ext cx="5852160" cy="365760"/>
          </a:xfrm>
          <a:prstGeom prst="rect">
            <a:avLst/>
          </a:prstGeom>
          <a:noFill/>
          <a:ln/>
        </p:spPr>
        <p:txBody>
          <a:bodyPr wrap="square" lIns="0" tIns="0" rIns="0" bIns="0" rtlCol="0" anchor="t"/>
          <a:lstStyle/>
          <a:p>
            <a:pPr indent="0" marL="0">
              <a:buNone/>
            </a:pPr>
            <a:r>
              <a:rPr lang="en-US" sz="1350" dirty="0">
                <a:solidFill>
                  <a:srgbClr val="1B2733"/>
                </a:solidFill>
                <a:latin typeface="Arial" pitchFamily="34" charset="0"/>
                <a:ea typeface="Arial" pitchFamily="34" charset="-122"/>
                <a:cs typeface="Arial" pitchFamily="34" charset="-120"/>
              </a:rPr>
              <a:t>Benjamini–Hochberg cho 21 sensor, q = 0,05</a:t>
            </a:r>
            <a:endParaRPr lang="en-US" sz="1350" dirty="0"/>
          </a:p>
        </p:txBody>
      </p:sp>
      <p:sp>
        <p:nvSpPr>
          <p:cNvPr id="24" name="Shape 19"/>
          <p:cNvSpPr/>
          <p:nvPr/>
        </p:nvSpPr>
        <p:spPr>
          <a:xfrm>
            <a:off x="5120640" y="4572000"/>
            <a:ext cx="3017520" cy="1554480"/>
          </a:xfrm>
          <a:prstGeom prst="roundRect">
            <a:avLst>
              <a:gd name="adj" fmla="val 4706"/>
            </a:avLst>
          </a:prstGeom>
          <a:solidFill>
            <a:srgbClr val="0B2239"/>
          </a:solidFill>
          <a:ln/>
        </p:spPr>
      </p:sp>
      <p:sp>
        <p:nvSpPr>
          <p:cNvPr id="25" name="Text 20"/>
          <p:cNvSpPr txBox="1"/>
          <p:nvPr/>
        </p:nvSpPr>
        <p:spPr>
          <a:xfrm>
            <a:off x="5349240" y="4663440"/>
            <a:ext cx="2651760" cy="6858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15/21</a:t>
            </a:r>
            <a:endParaRPr lang="en-US" sz="4000" dirty="0"/>
          </a:p>
        </p:txBody>
      </p:sp>
      <p:sp>
        <p:nvSpPr>
          <p:cNvPr id="26" name="Text 21"/>
          <p:cNvSpPr txBox="1"/>
          <p:nvPr/>
        </p:nvSpPr>
        <p:spPr>
          <a:xfrm>
            <a:off x="5349240" y="5376672"/>
            <a:ext cx="2651760" cy="594360"/>
          </a:xfrm>
          <a:prstGeom prst="rect">
            <a:avLst/>
          </a:prstGeom>
          <a:noFill/>
          <a:ln/>
        </p:spPr>
        <p:txBody>
          <a:bodyPr wrap="square" lIns="0" tIns="0" rIns="0" bIns="0" rtlCol="0" anchor="t"/>
          <a:lstStyle/>
          <a:p>
            <a:pPr indent="0" marL="0">
              <a:buNone/>
            </a:pPr>
            <a:r>
              <a:rPr lang="en-US" sz="1250" dirty="0">
                <a:solidFill>
                  <a:srgbClr val="BFD9E3"/>
                </a:solidFill>
                <a:latin typeface="Arial" pitchFamily="34" charset="0"/>
                <a:ea typeface="Arial" pitchFamily="34" charset="-122"/>
                <a:cs typeface="Arial" pitchFamily="34" charset="-120"/>
              </a:rPr>
              <a:t>sensor bác bỏ giả thuyết không sau hiệu chỉnh</a:t>
            </a:r>
            <a:endParaRPr lang="en-US" sz="1250" dirty="0"/>
          </a:p>
        </p:txBody>
      </p:sp>
      <p:sp>
        <p:nvSpPr>
          <p:cNvPr id="27" name="Shape 22"/>
          <p:cNvSpPr/>
          <p:nvPr/>
        </p:nvSpPr>
        <p:spPr>
          <a:xfrm>
            <a:off x="8321040" y="4572000"/>
            <a:ext cx="3319272" cy="1554480"/>
          </a:xfrm>
          <a:prstGeom prst="roundRect">
            <a:avLst>
              <a:gd name="adj" fmla="val 4706"/>
            </a:avLst>
          </a:prstGeom>
          <a:solidFill>
            <a:srgbClr val="EEF3F6"/>
          </a:solidFill>
          <a:ln/>
        </p:spPr>
      </p:sp>
      <p:sp>
        <p:nvSpPr>
          <p:cNvPr id="28" name="Text 23"/>
          <p:cNvSpPr txBox="1"/>
          <p:nvPr/>
        </p:nvSpPr>
        <p:spPr>
          <a:xfrm>
            <a:off x="8503920" y="4709160"/>
            <a:ext cx="2971800" cy="1325880"/>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6 sensor hằng số nên không kiểm định. Kết quả mô tả khác biệt đầu/cuối vòng đời, không chứng minh nhân quả.</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Trailing window 30 cycle biến chuỗi sensor thành 126 đặc trưng</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Mỗi dòng đặc trưng chỉ dùng quá khứ của chính engine đó; không dùng cycle tương lai hoặc engine khác</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outputs/features/run_info.json; src/cmapss/features/rolling.py; handoff/DATA_WALKTHROUGH.md</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10 / 20</a:t>
            </a:r>
            <a:endParaRPr lang="en-US" sz="1000" dirty="0"/>
          </a:p>
        </p:txBody>
      </p:sp>
      <p:sp>
        <p:nvSpPr>
          <p:cNvPr id="9" name="Shape 6"/>
          <p:cNvSpPr/>
          <p:nvPr/>
        </p:nvSpPr>
        <p:spPr>
          <a:xfrm>
            <a:off x="548640" y="2240280"/>
            <a:ext cx="155448" cy="384048"/>
          </a:xfrm>
          <a:prstGeom prst="rect">
            <a:avLst/>
          </a:prstGeom>
          <a:solidFill>
            <a:srgbClr val="DCEFEF"/>
          </a:solidFill>
          <a:ln/>
        </p:spPr>
      </p:sp>
      <p:sp>
        <p:nvSpPr>
          <p:cNvPr id="10" name="Shape 7"/>
          <p:cNvSpPr/>
          <p:nvPr/>
        </p:nvSpPr>
        <p:spPr>
          <a:xfrm>
            <a:off x="731520" y="2240280"/>
            <a:ext cx="155448" cy="384048"/>
          </a:xfrm>
          <a:prstGeom prst="rect">
            <a:avLst/>
          </a:prstGeom>
          <a:solidFill>
            <a:srgbClr val="DCEFEF"/>
          </a:solidFill>
          <a:ln/>
        </p:spPr>
      </p:sp>
      <p:sp>
        <p:nvSpPr>
          <p:cNvPr id="11" name="Shape 8"/>
          <p:cNvSpPr/>
          <p:nvPr/>
        </p:nvSpPr>
        <p:spPr>
          <a:xfrm>
            <a:off x="914400" y="2240280"/>
            <a:ext cx="155448" cy="384048"/>
          </a:xfrm>
          <a:prstGeom prst="rect">
            <a:avLst/>
          </a:prstGeom>
          <a:solidFill>
            <a:srgbClr val="DCEFEF"/>
          </a:solidFill>
          <a:ln/>
        </p:spPr>
      </p:sp>
      <p:sp>
        <p:nvSpPr>
          <p:cNvPr id="12" name="Shape 9"/>
          <p:cNvSpPr/>
          <p:nvPr/>
        </p:nvSpPr>
        <p:spPr>
          <a:xfrm>
            <a:off x="1097280" y="2240280"/>
            <a:ext cx="155448" cy="384048"/>
          </a:xfrm>
          <a:prstGeom prst="rect">
            <a:avLst/>
          </a:prstGeom>
          <a:solidFill>
            <a:srgbClr val="DCEFEF"/>
          </a:solidFill>
          <a:ln/>
        </p:spPr>
      </p:sp>
      <p:sp>
        <p:nvSpPr>
          <p:cNvPr id="13" name="Shape 10"/>
          <p:cNvSpPr/>
          <p:nvPr/>
        </p:nvSpPr>
        <p:spPr>
          <a:xfrm>
            <a:off x="1280160" y="2240280"/>
            <a:ext cx="155448" cy="384048"/>
          </a:xfrm>
          <a:prstGeom prst="rect">
            <a:avLst/>
          </a:prstGeom>
          <a:solidFill>
            <a:srgbClr val="DCEFEF"/>
          </a:solidFill>
          <a:ln/>
        </p:spPr>
      </p:sp>
      <p:sp>
        <p:nvSpPr>
          <p:cNvPr id="14" name="Shape 11"/>
          <p:cNvSpPr/>
          <p:nvPr/>
        </p:nvSpPr>
        <p:spPr>
          <a:xfrm>
            <a:off x="1463040" y="2240280"/>
            <a:ext cx="155448" cy="384048"/>
          </a:xfrm>
          <a:prstGeom prst="rect">
            <a:avLst/>
          </a:prstGeom>
          <a:solidFill>
            <a:srgbClr val="157A7F"/>
          </a:solidFill>
          <a:ln/>
        </p:spPr>
      </p:sp>
      <p:sp>
        <p:nvSpPr>
          <p:cNvPr id="15" name="Shape 12"/>
          <p:cNvSpPr/>
          <p:nvPr/>
        </p:nvSpPr>
        <p:spPr>
          <a:xfrm>
            <a:off x="1645920" y="2240280"/>
            <a:ext cx="155448" cy="384048"/>
          </a:xfrm>
          <a:prstGeom prst="rect">
            <a:avLst/>
          </a:prstGeom>
          <a:solidFill>
            <a:srgbClr val="157A7F"/>
          </a:solidFill>
          <a:ln/>
        </p:spPr>
      </p:sp>
      <p:sp>
        <p:nvSpPr>
          <p:cNvPr id="16" name="Shape 13"/>
          <p:cNvSpPr/>
          <p:nvPr/>
        </p:nvSpPr>
        <p:spPr>
          <a:xfrm>
            <a:off x="1828800" y="2240280"/>
            <a:ext cx="155448" cy="384048"/>
          </a:xfrm>
          <a:prstGeom prst="rect">
            <a:avLst/>
          </a:prstGeom>
          <a:solidFill>
            <a:srgbClr val="157A7F"/>
          </a:solidFill>
          <a:ln/>
        </p:spPr>
      </p:sp>
      <p:sp>
        <p:nvSpPr>
          <p:cNvPr id="17" name="Shape 14"/>
          <p:cNvSpPr/>
          <p:nvPr/>
        </p:nvSpPr>
        <p:spPr>
          <a:xfrm>
            <a:off x="2011680" y="2240280"/>
            <a:ext cx="155448" cy="384048"/>
          </a:xfrm>
          <a:prstGeom prst="rect">
            <a:avLst/>
          </a:prstGeom>
          <a:solidFill>
            <a:srgbClr val="157A7F"/>
          </a:solidFill>
          <a:ln/>
        </p:spPr>
      </p:sp>
      <p:sp>
        <p:nvSpPr>
          <p:cNvPr id="18" name="Shape 15"/>
          <p:cNvSpPr/>
          <p:nvPr/>
        </p:nvSpPr>
        <p:spPr>
          <a:xfrm>
            <a:off x="2194560" y="2240280"/>
            <a:ext cx="155448" cy="384048"/>
          </a:xfrm>
          <a:prstGeom prst="rect">
            <a:avLst/>
          </a:prstGeom>
          <a:solidFill>
            <a:srgbClr val="157A7F"/>
          </a:solidFill>
          <a:ln/>
        </p:spPr>
      </p:sp>
      <p:sp>
        <p:nvSpPr>
          <p:cNvPr id="19" name="Shape 16"/>
          <p:cNvSpPr/>
          <p:nvPr/>
        </p:nvSpPr>
        <p:spPr>
          <a:xfrm>
            <a:off x="2377440" y="2240280"/>
            <a:ext cx="155448" cy="384048"/>
          </a:xfrm>
          <a:prstGeom prst="rect">
            <a:avLst/>
          </a:prstGeom>
          <a:solidFill>
            <a:srgbClr val="157A7F"/>
          </a:solidFill>
          <a:ln/>
        </p:spPr>
      </p:sp>
      <p:sp>
        <p:nvSpPr>
          <p:cNvPr id="20" name="Shape 17"/>
          <p:cNvSpPr/>
          <p:nvPr/>
        </p:nvSpPr>
        <p:spPr>
          <a:xfrm>
            <a:off x="2560320" y="2240280"/>
            <a:ext cx="155448" cy="384048"/>
          </a:xfrm>
          <a:prstGeom prst="rect">
            <a:avLst/>
          </a:prstGeom>
          <a:solidFill>
            <a:srgbClr val="157A7F"/>
          </a:solidFill>
          <a:ln/>
        </p:spPr>
      </p:sp>
      <p:sp>
        <p:nvSpPr>
          <p:cNvPr id="21" name="Shape 18"/>
          <p:cNvSpPr/>
          <p:nvPr/>
        </p:nvSpPr>
        <p:spPr>
          <a:xfrm>
            <a:off x="2743200" y="2240280"/>
            <a:ext cx="155448" cy="384048"/>
          </a:xfrm>
          <a:prstGeom prst="rect">
            <a:avLst/>
          </a:prstGeom>
          <a:solidFill>
            <a:srgbClr val="157A7F"/>
          </a:solidFill>
          <a:ln/>
        </p:spPr>
      </p:sp>
      <p:sp>
        <p:nvSpPr>
          <p:cNvPr id="22" name="Shape 19"/>
          <p:cNvSpPr/>
          <p:nvPr/>
        </p:nvSpPr>
        <p:spPr>
          <a:xfrm>
            <a:off x="2926080" y="2240280"/>
            <a:ext cx="155448" cy="384048"/>
          </a:xfrm>
          <a:prstGeom prst="rect">
            <a:avLst/>
          </a:prstGeom>
          <a:solidFill>
            <a:srgbClr val="157A7F"/>
          </a:solidFill>
          <a:ln/>
        </p:spPr>
      </p:sp>
      <p:sp>
        <p:nvSpPr>
          <p:cNvPr id="23" name="Shape 20"/>
          <p:cNvSpPr/>
          <p:nvPr/>
        </p:nvSpPr>
        <p:spPr>
          <a:xfrm>
            <a:off x="3108960" y="2240280"/>
            <a:ext cx="155448" cy="384048"/>
          </a:xfrm>
          <a:prstGeom prst="rect">
            <a:avLst/>
          </a:prstGeom>
          <a:solidFill>
            <a:srgbClr val="157A7F"/>
          </a:solidFill>
          <a:ln/>
        </p:spPr>
      </p:sp>
      <p:sp>
        <p:nvSpPr>
          <p:cNvPr id="24" name="Shape 21"/>
          <p:cNvSpPr/>
          <p:nvPr/>
        </p:nvSpPr>
        <p:spPr>
          <a:xfrm>
            <a:off x="3291840" y="2240280"/>
            <a:ext cx="155448" cy="384048"/>
          </a:xfrm>
          <a:prstGeom prst="rect">
            <a:avLst/>
          </a:prstGeom>
          <a:solidFill>
            <a:srgbClr val="157A7F"/>
          </a:solidFill>
          <a:ln/>
        </p:spPr>
      </p:sp>
      <p:sp>
        <p:nvSpPr>
          <p:cNvPr id="25" name="Shape 22"/>
          <p:cNvSpPr/>
          <p:nvPr/>
        </p:nvSpPr>
        <p:spPr>
          <a:xfrm>
            <a:off x="3474720" y="2240280"/>
            <a:ext cx="155448" cy="384048"/>
          </a:xfrm>
          <a:prstGeom prst="rect">
            <a:avLst/>
          </a:prstGeom>
          <a:solidFill>
            <a:srgbClr val="157A7F"/>
          </a:solidFill>
          <a:ln/>
        </p:spPr>
      </p:sp>
      <p:sp>
        <p:nvSpPr>
          <p:cNvPr id="26" name="Shape 23"/>
          <p:cNvSpPr/>
          <p:nvPr/>
        </p:nvSpPr>
        <p:spPr>
          <a:xfrm>
            <a:off x="3657600" y="2240280"/>
            <a:ext cx="155448" cy="384048"/>
          </a:xfrm>
          <a:prstGeom prst="rect">
            <a:avLst/>
          </a:prstGeom>
          <a:solidFill>
            <a:srgbClr val="157A7F"/>
          </a:solidFill>
          <a:ln/>
        </p:spPr>
      </p:sp>
      <p:sp>
        <p:nvSpPr>
          <p:cNvPr id="27" name="Shape 24"/>
          <p:cNvSpPr/>
          <p:nvPr/>
        </p:nvSpPr>
        <p:spPr>
          <a:xfrm>
            <a:off x="3840480" y="2240280"/>
            <a:ext cx="155448" cy="384048"/>
          </a:xfrm>
          <a:prstGeom prst="rect">
            <a:avLst/>
          </a:prstGeom>
          <a:solidFill>
            <a:srgbClr val="157A7F"/>
          </a:solidFill>
          <a:ln/>
        </p:spPr>
      </p:sp>
      <p:sp>
        <p:nvSpPr>
          <p:cNvPr id="28" name="Shape 25"/>
          <p:cNvSpPr/>
          <p:nvPr/>
        </p:nvSpPr>
        <p:spPr>
          <a:xfrm>
            <a:off x="4023360" y="2240280"/>
            <a:ext cx="155448" cy="384048"/>
          </a:xfrm>
          <a:prstGeom prst="rect">
            <a:avLst/>
          </a:prstGeom>
          <a:solidFill>
            <a:srgbClr val="157A7F"/>
          </a:solidFill>
          <a:ln/>
        </p:spPr>
      </p:sp>
      <p:sp>
        <p:nvSpPr>
          <p:cNvPr id="29" name="Shape 26"/>
          <p:cNvSpPr/>
          <p:nvPr/>
        </p:nvSpPr>
        <p:spPr>
          <a:xfrm>
            <a:off x="4206240" y="2240280"/>
            <a:ext cx="155448" cy="384048"/>
          </a:xfrm>
          <a:prstGeom prst="rect">
            <a:avLst/>
          </a:prstGeom>
          <a:solidFill>
            <a:srgbClr val="157A7F"/>
          </a:solidFill>
          <a:ln/>
        </p:spPr>
      </p:sp>
      <p:sp>
        <p:nvSpPr>
          <p:cNvPr id="30" name="Shape 27"/>
          <p:cNvSpPr/>
          <p:nvPr/>
        </p:nvSpPr>
        <p:spPr>
          <a:xfrm>
            <a:off x="4389120" y="2240280"/>
            <a:ext cx="155448" cy="384048"/>
          </a:xfrm>
          <a:prstGeom prst="rect">
            <a:avLst/>
          </a:prstGeom>
          <a:solidFill>
            <a:srgbClr val="157A7F"/>
          </a:solidFill>
          <a:ln/>
        </p:spPr>
      </p:sp>
      <p:sp>
        <p:nvSpPr>
          <p:cNvPr id="31" name="Shape 28"/>
          <p:cNvSpPr/>
          <p:nvPr/>
        </p:nvSpPr>
        <p:spPr>
          <a:xfrm>
            <a:off x="4572000" y="2240280"/>
            <a:ext cx="155448" cy="384048"/>
          </a:xfrm>
          <a:prstGeom prst="rect">
            <a:avLst/>
          </a:prstGeom>
          <a:solidFill>
            <a:srgbClr val="157A7F"/>
          </a:solidFill>
          <a:ln/>
        </p:spPr>
      </p:sp>
      <p:sp>
        <p:nvSpPr>
          <p:cNvPr id="32" name="Shape 29"/>
          <p:cNvSpPr/>
          <p:nvPr/>
        </p:nvSpPr>
        <p:spPr>
          <a:xfrm>
            <a:off x="4754880" y="2240280"/>
            <a:ext cx="155448" cy="384048"/>
          </a:xfrm>
          <a:prstGeom prst="rect">
            <a:avLst/>
          </a:prstGeom>
          <a:solidFill>
            <a:srgbClr val="157A7F"/>
          </a:solidFill>
          <a:ln/>
        </p:spPr>
      </p:sp>
      <p:sp>
        <p:nvSpPr>
          <p:cNvPr id="33" name="Shape 30"/>
          <p:cNvSpPr/>
          <p:nvPr/>
        </p:nvSpPr>
        <p:spPr>
          <a:xfrm>
            <a:off x="4937760" y="2240280"/>
            <a:ext cx="155448" cy="384048"/>
          </a:xfrm>
          <a:prstGeom prst="rect">
            <a:avLst/>
          </a:prstGeom>
          <a:solidFill>
            <a:srgbClr val="157A7F"/>
          </a:solidFill>
          <a:ln/>
        </p:spPr>
      </p:sp>
      <p:sp>
        <p:nvSpPr>
          <p:cNvPr id="34" name="Shape 31"/>
          <p:cNvSpPr/>
          <p:nvPr/>
        </p:nvSpPr>
        <p:spPr>
          <a:xfrm>
            <a:off x="5120640" y="2240280"/>
            <a:ext cx="155448" cy="384048"/>
          </a:xfrm>
          <a:prstGeom prst="rect">
            <a:avLst/>
          </a:prstGeom>
          <a:solidFill>
            <a:srgbClr val="157A7F"/>
          </a:solidFill>
          <a:ln/>
        </p:spPr>
      </p:sp>
      <p:sp>
        <p:nvSpPr>
          <p:cNvPr id="35" name="Shape 32"/>
          <p:cNvSpPr/>
          <p:nvPr/>
        </p:nvSpPr>
        <p:spPr>
          <a:xfrm>
            <a:off x="5303520" y="2240280"/>
            <a:ext cx="155448" cy="384048"/>
          </a:xfrm>
          <a:prstGeom prst="rect">
            <a:avLst/>
          </a:prstGeom>
          <a:solidFill>
            <a:srgbClr val="157A7F"/>
          </a:solidFill>
          <a:ln/>
        </p:spPr>
      </p:sp>
      <p:sp>
        <p:nvSpPr>
          <p:cNvPr id="36" name="Shape 33"/>
          <p:cNvSpPr/>
          <p:nvPr/>
        </p:nvSpPr>
        <p:spPr>
          <a:xfrm>
            <a:off x="5486400" y="2240280"/>
            <a:ext cx="155448" cy="384048"/>
          </a:xfrm>
          <a:prstGeom prst="rect">
            <a:avLst/>
          </a:prstGeom>
          <a:solidFill>
            <a:srgbClr val="157A7F"/>
          </a:solidFill>
          <a:ln/>
        </p:spPr>
      </p:sp>
      <p:sp>
        <p:nvSpPr>
          <p:cNvPr id="37" name="Shape 34"/>
          <p:cNvSpPr/>
          <p:nvPr/>
        </p:nvSpPr>
        <p:spPr>
          <a:xfrm>
            <a:off x="5669280" y="2240280"/>
            <a:ext cx="155448" cy="384048"/>
          </a:xfrm>
          <a:prstGeom prst="rect">
            <a:avLst/>
          </a:prstGeom>
          <a:solidFill>
            <a:srgbClr val="157A7F"/>
          </a:solidFill>
          <a:ln/>
        </p:spPr>
      </p:sp>
      <p:sp>
        <p:nvSpPr>
          <p:cNvPr id="38" name="Shape 35"/>
          <p:cNvSpPr/>
          <p:nvPr/>
        </p:nvSpPr>
        <p:spPr>
          <a:xfrm>
            <a:off x="5852160" y="2240280"/>
            <a:ext cx="155448" cy="384048"/>
          </a:xfrm>
          <a:prstGeom prst="rect">
            <a:avLst/>
          </a:prstGeom>
          <a:solidFill>
            <a:srgbClr val="157A7F"/>
          </a:solidFill>
          <a:ln/>
        </p:spPr>
      </p:sp>
      <p:sp>
        <p:nvSpPr>
          <p:cNvPr id="39" name="Shape 36"/>
          <p:cNvSpPr/>
          <p:nvPr/>
        </p:nvSpPr>
        <p:spPr>
          <a:xfrm>
            <a:off x="6035040" y="2240280"/>
            <a:ext cx="155448" cy="384048"/>
          </a:xfrm>
          <a:prstGeom prst="rect">
            <a:avLst/>
          </a:prstGeom>
          <a:solidFill>
            <a:srgbClr val="157A7F"/>
          </a:solidFill>
          <a:ln/>
        </p:spPr>
      </p:sp>
      <p:sp>
        <p:nvSpPr>
          <p:cNvPr id="40" name="Shape 37"/>
          <p:cNvSpPr/>
          <p:nvPr/>
        </p:nvSpPr>
        <p:spPr>
          <a:xfrm>
            <a:off x="6217920" y="2240280"/>
            <a:ext cx="155448" cy="384048"/>
          </a:xfrm>
          <a:prstGeom prst="rect">
            <a:avLst/>
          </a:prstGeom>
          <a:solidFill>
            <a:srgbClr val="157A7F"/>
          </a:solidFill>
          <a:ln/>
        </p:spPr>
      </p:sp>
      <p:sp>
        <p:nvSpPr>
          <p:cNvPr id="41" name="Shape 38"/>
          <p:cNvSpPr/>
          <p:nvPr/>
        </p:nvSpPr>
        <p:spPr>
          <a:xfrm>
            <a:off x="6400800" y="2240280"/>
            <a:ext cx="155448" cy="384048"/>
          </a:xfrm>
          <a:prstGeom prst="rect">
            <a:avLst/>
          </a:prstGeom>
          <a:solidFill>
            <a:srgbClr val="157A7F"/>
          </a:solidFill>
          <a:ln/>
        </p:spPr>
      </p:sp>
      <p:sp>
        <p:nvSpPr>
          <p:cNvPr id="42" name="Shape 39"/>
          <p:cNvSpPr/>
          <p:nvPr/>
        </p:nvSpPr>
        <p:spPr>
          <a:xfrm>
            <a:off x="6583680" y="2240280"/>
            <a:ext cx="155448" cy="384048"/>
          </a:xfrm>
          <a:prstGeom prst="rect">
            <a:avLst/>
          </a:prstGeom>
          <a:solidFill>
            <a:srgbClr val="157A7F"/>
          </a:solidFill>
          <a:ln/>
        </p:spPr>
      </p:sp>
      <p:sp>
        <p:nvSpPr>
          <p:cNvPr id="43" name="Shape 40"/>
          <p:cNvSpPr/>
          <p:nvPr/>
        </p:nvSpPr>
        <p:spPr>
          <a:xfrm>
            <a:off x="6766560" y="2240280"/>
            <a:ext cx="155448" cy="384048"/>
          </a:xfrm>
          <a:prstGeom prst="rect">
            <a:avLst/>
          </a:prstGeom>
          <a:solidFill>
            <a:srgbClr val="C8701E"/>
          </a:solidFill>
          <a:ln/>
        </p:spPr>
      </p:sp>
      <p:sp>
        <p:nvSpPr>
          <p:cNvPr id="44" name="Shape 41"/>
          <p:cNvSpPr/>
          <p:nvPr/>
        </p:nvSpPr>
        <p:spPr>
          <a:xfrm>
            <a:off x="6949440" y="2240280"/>
            <a:ext cx="155448" cy="384048"/>
          </a:xfrm>
          <a:prstGeom prst="rect">
            <a:avLst/>
          </a:prstGeom>
          <a:solidFill>
            <a:srgbClr val="E6EAEE"/>
          </a:solidFill>
          <a:ln/>
        </p:spPr>
      </p:sp>
      <p:sp>
        <p:nvSpPr>
          <p:cNvPr id="45" name="Shape 42"/>
          <p:cNvSpPr/>
          <p:nvPr/>
        </p:nvSpPr>
        <p:spPr>
          <a:xfrm>
            <a:off x="7132320" y="2240280"/>
            <a:ext cx="155448" cy="384048"/>
          </a:xfrm>
          <a:prstGeom prst="rect">
            <a:avLst/>
          </a:prstGeom>
          <a:solidFill>
            <a:srgbClr val="E6EAEE"/>
          </a:solidFill>
          <a:ln/>
        </p:spPr>
      </p:sp>
      <p:sp>
        <p:nvSpPr>
          <p:cNvPr id="46" name="Shape 43"/>
          <p:cNvSpPr/>
          <p:nvPr/>
        </p:nvSpPr>
        <p:spPr>
          <a:xfrm>
            <a:off x="7315200" y="2240280"/>
            <a:ext cx="155448" cy="384048"/>
          </a:xfrm>
          <a:prstGeom prst="rect">
            <a:avLst/>
          </a:prstGeom>
          <a:solidFill>
            <a:srgbClr val="E6EAEE"/>
          </a:solidFill>
          <a:ln/>
        </p:spPr>
      </p:sp>
      <p:sp>
        <p:nvSpPr>
          <p:cNvPr id="47" name="Shape 44"/>
          <p:cNvSpPr/>
          <p:nvPr/>
        </p:nvSpPr>
        <p:spPr>
          <a:xfrm>
            <a:off x="7498080" y="2240280"/>
            <a:ext cx="155448" cy="384048"/>
          </a:xfrm>
          <a:prstGeom prst="rect">
            <a:avLst/>
          </a:prstGeom>
          <a:solidFill>
            <a:srgbClr val="E6EAEE"/>
          </a:solidFill>
          <a:ln/>
        </p:spPr>
      </p:sp>
      <p:sp>
        <p:nvSpPr>
          <p:cNvPr id="48" name="Shape 45"/>
          <p:cNvSpPr/>
          <p:nvPr/>
        </p:nvSpPr>
        <p:spPr>
          <a:xfrm>
            <a:off x="7680960" y="2240280"/>
            <a:ext cx="155448" cy="384048"/>
          </a:xfrm>
          <a:prstGeom prst="rect">
            <a:avLst/>
          </a:prstGeom>
          <a:solidFill>
            <a:srgbClr val="E6EAEE"/>
          </a:solidFill>
          <a:ln/>
        </p:spPr>
      </p:sp>
      <p:sp>
        <p:nvSpPr>
          <p:cNvPr id="49" name="Text 46"/>
          <p:cNvSpPr txBox="1"/>
          <p:nvPr/>
        </p:nvSpPr>
        <p:spPr>
          <a:xfrm>
            <a:off x="6446520" y="1929384"/>
            <a:ext cx="822960" cy="274320"/>
          </a:xfrm>
          <a:prstGeom prst="rect">
            <a:avLst/>
          </a:prstGeom>
          <a:noFill/>
          <a:ln/>
        </p:spPr>
        <p:txBody>
          <a:bodyPr wrap="square" lIns="0" tIns="0" rIns="0" bIns="0" rtlCol="0" anchor="t"/>
          <a:lstStyle/>
          <a:p>
            <a:pPr algn="ctr" indent="0" marL="0">
              <a:buNone/>
            </a:pPr>
            <a:r>
              <a:rPr lang="en-US" sz="1200" b="1" dirty="0">
                <a:solidFill>
                  <a:srgbClr val="C8701E"/>
                </a:solidFill>
                <a:latin typeface="Arial" pitchFamily="34" charset="0"/>
                <a:ea typeface="Arial" pitchFamily="34" charset="-122"/>
                <a:cs typeface="Arial" pitchFamily="34" charset="-120"/>
              </a:rPr>
              <a:t>t = 170</a:t>
            </a:r>
            <a:endParaRPr lang="en-US" sz="1200" dirty="0"/>
          </a:p>
        </p:txBody>
      </p:sp>
      <p:sp>
        <p:nvSpPr>
          <p:cNvPr id="50" name="Text 47"/>
          <p:cNvSpPr txBox="1"/>
          <p:nvPr/>
        </p:nvSpPr>
        <p:spPr>
          <a:xfrm>
            <a:off x="1463040" y="2697480"/>
            <a:ext cx="5486400" cy="274320"/>
          </a:xfrm>
          <a:prstGeom prst="rect">
            <a:avLst/>
          </a:prstGeom>
          <a:noFill/>
          <a:ln/>
        </p:spPr>
        <p:txBody>
          <a:bodyPr wrap="square" lIns="0" tIns="0" rIns="0" bIns="0" rtlCol="0" anchor="t"/>
          <a:lstStyle/>
          <a:p>
            <a:pPr algn="ctr" indent="0" marL="0">
              <a:buNone/>
            </a:pPr>
            <a:r>
              <a:rPr lang="en-US" sz="1250" b="1" dirty="0">
                <a:solidFill>
                  <a:srgbClr val="157A7F"/>
                </a:solidFill>
                <a:latin typeface="Arial" pitchFamily="34" charset="0"/>
                <a:ea typeface="Arial" pitchFamily="34" charset="-122"/>
                <a:cs typeface="Arial" pitchFamily="34" charset="-120"/>
              </a:rPr>
              <a:t>window: cycles 141–170</a:t>
            </a:r>
            <a:endParaRPr lang="en-US" sz="1250" dirty="0"/>
          </a:p>
        </p:txBody>
      </p:sp>
      <p:sp>
        <p:nvSpPr>
          <p:cNvPr id="51" name="Text 48"/>
          <p:cNvSpPr txBox="1"/>
          <p:nvPr/>
        </p:nvSpPr>
        <p:spPr>
          <a:xfrm>
            <a:off x="6400800" y="2697480"/>
            <a:ext cx="1463040" cy="274320"/>
          </a:xfrm>
          <a:prstGeom prst="rect">
            <a:avLst/>
          </a:prstGeom>
          <a:noFill/>
          <a:ln/>
        </p:spPr>
        <p:txBody>
          <a:bodyPr wrap="square" lIns="0" tIns="0" rIns="0" bIns="0" rtlCol="0" anchor="t"/>
          <a:lstStyle/>
          <a:p>
            <a:pPr algn="r" indent="0" marL="0">
              <a:buNone/>
            </a:pPr>
            <a:r>
              <a:rPr lang="en-US" sz="1150" dirty="0">
                <a:solidFill>
                  <a:srgbClr val="5A6B7B"/>
                </a:solidFill>
                <a:latin typeface="Arial" pitchFamily="34" charset="0"/>
                <a:ea typeface="Arial" pitchFamily="34" charset="-122"/>
                <a:cs typeface="Arial" pitchFamily="34" charset="-120"/>
              </a:rPr>
              <a:t>171+: không dùng</a:t>
            </a:r>
            <a:endParaRPr lang="en-US" sz="1150" dirty="0"/>
          </a:p>
        </p:txBody>
      </p:sp>
      <p:sp>
        <p:nvSpPr>
          <p:cNvPr id="52" name="Text 49"/>
          <p:cNvSpPr txBox="1"/>
          <p:nvPr/>
        </p:nvSpPr>
        <p:spPr>
          <a:xfrm>
            <a:off x="548640" y="3291840"/>
            <a:ext cx="7315200" cy="365760"/>
          </a:xfrm>
          <a:prstGeom prst="rect">
            <a:avLst/>
          </a:prstGeom>
          <a:noFill/>
          <a:ln/>
        </p:spPr>
        <p:txBody>
          <a:bodyPr wrap="square" lIns="0" tIns="0" rIns="0" bIns="0" rtlCol="0" anchor="t"/>
          <a:lstStyle/>
          <a:p>
            <a:pPr indent="0" marL="0">
              <a:buNone/>
            </a:pPr>
            <a:r>
              <a:rPr lang="en-US" sz="1800" b="1" dirty="0">
                <a:solidFill>
                  <a:srgbClr val="0B2239"/>
                </a:solidFill>
                <a:latin typeface="Arial" pitchFamily="34" charset="0"/>
                <a:ea typeface="Arial" pitchFamily="34" charset="-122"/>
                <a:cs typeface="Arial" pitchFamily="34" charset="-120"/>
              </a:rPr>
              <a:t>21 sensor × 6 thống kê = 126 cột</a:t>
            </a:r>
            <a:endParaRPr lang="en-US" sz="1800" dirty="0"/>
          </a:p>
        </p:txBody>
      </p:sp>
      <p:sp>
        <p:nvSpPr>
          <p:cNvPr id="53" name="Shape 50"/>
          <p:cNvSpPr/>
          <p:nvPr/>
        </p:nvSpPr>
        <p:spPr>
          <a:xfrm>
            <a:off x="548640" y="3794760"/>
            <a:ext cx="2286000" cy="731520"/>
          </a:xfrm>
          <a:prstGeom prst="roundRect">
            <a:avLst>
              <a:gd name="adj" fmla="val 10000"/>
            </a:avLst>
          </a:prstGeom>
          <a:solidFill>
            <a:srgbClr val="EEF3F6"/>
          </a:solidFill>
          <a:ln/>
        </p:spPr>
      </p:sp>
      <p:sp>
        <p:nvSpPr>
          <p:cNvPr id="54" name="Text 51"/>
          <p:cNvSpPr txBox="1"/>
          <p:nvPr/>
        </p:nvSpPr>
        <p:spPr>
          <a:xfrm>
            <a:off x="68580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last</a:t>
            </a:r>
            <a:endParaRPr lang="en-US" sz="1500" dirty="0"/>
          </a:p>
        </p:txBody>
      </p:sp>
      <p:sp>
        <p:nvSpPr>
          <p:cNvPr id="55" name="Text 52"/>
          <p:cNvSpPr txBox="1"/>
          <p:nvPr/>
        </p:nvSpPr>
        <p:spPr>
          <a:xfrm>
            <a:off x="68580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trạng thái hiện tại</a:t>
            </a:r>
            <a:endParaRPr lang="en-US" sz="1200" dirty="0"/>
          </a:p>
        </p:txBody>
      </p:sp>
      <p:sp>
        <p:nvSpPr>
          <p:cNvPr id="56" name="Shape 53"/>
          <p:cNvSpPr/>
          <p:nvPr/>
        </p:nvSpPr>
        <p:spPr>
          <a:xfrm>
            <a:off x="2971800" y="3794760"/>
            <a:ext cx="2286000" cy="731520"/>
          </a:xfrm>
          <a:prstGeom prst="roundRect">
            <a:avLst>
              <a:gd name="adj" fmla="val 10000"/>
            </a:avLst>
          </a:prstGeom>
          <a:solidFill>
            <a:srgbClr val="EEF3F6"/>
          </a:solidFill>
          <a:ln/>
        </p:spPr>
      </p:sp>
      <p:sp>
        <p:nvSpPr>
          <p:cNvPr id="57" name="Text 54"/>
          <p:cNvSpPr txBox="1"/>
          <p:nvPr/>
        </p:nvSpPr>
        <p:spPr>
          <a:xfrm>
            <a:off x="310896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mean</a:t>
            </a:r>
            <a:endParaRPr lang="en-US" sz="1500" dirty="0"/>
          </a:p>
        </p:txBody>
      </p:sp>
      <p:sp>
        <p:nvSpPr>
          <p:cNvPr id="58" name="Text 55"/>
          <p:cNvSpPr txBox="1"/>
          <p:nvPr/>
        </p:nvSpPr>
        <p:spPr>
          <a:xfrm>
            <a:off x="310896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mức trung bình</a:t>
            </a:r>
            <a:endParaRPr lang="en-US" sz="1200" dirty="0"/>
          </a:p>
        </p:txBody>
      </p:sp>
      <p:sp>
        <p:nvSpPr>
          <p:cNvPr id="59" name="Shape 56"/>
          <p:cNvSpPr/>
          <p:nvPr/>
        </p:nvSpPr>
        <p:spPr>
          <a:xfrm>
            <a:off x="5394960" y="3794760"/>
            <a:ext cx="2286000" cy="731520"/>
          </a:xfrm>
          <a:prstGeom prst="roundRect">
            <a:avLst>
              <a:gd name="adj" fmla="val 10000"/>
            </a:avLst>
          </a:prstGeom>
          <a:solidFill>
            <a:srgbClr val="EEF3F6"/>
          </a:solidFill>
          <a:ln/>
        </p:spPr>
      </p:sp>
      <p:sp>
        <p:nvSpPr>
          <p:cNvPr id="60" name="Text 57"/>
          <p:cNvSpPr txBox="1"/>
          <p:nvPr/>
        </p:nvSpPr>
        <p:spPr>
          <a:xfrm>
            <a:off x="5532120" y="386791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std</a:t>
            </a:r>
            <a:endParaRPr lang="en-US" sz="1500" dirty="0"/>
          </a:p>
        </p:txBody>
      </p:sp>
      <p:sp>
        <p:nvSpPr>
          <p:cNvPr id="61" name="Text 58"/>
          <p:cNvSpPr txBox="1"/>
          <p:nvPr/>
        </p:nvSpPr>
        <p:spPr>
          <a:xfrm>
            <a:off x="5532120" y="418795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độ dao động</a:t>
            </a:r>
            <a:endParaRPr lang="en-US" sz="1200" dirty="0"/>
          </a:p>
        </p:txBody>
      </p:sp>
      <p:sp>
        <p:nvSpPr>
          <p:cNvPr id="62" name="Shape 59"/>
          <p:cNvSpPr/>
          <p:nvPr/>
        </p:nvSpPr>
        <p:spPr>
          <a:xfrm>
            <a:off x="548640" y="4663440"/>
            <a:ext cx="2286000" cy="731520"/>
          </a:xfrm>
          <a:prstGeom prst="roundRect">
            <a:avLst>
              <a:gd name="adj" fmla="val 10000"/>
            </a:avLst>
          </a:prstGeom>
          <a:solidFill>
            <a:srgbClr val="EEF3F6"/>
          </a:solidFill>
          <a:ln/>
        </p:spPr>
      </p:sp>
      <p:sp>
        <p:nvSpPr>
          <p:cNvPr id="63" name="Text 60"/>
          <p:cNvSpPr txBox="1"/>
          <p:nvPr/>
        </p:nvSpPr>
        <p:spPr>
          <a:xfrm>
            <a:off x="68580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min</a:t>
            </a:r>
            <a:endParaRPr lang="en-US" sz="1500" dirty="0"/>
          </a:p>
        </p:txBody>
      </p:sp>
      <p:sp>
        <p:nvSpPr>
          <p:cNvPr id="64" name="Text 61"/>
          <p:cNvSpPr txBox="1"/>
          <p:nvPr/>
        </p:nvSpPr>
        <p:spPr>
          <a:xfrm>
            <a:off x="68580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cận dưới</a:t>
            </a:r>
            <a:endParaRPr lang="en-US" sz="1200" dirty="0"/>
          </a:p>
        </p:txBody>
      </p:sp>
      <p:sp>
        <p:nvSpPr>
          <p:cNvPr id="65" name="Shape 62"/>
          <p:cNvSpPr/>
          <p:nvPr/>
        </p:nvSpPr>
        <p:spPr>
          <a:xfrm>
            <a:off x="2971800" y="4663440"/>
            <a:ext cx="2286000" cy="731520"/>
          </a:xfrm>
          <a:prstGeom prst="roundRect">
            <a:avLst>
              <a:gd name="adj" fmla="val 10000"/>
            </a:avLst>
          </a:prstGeom>
          <a:solidFill>
            <a:srgbClr val="EEF3F6"/>
          </a:solidFill>
          <a:ln/>
        </p:spPr>
      </p:sp>
      <p:sp>
        <p:nvSpPr>
          <p:cNvPr id="66" name="Text 63"/>
          <p:cNvSpPr txBox="1"/>
          <p:nvPr/>
        </p:nvSpPr>
        <p:spPr>
          <a:xfrm>
            <a:off x="310896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max</a:t>
            </a:r>
            <a:endParaRPr lang="en-US" sz="1500" dirty="0"/>
          </a:p>
        </p:txBody>
      </p:sp>
      <p:sp>
        <p:nvSpPr>
          <p:cNvPr id="67" name="Text 64"/>
          <p:cNvSpPr txBox="1"/>
          <p:nvPr/>
        </p:nvSpPr>
        <p:spPr>
          <a:xfrm>
            <a:off x="310896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cận trên</a:t>
            </a:r>
            <a:endParaRPr lang="en-US" sz="1200" dirty="0"/>
          </a:p>
        </p:txBody>
      </p:sp>
      <p:sp>
        <p:nvSpPr>
          <p:cNvPr id="68" name="Shape 65"/>
          <p:cNvSpPr/>
          <p:nvPr/>
        </p:nvSpPr>
        <p:spPr>
          <a:xfrm>
            <a:off x="5394960" y="4663440"/>
            <a:ext cx="2286000" cy="731520"/>
          </a:xfrm>
          <a:prstGeom prst="roundRect">
            <a:avLst>
              <a:gd name="adj" fmla="val 10000"/>
            </a:avLst>
          </a:prstGeom>
          <a:solidFill>
            <a:srgbClr val="EEF3F6"/>
          </a:solidFill>
          <a:ln/>
        </p:spPr>
      </p:sp>
      <p:sp>
        <p:nvSpPr>
          <p:cNvPr id="69" name="Text 66"/>
          <p:cNvSpPr txBox="1"/>
          <p:nvPr/>
        </p:nvSpPr>
        <p:spPr>
          <a:xfrm>
            <a:off x="5532120" y="4736592"/>
            <a:ext cx="2011680" cy="310896"/>
          </a:xfrm>
          <a:prstGeom prst="rect">
            <a:avLst/>
          </a:prstGeom>
          <a:noFill/>
          <a:ln/>
        </p:spPr>
        <p:txBody>
          <a:bodyPr wrap="square" lIns="0" tIns="0" rIns="0" bIns="0" rtlCol="0" anchor="t"/>
          <a:lstStyle/>
          <a:p>
            <a:pPr indent="0" marL="0">
              <a:buNone/>
            </a:pPr>
            <a:r>
              <a:rPr lang="en-US" sz="1500" b="1" dirty="0">
                <a:solidFill>
                  <a:srgbClr val="157A7F"/>
                </a:solidFill>
                <a:latin typeface="Arial" pitchFamily="34" charset="0"/>
                <a:ea typeface="Arial" pitchFamily="34" charset="-122"/>
                <a:cs typeface="Arial" pitchFamily="34" charset="-120"/>
              </a:rPr>
              <a:t>slope</a:t>
            </a:r>
            <a:endParaRPr lang="en-US" sz="1500" dirty="0"/>
          </a:p>
        </p:txBody>
      </p:sp>
      <p:sp>
        <p:nvSpPr>
          <p:cNvPr id="70" name="Text 67"/>
          <p:cNvSpPr txBox="1"/>
          <p:nvPr/>
        </p:nvSpPr>
        <p:spPr>
          <a:xfrm>
            <a:off x="5532120" y="5056632"/>
            <a:ext cx="2011680" cy="274320"/>
          </a:xfrm>
          <a:prstGeom prst="rect">
            <a:avLst/>
          </a:prstGeom>
          <a:noFill/>
          <a:ln/>
        </p:spPr>
        <p:txBody>
          <a:bodyPr wrap="square" lIns="0" tIns="0" rIns="0" bIns="0" rtlCol="0" anchor="t"/>
          <a:lstStyle/>
          <a:p>
            <a:pPr indent="0" marL="0">
              <a:buNone/>
            </a:pPr>
            <a:r>
              <a:rPr lang="en-US" sz="1200" dirty="0">
                <a:solidFill>
                  <a:srgbClr val="1B2733"/>
                </a:solidFill>
                <a:latin typeface="Arial" pitchFamily="34" charset="0"/>
                <a:ea typeface="Arial" pitchFamily="34" charset="-122"/>
                <a:cs typeface="Arial" pitchFamily="34" charset="-120"/>
              </a:rPr>
              <a:t>xu hướng tăng/giảm</a:t>
            </a:r>
            <a:endParaRPr lang="en-US" sz="1200" dirty="0"/>
          </a:p>
        </p:txBody>
      </p:sp>
      <p:sp>
        <p:nvSpPr>
          <p:cNvPr id="71" name="Text 68"/>
          <p:cNvSpPr txBox="1"/>
          <p:nvPr/>
        </p:nvSpPr>
        <p:spPr>
          <a:xfrm>
            <a:off x="548640" y="5669280"/>
            <a:ext cx="7315200" cy="457200"/>
          </a:xfrm>
          <a:prstGeom prst="rect">
            <a:avLst/>
          </a:prstGeom>
          <a:noFill/>
          <a:ln/>
        </p:spPr>
        <p:txBody>
          <a:bodyPr wrap="square" lIns="0" tIns="0" rIns="0" bIns="0" rtlCol="0" anchor="t"/>
          <a:lstStyle/>
          <a:p>
            <a:pPr indent="0" marL="0">
              <a:buNone/>
            </a:pPr>
            <a:r>
              <a:rPr lang="en-US" sz="1250" dirty="0">
                <a:solidFill>
                  <a:srgbClr val="5A6B7B"/>
                </a:solidFill>
                <a:latin typeface="Arial" pitchFamily="34" charset="0"/>
                <a:ea typeface="Arial" pitchFamily="34" charset="-122"/>
                <a:cs typeface="Arial" pitchFamily="34" charset="-120"/>
              </a:rPr>
              <a:t>17.731 train windows · 10.196 test windows · 29 cycle đầu mỗi engine chưa đủ window, không padding</a:t>
            </a:r>
            <a:endParaRPr lang="en-US" sz="1250" dirty="0"/>
          </a:p>
        </p:txBody>
      </p:sp>
      <p:sp>
        <p:nvSpPr>
          <p:cNvPr id="72" name="Shape 69"/>
          <p:cNvSpPr/>
          <p:nvPr/>
        </p:nvSpPr>
        <p:spPr>
          <a:xfrm>
            <a:off x="8138160" y="1920240"/>
            <a:ext cx="3502152" cy="4251960"/>
          </a:xfrm>
          <a:prstGeom prst="roundRect">
            <a:avLst>
              <a:gd name="adj" fmla="val 2089"/>
            </a:avLst>
          </a:prstGeom>
          <a:solidFill>
            <a:srgbClr val="0B2239"/>
          </a:solidFill>
          <a:ln/>
        </p:spPr>
      </p:sp>
      <p:sp>
        <p:nvSpPr>
          <p:cNvPr id="73" name="Text 70"/>
          <p:cNvSpPr txBox="1"/>
          <p:nvPr/>
        </p:nvSpPr>
        <p:spPr>
          <a:xfrm>
            <a:off x="8366760" y="2103120"/>
            <a:ext cx="3108960"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Nhiễu và chuẩn hóa</a:t>
            </a:r>
            <a:endParaRPr lang="en-US" sz="1600" dirty="0"/>
          </a:p>
        </p:txBody>
      </p:sp>
      <p:sp>
        <p:nvSpPr>
          <p:cNvPr id="74" name="Text 71"/>
          <p:cNvSpPr txBox="1"/>
          <p:nvPr/>
        </p:nvSpPr>
        <p:spPr>
          <a:xfrm>
            <a:off x="8366760" y="2560320"/>
            <a:ext cx="31089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Thống kê trên 30 cycle tóm tắt dao động từng cycle; chưa dùng bộ lọc tín hiệu riêng.</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ETL chuẩn hóa schema và kiểu dữ liệu.</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StandardScaler fit trong training fold (Ridge) và trên 90 engine (Health Index).</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HGB dùng thang đo gốc.</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338328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3 · PHÂN TÍCH CHUỖI THỜI GIAN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Health Index gom 21 sensor thành một đường suy giảm</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PCA fit trên 90 train engines; ARIMA dự báo 30% cuối chuỗi của 10 engine giữ riêng</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outputs/timeseries/figures/health_index_selected_engines.png; tables/forecast_metrics.csv; tables/baseline_metrics.csv</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11 / 20</a:t>
            </a:r>
            <a:endParaRPr lang="en-US" sz="1000" dirty="0"/>
          </a:p>
        </p:txBody>
      </p:sp>
      <p:pic>
        <p:nvPicPr>
          <p:cNvPr id="9" name="Image 0" descr="Health Index của 10 validation engines">    </p:cNvPr>
          <p:cNvPicPr>
            <a:picLocks noChangeAspect="1"/>
          </p:cNvPicPr>
          <p:nvPr/>
        </p:nvPicPr>
        <p:blipFill>
          <a:blip r:embed="rId1"/>
          <a:stretch>
            <a:fillRect/>
          </a:stretch>
        </p:blipFill>
        <p:spPr>
          <a:xfrm>
            <a:off x="548640" y="1874520"/>
            <a:ext cx="6766560" cy="3690851"/>
          </a:xfrm>
          <a:prstGeom prst="rect">
            <a:avLst/>
          </a:prstGeom>
        </p:spPr>
      </p:pic>
      <p:graphicFrame>
        <p:nvGraphicFramePr>
          <p:cNvPr id="10" name="Chart 0" descr=""/>
          <p:cNvGraphicFramePr/>
          <p:nvPr/>
        </p:nvGraphicFramePr>
        <p:xfrm>
          <a:off x="7589520" y="1874520"/>
          <a:ext cx="4050792" cy="274320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7589520" y="4800600"/>
            <a:ext cx="4050792" cy="1097280"/>
          </a:xfrm>
          <a:prstGeom prst="roundRect">
            <a:avLst>
              <a:gd name="adj" fmla="val 6667"/>
            </a:avLst>
          </a:prstGeom>
          <a:solidFill>
            <a:srgbClr val="FBEBD9"/>
          </a:solidFill>
          <a:ln/>
        </p:spPr>
      </p:sp>
      <p:sp>
        <p:nvSpPr>
          <p:cNvPr id="12" name="Text 7"/>
          <p:cNvSpPr txBox="1"/>
          <p:nvPr/>
        </p:nvSpPr>
        <p:spPr>
          <a:xfrm>
            <a:off x="7772400" y="4873752"/>
            <a:ext cx="3703320" cy="96012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Coverage khoảng dự đoán 95%: 21,43%–97,03% giữa các engine. Health Index không phải RUL; đây là phân tích phụ.</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Đánh giá theo engine để tránh data leakage</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5-fold GroupKFold: mọi window của một engine nằm cùng một phía của phép chia</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outputs/modeling/tables/evaluation_protocol.csv; outputs/modeling/run_info.json; report/sections/methodology.tex</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12 / 20</a:t>
            </a:r>
            <a:endParaRPr lang="en-US" sz="1000" dirty="0"/>
          </a:p>
        </p:txBody>
      </p:sp>
      <p:sp>
        <p:nvSpPr>
          <p:cNvPr id="9" name="Text 6"/>
          <p:cNvSpPr txBox="1"/>
          <p:nvPr/>
        </p:nvSpPr>
        <p:spPr>
          <a:xfrm>
            <a:off x="548640" y="2148840"/>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1</a:t>
            </a:r>
            <a:endParaRPr lang="en-US" sz="1300" dirty="0"/>
          </a:p>
        </p:txBody>
      </p:sp>
      <p:sp>
        <p:nvSpPr>
          <p:cNvPr id="10" name="Shape 7"/>
          <p:cNvSpPr/>
          <p:nvPr/>
        </p:nvSpPr>
        <p:spPr>
          <a:xfrm>
            <a:off x="1417320" y="2148840"/>
            <a:ext cx="960120" cy="457200"/>
          </a:xfrm>
          <a:prstGeom prst="roundRect">
            <a:avLst>
              <a:gd name="adj" fmla="val 16000"/>
            </a:avLst>
          </a:prstGeom>
          <a:solidFill>
            <a:srgbClr val="C8701E"/>
          </a:solidFill>
          <a:ln/>
        </p:spPr>
      </p:sp>
      <p:sp>
        <p:nvSpPr>
          <p:cNvPr id="11" name="Text 8"/>
          <p:cNvSpPr txBox="1"/>
          <p:nvPr/>
        </p:nvSpPr>
        <p:spPr>
          <a:xfrm>
            <a:off x="1417320" y="2148840"/>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12" name="Shape 9"/>
          <p:cNvSpPr/>
          <p:nvPr/>
        </p:nvSpPr>
        <p:spPr>
          <a:xfrm>
            <a:off x="2441448" y="2148840"/>
            <a:ext cx="960120" cy="457200"/>
          </a:xfrm>
          <a:prstGeom prst="roundRect">
            <a:avLst>
              <a:gd name="adj" fmla="val 16000"/>
            </a:avLst>
          </a:prstGeom>
          <a:solidFill>
            <a:srgbClr val="DCEFEF"/>
          </a:solidFill>
          <a:ln/>
        </p:spPr>
      </p:sp>
      <p:sp>
        <p:nvSpPr>
          <p:cNvPr id="13" name="Shape 10"/>
          <p:cNvSpPr/>
          <p:nvPr/>
        </p:nvSpPr>
        <p:spPr>
          <a:xfrm>
            <a:off x="3465576" y="2148840"/>
            <a:ext cx="960120" cy="457200"/>
          </a:xfrm>
          <a:prstGeom prst="roundRect">
            <a:avLst>
              <a:gd name="adj" fmla="val 16000"/>
            </a:avLst>
          </a:prstGeom>
          <a:solidFill>
            <a:srgbClr val="DCEFEF"/>
          </a:solidFill>
          <a:ln/>
        </p:spPr>
      </p:sp>
      <p:sp>
        <p:nvSpPr>
          <p:cNvPr id="14" name="Shape 11"/>
          <p:cNvSpPr/>
          <p:nvPr/>
        </p:nvSpPr>
        <p:spPr>
          <a:xfrm>
            <a:off x="4489704" y="2148840"/>
            <a:ext cx="960120" cy="457200"/>
          </a:xfrm>
          <a:prstGeom prst="roundRect">
            <a:avLst>
              <a:gd name="adj" fmla="val 16000"/>
            </a:avLst>
          </a:prstGeom>
          <a:solidFill>
            <a:srgbClr val="DCEFEF"/>
          </a:solidFill>
          <a:ln/>
        </p:spPr>
      </p:sp>
      <p:sp>
        <p:nvSpPr>
          <p:cNvPr id="15" name="Shape 12"/>
          <p:cNvSpPr/>
          <p:nvPr/>
        </p:nvSpPr>
        <p:spPr>
          <a:xfrm>
            <a:off x="5513832" y="2148840"/>
            <a:ext cx="960120" cy="457200"/>
          </a:xfrm>
          <a:prstGeom prst="roundRect">
            <a:avLst>
              <a:gd name="adj" fmla="val 16000"/>
            </a:avLst>
          </a:prstGeom>
          <a:solidFill>
            <a:srgbClr val="DCEFEF"/>
          </a:solidFill>
          <a:ln/>
        </p:spPr>
      </p:sp>
      <p:sp>
        <p:nvSpPr>
          <p:cNvPr id="16" name="Text 13"/>
          <p:cNvSpPr txBox="1"/>
          <p:nvPr/>
        </p:nvSpPr>
        <p:spPr>
          <a:xfrm>
            <a:off x="548640" y="2807208"/>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2</a:t>
            </a:r>
            <a:endParaRPr lang="en-US" sz="1300" dirty="0"/>
          </a:p>
        </p:txBody>
      </p:sp>
      <p:sp>
        <p:nvSpPr>
          <p:cNvPr id="17" name="Shape 14"/>
          <p:cNvSpPr/>
          <p:nvPr/>
        </p:nvSpPr>
        <p:spPr>
          <a:xfrm>
            <a:off x="1417320" y="2807208"/>
            <a:ext cx="960120" cy="457200"/>
          </a:xfrm>
          <a:prstGeom prst="roundRect">
            <a:avLst>
              <a:gd name="adj" fmla="val 16000"/>
            </a:avLst>
          </a:prstGeom>
          <a:solidFill>
            <a:srgbClr val="DCEFEF"/>
          </a:solidFill>
          <a:ln/>
        </p:spPr>
      </p:sp>
      <p:sp>
        <p:nvSpPr>
          <p:cNvPr id="18" name="Shape 15"/>
          <p:cNvSpPr/>
          <p:nvPr/>
        </p:nvSpPr>
        <p:spPr>
          <a:xfrm>
            <a:off x="2441448" y="2807208"/>
            <a:ext cx="960120" cy="457200"/>
          </a:xfrm>
          <a:prstGeom prst="roundRect">
            <a:avLst>
              <a:gd name="adj" fmla="val 16000"/>
            </a:avLst>
          </a:prstGeom>
          <a:solidFill>
            <a:srgbClr val="C8701E"/>
          </a:solidFill>
          <a:ln/>
        </p:spPr>
      </p:sp>
      <p:sp>
        <p:nvSpPr>
          <p:cNvPr id="19" name="Text 16"/>
          <p:cNvSpPr txBox="1"/>
          <p:nvPr/>
        </p:nvSpPr>
        <p:spPr>
          <a:xfrm>
            <a:off x="2441448" y="2807208"/>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20" name="Shape 17"/>
          <p:cNvSpPr/>
          <p:nvPr/>
        </p:nvSpPr>
        <p:spPr>
          <a:xfrm>
            <a:off x="3465576" y="2807208"/>
            <a:ext cx="960120" cy="457200"/>
          </a:xfrm>
          <a:prstGeom prst="roundRect">
            <a:avLst>
              <a:gd name="adj" fmla="val 16000"/>
            </a:avLst>
          </a:prstGeom>
          <a:solidFill>
            <a:srgbClr val="DCEFEF"/>
          </a:solidFill>
          <a:ln/>
        </p:spPr>
      </p:sp>
      <p:sp>
        <p:nvSpPr>
          <p:cNvPr id="21" name="Shape 18"/>
          <p:cNvSpPr/>
          <p:nvPr/>
        </p:nvSpPr>
        <p:spPr>
          <a:xfrm>
            <a:off x="4489704" y="2807208"/>
            <a:ext cx="960120" cy="457200"/>
          </a:xfrm>
          <a:prstGeom prst="roundRect">
            <a:avLst>
              <a:gd name="adj" fmla="val 16000"/>
            </a:avLst>
          </a:prstGeom>
          <a:solidFill>
            <a:srgbClr val="DCEFEF"/>
          </a:solidFill>
          <a:ln/>
        </p:spPr>
      </p:sp>
      <p:sp>
        <p:nvSpPr>
          <p:cNvPr id="22" name="Shape 19"/>
          <p:cNvSpPr/>
          <p:nvPr/>
        </p:nvSpPr>
        <p:spPr>
          <a:xfrm>
            <a:off x="5513832" y="2807208"/>
            <a:ext cx="960120" cy="457200"/>
          </a:xfrm>
          <a:prstGeom prst="roundRect">
            <a:avLst>
              <a:gd name="adj" fmla="val 16000"/>
            </a:avLst>
          </a:prstGeom>
          <a:solidFill>
            <a:srgbClr val="DCEFEF"/>
          </a:solidFill>
          <a:ln/>
        </p:spPr>
      </p:sp>
      <p:sp>
        <p:nvSpPr>
          <p:cNvPr id="23" name="Text 20"/>
          <p:cNvSpPr txBox="1"/>
          <p:nvPr/>
        </p:nvSpPr>
        <p:spPr>
          <a:xfrm>
            <a:off x="548640" y="3465576"/>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3</a:t>
            </a:r>
            <a:endParaRPr lang="en-US" sz="1300" dirty="0"/>
          </a:p>
        </p:txBody>
      </p:sp>
      <p:sp>
        <p:nvSpPr>
          <p:cNvPr id="24" name="Shape 21"/>
          <p:cNvSpPr/>
          <p:nvPr/>
        </p:nvSpPr>
        <p:spPr>
          <a:xfrm>
            <a:off x="1417320" y="3465576"/>
            <a:ext cx="960120" cy="457200"/>
          </a:xfrm>
          <a:prstGeom prst="roundRect">
            <a:avLst>
              <a:gd name="adj" fmla="val 16000"/>
            </a:avLst>
          </a:prstGeom>
          <a:solidFill>
            <a:srgbClr val="DCEFEF"/>
          </a:solidFill>
          <a:ln/>
        </p:spPr>
      </p:sp>
      <p:sp>
        <p:nvSpPr>
          <p:cNvPr id="25" name="Shape 22"/>
          <p:cNvSpPr/>
          <p:nvPr/>
        </p:nvSpPr>
        <p:spPr>
          <a:xfrm>
            <a:off x="2441448" y="3465576"/>
            <a:ext cx="960120" cy="457200"/>
          </a:xfrm>
          <a:prstGeom prst="roundRect">
            <a:avLst>
              <a:gd name="adj" fmla="val 16000"/>
            </a:avLst>
          </a:prstGeom>
          <a:solidFill>
            <a:srgbClr val="DCEFEF"/>
          </a:solidFill>
          <a:ln/>
        </p:spPr>
      </p:sp>
      <p:sp>
        <p:nvSpPr>
          <p:cNvPr id="26" name="Shape 23"/>
          <p:cNvSpPr/>
          <p:nvPr/>
        </p:nvSpPr>
        <p:spPr>
          <a:xfrm>
            <a:off x="3465576" y="3465576"/>
            <a:ext cx="960120" cy="457200"/>
          </a:xfrm>
          <a:prstGeom prst="roundRect">
            <a:avLst>
              <a:gd name="adj" fmla="val 16000"/>
            </a:avLst>
          </a:prstGeom>
          <a:solidFill>
            <a:srgbClr val="C8701E"/>
          </a:solidFill>
          <a:ln/>
        </p:spPr>
      </p:sp>
      <p:sp>
        <p:nvSpPr>
          <p:cNvPr id="27" name="Text 24"/>
          <p:cNvSpPr txBox="1"/>
          <p:nvPr/>
        </p:nvSpPr>
        <p:spPr>
          <a:xfrm>
            <a:off x="3465576" y="3465576"/>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28" name="Shape 25"/>
          <p:cNvSpPr/>
          <p:nvPr/>
        </p:nvSpPr>
        <p:spPr>
          <a:xfrm>
            <a:off x="4489704" y="3465576"/>
            <a:ext cx="960120" cy="457200"/>
          </a:xfrm>
          <a:prstGeom prst="roundRect">
            <a:avLst>
              <a:gd name="adj" fmla="val 16000"/>
            </a:avLst>
          </a:prstGeom>
          <a:solidFill>
            <a:srgbClr val="DCEFEF"/>
          </a:solidFill>
          <a:ln/>
        </p:spPr>
      </p:sp>
      <p:sp>
        <p:nvSpPr>
          <p:cNvPr id="29" name="Shape 26"/>
          <p:cNvSpPr/>
          <p:nvPr/>
        </p:nvSpPr>
        <p:spPr>
          <a:xfrm>
            <a:off x="5513832" y="3465576"/>
            <a:ext cx="960120" cy="457200"/>
          </a:xfrm>
          <a:prstGeom prst="roundRect">
            <a:avLst>
              <a:gd name="adj" fmla="val 16000"/>
            </a:avLst>
          </a:prstGeom>
          <a:solidFill>
            <a:srgbClr val="DCEFEF"/>
          </a:solidFill>
          <a:ln/>
        </p:spPr>
      </p:sp>
      <p:sp>
        <p:nvSpPr>
          <p:cNvPr id="30" name="Text 27"/>
          <p:cNvSpPr txBox="1"/>
          <p:nvPr/>
        </p:nvSpPr>
        <p:spPr>
          <a:xfrm>
            <a:off x="548640" y="4123944"/>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4</a:t>
            </a:r>
            <a:endParaRPr lang="en-US" sz="1300" dirty="0"/>
          </a:p>
        </p:txBody>
      </p:sp>
      <p:sp>
        <p:nvSpPr>
          <p:cNvPr id="31" name="Shape 28"/>
          <p:cNvSpPr/>
          <p:nvPr/>
        </p:nvSpPr>
        <p:spPr>
          <a:xfrm>
            <a:off x="1417320" y="4123944"/>
            <a:ext cx="960120" cy="457200"/>
          </a:xfrm>
          <a:prstGeom prst="roundRect">
            <a:avLst>
              <a:gd name="adj" fmla="val 16000"/>
            </a:avLst>
          </a:prstGeom>
          <a:solidFill>
            <a:srgbClr val="DCEFEF"/>
          </a:solidFill>
          <a:ln/>
        </p:spPr>
      </p:sp>
      <p:sp>
        <p:nvSpPr>
          <p:cNvPr id="32" name="Shape 29"/>
          <p:cNvSpPr/>
          <p:nvPr/>
        </p:nvSpPr>
        <p:spPr>
          <a:xfrm>
            <a:off x="2441448" y="4123944"/>
            <a:ext cx="960120" cy="457200"/>
          </a:xfrm>
          <a:prstGeom prst="roundRect">
            <a:avLst>
              <a:gd name="adj" fmla="val 16000"/>
            </a:avLst>
          </a:prstGeom>
          <a:solidFill>
            <a:srgbClr val="DCEFEF"/>
          </a:solidFill>
          <a:ln/>
        </p:spPr>
      </p:sp>
      <p:sp>
        <p:nvSpPr>
          <p:cNvPr id="33" name="Shape 30"/>
          <p:cNvSpPr/>
          <p:nvPr/>
        </p:nvSpPr>
        <p:spPr>
          <a:xfrm>
            <a:off x="3465576" y="4123944"/>
            <a:ext cx="960120" cy="457200"/>
          </a:xfrm>
          <a:prstGeom prst="roundRect">
            <a:avLst>
              <a:gd name="adj" fmla="val 16000"/>
            </a:avLst>
          </a:prstGeom>
          <a:solidFill>
            <a:srgbClr val="DCEFEF"/>
          </a:solidFill>
          <a:ln/>
        </p:spPr>
      </p:sp>
      <p:sp>
        <p:nvSpPr>
          <p:cNvPr id="34" name="Shape 31"/>
          <p:cNvSpPr/>
          <p:nvPr/>
        </p:nvSpPr>
        <p:spPr>
          <a:xfrm>
            <a:off x="4489704" y="4123944"/>
            <a:ext cx="960120" cy="457200"/>
          </a:xfrm>
          <a:prstGeom prst="roundRect">
            <a:avLst>
              <a:gd name="adj" fmla="val 16000"/>
            </a:avLst>
          </a:prstGeom>
          <a:solidFill>
            <a:srgbClr val="C8701E"/>
          </a:solidFill>
          <a:ln/>
        </p:spPr>
      </p:sp>
      <p:sp>
        <p:nvSpPr>
          <p:cNvPr id="35" name="Text 32"/>
          <p:cNvSpPr txBox="1"/>
          <p:nvPr/>
        </p:nvSpPr>
        <p:spPr>
          <a:xfrm>
            <a:off x="4489704" y="4123944"/>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36" name="Shape 33"/>
          <p:cNvSpPr/>
          <p:nvPr/>
        </p:nvSpPr>
        <p:spPr>
          <a:xfrm>
            <a:off x="5513832" y="4123944"/>
            <a:ext cx="960120" cy="457200"/>
          </a:xfrm>
          <a:prstGeom prst="roundRect">
            <a:avLst>
              <a:gd name="adj" fmla="val 16000"/>
            </a:avLst>
          </a:prstGeom>
          <a:solidFill>
            <a:srgbClr val="DCEFEF"/>
          </a:solidFill>
          <a:ln/>
        </p:spPr>
      </p:sp>
      <p:sp>
        <p:nvSpPr>
          <p:cNvPr id="37" name="Text 34"/>
          <p:cNvSpPr txBox="1"/>
          <p:nvPr/>
        </p:nvSpPr>
        <p:spPr>
          <a:xfrm>
            <a:off x="548640" y="4782312"/>
            <a:ext cx="822960" cy="457200"/>
          </a:xfrm>
          <a:prstGeom prst="rect">
            <a:avLst/>
          </a:prstGeom>
          <a:noFill/>
          <a:ln/>
        </p:spPr>
        <p:txBody>
          <a:bodyPr wrap="square" lIns="0" tIns="0" rIns="0" bIns="0" rtlCol="0" anchor="ctr"/>
          <a:lstStyle/>
          <a:p>
            <a:pPr indent="0" marL="0">
              <a:buNone/>
            </a:pPr>
            <a:r>
              <a:rPr lang="en-US" sz="1300" b="1" dirty="0">
                <a:solidFill>
                  <a:srgbClr val="1B2733"/>
                </a:solidFill>
                <a:latin typeface="Arial" pitchFamily="34" charset="0"/>
                <a:ea typeface="Arial" pitchFamily="34" charset="-122"/>
                <a:cs typeface="Arial" pitchFamily="34" charset="-120"/>
              </a:rPr>
              <a:t>Fold 5</a:t>
            </a:r>
            <a:endParaRPr lang="en-US" sz="1300" dirty="0"/>
          </a:p>
        </p:txBody>
      </p:sp>
      <p:sp>
        <p:nvSpPr>
          <p:cNvPr id="38" name="Shape 35"/>
          <p:cNvSpPr/>
          <p:nvPr/>
        </p:nvSpPr>
        <p:spPr>
          <a:xfrm>
            <a:off x="1417320" y="4782312"/>
            <a:ext cx="960120" cy="457200"/>
          </a:xfrm>
          <a:prstGeom prst="roundRect">
            <a:avLst>
              <a:gd name="adj" fmla="val 16000"/>
            </a:avLst>
          </a:prstGeom>
          <a:solidFill>
            <a:srgbClr val="DCEFEF"/>
          </a:solidFill>
          <a:ln/>
        </p:spPr>
      </p:sp>
      <p:sp>
        <p:nvSpPr>
          <p:cNvPr id="39" name="Shape 36"/>
          <p:cNvSpPr/>
          <p:nvPr/>
        </p:nvSpPr>
        <p:spPr>
          <a:xfrm>
            <a:off x="2441448" y="4782312"/>
            <a:ext cx="960120" cy="457200"/>
          </a:xfrm>
          <a:prstGeom prst="roundRect">
            <a:avLst>
              <a:gd name="adj" fmla="val 16000"/>
            </a:avLst>
          </a:prstGeom>
          <a:solidFill>
            <a:srgbClr val="DCEFEF"/>
          </a:solidFill>
          <a:ln/>
        </p:spPr>
      </p:sp>
      <p:sp>
        <p:nvSpPr>
          <p:cNvPr id="40" name="Shape 37"/>
          <p:cNvSpPr/>
          <p:nvPr/>
        </p:nvSpPr>
        <p:spPr>
          <a:xfrm>
            <a:off x="3465576" y="4782312"/>
            <a:ext cx="960120" cy="457200"/>
          </a:xfrm>
          <a:prstGeom prst="roundRect">
            <a:avLst>
              <a:gd name="adj" fmla="val 16000"/>
            </a:avLst>
          </a:prstGeom>
          <a:solidFill>
            <a:srgbClr val="DCEFEF"/>
          </a:solidFill>
          <a:ln/>
        </p:spPr>
      </p:sp>
      <p:sp>
        <p:nvSpPr>
          <p:cNvPr id="41" name="Shape 38"/>
          <p:cNvSpPr/>
          <p:nvPr/>
        </p:nvSpPr>
        <p:spPr>
          <a:xfrm>
            <a:off x="4489704" y="4782312"/>
            <a:ext cx="960120" cy="457200"/>
          </a:xfrm>
          <a:prstGeom prst="roundRect">
            <a:avLst>
              <a:gd name="adj" fmla="val 16000"/>
            </a:avLst>
          </a:prstGeom>
          <a:solidFill>
            <a:srgbClr val="DCEFEF"/>
          </a:solidFill>
          <a:ln/>
        </p:spPr>
      </p:sp>
      <p:sp>
        <p:nvSpPr>
          <p:cNvPr id="42" name="Shape 39"/>
          <p:cNvSpPr/>
          <p:nvPr/>
        </p:nvSpPr>
        <p:spPr>
          <a:xfrm>
            <a:off x="5513832" y="4782312"/>
            <a:ext cx="960120" cy="457200"/>
          </a:xfrm>
          <a:prstGeom prst="roundRect">
            <a:avLst>
              <a:gd name="adj" fmla="val 16000"/>
            </a:avLst>
          </a:prstGeom>
          <a:solidFill>
            <a:srgbClr val="C8701E"/>
          </a:solidFill>
          <a:ln/>
        </p:spPr>
      </p:sp>
      <p:sp>
        <p:nvSpPr>
          <p:cNvPr id="43" name="Text 40"/>
          <p:cNvSpPr txBox="1"/>
          <p:nvPr/>
        </p:nvSpPr>
        <p:spPr>
          <a:xfrm>
            <a:off x="5513832" y="4782312"/>
            <a:ext cx="96012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validation</a:t>
            </a:r>
            <a:endParaRPr lang="en-US" sz="1100" dirty="0"/>
          </a:p>
        </p:txBody>
      </p:sp>
      <p:sp>
        <p:nvSpPr>
          <p:cNvPr id="44" name="Text 41"/>
          <p:cNvSpPr txBox="1"/>
          <p:nvPr/>
        </p:nvSpPr>
        <p:spPr>
          <a:xfrm>
            <a:off x="548640" y="5486400"/>
            <a:ext cx="603504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Mỗi ô là một nhóm 20 train engines; màu nhạt là phần fit.</a:t>
            </a:r>
            <a:endParaRPr lang="en-US" sz="1150" dirty="0"/>
          </a:p>
        </p:txBody>
      </p:sp>
      <p:sp>
        <p:nvSpPr>
          <p:cNvPr id="45" name="Shape 42"/>
          <p:cNvSpPr/>
          <p:nvPr/>
        </p:nvSpPr>
        <p:spPr>
          <a:xfrm>
            <a:off x="6903720" y="2011680"/>
            <a:ext cx="457200" cy="457200"/>
          </a:xfrm>
          <a:prstGeom prst="ellipse">
            <a:avLst/>
          </a:prstGeom>
          <a:solidFill>
            <a:srgbClr val="0B2239"/>
          </a:solidFill>
          <a:ln/>
        </p:spPr>
      </p:sp>
      <p:sp>
        <p:nvSpPr>
          <p:cNvPr id="46" name="Text 43"/>
          <p:cNvSpPr txBox="1"/>
          <p:nvPr/>
        </p:nvSpPr>
        <p:spPr>
          <a:xfrm>
            <a:off x="690372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7" name="Text 44"/>
          <p:cNvSpPr txBox="1"/>
          <p:nvPr/>
        </p:nvSpPr>
        <p:spPr>
          <a:xfrm>
            <a:off x="7543800" y="198424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Chọn model</a:t>
            </a:r>
            <a:endParaRPr lang="en-US" sz="1500" dirty="0"/>
          </a:p>
        </p:txBody>
      </p:sp>
      <p:sp>
        <p:nvSpPr>
          <p:cNvPr id="48" name="Text 45"/>
          <p:cNvSpPr txBox="1"/>
          <p:nvPr/>
        </p:nvSpPr>
        <p:spPr>
          <a:xfrm>
            <a:off x="7543800" y="228600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mean engine-level MAE trên dự đoán OOF</a:t>
            </a:r>
            <a:endParaRPr lang="en-US" sz="1300" dirty="0"/>
          </a:p>
        </p:txBody>
      </p:sp>
      <p:sp>
        <p:nvSpPr>
          <p:cNvPr id="49" name="Shape 46"/>
          <p:cNvSpPr/>
          <p:nvPr/>
        </p:nvSpPr>
        <p:spPr>
          <a:xfrm>
            <a:off x="6903720" y="2880360"/>
            <a:ext cx="457200" cy="457200"/>
          </a:xfrm>
          <a:prstGeom prst="ellipse">
            <a:avLst/>
          </a:prstGeom>
          <a:solidFill>
            <a:srgbClr val="0B2239"/>
          </a:solidFill>
          <a:ln/>
        </p:spPr>
      </p:sp>
      <p:sp>
        <p:nvSpPr>
          <p:cNvPr id="50" name="Text 47"/>
          <p:cNvSpPr txBox="1"/>
          <p:nvPr/>
        </p:nvSpPr>
        <p:spPr>
          <a:xfrm>
            <a:off x="6903720" y="2880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51" name="Text 48"/>
          <p:cNvSpPr txBox="1"/>
          <p:nvPr/>
        </p:nvSpPr>
        <p:spPr>
          <a:xfrm>
            <a:off x="7543800" y="285292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Cân bằng engine</a:t>
            </a:r>
            <a:endParaRPr lang="en-US" sz="1500" dirty="0"/>
          </a:p>
        </p:txBody>
      </p:sp>
      <p:sp>
        <p:nvSpPr>
          <p:cNvPr id="52" name="Text 49"/>
          <p:cNvSpPr txBox="1"/>
          <p:nvPr/>
        </p:nvSpPr>
        <p:spPr>
          <a:xfrm>
            <a:off x="7543800" y="315468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tổng sample weight mỗi engine bằng 1 trong fold</a:t>
            </a:r>
            <a:endParaRPr lang="en-US" sz="1300" dirty="0"/>
          </a:p>
        </p:txBody>
      </p:sp>
      <p:sp>
        <p:nvSpPr>
          <p:cNvPr id="53" name="Shape 50"/>
          <p:cNvSpPr/>
          <p:nvPr/>
        </p:nvSpPr>
        <p:spPr>
          <a:xfrm>
            <a:off x="6903720" y="3749040"/>
            <a:ext cx="457200" cy="457200"/>
          </a:xfrm>
          <a:prstGeom prst="ellipse">
            <a:avLst/>
          </a:prstGeom>
          <a:solidFill>
            <a:srgbClr val="0B2239"/>
          </a:solidFill>
          <a:ln/>
        </p:spPr>
      </p:sp>
      <p:sp>
        <p:nvSpPr>
          <p:cNvPr id="54" name="Text 51"/>
          <p:cNvSpPr txBox="1"/>
          <p:nvPr/>
        </p:nvSpPr>
        <p:spPr>
          <a:xfrm>
            <a:off x="690372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55" name="Text 52"/>
          <p:cNvSpPr txBox="1"/>
          <p:nvPr/>
        </p:nvSpPr>
        <p:spPr>
          <a:xfrm>
            <a:off x="7543800" y="372160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Refit</a:t>
            </a:r>
            <a:endParaRPr lang="en-US" sz="1500" dirty="0"/>
          </a:p>
        </p:txBody>
      </p:sp>
      <p:sp>
        <p:nvSpPr>
          <p:cNvPr id="56" name="Text 53"/>
          <p:cNvSpPr txBox="1"/>
          <p:nvPr/>
        </p:nvSpPr>
        <p:spPr>
          <a:xfrm>
            <a:off x="7543800" y="402336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toàn bộ 17.731 train windows</a:t>
            </a:r>
            <a:endParaRPr lang="en-US" sz="1300" dirty="0"/>
          </a:p>
        </p:txBody>
      </p:sp>
      <p:sp>
        <p:nvSpPr>
          <p:cNvPr id="57" name="Shape 54"/>
          <p:cNvSpPr/>
          <p:nvPr/>
        </p:nvSpPr>
        <p:spPr>
          <a:xfrm>
            <a:off x="6903720" y="4617720"/>
            <a:ext cx="457200" cy="457200"/>
          </a:xfrm>
          <a:prstGeom prst="ellipse">
            <a:avLst/>
          </a:prstGeom>
          <a:solidFill>
            <a:srgbClr val="0B2239"/>
          </a:solidFill>
          <a:ln/>
        </p:spPr>
      </p:sp>
      <p:sp>
        <p:nvSpPr>
          <p:cNvPr id="58" name="Text 55"/>
          <p:cNvSpPr txBox="1"/>
          <p:nvPr/>
        </p:nvSpPr>
        <p:spPr>
          <a:xfrm>
            <a:off x="6903720" y="4617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59" name="Text 56"/>
          <p:cNvSpPr txBox="1"/>
          <p:nvPr/>
        </p:nvSpPr>
        <p:spPr>
          <a:xfrm>
            <a:off x="7543800" y="4590288"/>
            <a:ext cx="4023360" cy="292608"/>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Dự đoán test</a:t>
            </a:r>
            <a:endParaRPr lang="en-US" sz="1500" dirty="0"/>
          </a:p>
        </p:txBody>
      </p:sp>
      <p:sp>
        <p:nvSpPr>
          <p:cNvPr id="60" name="Text 57"/>
          <p:cNvSpPr txBox="1"/>
          <p:nvPr/>
        </p:nvSpPr>
        <p:spPr>
          <a:xfrm>
            <a:off x="7543800" y="4892040"/>
            <a:ext cx="4069080" cy="329184"/>
          </a:xfrm>
          <a:prstGeom prst="rect">
            <a:avLst/>
          </a:prstGeom>
          <a:noFill/>
          <a:ln/>
        </p:spPr>
        <p:txBody>
          <a:bodyPr wrap="square" lIns="0" tIns="0" rIns="0" bIns="0" rtlCol="0" anchor="t"/>
          <a:lstStyle/>
          <a:p>
            <a:pPr indent="0" marL="0">
              <a:buNone/>
            </a:pPr>
            <a:r>
              <a:rPr lang="en-US" sz="1300" dirty="0">
                <a:solidFill>
                  <a:srgbClr val="1B2733"/>
                </a:solidFill>
                <a:latin typeface="Arial" pitchFamily="34" charset="0"/>
                <a:ea typeface="Arial" pitchFamily="34" charset="-122"/>
                <a:cs typeface="Arial" pitchFamily="34" charset="-120"/>
              </a:rPr>
              <a:t>1 điểm/engine tại cycle cuối, sau đó mới ghép nhãn</a:t>
            </a:r>
            <a:endParaRPr lang="en-US" sz="1300" dirty="0"/>
          </a:p>
        </p:txBody>
      </p:sp>
      <p:sp>
        <p:nvSpPr>
          <p:cNvPr id="61" name="Shape 58"/>
          <p:cNvSpPr/>
          <p:nvPr/>
        </p:nvSpPr>
        <p:spPr>
          <a:xfrm>
            <a:off x="6903720" y="5486400"/>
            <a:ext cx="4736592" cy="713232"/>
          </a:xfrm>
          <a:prstGeom prst="roundRect">
            <a:avLst>
              <a:gd name="adj" fmla="val 10256"/>
            </a:avLst>
          </a:prstGeom>
          <a:solidFill>
            <a:srgbClr val="FBEBD9"/>
          </a:solidFill>
          <a:ln/>
        </p:spPr>
      </p:sp>
      <p:sp>
        <p:nvSpPr>
          <p:cNvPr id="62" name="Text 59"/>
          <p:cNvSpPr txBox="1"/>
          <p:nvPr/>
        </p:nvSpPr>
        <p:spPr>
          <a:xfrm>
            <a:off x="7059168" y="5550408"/>
            <a:ext cx="4480560" cy="594360"/>
          </a:xfrm>
          <a:prstGeom prst="rect">
            <a:avLst/>
          </a:prstGeom>
          <a:noFill/>
          <a:ln/>
        </p:spPr>
        <p:txBody>
          <a:bodyPr wrap="square" lIns="0" tIns="0" rIns="0" bIns="0" rtlCol="0" anchor="ctr"/>
          <a:lstStyle/>
          <a:p>
            <a:pPr indent="0" marL="0">
              <a:buNone/>
            </a:pPr>
            <a:r>
              <a:rPr lang="en-US" sz="1250" dirty="0">
                <a:solidFill>
                  <a:srgbClr val="1B2733"/>
                </a:solidFill>
                <a:latin typeface="Arial" pitchFamily="34" charset="0"/>
                <a:ea typeface="Arial" pitchFamily="34" charset="-122"/>
                <a:cs typeface="Arial" pitchFamily="34" charset="-120"/>
              </a:rPr>
              <a:t>Hai window liền kề trùng 29/30 cycle; chia ngẫu nhiên theo dòng làm metric lạc quan.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HGB169 là predictor candidate trên panel chung</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HGB169 giảm MAE trajectory 3,2134 cycles; audit có điều kiện</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outputs/course_alignment/20261007/summary.json; outputs/course_alignment/20261007/paired_bootstrap_ci.csv</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13 / 20</a:t>
            </a:r>
            <a:endParaRPr lang="en-US" sz="1000" dirty="0"/>
          </a:p>
        </p:txBody>
      </p:sp>
      <p:graphicFrame>
        <p:nvGraphicFramePr>
          <p:cNvPr id="9" name="Chart 0" descr=""/>
          <p:cNvGraphicFramePr/>
          <p:nvPr/>
        </p:nvGraphicFramePr>
        <p:xfrm>
          <a:off x="548640" y="1874520"/>
          <a:ext cx="67665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52360" y="1920240"/>
          <a:ext cx="4187952" cy="914400"/>
        </p:xfrm>
        <a:graphic>
          <a:graphicData uri="http://schemas.openxmlformats.org/drawingml/2006/table">
            <a:tbl>
              <a:tblPr/>
              <a:tblGrid>
                <a:gridCol w="1508760"/>
                <a:gridCol w="868680"/>
                <a:gridCol w="868680"/>
                <a:gridCol w="941832"/>
              </a:tblGrid>
              <a:tr h="438912">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Panel / chỉ số</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HGB126</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HGB169</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Delta</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438912">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Trajectory MAE</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20,21</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17,00</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-3,21</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Trajectory RMSE</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33,64</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29,81</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-3,83</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438912">
                <a:tc>
                  <a:txBody>
                    <a:bodyPr/>
                    <a:lstStyle/>
                    <a:p>
                      <a:pPr algn="l" indent="0" marL="0">
                        <a:buNone/>
                      </a:pPr>
                      <a:r>
                        <a:rPr lang="en-US" sz="1150" b="1" dirty="0">
                          <a:solidFill>
                            <a:srgbClr val="1B2733"/>
                          </a:solidFill>
                          <a:latin typeface="Arial" pitchFamily="34" charset="0"/>
                          <a:ea typeface="Arial" pitchFamily="34" charset="-122"/>
                          <a:cs typeface="Arial" pitchFamily="34" charset="-120"/>
                        </a:rPr>
                        <a:t>Endpoint MAE</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c>
                  <a:txBody>
                    <a:bodyPr/>
                    <a:lstStyle/>
                    <a:p>
                      <a:pPr algn="l" indent="0" marL="0">
                        <a:buNone/>
                      </a:pPr>
                      <a:r>
                        <a:rPr lang="en-US" sz="1150" b="1" dirty="0">
                          <a:solidFill>
                            <a:srgbClr val="1B2733"/>
                          </a:solidFill>
                          <a:latin typeface="Arial" pitchFamily="34" charset="0"/>
                          <a:ea typeface="Arial" pitchFamily="34" charset="-122"/>
                          <a:cs typeface="Arial" pitchFamily="34" charset="-120"/>
                        </a:rPr>
                        <a:t>15,26</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c>
                  <a:txBody>
                    <a:bodyPr/>
                    <a:lstStyle/>
                    <a:p>
                      <a:pPr algn="l" indent="0" marL="0">
                        <a:buNone/>
                      </a:pPr>
                      <a:r>
                        <a:rPr lang="en-US" sz="1150" b="1" dirty="0">
                          <a:solidFill>
                            <a:srgbClr val="1B2733"/>
                          </a:solidFill>
                          <a:latin typeface="Arial" pitchFamily="34" charset="0"/>
                          <a:ea typeface="Arial" pitchFamily="34" charset="-122"/>
                          <a:cs typeface="Arial" pitchFamily="34" charset="-120"/>
                        </a:rPr>
                        <a:t>9,89</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c>
                  <a:txBody>
                    <a:bodyPr/>
                    <a:lstStyle/>
                    <a:p>
                      <a:pPr algn="l" indent="0" marL="0">
                        <a:buNone/>
                      </a:pPr>
                      <a:r>
                        <a:rPr lang="en-US" sz="1150" b="1" dirty="0">
                          <a:solidFill>
                            <a:srgbClr val="1B2733"/>
                          </a:solidFill>
                          <a:latin typeface="Arial" pitchFamily="34" charset="0"/>
                          <a:ea typeface="Arial" pitchFamily="34" charset="-122"/>
                          <a:cs typeface="Arial" pitchFamily="34" charset="-120"/>
                        </a:rPr>
                        <a:t>-5,37</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DCEFEF"/>
                    </a:solidFill>
                  </a:tcPr>
                </a:tc>
              </a:tr>
              <a:tr h="438912">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Endpoint RMSE</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22,35</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14,99</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150" dirty="0">
                          <a:solidFill>
                            <a:srgbClr val="1B2733"/>
                          </a:solidFill>
                          <a:latin typeface="Arial" pitchFamily="34" charset="0"/>
                          <a:ea typeface="Arial" pitchFamily="34" charset="-122"/>
                          <a:cs typeface="Arial" pitchFamily="34" charset="-120"/>
                        </a:rPr>
                        <a:t>-7,35</a:t>
                      </a:r>
                      <a:endParaRPr lang="en-US" sz="11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bl>
          </a:graphicData>
        </a:graphic>
      </p:graphicFrame>
      <p:sp>
        <p:nvSpPr>
          <p:cNvPr id="11" name="Shape 6"/>
          <p:cNvSpPr/>
          <p:nvPr/>
        </p:nvSpPr>
        <p:spPr>
          <a:xfrm>
            <a:off x="7452360" y="4251960"/>
            <a:ext cx="4187952" cy="1783080"/>
          </a:xfrm>
          <a:prstGeom prst="roundRect">
            <a:avLst>
              <a:gd name="adj" fmla="val 4103"/>
            </a:avLst>
          </a:prstGeom>
          <a:solidFill>
            <a:srgbClr val="EEF3F6"/>
          </a:solidFill>
          <a:ln/>
        </p:spPr>
      </p:sp>
      <p:sp>
        <p:nvSpPr>
          <p:cNvPr id="12" name="Text 7"/>
          <p:cNvSpPr txBox="1"/>
          <p:nvPr/>
        </p:nvSpPr>
        <p:spPr>
          <a:xfrm>
            <a:off x="7662672" y="4416552"/>
            <a:ext cx="365760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Cách đọc kết quả</a:t>
            </a:r>
            <a:endParaRPr lang="en-US" sz="1400" dirty="0"/>
          </a:p>
        </p:txBody>
      </p:sp>
      <p:sp>
        <p:nvSpPr>
          <p:cNvPr id="13" name="Text 8"/>
          <p:cNvSpPr txBox="1"/>
          <p:nvPr/>
        </p:nvSpPr>
        <p:spPr>
          <a:xfrm>
            <a:off x="7662672" y="4800600"/>
            <a:ext cx="3657600" cy="1005840"/>
          </a:xfrm>
          <a:prstGeom prst="rect">
            <a:avLst/>
          </a:prstGeom>
          <a:noFill/>
          <a:ln/>
        </p:spPr>
        <p:txBody>
          <a:bodyPr wrap="square" lIns="0" tIns="0" rIns="0" bIns="0" rtlCol="0" anchor="t"/>
          <a:lstStyle/>
          <a:p>
            <a:pPr indent="0" marL="0">
              <a:buNone/>
            </a:pPr>
            <a:r>
              <a:rPr lang="en-US" sz="1250" dirty="0">
                <a:solidFill>
                  <a:srgbClr val="1B2733"/>
                </a:solidFill>
                <a:latin typeface="Arial" pitchFamily="34" charset="0"/>
                <a:ea typeface="Arial" pitchFamily="34" charset="-122"/>
                <a:cs typeface="Arial" pitchFamily="34" charset="-120"/>
              </a:rPr>
              <a:t>Âm ở cột Delta nghĩa là HGB169 thấp hơn HGB126. Hai panel dùng cùng engine, fold và prediction đã lưu; chưa có blind refit độc lập, còn historical test readout chỉ dùng để báo cáo.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Metric test lịch sử của HGB126: MAE 15,35 cycles</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HGB126 là baseline lịch sử; metric test được giữ riêng vì HGB169 chưa có refit mù độc lập</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outputs/modeling/tables/final_metrics.json; outputs/modeling/figures/final_true_vs_predicted.png</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14 / 20</a:t>
            </a:r>
            <a:endParaRPr lang="en-US" sz="1000" dirty="0"/>
          </a:p>
        </p:txBody>
      </p:sp>
      <p:sp>
        <p:nvSpPr>
          <p:cNvPr id="9" name="Shape 6"/>
          <p:cNvSpPr/>
          <p:nvPr/>
        </p:nvSpPr>
        <p:spPr>
          <a:xfrm>
            <a:off x="548640" y="1920240"/>
            <a:ext cx="4754880" cy="1325880"/>
          </a:xfrm>
          <a:prstGeom prst="roundRect">
            <a:avLst>
              <a:gd name="adj" fmla="val 5517"/>
            </a:avLst>
          </a:prstGeom>
          <a:solidFill>
            <a:srgbClr val="0B2239"/>
          </a:solidFill>
          <a:ln/>
        </p:spPr>
      </p:sp>
      <p:sp>
        <p:nvSpPr>
          <p:cNvPr id="10" name="Text 7"/>
          <p:cNvSpPr txBox="1"/>
          <p:nvPr/>
        </p:nvSpPr>
        <p:spPr>
          <a:xfrm>
            <a:off x="777240" y="2029968"/>
            <a:ext cx="2377440" cy="6858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15,35</a:t>
            </a:r>
            <a:endParaRPr lang="en-US" sz="3600" dirty="0"/>
          </a:p>
        </p:txBody>
      </p:sp>
      <p:sp>
        <p:nvSpPr>
          <p:cNvPr id="11" name="Text 8"/>
          <p:cNvSpPr txBox="1"/>
          <p:nvPr/>
        </p:nvSpPr>
        <p:spPr>
          <a:xfrm>
            <a:off x="3108960" y="2103120"/>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MAE (cycles)</a:t>
            </a:r>
            <a:endParaRPr lang="en-US" sz="1500" dirty="0"/>
          </a:p>
        </p:txBody>
      </p:sp>
      <p:sp>
        <p:nvSpPr>
          <p:cNvPr id="12" name="Text 9"/>
          <p:cNvSpPr txBox="1"/>
          <p:nvPr/>
        </p:nvSpPr>
        <p:spPr>
          <a:xfrm>
            <a:off x="3108960" y="2450592"/>
            <a:ext cx="2103120" cy="685800"/>
          </a:xfrm>
          <a:prstGeom prst="rect">
            <a:avLst/>
          </a:prstGeom>
          <a:noFill/>
          <a:ln/>
        </p:spPr>
        <p:txBody>
          <a:bodyPr wrap="square" lIns="0" tIns="0" rIns="0" bIns="0" rtlCol="0" anchor="t"/>
          <a:lstStyle/>
          <a:p>
            <a:pPr indent="0" marL="0">
              <a:buNone/>
            </a:pPr>
            <a:r>
              <a:rPr lang="en-US" sz="1200" dirty="0">
                <a:solidFill>
                  <a:srgbClr val="BFD9E3"/>
                </a:solidFill>
                <a:latin typeface="Arial" pitchFamily="34" charset="0"/>
                <a:ea typeface="Arial" pitchFamily="34" charset="-122"/>
                <a:cs typeface="Arial" pitchFamily="34" charset="-120"/>
              </a:rPr>
              <a:t>CI 95%: [12,73; 18,09]</a:t>
            </a:r>
            <a:endParaRPr lang="en-US" sz="1200" dirty="0"/>
          </a:p>
        </p:txBody>
      </p:sp>
      <p:sp>
        <p:nvSpPr>
          <p:cNvPr id="13" name="Shape 10"/>
          <p:cNvSpPr/>
          <p:nvPr/>
        </p:nvSpPr>
        <p:spPr>
          <a:xfrm>
            <a:off x="548640" y="3383280"/>
            <a:ext cx="4754880" cy="1325880"/>
          </a:xfrm>
          <a:prstGeom prst="roundRect">
            <a:avLst>
              <a:gd name="adj" fmla="val 5517"/>
            </a:avLst>
          </a:prstGeom>
          <a:solidFill>
            <a:srgbClr val="EEF3F6"/>
          </a:solidFill>
          <a:ln/>
        </p:spPr>
      </p:sp>
      <p:sp>
        <p:nvSpPr>
          <p:cNvPr id="14" name="Text 11"/>
          <p:cNvSpPr txBox="1"/>
          <p:nvPr/>
        </p:nvSpPr>
        <p:spPr>
          <a:xfrm>
            <a:off x="777240" y="3493008"/>
            <a:ext cx="2377440" cy="685800"/>
          </a:xfrm>
          <a:prstGeom prst="rect">
            <a:avLst/>
          </a:prstGeom>
          <a:noFill/>
          <a:ln/>
        </p:spPr>
        <p:txBody>
          <a:bodyPr wrap="square" lIns="0" tIns="0" rIns="0" bIns="0" rtlCol="0" anchor="ctr"/>
          <a:lstStyle/>
          <a:p>
            <a:pPr indent="0" marL="0">
              <a:buNone/>
            </a:pPr>
            <a:r>
              <a:rPr lang="en-US" sz="3600" b="1" dirty="0">
                <a:solidFill>
                  <a:srgbClr val="0B2239"/>
                </a:solidFill>
                <a:latin typeface="Arial" pitchFamily="34" charset="0"/>
                <a:ea typeface="Arial" pitchFamily="34" charset="-122"/>
                <a:cs typeface="Arial" pitchFamily="34" charset="-120"/>
              </a:rPr>
              <a:t>20,54</a:t>
            </a:r>
            <a:endParaRPr lang="en-US" sz="3600" dirty="0"/>
          </a:p>
        </p:txBody>
      </p:sp>
      <p:sp>
        <p:nvSpPr>
          <p:cNvPr id="15" name="Text 12"/>
          <p:cNvSpPr txBox="1"/>
          <p:nvPr/>
        </p:nvSpPr>
        <p:spPr>
          <a:xfrm>
            <a:off x="3108960" y="3566160"/>
            <a:ext cx="210312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RMSE (cycles)</a:t>
            </a:r>
            <a:endParaRPr lang="en-US" sz="1500" dirty="0"/>
          </a:p>
        </p:txBody>
      </p:sp>
      <p:sp>
        <p:nvSpPr>
          <p:cNvPr id="16" name="Text 13"/>
          <p:cNvSpPr txBox="1"/>
          <p:nvPr/>
        </p:nvSpPr>
        <p:spPr>
          <a:xfrm>
            <a:off x="3108960" y="3913632"/>
            <a:ext cx="2103120" cy="6858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Phạt sai số lớn mạnh hơn MAE</a:t>
            </a:r>
            <a:endParaRPr lang="en-US" sz="1200" dirty="0"/>
          </a:p>
        </p:txBody>
      </p:sp>
      <p:sp>
        <p:nvSpPr>
          <p:cNvPr id="17" name="Shape 14"/>
          <p:cNvSpPr/>
          <p:nvPr/>
        </p:nvSpPr>
        <p:spPr>
          <a:xfrm>
            <a:off x="548640" y="4846320"/>
            <a:ext cx="4754880" cy="1325880"/>
          </a:xfrm>
          <a:prstGeom prst="roundRect">
            <a:avLst>
              <a:gd name="adj" fmla="val 5517"/>
            </a:avLst>
          </a:prstGeom>
          <a:solidFill>
            <a:srgbClr val="EEF3F6"/>
          </a:solidFill>
          <a:ln/>
        </p:spPr>
      </p:sp>
      <p:sp>
        <p:nvSpPr>
          <p:cNvPr id="18" name="Text 15"/>
          <p:cNvSpPr txBox="1"/>
          <p:nvPr/>
        </p:nvSpPr>
        <p:spPr>
          <a:xfrm>
            <a:off x="777240" y="4956048"/>
            <a:ext cx="2377440" cy="685800"/>
          </a:xfrm>
          <a:prstGeom prst="rect">
            <a:avLst/>
          </a:prstGeom>
          <a:noFill/>
          <a:ln/>
        </p:spPr>
        <p:txBody>
          <a:bodyPr wrap="square" lIns="0" tIns="0" rIns="0" bIns="0" rtlCol="0" anchor="ctr"/>
          <a:lstStyle/>
          <a:p>
            <a:pPr indent="0" marL="0">
              <a:buNone/>
            </a:pPr>
            <a:r>
              <a:rPr lang="en-US" sz="3600" b="1" dirty="0">
                <a:solidFill>
                  <a:srgbClr val="0B2239"/>
                </a:solidFill>
                <a:latin typeface="Arial" pitchFamily="34" charset="0"/>
                <a:ea typeface="Arial" pitchFamily="34" charset="-122"/>
                <a:cs typeface="Arial" pitchFamily="34" charset="-120"/>
              </a:rPr>
              <a:t>1.513,26</a:t>
            </a:r>
            <a:endParaRPr lang="en-US" sz="3600" dirty="0"/>
          </a:p>
        </p:txBody>
      </p:sp>
      <p:sp>
        <p:nvSpPr>
          <p:cNvPr id="19" name="Text 16"/>
          <p:cNvSpPr txBox="1"/>
          <p:nvPr/>
        </p:nvSpPr>
        <p:spPr>
          <a:xfrm>
            <a:off x="3108960" y="5029200"/>
            <a:ext cx="2103120" cy="320040"/>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NASA score</a:t>
            </a:r>
            <a:endParaRPr lang="en-US" sz="1500" dirty="0"/>
          </a:p>
        </p:txBody>
      </p:sp>
      <p:sp>
        <p:nvSpPr>
          <p:cNvPr id="20" name="Text 17"/>
          <p:cNvSpPr txBox="1"/>
          <p:nvPr/>
        </p:nvSpPr>
        <p:spPr>
          <a:xfrm>
            <a:off x="3108960" y="5376672"/>
            <a:ext cx="2103120" cy="685800"/>
          </a:xfrm>
          <a:prstGeom prst="rect">
            <a:avLst/>
          </a:prstGeom>
          <a:noFill/>
          <a:ln/>
        </p:spPr>
        <p:txBody>
          <a:bodyPr wrap="square" lIns="0" tIns="0" rIns="0" bIns="0" rtlCol="0" anchor="t"/>
          <a:lstStyle/>
          <a:p>
            <a:pPr indent="0" marL="0">
              <a:buNone/>
            </a:pPr>
            <a:r>
              <a:rPr lang="en-US" sz="1200" dirty="0">
                <a:solidFill>
                  <a:srgbClr val="5A6B7B"/>
                </a:solidFill>
                <a:latin typeface="Arial" pitchFamily="34" charset="0"/>
                <a:ea typeface="Arial" pitchFamily="34" charset="-122"/>
                <a:cs typeface="Arial" pitchFamily="34" charset="-120"/>
              </a:rPr>
              <a:t>Phạt dự đoán trễ nặng hơn; không có đơn vị</a:t>
            </a:r>
            <a:endParaRPr lang="en-US" sz="1200" dirty="0"/>
          </a:p>
        </p:txBody>
      </p:sp>
      <p:pic>
        <p:nvPicPr>
          <p:cNvPr id="21" name="Image 0" descr="RUL thật và RUL dự đoán trên 100 test engines">    </p:cNvPr>
          <p:cNvPicPr>
            <a:picLocks noChangeAspect="1"/>
          </p:cNvPicPr>
          <p:nvPr/>
        </p:nvPicPr>
        <p:blipFill>
          <a:blip r:embed="rId1"/>
          <a:stretch>
            <a:fillRect/>
          </a:stretch>
        </p:blipFill>
        <p:spPr>
          <a:xfrm>
            <a:off x="5760720" y="1874520"/>
            <a:ext cx="5879592" cy="419970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Phân tích sai số của HGB126 baseline lịch sử</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Dự đoán cao hơn RUL thật tương ứng cảnh báo muộn; NASA score phạt loại sai số này nặng hơn</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outputs/modeling/predictions/final_evaluation.parquet; outputs/modeling/figures/final_residuals_by_rul.png; outputs/diagnostics/error_diagnostics.json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15 / 20</a:t>
            </a:r>
            <a:endParaRPr lang="en-US" sz="1000" dirty="0"/>
          </a:p>
        </p:txBody>
      </p:sp>
      <p:pic>
        <p:nvPicPr>
          <p:cNvPr id="9" name="Image 0" descr="Residual theo RUL thật trên 100 test engines">    </p:cNvPr>
          <p:cNvPicPr>
            <a:picLocks noChangeAspect="1"/>
          </p:cNvPicPr>
          <p:nvPr/>
        </p:nvPicPr>
        <p:blipFill>
          <a:blip r:embed="rId1"/>
          <a:stretch>
            <a:fillRect/>
          </a:stretch>
        </p:blipFill>
        <p:spPr>
          <a:xfrm>
            <a:off x="548640" y="1874520"/>
            <a:ext cx="6035040" cy="4310743"/>
          </a:xfrm>
          <a:prstGeom prst="rect">
            <a:avLst/>
          </a:prstGeom>
        </p:spPr>
      </p:pic>
      <p:sp>
        <p:nvSpPr>
          <p:cNvPr id="10" name="Text 6"/>
          <p:cNvSpPr txBox="1"/>
          <p:nvPr/>
        </p:nvSpPr>
        <p:spPr>
          <a:xfrm>
            <a:off x="6949440" y="1965960"/>
            <a:ext cx="466344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Hướng sai số trên 100 test engines</a:t>
            </a:r>
            <a:endParaRPr lang="en-US" sz="1500" dirty="0"/>
          </a:p>
        </p:txBody>
      </p:sp>
      <p:sp>
        <p:nvSpPr>
          <p:cNvPr id="11" name="Shape 7"/>
          <p:cNvSpPr/>
          <p:nvPr/>
        </p:nvSpPr>
        <p:spPr>
          <a:xfrm>
            <a:off x="6949440" y="2423160"/>
            <a:ext cx="3450946" cy="548640"/>
          </a:xfrm>
          <a:prstGeom prst="rect">
            <a:avLst/>
          </a:prstGeom>
          <a:solidFill>
            <a:srgbClr val="C8701E"/>
          </a:solidFill>
          <a:ln/>
        </p:spPr>
      </p:sp>
      <p:sp>
        <p:nvSpPr>
          <p:cNvPr id="12" name="Shape 8"/>
          <p:cNvSpPr/>
          <p:nvPr/>
        </p:nvSpPr>
        <p:spPr>
          <a:xfrm>
            <a:off x="10400386" y="2423160"/>
            <a:ext cx="1212494" cy="548640"/>
          </a:xfrm>
          <a:prstGeom prst="rect">
            <a:avLst/>
          </a:prstGeom>
          <a:solidFill>
            <a:srgbClr val="157A7F"/>
          </a:solidFill>
          <a:ln/>
        </p:spPr>
      </p:sp>
      <p:sp>
        <p:nvSpPr>
          <p:cNvPr id="13" name="Text 9"/>
          <p:cNvSpPr txBox="1"/>
          <p:nvPr/>
        </p:nvSpPr>
        <p:spPr>
          <a:xfrm>
            <a:off x="7040880" y="2423160"/>
            <a:ext cx="228600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74 cao hơn</a:t>
            </a:r>
            <a:endParaRPr lang="en-US" sz="1500" dirty="0"/>
          </a:p>
        </p:txBody>
      </p:sp>
      <p:sp>
        <p:nvSpPr>
          <p:cNvPr id="14" name="Text 10"/>
          <p:cNvSpPr txBox="1"/>
          <p:nvPr/>
        </p:nvSpPr>
        <p:spPr>
          <a:xfrm>
            <a:off x="10400386" y="2423160"/>
            <a:ext cx="1212494"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26 thấp hơn</a:t>
            </a:r>
            <a:endParaRPr lang="en-US" sz="1250" dirty="0"/>
          </a:p>
        </p:txBody>
      </p:sp>
      <p:sp>
        <p:nvSpPr>
          <p:cNvPr id="15" name="Shape 11"/>
          <p:cNvSpPr/>
          <p:nvPr/>
        </p:nvSpPr>
        <p:spPr>
          <a:xfrm>
            <a:off x="6949440" y="3337560"/>
            <a:ext cx="4690872" cy="1828800"/>
          </a:xfrm>
          <a:prstGeom prst="roundRect">
            <a:avLst>
              <a:gd name="adj" fmla="val 4000"/>
            </a:avLst>
          </a:prstGeom>
          <a:solidFill>
            <a:srgbClr val="EEF3F6"/>
          </a:solidFill>
          <a:ln/>
        </p:spPr>
      </p:sp>
      <p:sp>
        <p:nvSpPr>
          <p:cNvPr id="16" name="Text 12"/>
          <p:cNvSpPr txBox="1"/>
          <p:nvPr/>
        </p:nvSpPr>
        <p:spPr>
          <a:xfrm>
            <a:off x="7178040" y="3474720"/>
            <a:ext cx="429768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Trường hợp sai lớn nhất: engine 23</a:t>
            </a:r>
            <a:endParaRPr lang="en-US" sz="1400" dirty="0"/>
          </a:p>
        </p:txBody>
      </p:sp>
      <p:sp>
        <p:nvSpPr>
          <p:cNvPr id="17" name="Text 13"/>
          <p:cNvSpPr txBox="1"/>
          <p:nvPr/>
        </p:nvSpPr>
        <p:spPr>
          <a:xfrm>
            <a:off x="7178040" y="3931920"/>
            <a:ext cx="1417320" cy="548640"/>
          </a:xfrm>
          <a:prstGeom prst="rect">
            <a:avLst/>
          </a:prstGeom>
          <a:noFill/>
          <a:ln/>
        </p:spPr>
        <p:txBody>
          <a:bodyPr wrap="square" lIns="0" tIns="0" rIns="0" bIns="0" rtlCol="0" anchor="t"/>
          <a:lstStyle/>
          <a:p>
            <a:pPr indent="0" marL="0">
              <a:buNone/>
            </a:pPr>
            <a:r>
              <a:rPr lang="en-US" sz="2600" b="1" dirty="0">
                <a:solidFill>
                  <a:srgbClr val="0B2239"/>
                </a:solidFill>
                <a:latin typeface="Arial" pitchFamily="34" charset="0"/>
                <a:ea typeface="Arial" pitchFamily="34" charset="-122"/>
                <a:cs typeface="Arial" pitchFamily="34" charset="-120"/>
              </a:rPr>
              <a:t>113</a:t>
            </a:r>
            <a:endParaRPr lang="en-US" sz="2600" dirty="0"/>
          </a:p>
        </p:txBody>
      </p:sp>
      <p:sp>
        <p:nvSpPr>
          <p:cNvPr id="18" name="Text 14"/>
          <p:cNvSpPr txBox="1"/>
          <p:nvPr/>
        </p:nvSpPr>
        <p:spPr>
          <a:xfrm>
            <a:off x="717804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RUL thật (cycles)</a:t>
            </a:r>
            <a:endParaRPr lang="en-US" sz="1150" dirty="0"/>
          </a:p>
        </p:txBody>
      </p:sp>
      <p:sp>
        <p:nvSpPr>
          <p:cNvPr id="19" name="Text 15"/>
          <p:cNvSpPr txBox="1"/>
          <p:nvPr/>
        </p:nvSpPr>
        <p:spPr>
          <a:xfrm>
            <a:off x="8641080" y="3931920"/>
            <a:ext cx="1417320" cy="548640"/>
          </a:xfrm>
          <a:prstGeom prst="rect">
            <a:avLst/>
          </a:prstGeom>
          <a:noFill/>
          <a:ln/>
        </p:spPr>
        <p:txBody>
          <a:bodyPr wrap="square" lIns="0" tIns="0" rIns="0" bIns="0" rtlCol="0" anchor="t"/>
          <a:lstStyle/>
          <a:p>
            <a:pPr indent="0" marL="0">
              <a:buNone/>
            </a:pPr>
            <a:r>
              <a:rPr lang="en-US" sz="2600" b="1" dirty="0">
                <a:solidFill>
                  <a:srgbClr val="0B2239"/>
                </a:solidFill>
                <a:latin typeface="Arial" pitchFamily="34" charset="0"/>
                <a:ea typeface="Arial" pitchFamily="34" charset="-122"/>
                <a:cs typeface="Arial" pitchFamily="34" charset="-120"/>
              </a:rPr>
              <a:t>170,48</a:t>
            </a:r>
            <a:endParaRPr lang="en-US" sz="2600" dirty="0"/>
          </a:p>
        </p:txBody>
      </p:sp>
      <p:sp>
        <p:nvSpPr>
          <p:cNvPr id="20" name="Text 16"/>
          <p:cNvSpPr txBox="1"/>
          <p:nvPr/>
        </p:nvSpPr>
        <p:spPr>
          <a:xfrm>
            <a:off x="864108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Dự đoán (cycles)</a:t>
            </a:r>
            <a:endParaRPr lang="en-US" sz="1150" dirty="0"/>
          </a:p>
        </p:txBody>
      </p:sp>
      <p:sp>
        <p:nvSpPr>
          <p:cNvPr id="21" name="Text 17"/>
          <p:cNvSpPr txBox="1"/>
          <p:nvPr/>
        </p:nvSpPr>
        <p:spPr>
          <a:xfrm>
            <a:off x="10104120" y="3931920"/>
            <a:ext cx="1417320" cy="548640"/>
          </a:xfrm>
          <a:prstGeom prst="rect">
            <a:avLst/>
          </a:prstGeom>
          <a:noFill/>
          <a:ln/>
        </p:spPr>
        <p:txBody>
          <a:bodyPr wrap="square" lIns="0" tIns="0" rIns="0" bIns="0" rtlCol="0" anchor="t"/>
          <a:lstStyle/>
          <a:p>
            <a:pPr indent="0" marL="0">
              <a:buNone/>
            </a:pPr>
            <a:r>
              <a:rPr lang="en-US" sz="2600" b="1" dirty="0">
                <a:solidFill>
                  <a:srgbClr val="C8701E"/>
                </a:solidFill>
                <a:latin typeface="Arial" pitchFamily="34" charset="0"/>
                <a:ea typeface="Arial" pitchFamily="34" charset="-122"/>
                <a:cs typeface="Arial" pitchFamily="34" charset="-120"/>
              </a:rPr>
              <a:t>57,48</a:t>
            </a:r>
            <a:endParaRPr lang="en-US" sz="2600" dirty="0"/>
          </a:p>
        </p:txBody>
      </p:sp>
      <p:sp>
        <p:nvSpPr>
          <p:cNvPr id="22" name="Text 18"/>
          <p:cNvSpPr txBox="1"/>
          <p:nvPr/>
        </p:nvSpPr>
        <p:spPr>
          <a:xfrm>
            <a:off x="10104120" y="4526280"/>
            <a:ext cx="1417320" cy="45720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Sai số (cycles)</a:t>
            </a:r>
            <a:endParaRPr lang="en-US" sz="1150" dirty="0"/>
          </a:p>
        </p:txBody>
      </p:sp>
      <p:sp>
        <p:nvSpPr>
          <p:cNvPr id="23" name="Text 19"/>
          <p:cNvSpPr txBox="1"/>
          <p:nvPr/>
        </p:nvSpPr>
        <p:spPr>
          <a:xfrm>
            <a:off x="6949440" y="5349240"/>
            <a:ext cx="4690872" cy="822960"/>
          </a:xfrm>
          <a:prstGeom prst="rect">
            <a:avLst/>
          </a:prstGeom>
          <a:noFill/>
          <a:ln/>
        </p:spPr>
        <p:txBody>
          <a:bodyPr wrap="square" lIns="0" tIns="0" rIns="0" bIns="0" rtlCol="0" anchor="t"/>
          <a:lstStyle/>
          <a:p>
            <a:pPr indent="0" marL="0">
              <a:buNone/>
            </a:pPr>
            <a:r>
              <a:rPr lang="en-US" sz="1300" b="1" dirty="0">
                <a:solidFill>
                  <a:srgbClr val="0B2239"/>
                </a:solidFill>
                <a:latin typeface="Arial" pitchFamily="34" charset="0"/>
                <a:ea typeface="Arial" pitchFamily="34" charset="-122"/>
                <a:cs typeface="Arial" pitchFamily="34" charset="-120"/>
              </a:rPr>
              <a:t>10 trường hợp sai lớn nhất chiếm 75,5% NASA score. Trên OOF, dự đoán dừng quanh 145–147 cycles khi RUL thật &gt; 150.</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4 · MÔ HÌNH VÀ ĐÁNH GIÁ</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Warning policy phải được đánh giá riêng với predictor</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Threshold 30: HGB126 51%, HGB169 45%; threshold 40: 94% và 96%</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outputs/course_alignment/20261007/warning_fixed_policies.csv; outputs/modeling/figures/warning_trajectory.png</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16 / 20</a:t>
            </a:r>
            <a:endParaRPr lang="en-US" sz="1000" dirty="0"/>
          </a:p>
        </p:txBody>
      </p:sp>
      <p:pic>
        <p:nvPicPr>
          <p:cNvPr id="9" name="Image 0" descr="Quỹ đạo RUL thật, RUL dự đoán OOF và ngưỡng cảnh báo của engine 1">    </p:cNvPr>
          <p:cNvPicPr>
            <a:picLocks noChangeAspect="1"/>
          </p:cNvPicPr>
          <p:nvPr/>
        </p:nvPicPr>
        <p:blipFill>
          <a:blip r:embed="rId1"/>
          <a:stretch>
            <a:fillRect/>
          </a:stretch>
        </p:blipFill>
        <p:spPr>
          <a:xfrm>
            <a:off x="548640" y="1874520"/>
            <a:ext cx="6309360" cy="3549015"/>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95160" y="1874520"/>
          <a:ext cx="4645152" cy="914400"/>
        </p:xfrm>
        <a:graphic>
          <a:graphicData uri="http://schemas.openxmlformats.org/drawingml/2006/table">
            <a:tbl>
              <a:tblPr/>
              <a:tblGrid>
                <a:gridCol w="914400"/>
                <a:gridCol w="685800"/>
                <a:gridCol w="1005840"/>
                <a:gridCol w="1051560"/>
                <a:gridCol w="987552"/>
              </a:tblGrid>
              <a:tr h="420624">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Model</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Ngưỡng</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Đúng lúc</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Trễ/bỏ lỡ</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Burden</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420624">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HGB126</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30</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51%</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49%</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1,293%</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HGB169</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30</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55%</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1,070%</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420624">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HGB126</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40</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94%</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6%</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5,329%</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HGB169</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40</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050" dirty="0">
                          <a:solidFill>
                            <a:srgbClr val="1B2733"/>
                          </a:solidFill>
                          <a:latin typeface="Arial" pitchFamily="34" charset="0"/>
                          <a:ea typeface="Arial" pitchFamily="34" charset="-122"/>
                          <a:cs typeface="Arial" pitchFamily="34" charset="-120"/>
                        </a:rPr>
                        <a:t>5,553%</a:t>
                      </a:r>
                      <a:endParaRPr lang="en-US" sz="10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bl>
          </a:graphicData>
        </a:graphic>
      </p:graphicFrame>
      <p:sp>
        <p:nvSpPr>
          <p:cNvPr id="11" name="Text 6"/>
          <p:cNvSpPr txBox="1"/>
          <p:nvPr/>
        </p:nvSpPr>
        <p:spPr>
          <a:xfrm>
            <a:off x="6995160" y="4160520"/>
            <a:ext cx="4572000" cy="274320"/>
          </a:xfrm>
          <a:prstGeom prst="rect">
            <a:avLst/>
          </a:prstGeom>
          <a:noFill/>
          <a:ln/>
        </p:spPr>
        <p:txBody>
          <a:bodyPr wrap="square" lIns="0" tIns="0" rIns="0" bIns="0" rtlCol="0" anchor="t"/>
          <a:lstStyle/>
          <a:p>
            <a:pPr indent="0" marL="0">
              <a:buNone/>
            </a:pPr>
            <a:r>
              <a:rPr lang="en-US" sz="1350" b="1" dirty="0">
                <a:solidFill>
                  <a:srgbClr val="0B2239"/>
                </a:solidFill>
                <a:latin typeface="Arial" pitchFamily="34" charset="0"/>
                <a:ea typeface="Arial" pitchFamily="34" charset="-122"/>
                <a:cs typeface="Arial" pitchFamily="34" charset="-120"/>
              </a:rPr>
              <a:t>Fixed-policy sensitivity trên cùng prediction panel</a:t>
            </a:r>
            <a:endParaRPr lang="en-US" sz="1350" dirty="0"/>
          </a:p>
        </p:txBody>
      </p:sp>
      <p:sp>
        <p:nvSpPr>
          <p:cNvPr id="12" name="Text 7"/>
          <p:cNvSpPr txBox="1"/>
          <p:nvPr/>
        </p:nvSpPr>
        <p:spPr>
          <a:xfrm>
            <a:off x="6995160" y="4526280"/>
            <a:ext cx="4572000" cy="640080"/>
          </a:xfrm>
          <a:prstGeom prst="rect">
            <a:avLst/>
          </a:prstGeom>
          <a:noFill/>
          <a:ln/>
        </p:spPr>
        <p:txBody>
          <a:bodyPr wrap="square" lIns="0" tIns="0" rIns="0" bIns="0" rtlCol="0" anchor="t"/>
          <a:lstStyle/>
          <a:p>
            <a:pPr indent="0" marL="0">
              <a:buNone/>
            </a:pPr>
            <a:r>
              <a:rPr lang="en-US" sz="1250" dirty="0">
                <a:solidFill>
                  <a:srgbClr val="1B2733"/>
                </a:solidFill>
                <a:latin typeface="Arial" pitchFamily="34" charset="0"/>
                <a:ea typeface="Arial" pitchFamily="34" charset="-122"/>
                <a:cs typeface="Arial" pitchFamily="34" charset="-120"/>
              </a:rPr>
              <a:t>Burden = tỷ lệ cảnh báo sớm; threshold chưa được hiệu chuẩn theo chi phí. Predictor selection và warning policy là hai quyết định riêng.</a:t>
            </a:r>
            <a:endParaRPr lang="en-US" sz="1250" dirty="0"/>
          </a:p>
        </p:txBody>
      </p:sp>
      <p:sp>
        <p:nvSpPr>
          <p:cNvPr id="13" name="Shape 8"/>
          <p:cNvSpPr/>
          <p:nvPr/>
        </p:nvSpPr>
        <p:spPr>
          <a:xfrm>
            <a:off x="6995160" y="5257800"/>
            <a:ext cx="4645152" cy="841248"/>
          </a:xfrm>
          <a:prstGeom prst="roundRect">
            <a:avLst>
              <a:gd name="adj" fmla="val 8696"/>
            </a:avLst>
          </a:prstGeom>
          <a:solidFill>
            <a:srgbClr val="FBEBD9"/>
          </a:solidFill>
          <a:ln/>
        </p:spPr>
      </p:sp>
      <p:sp>
        <p:nvSpPr>
          <p:cNvPr id="14" name="Text 9"/>
          <p:cNvSpPr txBox="1"/>
          <p:nvPr/>
        </p:nvSpPr>
        <p:spPr>
          <a:xfrm>
            <a:off x="7205472" y="5340096"/>
            <a:ext cx="4206240" cy="685800"/>
          </a:xfrm>
          <a:prstGeom prst="rect">
            <a:avLst/>
          </a:prstGeom>
          <a:noFill/>
          <a:ln/>
        </p:spPr>
        <p:txBody>
          <a:bodyPr wrap="square" lIns="0" tIns="0" rIns="0" bIns="0" rtlCol="0" anchor="ctr"/>
          <a:lstStyle/>
          <a:p>
            <a:pPr indent="0" marL="0">
              <a:spcAft>
                <a:spcPts val="300"/>
              </a:spcAft>
              <a:buNone/>
            </a:pPr>
            <a:r>
              <a:rPr lang="en-US" sz="1150" b="1" dirty="0">
                <a:solidFill>
                  <a:srgbClr val="1B2733"/>
                </a:solidFill>
                <a:latin typeface="Arial" pitchFamily="34" charset="0"/>
                <a:ea typeface="Arial" pitchFamily="34" charset="-122"/>
                <a:cs typeface="Arial" pitchFamily="34" charset="-120"/>
              </a:rPr>
              <a:t>HGB126 threshold 30: 51/100 đúng lúc; median lead 30 cycles.</a:t>
            </a:r>
            <a:endParaRPr lang="en-US" sz="1150" dirty="0"/>
          </a:p>
          <a:p>
            <a:pPr indent="0" marL="0">
              <a:spcAft>
                <a:spcPts val="300"/>
              </a:spcAft>
              <a:buNone/>
            </a:pPr>
            <a:r>
              <a:rPr lang="en-US" sz="1150" dirty="0">
                <a:solidFill>
                  <a:srgbClr val="1B2733"/>
                </a:solidFill>
                <a:latin typeface="Arial" pitchFamily="34" charset="0"/>
                <a:ea typeface="Arial" pitchFamily="34" charset="-122"/>
                <a:cs typeface="Arial" pitchFamily="34" charset="-120"/>
              </a:rPr>
              <a:t>Hình bên trái là mô tả nội bộ trên OOF.</a:t>
            </a:r>
            <a:endParaRPr lang="en-US" sz="1150" dirty="0"/>
          </a:p>
        </p:txBody>
      </p:sp>
      <p:sp>
        <p:nvSpPr>
          <p:cNvPr id="15" name="Text 10"/>
          <p:cNvSpPr txBox="1"/>
          <p:nvPr/>
        </p:nvSpPr>
        <p:spPr>
          <a:xfrm>
            <a:off x="548640" y="5514975"/>
            <a:ext cx="6309360" cy="274320"/>
          </a:xfrm>
          <a:prstGeom prst="rect">
            <a:avLst/>
          </a:prstGeom>
          <a:noFill/>
          <a:ln/>
        </p:spPr>
        <p:txBody>
          <a:bodyPr wrap="square" lIns="0" tIns="0" rIns="0" bIns="0" rtlCol="0" anchor="t"/>
          <a:lstStyle/>
          <a:p>
            <a:pPr indent="0" marL="0">
              <a:buNone/>
            </a:pPr>
            <a:r>
              <a:rPr lang="en-US" sz="1150" dirty="0">
                <a:solidFill>
                  <a:srgbClr val="5A6B7B"/>
                </a:solidFill>
                <a:latin typeface="Arial" pitchFamily="34" charset="0"/>
                <a:ea typeface="Arial" pitchFamily="34" charset="-122"/>
                <a:cs typeface="Arial" pitchFamily="34" charset="-120"/>
              </a:rPr>
              <a:t>Engine 1: cảnh báo tại cycle 162, failure tại cycle 192.</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Nested CV: kiểm tra cải thiện trên engine được giữ riêng</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Kết quả gốc và thí nghiệm bổ sung; chỉ thay baseline khi đạt tiêu chí đã chốt trước</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outputs/experiments/rul_improvement/20260928_rebuild/; outputs/experiments/followup/20260929/</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17 / 20</a:t>
            </a:r>
            <a:endParaRPr lang="en-US" sz="1000" dirty="0"/>
          </a:p>
        </p:txBody>
      </p:sp>
      <p:sp>
        <p:nvSpPr>
          <p:cNvPr id="9" name="Text 6"/>
          <p:cNvSpPr txBox="1"/>
          <p:nvPr/>
        </p:nvSpPr>
        <p:spPr>
          <a:xfrm>
            <a:off x="548640" y="1920240"/>
            <a:ext cx="3108960" cy="310896"/>
          </a:xfrm>
          <a:prstGeom prst="rect">
            <a:avLst/>
          </a:prstGeom>
          <a:noFill/>
          <a:ln/>
        </p:spPr>
        <p:txBody>
          <a:bodyPr wrap="square" lIns="0" tIns="0" rIns="0" bIns="0" rtlCol="0" anchor="t"/>
          <a:lstStyle/>
          <a:p>
            <a:pPr indent="0" marL="0">
              <a:buNone/>
            </a:pPr>
            <a:r>
              <a:rPr lang="en-US" sz="1500" b="1" dirty="0">
                <a:solidFill>
                  <a:srgbClr val="0B2239"/>
                </a:solidFill>
                <a:latin typeface="Arial" pitchFamily="34" charset="0"/>
                <a:ea typeface="Arial" pitchFamily="34" charset="-122"/>
                <a:cs typeface="Arial" pitchFamily="34" charset="-120"/>
              </a:rPr>
              <a:t>Nested GroupKFold</a:t>
            </a:r>
            <a:endParaRPr lang="en-US" sz="1500" dirty="0"/>
          </a:p>
        </p:txBody>
      </p:sp>
      <p:sp>
        <p:nvSpPr>
          <p:cNvPr id="10" name="Shape 7"/>
          <p:cNvSpPr/>
          <p:nvPr/>
        </p:nvSpPr>
        <p:spPr>
          <a:xfrm>
            <a:off x="548640" y="2377440"/>
            <a:ext cx="3108960" cy="960120"/>
          </a:xfrm>
          <a:prstGeom prst="roundRect">
            <a:avLst>
              <a:gd name="adj" fmla="val 7619"/>
            </a:avLst>
          </a:prstGeom>
          <a:solidFill>
            <a:srgbClr val="0B2239"/>
          </a:solidFill>
          <a:ln/>
        </p:spPr>
      </p:sp>
      <p:sp>
        <p:nvSpPr>
          <p:cNvPr id="11" name="Text 8"/>
          <p:cNvSpPr txBox="1"/>
          <p:nvPr/>
        </p:nvSpPr>
        <p:spPr>
          <a:xfrm>
            <a:off x="731520" y="248716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5 vòng ngoài</a:t>
            </a:r>
            <a:endParaRPr lang="en-US" sz="1500" dirty="0"/>
          </a:p>
        </p:txBody>
      </p:sp>
      <p:sp>
        <p:nvSpPr>
          <p:cNvPr id="12" name="Text 9"/>
          <p:cNvSpPr txBox="1"/>
          <p:nvPr/>
        </p:nvSpPr>
        <p:spPr>
          <a:xfrm>
            <a:off x="731520" y="281635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giữ riêng một nhóm engine</a:t>
            </a:r>
            <a:endParaRPr lang="en-US" sz="1200" dirty="0"/>
          </a:p>
        </p:txBody>
      </p:sp>
      <p:sp>
        <p:nvSpPr>
          <p:cNvPr id="13" name="Shape 10"/>
          <p:cNvSpPr/>
          <p:nvPr/>
        </p:nvSpPr>
        <p:spPr>
          <a:xfrm>
            <a:off x="2103120" y="3355848"/>
            <a:ext cx="0" cy="237744"/>
          </a:xfrm>
          <a:prstGeom prst="line">
            <a:avLst/>
          </a:prstGeom>
          <a:noFill/>
          <a:ln w="19050">
            <a:solidFill>
              <a:srgbClr val="5A6B7B"/>
            </a:solidFill>
            <a:prstDash val="solid"/>
            <a:tailEnd type="triangle"/>
          </a:ln>
        </p:spPr>
      </p:sp>
      <p:sp>
        <p:nvSpPr>
          <p:cNvPr id="14" name="Shape 11"/>
          <p:cNvSpPr/>
          <p:nvPr/>
        </p:nvSpPr>
        <p:spPr>
          <a:xfrm>
            <a:off x="548640" y="3611880"/>
            <a:ext cx="3108960" cy="960120"/>
          </a:xfrm>
          <a:prstGeom prst="roundRect">
            <a:avLst>
              <a:gd name="adj" fmla="val 7619"/>
            </a:avLst>
          </a:prstGeom>
          <a:solidFill>
            <a:srgbClr val="157A7F"/>
          </a:solidFill>
          <a:ln/>
        </p:spPr>
      </p:sp>
      <p:sp>
        <p:nvSpPr>
          <p:cNvPr id="15" name="Text 12"/>
          <p:cNvSpPr txBox="1"/>
          <p:nvPr/>
        </p:nvSpPr>
        <p:spPr>
          <a:xfrm>
            <a:off x="731520" y="372160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3 vòng trong</a:t>
            </a:r>
            <a:endParaRPr lang="en-US" sz="1500" dirty="0"/>
          </a:p>
        </p:txBody>
      </p:sp>
      <p:sp>
        <p:nvSpPr>
          <p:cNvPr id="16" name="Text 13"/>
          <p:cNvSpPr txBox="1"/>
          <p:nvPr/>
        </p:nvSpPr>
        <p:spPr>
          <a:xfrm>
            <a:off x="731520" y="405079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chọn cấu hình chỉ từ train</a:t>
            </a:r>
            <a:endParaRPr lang="en-US" sz="1200" dirty="0"/>
          </a:p>
        </p:txBody>
      </p:sp>
      <p:sp>
        <p:nvSpPr>
          <p:cNvPr id="17" name="Shape 14"/>
          <p:cNvSpPr/>
          <p:nvPr/>
        </p:nvSpPr>
        <p:spPr>
          <a:xfrm>
            <a:off x="2103120" y="4590288"/>
            <a:ext cx="0" cy="237744"/>
          </a:xfrm>
          <a:prstGeom prst="line">
            <a:avLst/>
          </a:prstGeom>
          <a:noFill/>
          <a:ln w="19050">
            <a:solidFill>
              <a:srgbClr val="5A6B7B"/>
            </a:solidFill>
            <a:prstDash val="solid"/>
            <a:tailEnd type="triangle"/>
          </a:ln>
        </p:spPr>
      </p:sp>
      <p:sp>
        <p:nvSpPr>
          <p:cNvPr id="18" name="Shape 15"/>
          <p:cNvSpPr/>
          <p:nvPr/>
        </p:nvSpPr>
        <p:spPr>
          <a:xfrm>
            <a:off x="548640" y="4846320"/>
            <a:ext cx="3108960" cy="960120"/>
          </a:xfrm>
          <a:prstGeom prst="roundRect">
            <a:avLst>
              <a:gd name="adj" fmla="val 7619"/>
            </a:avLst>
          </a:prstGeom>
          <a:solidFill>
            <a:srgbClr val="C8701E"/>
          </a:solidFill>
          <a:ln/>
        </p:spPr>
      </p:sp>
      <p:sp>
        <p:nvSpPr>
          <p:cNvPr id="19" name="Text 16"/>
          <p:cNvSpPr txBox="1"/>
          <p:nvPr/>
        </p:nvSpPr>
        <p:spPr>
          <a:xfrm>
            <a:off x="731520" y="4956048"/>
            <a:ext cx="2743200"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CI nghiên cứu gốc</a:t>
            </a:r>
            <a:endParaRPr lang="en-US" sz="1500" dirty="0"/>
          </a:p>
        </p:txBody>
      </p:sp>
      <p:sp>
        <p:nvSpPr>
          <p:cNvPr id="20" name="Text 17"/>
          <p:cNvSpPr txBox="1"/>
          <p:nvPr/>
        </p:nvSpPr>
        <p:spPr>
          <a:xfrm>
            <a:off x="731520" y="5285232"/>
            <a:ext cx="2834640" cy="475488"/>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ΔMAE RUL ≤ 30: +0,0054</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CI 95% [-0,0506; 0,0639]</a:t>
            </a:r>
            <a:endParaRPr lang="en-US" sz="1200" dirty="0"/>
          </a:p>
        </p:txBody>
      </p:sp>
      <p:sp>
        <p:nvSpPr>
          <p:cNvPr id="21" name="Text 18"/>
          <p:cNvSpPr txBox="1"/>
          <p:nvPr/>
        </p:nvSpPr>
        <p:spPr>
          <a:xfrm>
            <a:off x="4023360" y="1920240"/>
            <a:ext cx="7589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FD001 gốc: thử window, tham số và trọng số</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23360" y="2286000"/>
          <a:ext cx="7616952" cy="914400"/>
        </p:xfrm>
        <a:graphic>
          <a:graphicData uri="http://schemas.openxmlformats.org/drawingml/2006/table">
            <a:tbl>
              <a:tblPr/>
              <a:tblGrid>
                <a:gridCol w="3410712"/>
                <a:gridCol w="2103120"/>
                <a:gridCol w="2103120"/>
              </a:tblGrid>
              <a:tr h="365760">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Chỉ số</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Baseline</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Quy trình chọn mới</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MAE toàn bộ (cycles)</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20,21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20,25</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MAE khi RUL ≤ 30 (cycles)</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3,6676</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3,6730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Cảnh báo trễ hoặc bỏ lỡ</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49/100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53/100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4023360" y="3977640"/>
            <a:ext cx="7589520" cy="310896"/>
          </a:xfrm>
          <a:prstGeom prst="rect">
            <a:avLst/>
          </a:prstGeom>
          <a:noFill/>
          <a:ln/>
        </p:spPr>
        <p:txBody>
          <a:bodyPr wrap="square" lIns="0" tIns="0" rIns="0" bIns="0" rtlCol="0" anchor="t"/>
          <a:lstStyle/>
          <a:p>
            <a:pPr indent="0" marL="0">
              <a:buNone/>
            </a:pPr>
            <a:r>
              <a:rPr lang="en-US" sz="1400" b="1" dirty="0">
                <a:solidFill>
                  <a:srgbClr val="0B2239"/>
                </a:solidFill>
                <a:latin typeface="Arial" pitchFamily="34" charset="0"/>
                <a:ea typeface="Arial" pitchFamily="34" charset="-122"/>
                <a:cs typeface="Arial" pitchFamily="34" charset="-120"/>
              </a:rPr>
              <a:t>Bổ sung 29/09: outer MAE của quy trình chọn (cycles)</a:t>
            </a:r>
            <a:endParaRPr lang="en-US" sz="14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23360" y="4343400"/>
          <a:ext cx="7616952" cy="914400"/>
        </p:xfrm>
        <a:graphic>
          <a:graphicData uri="http://schemas.openxmlformats.org/drawingml/2006/table">
            <a:tbl>
              <a:tblPr/>
              <a:tblGrid>
                <a:gridCol w="2679192"/>
                <a:gridCol w="1645920"/>
                <a:gridCol w="1645920"/>
                <a:gridCol w="1645920"/>
              </a:tblGrid>
              <a:tr h="365760">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Dataset</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Baseline</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Quy trình chọn</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Tiêu chí</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0B2239"/>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FD001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20,21</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20,30</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Chưa đạt</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FD002</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29,29</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28,04</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EEF3F6"/>
                    </a:solidFill>
                  </a:tcPr>
                </a:tc>
              </a:tr>
              <a:tr h="365760">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FD004</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36,74</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35,45</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733"/>
                          </a:solidFill>
                          <a:latin typeface="Arial" pitchFamily="34" charset="0"/>
                          <a:ea typeface="Arial" pitchFamily="34" charset="-122"/>
                          <a:cs typeface="Arial" pitchFamily="34" charset="-120"/>
                        </a:rPr>
                        <a:t>Đạt</a:t>
                      </a:r>
                      <a:endParaRPr lang="en-US" sz="1250" dirty="0">
                        <a:latin typeface="Arial" charset="0"/>
                        <a:ea typeface="Arial" charset="0"/>
                        <a:cs typeface="Arial" charset="0"/>
                      </a:endParaRPr>
                    </a:p>
                  </a:txBody>
                  <a:tcPr marL="73152" marR="73152" marT="36576" marB="36576" anchor="ctr">
                    <a:lnL w="9525" cap="flat" cmpd="sng" algn="ctr">
                      <a:solidFill>
                        <a:srgbClr val="C9D4DD"/>
                      </a:solidFill>
                      <a:prstDash val="solid"/>
                      <a:round/>
                      <a:headEnd type="none" w="med" len="med"/>
                      <a:tailEnd type="none" w="med" len="med"/>
                    </a:lnL>
                    <a:lnR w="9525" cap="flat" cmpd="sng" algn="ctr">
                      <a:solidFill>
                        <a:srgbClr val="C9D4DD"/>
                      </a:solidFill>
                      <a:prstDash val="solid"/>
                      <a:round/>
                      <a:headEnd type="none" w="med" len="med"/>
                      <a:tailEnd type="none" w="med" len="med"/>
                    </a:lnR>
                    <a:lnT w="9525" cap="flat" cmpd="sng" algn="ctr">
                      <a:solidFill>
                        <a:srgbClr val="C9D4DD"/>
                      </a:solidFill>
                      <a:prstDash val="solid"/>
                      <a:round/>
                      <a:headEnd type="none" w="med" len="med"/>
                      <a:tailEnd type="none" w="med" len="med"/>
                    </a:lnT>
                    <a:lnB w="9525" cap="flat" cmpd="sng" algn="ctr">
                      <a:solidFill>
                        <a:srgbClr val="C9D4DD"/>
                      </a:solidFill>
                      <a:prstDash val="solid"/>
                      <a:round/>
                      <a:headEnd type="none" w="med" len="med"/>
                      <a:tailEnd type="none" w="med" len="med"/>
                    </a:lnB>
                    <a:solidFill>
                      <a:srgbClr val="FFFFFF"/>
                    </a:solidFill>
                  </a:tcPr>
                </a:tc>
              </a:tr>
            </a:tbl>
          </a:graphicData>
        </a:graphic>
      </p:graphicFrame>
      <p:sp>
        <p:nvSpPr>
          <p:cNvPr id="25" name="Text 20"/>
          <p:cNvSpPr txBox="1"/>
          <p:nvPr/>
        </p:nvSpPr>
        <p:spPr>
          <a:xfrm>
            <a:off x="4023360" y="5897880"/>
            <a:ext cx="7616952" cy="320040"/>
          </a:xfrm>
          <a:prstGeom prst="rect">
            <a:avLst/>
          </a:prstGeom>
          <a:noFill/>
          <a:ln/>
        </p:spPr>
        <p:txBody>
          <a:bodyPr wrap="square" lIns="0" tIns="0" rIns="0" bIns="0" rtlCol="0" anchor="t"/>
          <a:lstStyle/>
          <a:p>
            <a:pPr indent="0" marL="0">
              <a:buNone/>
            </a:pPr>
            <a:r>
              <a:rPr lang="en-US" sz="1300" b="1" dirty="0">
                <a:solidFill>
                  <a:srgbClr val="C8701E"/>
                </a:solidFill>
                <a:latin typeface="Arial" pitchFamily="34" charset="0"/>
                <a:ea typeface="Arial" pitchFamily="34" charset="-122"/>
                <a:cs typeface="Arial" pitchFamily="34" charset="-120"/>
              </a:rPr>
              <a:t>FD001: window 30; FD002/FD004: window 10, huấn luyện trong từng subset.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Model FD001 không chuyển trực tiếp sang FD002–FD004</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Cùng pipeline với window 10; MAE tăng 1,7–2,7 lần khi đổi điều kiện vận hành hoặc fault mode</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outputs/cross_dataset/matrix.json; outputs/diagnostics/error_diagnostics.json</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18 / 20</a:t>
            </a:r>
            <a:endParaRPr lang="en-US" sz="1000" dirty="0"/>
          </a:p>
        </p:txBody>
      </p:sp>
      <p:graphicFrame>
        <p:nvGraphicFramePr>
          <p:cNvPr id="9" name="Chart 0" descr=""/>
          <p:cNvGraphicFramePr/>
          <p:nvPr/>
        </p:nvGraphicFramePr>
        <p:xfrm>
          <a:off x="548640" y="1828800"/>
          <a:ext cx="694944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863840" y="1965960"/>
            <a:ext cx="3776472" cy="731520"/>
          </a:xfrm>
          <a:prstGeom prst="roundRect">
            <a:avLst>
              <a:gd name="adj" fmla="val 10000"/>
            </a:avLst>
          </a:prstGeom>
          <a:solidFill>
            <a:srgbClr val="EEF3F6"/>
          </a:solidFill>
          <a:ln/>
        </p:spPr>
      </p:sp>
      <p:sp>
        <p:nvSpPr>
          <p:cNvPr id="11" name="Text 7"/>
          <p:cNvSpPr txBox="1"/>
          <p:nvPr/>
        </p:nvSpPr>
        <p:spPr>
          <a:xfrm>
            <a:off x="8046720" y="196596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FD002</a:t>
            </a:r>
            <a:endParaRPr lang="en-US" sz="1600" dirty="0"/>
          </a:p>
        </p:txBody>
      </p:sp>
      <p:sp>
        <p:nvSpPr>
          <p:cNvPr id="12" name="Text 8"/>
          <p:cNvSpPr txBox="1"/>
          <p:nvPr/>
        </p:nvSpPr>
        <p:spPr>
          <a:xfrm>
            <a:off x="9052560" y="203911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6 điều kiện · 15%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22,36 → 60,32 cycles (×2,7)</a:t>
            </a:r>
            <a:endParaRPr lang="en-US" sz="1150" dirty="0"/>
          </a:p>
        </p:txBody>
      </p:sp>
      <p:sp>
        <p:nvSpPr>
          <p:cNvPr id="13" name="Shape 9"/>
          <p:cNvSpPr/>
          <p:nvPr/>
        </p:nvSpPr>
        <p:spPr>
          <a:xfrm>
            <a:off x="7863840" y="2834640"/>
            <a:ext cx="3776472" cy="731520"/>
          </a:xfrm>
          <a:prstGeom prst="roundRect">
            <a:avLst>
              <a:gd name="adj" fmla="val 10000"/>
            </a:avLst>
          </a:prstGeom>
          <a:solidFill>
            <a:srgbClr val="EEF3F6"/>
          </a:solidFill>
          <a:ln/>
        </p:spPr>
      </p:sp>
      <p:sp>
        <p:nvSpPr>
          <p:cNvPr id="14" name="Text 10"/>
          <p:cNvSpPr txBox="1"/>
          <p:nvPr/>
        </p:nvSpPr>
        <p:spPr>
          <a:xfrm>
            <a:off x="8046720" y="283464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FD003</a:t>
            </a:r>
            <a:endParaRPr lang="en-US" sz="1600" dirty="0"/>
          </a:p>
        </p:txBody>
      </p:sp>
      <p:sp>
        <p:nvSpPr>
          <p:cNvPr id="15" name="Text 11"/>
          <p:cNvSpPr txBox="1"/>
          <p:nvPr/>
        </p:nvSpPr>
        <p:spPr>
          <a:xfrm>
            <a:off x="9052560" y="290779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fault Fan · 95%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28,33 → 47,39 cycles (×1,7)</a:t>
            </a:r>
            <a:endParaRPr lang="en-US" sz="1150" dirty="0"/>
          </a:p>
        </p:txBody>
      </p:sp>
      <p:sp>
        <p:nvSpPr>
          <p:cNvPr id="16" name="Shape 12"/>
          <p:cNvSpPr/>
          <p:nvPr/>
        </p:nvSpPr>
        <p:spPr>
          <a:xfrm>
            <a:off x="7863840" y="3703320"/>
            <a:ext cx="3776472" cy="731520"/>
          </a:xfrm>
          <a:prstGeom prst="roundRect">
            <a:avLst>
              <a:gd name="adj" fmla="val 10000"/>
            </a:avLst>
          </a:prstGeom>
          <a:solidFill>
            <a:srgbClr val="EEF3F6"/>
          </a:solidFill>
          <a:ln/>
        </p:spPr>
      </p:sp>
      <p:sp>
        <p:nvSpPr>
          <p:cNvPr id="17" name="Text 13"/>
          <p:cNvSpPr txBox="1"/>
          <p:nvPr/>
        </p:nvSpPr>
        <p:spPr>
          <a:xfrm>
            <a:off x="8046720" y="3703320"/>
            <a:ext cx="1005840" cy="731520"/>
          </a:xfrm>
          <a:prstGeom prst="rect">
            <a:avLst/>
          </a:prstGeom>
          <a:noFill/>
          <a:ln/>
        </p:spPr>
        <p:txBody>
          <a:bodyPr wrap="square" lIns="0" tIns="0" rIns="0" bIns="0" rtlCol="0" anchor="ctr"/>
          <a:lstStyle/>
          <a:p>
            <a:pPr indent="0" marL="0">
              <a:buNone/>
            </a:pPr>
            <a:r>
              <a:rPr lang="en-US" sz="1600" b="1" dirty="0">
                <a:solidFill>
                  <a:srgbClr val="0B2239"/>
                </a:solidFill>
                <a:latin typeface="Arial" pitchFamily="34" charset="0"/>
                <a:ea typeface="Arial" pitchFamily="34" charset="-122"/>
                <a:cs typeface="Arial" pitchFamily="34" charset="-120"/>
              </a:rPr>
              <a:t>FD004</a:t>
            </a:r>
            <a:endParaRPr lang="en-US" sz="1600" dirty="0"/>
          </a:p>
        </p:txBody>
      </p:sp>
      <p:sp>
        <p:nvSpPr>
          <p:cNvPr id="18" name="Text 14"/>
          <p:cNvSpPr txBox="1"/>
          <p:nvPr/>
        </p:nvSpPr>
        <p:spPr>
          <a:xfrm>
            <a:off x="9052560" y="3776472"/>
            <a:ext cx="2514600" cy="603504"/>
          </a:xfrm>
          <a:prstGeom prst="rect">
            <a:avLst/>
          </a:prstGeom>
          <a:noFill/>
          <a:ln/>
        </p:spPr>
        <p:txBody>
          <a:bodyPr wrap="square" lIns="0" tIns="0" rIns="0" bIns="0" rtlCol="0" anchor="ctr"/>
          <a:lstStyle/>
          <a:p>
            <a:pPr indent="0" marL="0">
              <a:buNone/>
            </a:pPr>
            <a:r>
              <a:rPr lang="en-US" sz="1150" dirty="0">
                <a:solidFill>
                  <a:srgbClr val="1B2733"/>
                </a:solidFill>
                <a:latin typeface="Arial" pitchFamily="34" charset="0"/>
                <a:ea typeface="Arial" pitchFamily="34" charset="-122"/>
                <a:cs typeface="Arial" pitchFamily="34" charset="-120"/>
              </a:rPr>
              <a:t>cả hai · 14% trong miền FD001</a:t>
            </a:r>
            <a:endParaRPr lang="en-US" sz="1150" dirty="0"/>
          </a:p>
          <a:p>
            <a:pPr indent="0" marL="0">
              <a:buNone/>
            </a:pPr>
            <a:r>
              <a:rPr lang="en-US" sz="1150" dirty="0">
                <a:solidFill>
                  <a:srgbClr val="1B2733"/>
                </a:solidFill>
                <a:latin typeface="Arial" pitchFamily="34" charset="0"/>
                <a:ea typeface="Arial" pitchFamily="34" charset="-122"/>
                <a:cs typeface="Arial" pitchFamily="34" charset="-120"/>
              </a:rPr>
              <a:t>27,22 → 58,57 cycles (×2,2)</a:t>
            </a:r>
            <a:endParaRPr lang="en-US" sz="1150" dirty="0"/>
          </a:p>
        </p:txBody>
      </p:sp>
      <p:sp>
        <p:nvSpPr>
          <p:cNvPr id="19" name="Shape 15"/>
          <p:cNvSpPr/>
          <p:nvPr/>
        </p:nvSpPr>
        <p:spPr>
          <a:xfrm>
            <a:off x="7863840" y="4663440"/>
            <a:ext cx="3776472" cy="1508760"/>
          </a:xfrm>
          <a:prstGeom prst="roundRect">
            <a:avLst>
              <a:gd name="adj" fmla="val 4848"/>
            </a:avLst>
          </a:prstGeom>
          <a:solidFill>
            <a:srgbClr val="0B2239"/>
          </a:solidFill>
          <a:ln/>
        </p:spPr>
      </p:sp>
      <p:sp>
        <p:nvSpPr>
          <p:cNvPr id="20" name="Text 16"/>
          <p:cNvSpPr txBox="1"/>
          <p:nvPr/>
        </p:nvSpPr>
        <p:spPr>
          <a:xfrm>
            <a:off x="8046720" y="4773168"/>
            <a:ext cx="3474720" cy="12801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Cần huấn luyện lại hoặc domain adaptation trước khi dùng model FD001 cho subset khác.</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2834640" cy="292608"/>
          </a:xfrm>
          <a:prstGeom prst="roundRect">
            <a:avLst>
              <a:gd name="adj" fmla="val 25000"/>
            </a:avLst>
          </a:prstGeom>
          <a:solidFill>
            <a:srgbClr val="DCEFEF"/>
          </a:solidFill>
          <a:ln/>
        </p:spPr>
      </p:sp>
      <p:sp>
        <p:nvSpPr>
          <p:cNvPr id="3" name="Text 1"/>
          <p:cNvSpPr txBox="1"/>
          <p:nvPr/>
        </p:nvSpPr>
        <p:spPr>
          <a:xfrm>
            <a:off x="658368" y="310896"/>
            <a:ext cx="5486400" cy="292608"/>
          </a:xfrm>
          <a:prstGeom prst="rect">
            <a:avLst/>
          </a:prstGeom>
          <a:noFill/>
          <a:ln/>
        </p:spPr>
        <p:txBody>
          <a:bodyPr wrap="square" lIns="0" tIns="0" rIns="0" bIns="0" rtlCol="0" anchor="ctr"/>
          <a:lstStyle/>
          <a:p>
            <a:pPr indent="0" marL="0">
              <a:buNone/>
            </a:pPr>
            <a:r>
              <a:rPr lang="en-US" sz="1050" b="1" spc="100" kern="0" dirty="0">
                <a:solidFill>
                  <a:srgbClr val="157A7F"/>
                </a:solidFill>
                <a:latin typeface="Arial" pitchFamily="34" charset="0"/>
                <a:ea typeface="Arial" pitchFamily="34" charset="-122"/>
                <a:cs typeface="Arial" pitchFamily="34" charset="-120"/>
              </a:rPr>
              <a:t>PHẦN 5 · MỞ RỘNG VÀ KẾT LUẬN</a:t>
            </a:r>
            <a:endParaRPr lang="en-US" sz="1050" dirty="0"/>
          </a:p>
        </p:txBody>
      </p:sp>
      <p:sp>
        <p:nvSpPr>
          <p:cNvPr id="4" name="Text 2"/>
          <p:cNvSpPr txBox="1"/>
          <p:nvPr/>
        </p:nvSpPr>
        <p:spPr>
          <a:xfrm>
            <a:off x="548640" y="713232"/>
            <a:ext cx="11091672" cy="566928"/>
          </a:xfrm>
          <a:prstGeom prst="rect">
            <a:avLst/>
          </a:prstGeom>
          <a:noFill/>
          <a:ln/>
        </p:spPr>
        <p:txBody>
          <a:bodyPr wrap="square" lIns="0" tIns="0" rIns="0" bIns="0" rtlCol="0" anchor="ctr"/>
          <a:lstStyle/>
          <a:p>
            <a:pPr indent="0" marL="0">
              <a:buNone/>
            </a:pPr>
            <a:r>
              <a:rPr lang="en-US" sz="2700" b="1" dirty="0">
                <a:solidFill>
                  <a:srgbClr val="0B2239"/>
                </a:solidFill>
                <a:latin typeface="Arial" pitchFamily="34" charset="0"/>
                <a:ea typeface="Arial" pitchFamily="34" charset="-122"/>
                <a:cs typeface="Arial" pitchFamily="34" charset="-120"/>
              </a:rPr>
              <a:t>Trả lời sáu câu hỏi nghiên cứu</a:t>
            </a:r>
            <a:endParaRPr lang="en-US" sz="2700" dirty="0"/>
          </a:p>
        </p:txBody>
      </p:sp>
      <p:sp>
        <p:nvSpPr>
          <p:cNvPr id="5" name="Text 3"/>
          <p:cNvSpPr txBox="1"/>
          <p:nvPr/>
        </p:nvSpPr>
        <p:spPr>
          <a:xfrm>
            <a:off x="548640" y="1298448"/>
            <a:ext cx="11091672" cy="384048"/>
          </a:xfrm>
          <a:prstGeom prst="rect">
            <a:avLst/>
          </a:prstGeom>
          <a:noFill/>
          <a:ln/>
        </p:spPr>
        <p:txBody>
          <a:bodyPr wrap="square" lIns="0" tIns="0" rIns="0" bIns="0" rtlCol="0" anchor="ctr"/>
          <a:lstStyle/>
          <a:p>
            <a:pPr indent="0" marL="0">
              <a:buNone/>
            </a:pPr>
            <a:r>
              <a:rPr lang="en-US" sz="1500" dirty="0">
                <a:solidFill>
                  <a:srgbClr val="5A6B7B"/>
                </a:solidFill>
                <a:latin typeface="Arial" pitchFamily="34" charset="0"/>
                <a:ea typeface="Arial" pitchFamily="34" charset="-122"/>
                <a:cs typeface="Arial" pitchFamily="34" charset="-120"/>
              </a:rPr>
              <a:t>Kết luận chỉ áp dụng cho protocol và dữ liệu mô phỏng đã nêu</a:t>
            </a:r>
            <a:endParaRPr lang="en-US" sz="1500" dirty="0"/>
          </a:p>
        </p:txBody>
      </p:sp>
      <p:sp>
        <p:nvSpPr>
          <p:cNvPr id="6" name="Text 4"/>
          <p:cNvSpPr txBox="1"/>
          <p:nvPr/>
        </p:nvSpPr>
        <p:spPr>
          <a:xfrm>
            <a:off x="548640" y="6446520"/>
            <a:ext cx="10241280" cy="237744"/>
          </a:xfrm>
          <a:prstGeom prst="rect">
            <a:avLst/>
          </a:prstGeom>
          <a:noFill/>
          <a:ln/>
        </p:spPr>
        <p:txBody>
          <a:bodyPr wrap="square" lIns="0" tIns="0" rIns="0" bIns="0" rtlCol="0" anchor="ctr"/>
          <a:lstStyle/>
          <a:p>
            <a:pPr indent="0" marL="0">
              <a:buNone/>
            </a:pPr>
            <a:r>
              <a:rPr lang="en-US" sz="900" dirty="0">
                <a:solidFill>
                  <a:srgbClr val="5A6B7B"/>
                </a:solidFill>
                <a:latin typeface="Arial" pitchFamily="34" charset="0"/>
                <a:ea typeface="Arial" pitchFamily="34" charset="-122"/>
                <a:cs typeface="Arial" pitchFamily="34" charset="-120"/>
              </a:rPr>
              <a:t>Nguồn: report/sections/conclusion.tex; các artifact đã dẫn ở slide 9–18</a:t>
            </a:r>
            <a:endParaRPr lang="en-US" sz="900" dirty="0"/>
          </a:p>
        </p:txBody>
      </p:sp>
      <p:sp>
        <p:nvSpPr>
          <p:cNvPr id="7" name="Text 5"/>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5A6B7B"/>
                </a:solidFill>
                <a:latin typeface="Arial" pitchFamily="34" charset="0"/>
                <a:ea typeface="Arial" pitchFamily="34" charset="-122"/>
                <a:cs typeface="Arial" pitchFamily="34" charset="-120"/>
              </a:rPr>
              <a:t>19 / 20</a:t>
            </a:r>
            <a:endParaRPr lang="en-US" sz="1000" dirty="0"/>
          </a:p>
        </p:txBody>
      </p:sp>
      <p:sp>
        <p:nvSpPr>
          <p:cNvPr id="9" name="Shape 6"/>
          <p:cNvSpPr/>
          <p:nvPr/>
        </p:nvSpPr>
        <p:spPr>
          <a:xfrm>
            <a:off x="548640" y="1874520"/>
            <a:ext cx="3566160" cy="1755648"/>
          </a:xfrm>
          <a:prstGeom prst="roundRect">
            <a:avLst>
              <a:gd name="adj" fmla="val 4167"/>
            </a:avLst>
          </a:prstGeom>
          <a:solidFill>
            <a:srgbClr val="EEF3F6"/>
          </a:solidFill>
          <a:ln/>
        </p:spPr>
      </p:sp>
      <p:sp>
        <p:nvSpPr>
          <p:cNvPr id="10" name="Shape 7"/>
          <p:cNvSpPr/>
          <p:nvPr/>
        </p:nvSpPr>
        <p:spPr>
          <a:xfrm>
            <a:off x="749808" y="2057400"/>
            <a:ext cx="438912" cy="438912"/>
          </a:xfrm>
          <a:prstGeom prst="ellipse">
            <a:avLst/>
          </a:prstGeom>
          <a:solidFill>
            <a:srgbClr val="C8701E"/>
          </a:solidFill>
          <a:ln/>
        </p:spPr>
      </p:sp>
      <p:sp>
        <p:nvSpPr>
          <p:cNvPr id="11" name="Text 8"/>
          <p:cNvSpPr txBox="1"/>
          <p:nvPr/>
        </p:nvSpPr>
        <p:spPr>
          <a:xfrm>
            <a:off x="749808" y="205740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Q1</a:t>
            </a:r>
            <a:endParaRPr lang="en-US" sz="1100" dirty="0"/>
          </a:p>
        </p:txBody>
      </p:sp>
      <p:sp>
        <p:nvSpPr>
          <p:cNvPr id="12" name="Text 9"/>
          <p:cNvSpPr txBox="1"/>
          <p:nvPr/>
        </p:nvSpPr>
        <p:spPr>
          <a:xfrm>
            <a:off x="1325880" y="205740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Dữ liệu hợp lệ</a:t>
            </a:r>
            <a:endParaRPr lang="en-US" sz="1400" dirty="0"/>
          </a:p>
        </p:txBody>
      </p:sp>
      <p:sp>
        <p:nvSpPr>
          <p:cNvPr id="13" name="Text 10"/>
          <p:cNvSpPr txBox="1"/>
          <p:nvPr/>
        </p:nvSpPr>
        <p:spPr>
          <a:xfrm>
            <a:off x="749808" y="258775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Đạt</a:t>
            </a:r>
            <a:endParaRPr lang="en-US" sz="2400" dirty="0"/>
          </a:p>
        </p:txBody>
      </p:sp>
      <p:sp>
        <p:nvSpPr>
          <p:cNvPr id="14" name="Text 11"/>
          <p:cNvSpPr txBox="1"/>
          <p:nvPr/>
        </p:nvSpPr>
        <p:spPr>
          <a:xfrm>
            <a:off x="749808" y="304495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Schema, khóa và cycle của FD001 qua kiểm tra</a:t>
            </a:r>
            <a:endParaRPr lang="en-US" sz="1150" dirty="0"/>
          </a:p>
        </p:txBody>
      </p:sp>
      <p:sp>
        <p:nvSpPr>
          <p:cNvPr id="15" name="Shape 12"/>
          <p:cNvSpPr/>
          <p:nvPr/>
        </p:nvSpPr>
        <p:spPr>
          <a:xfrm>
            <a:off x="4297680" y="1874520"/>
            <a:ext cx="3566160" cy="1755648"/>
          </a:xfrm>
          <a:prstGeom prst="roundRect">
            <a:avLst>
              <a:gd name="adj" fmla="val 4167"/>
            </a:avLst>
          </a:prstGeom>
          <a:solidFill>
            <a:srgbClr val="EEF3F6"/>
          </a:solidFill>
          <a:ln/>
        </p:spPr>
      </p:sp>
      <p:sp>
        <p:nvSpPr>
          <p:cNvPr id="16" name="Shape 13"/>
          <p:cNvSpPr/>
          <p:nvPr/>
        </p:nvSpPr>
        <p:spPr>
          <a:xfrm>
            <a:off x="4498848" y="2057400"/>
            <a:ext cx="438912" cy="438912"/>
          </a:xfrm>
          <a:prstGeom prst="ellipse">
            <a:avLst/>
          </a:prstGeom>
          <a:solidFill>
            <a:srgbClr val="C8701E"/>
          </a:solidFill>
          <a:ln/>
        </p:spPr>
      </p:sp>
      <p:sp>
        <p:nvSpPr>
          <p:cNvPr id="17" name="Text 14"/>
          <p:cNvSpPr txBox="1"/>
          <p:nvPr/>
        </p:nvSpPr>
        <p:spPr>
          <a:xfrm>
            <a:off x="4498848" y="205740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Q2</a:t>
            </a:r>
            <a:endParaRPr lang="en-US" sz="1100" dirty="0"/>
          </a:p>
        </p:txBody>
      </p:sp>
      <p:sp>
        <p:nvSpPr>
          <p:cNvPr id="18" name="Text 15"/>
          <p:cNvSpPr txBox="1"/>
          <p:nvPr/>
        </p:nvSpPr>
        <p:spPr>
          <a:xfrm>
            <a:off x="5074920" y="205740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Xu hướng sensor</a:t>
            </a:r>
            <a:endParaRPr lang="en-US" sz="1400" dirty="0"/>
          </a:p>
        </p:txBody>
      </p:sp>
      <p:sp>
        <p:nvSpPr>
          <p:cNvPr id="19" name="Text 16"/>
          <p:cNvSpPr txBox="1"/>
          <p:nvPr/>
        </p:nvSpPr>
        <p:spPr>
          <a:xfrm>
            <a:off x="4498848" y="258775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15/21</a:t>
            </a:r>
            <a:endParaRPr lang="en-US" sz="2400" dirty="0"/>
          </a:p>
        </p:txBody>
      </p:sp>
      <p:sp>
        <p:nvSpPr>
          <p:cNvPr id="20" name="Text 17"/>
          <p:cNvSpPr txBox="1"/>
          <p:nvPr/>
        </p:nvSpPr>
        <p:spPr>
          <a:xfrm>
            <a:off x="4498848" y="304495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sensor thay đổi đầu/cuối; Health Index giảm rõ</a:t>
            </a:r>
            <a:endParaRPr lang="en-US" sz="1150" dirty="0"/>
          </a:p>
        </p:txBody>
      </p:sp>
      <p:sp>
        <p:nvSpPr>
          <p:cNvPr id="21" name="Shape 18"/>
          <p:cNvSpPr/>
          <p:nvPr/>
        </p:nvSpPr>
        <p:spPr>
          <a:xfrm>
            <a:off x="8046720" y="1874520"/>
            <a:ext cx="3566160" cy="1755648"/>
          </a:xfrm>
          <a:prstGeom prst="roundRect">
            <a:avLst>
              <a:gd name="adj" fmla="val 4167"/>
            </a:avLst>
          </a:prstGeom>
          <a:solidFill>
            <a:srgbClr val="EEF3F6"/>
          </a:solidFill>
          <a:ln/>
        </p:spPr>
      </p:sp>
      <p:sp>
        <p:nvSpPr>
          <p:cNvPr id="22" name="Shape 19"/>
          <p:cNvSpPr/>
          <p:nvPr/>
        </p:nvSpPr>
        <p:spPr>
          <a:xfrm>
            <a:off x="8247888" y="2057400"/>
            <a:ext cx="438912" cy="438912"/>
          </a:xfrm>
          <a:prstGeom prst="ellipse">
            <a:avLst/>
          </a:prstGeom>
          <a:solidFill>
            <a:srgbClr val="C8701E"/>
          </a:solidFill>
          <a:ln/>
        </p:spPr>
      </p:sp>
      <p:sp>
        <p:nvSpPr>
          <p:cNvPr id="23" name="Text 20"/>
          <p:cNvSpPr txBox="1"/>
          <p:nvPr/>
        </p:nvSpPr>
        <p:spPr>
          <a:xfrm>
            <a:off x="8247888" y="205740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Q3</a:t>
            </a:r>
            <a:endParaRPr lang="en-US" sz="1100" dirty="0"/>
          </a:p>
        </p:txBody>
      </p:sp>
      <p:sp>
        <p:nvSpPr>
          <p:cNvPr id="24" name="Text 21"/>
          <p:cNvSpPr txBox="1"/>
          <p:nvPr/>
        </p:nvSpPr>
        <p:spPr>
          <a:xfrm>
            <a:off x="8823960" y="205740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Parity ETL</a:t>
            </a:r>
            <a:endParaRPr lang="en-US" sz="1400" dirty="0"/>
          </a:p>
        </p:txBody>
      </p:sp>
      <p:sp>
        <p:nvSpPr>
          <p:cNvPr id="25" name="Text 22"/>
          <p:cNvSpPr txBox="1"/>
          <p:nvPr/>
        </p:nvSpPr>
        <p:spPr>
          <a:xfrm>
            <a:off x="8247888" y="258775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0 sai khác</a:t>
            </a:r>
            <a:endParaRPr lang="en-US" sz="2400" dirty="0"/>
          </a:p>
        </p:txBody>
      </p:sp>
      <p:sp>
        <p:nvSpPr>
          <p:cNvPr id="26" name="Text 23"/>
          <p:cNvSpPr txBox="1"/>
          <p:nvPr/>
        </p:nvSpPr>
        <p:spPr>
          <a:xfrm>
            <a:off x="8247888" y="304495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Ba artifact Pandas–PySpark khớp tuyệt đối</a:t>
            </a:r>
            <a:endParaRPr lang="en-US" sz="1150" dirty="0"/>
          </a:p>
        </p:txBody>
      </p:sp>
      <p:sp>
        <p:nvSpPr>
          <p:cNvPr id="27" name="Shape 24"/>
          <p:cNvSpPr/>
          <p:nvPr/>
        </p:nvSpPr>
        <p:spPr>
          <a:xfrm>
            <a:off x="548640" y="3840480"/>
            <a:ext cx="3566160" cy="1755648"/>
          </a:xfrm>
          <a:prstGeom prst="roundRect">
            <a:avLst>
              <a:gd name="adj" fmla="val 4167"/>
            </a:avLst>
          </a:prstGeom>
          <a:solidFill>
            <a:srgbClr val="EEF3F6"/>
          </a:solidFill>
          <a:ln/>
        </p:spPr>
      </p:sp>
      <p:sp>
        <p:nvSpPr>
          <p:cNvPr id="28" name="Shape 25"/>
          <p:cNvSpPr/>
          <p:nvPr/>
        </p:nvSpPr>
        <p:spPr>
          <a:xfrm>
            <a:off x="749808" y="4023360"/>
            <a:ext cx="438912" cy="438912"/>
          </a:xfrm>
          <a:prstGeom prst="ellipse">
            <a:avLst/>
          </a:prstGeom>
          <a:solidFill>
            <a:srgbClr val="C8701E"/>
          </a:solidFill>
          <a:ln/>
        </p:spPr>
      </p:sp>
      <p:sp>
        <p:nvSpPr>
          <p:cNvPr id="29" name="Text 26"/>
          <p:cNvSpPr txBox="1"/>
          <p:nvPr/>
        </p:nvSpPr>
        <p:spPr>
          <a:xfrm>
            <a:off x="749808" y="402336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Q4</a:t>
            </a:r>
            <a:endParaRPr lang="en-US" sz="1100" dirty="0"/>
          </a:p>
        </p:txBody>
      </p:sp>
      <p:sp>
        <p:nvSpPr>
          <p:cNvPr id="30" name="Text 27"/>
          <p:cNvSpPr txBox="1"/>
          <p:nvPr/>
        </p:nvSpPr>
        <p:spPr>
          <a:xfrm>
            <a:off x="1325880" y="402336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HGB comparison</a:t>
            </a:r>
            <a:endParaRPr lang="en-US" sz="1400" dirty="0"/>
          </a:p>
        </p:txBody>
      </p:sp>
      <p:sp>
        <p:nvSpPr>
          <p:cNvPr id="31" name="Text 28"/>
          <p:cNvSpPr txBox="1"/>
          <p:nvPr/>
        </p:nvSpPr>
        <p:spPr>
          <a:xfrm>
            <a:off x="749808" y="455371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-3,21</a:t>
            </a:r>
            <a:endParaRPr lang="en-US" sz="2400" dirty="0"/>
          </a:p>
        </p:txBody>
      </p:sp>
      <p:sp>
        <p:nvSpPr>
          <p:cNvPr id="32" name="Text 29"/>
          <p:cNvSpPr txBox="1"/>
          <p:nvPr/>
        </p:nvSpPr>
        <p:spPr>
          <a:xfrm>
            <a:off x="749808" y="501091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delta trajectory MAE; HGB169 là candidate có điều kiện</a:t>
            </a:r>
            <a:endParaRPr lang="en-US" sz="1150" dirty="0"/>
          </a:p>
        </p:txBody>
      </p:sp>
      <p:sp>
        <p:nvSpPr>
          <p:cNvPr id="33" name="Shape 30"/>
          <p:cNvSpPr/>
          <p:nvPr/>
        </p:nvSpPr>
        <p:spPr>
          <a:xfrm>
            <a:off x="4297680" y="3840480"/>
            <a:ext cx="3566160" cy="1755648"/>
          </a:xfrm>
          <a:prstGeom prst="roundRect">
            <a:avLst>
              <a:gd name="adj" fmla="val 4167"/>
            </a:avLst>
          </a:prstGeom>
          <a:solidFill>
            <a:srgbClr val="EEF3F6"/>
          </a:solidFill>
          <a:ln/>
        </p:spPr>
      </p:sp>
      <p:sp>
        <p:nvSpPr>
          <p:cNvPr id="34" name="Shape 31"/>
          <p:cNvSpPr/>
          <p:nvPr/>
        </p:nvSpPr>
        <p:spPr>
          <a:xfrm>
            <a:off x="4498848" y="4023360"/>
            <a:ext cx="438912" cy="438912"/>
          </a:xfrm>
          <a:prstGeom prst="ellipse">
            <a:avLst/>
          </a:prstGeom>
          <a:solidFill>
            <a:srgbClr val="C8701E"/>
          </a:solidFill>
          <a:ln/>
        </p:spPr>
      </p:sp>
      <p:sp>
        <p:nvSpPr>
          <p:cNvPr id="35" name="Text 32"/>
          <p:cNvSpPr txBox="1"/>
          <p:nvPr/>
        </p:nvSpPr>
        <p:spPr>
          <a:xfrm>
            <a:off x="4498848" y="402336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Q5</a:t>
            </a:r>
            <a:endParaRPr lang="en-US" sz="1100" dirty="0"/>
          </a:p>
        </p:txBody>
      </p:sp>
      <p:sp>
        <p:nvSpPr>
          <p:cNvPr id="36" name="Text 33"/>
          <p:cNvSpPr txBox="1"/>
          <p:nvPr/>
        </p:nvSpPr>
        <p:spPr>
          <a:xfrm>
            <a:off x="5074920" y="402336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Warning policy</a:t>
            </a:r>
            <a:endParaRPr lang="en-US" sz="1400" dirty="0"/>
          </a:p>
        </p:txBody>
      </p:sp>
      <p:sp>
        <p:nvSpPr>
          <p:cNvPr id="37" name="Text 34"/>
          <p:cNvSpPr txBox="1"/>
          <p:nvPr/>
        </p:nvSpPr>
        <p:spPr>
          <a:xfrm>
            <a:off x="4498848" y="455371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51% / 45%</a:t>
            </a:r>
            <a:endParaRPr lang="en-US" sz="2400" dirty="0"/>
          </a:p>
        </p:txBody>
      </p:sp>
      <p:sp>
        <p:nvSpPr>
          <p:cNvPr id="38" name="Text 35"/>
          <p:cNvSpPr txBox="1"/>
          <p:nvPr/>
        </p:nvSpPr>
        <p:spPr>
          <a:xfrm>
            <a:off x="4498848" y="501091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threshold 30: HGB126 / HGB169; policy tách khỏi predictor</a:t>
            </a:r>
            <a:endParaRPr lang="en-US" sz="1150" dirty="0"/>
          </a:p>
        </p:txBody>
      </p:sp>
      <p:sp>
        <p:nvSpPr>
          <p:cNvPr id="39" name="Shape 36"/>
          <p:cNvSpPr/>
          <p:nvPr/>
        </p:nvSpPr>
        <p:spPr>
          <a:xfrm>
            <a:off x="8046720" y="3840480"/>
            <a:ext cx="3566160" cy="1755648"/>
          </a:xfrm>
          <a:prstGeom prst="roundRect">
            <a:avLst>
              <a:gd name="adj" fmla="val 4167"/>
            </a:avLst>
          </a:prstGeom>
          <a:solidFill>
            <a:srgbClr val="EEF3F6"/>
          </a:solidFill>
          <a:ln/>
        </p:spPr>
      </p:sp>
      <p:sp>
        <p:nvSpPr>
          <p:cNvPr id="40" name="Shape 37"/>
          <p:cNvSpPr/>
          <p:nvPr/>
        </p:nvSpPr>
        <p:spPr>
          <a:xfrm>
            <a:off x="8247888" y="4023360"/>
            <a:ext cx="438912" cy="438912"/>
          </a:xfrm>
          <a:prstGeom prst="ellipse">
            <a:avLst/>
          </a:prstGeom>
          <a:solidFill>
            <a:srgbClr val="C8701E"/>
          </a:solidFill>
          <a:ln/>
        </p:spPr>
      </p:sp>
      <p:sp>
        <p:nvSpPr>
          <p:cNvPr id="41" name="Text 38"/>
          <p:cNvSpPr txBox="1"/>
          <p:nvPr/>
        </p:nvSpPr>
        <p:spPr>
          <a:xfrm>
            <a:off x="8247888" y="402336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Q6</a:t>
            </a:r>
            <a:endParaRPr lang="en-US" sz="1100" dirty="0"/>
          </a:p>
        </p:txBody>
      </p:sp>
      <p:sp>
        <p:nvSpPr>
          <p:cNvPr id="42" name="Text 39"/>
          <p:cNvSpPr txBox="1"/>
          <p:nvPr/>
        </p:nvSpPr>
        <p:spPr>
          <a:xfrm>
            <a:off x="8823960" y="4023360"/>
            <a:ext cx="2560320" cy="347472"/>
          </a:xfrm>
          <a:prstGeom prst="rect">
            <a:avLst/>
          </a:prstGeom>
          <a:noFill/>
          <a:ln/>
        </p:spPr>
        <p:txBody>
          <a:bodyPr wrap="square" lIns="0" tIns="0" rIns="0" bIns="0" rtlCol="0" anchor="ctr"/>
          <a:lstStyle/>
          <a:p>
            <a:pPr indent="0" marL="0">
              <a:buNone/>
            </a:pPr>
            <a:r>
              <a:rPr lang="en-US" sz="1400" b="1" dirty="0">
                <a:solidFill>
                  <a:srgbClr val="0B2239"/>
                </a:solidFill>
                <a:latin typeface="Arial" pitchFamily="34" charset="0"/>
                <a:ea typeface="Arial" pitchFamily="34" charset="-122"/>
                <a:cs typeface="Arial" pitchFamily="34" charset="-120"/>
              </a:rPr>
              <a:t>Chuyển miền</a:t>
            </a:r>
            <a:endParaRPr lang="en-US" sz="1400" dirty="0"/>
          </a:p>
        </p:txBody>
      </p:sp>
      <p:sp>
        <p:nvSpPr>
          <p:cNvPr id="43" name="Text 40"/>
          <p:cNvSpPr txBox="1"/>
          <p:nvPr/>
        </p:nvSpPr>
        <p:spPr>
          <a:xfrm>
            <a:off x="8247888" y="4553712"/>
            <a:ext cx="3108960" cy="420624"/>
          </a:xfrm>
          <a:prstGeom prst="rect">
            <a:avLst/>
          </a:prstGeom>
          <a:noFill/>
          <a:ln/>
        </p:spPr>
        <p:txBody>
          <a:bodyPr wrap="square" lIns="0" tIns="0" rIns="0" bIns="0" rtlCol="0" anchor="t"/>
          <a:lstStyle/>
          <a:p>
            <a:pPr indent="0" marL="0">
              <a:buNone/>
            </a:pPr>
            <a:r>
              <a:rPr lang="en-US" sz="2400" b="1" dirty="0">
                <a:solidFill>
                  <a:srgbClr val="0B2239"/>
                </a:solidFill>
                <a:latin typeface="Arial" pitchFamily="34" charset="0"/>
                <a:ea typeface="Arial" pitchFamily="34" charset="-122"/>
                <a:cs typeface="Arial" pitchFamily="34" charset="-120"/>
              </a:rPr>
              <a:t>Không</a:t>
            </a:r>
            <a:endParaRPr lang="en-US" sz="2400" dirty="0"/>
          </a:p>
        </p:txBody>
      </p:sp>
      <p:sp>
        <p:nvSpPr>
          <p:cNvPr id="44" name="Text 41"/>
          <p:cNvSpPr txBox="1"/>
          <p:nvPr/>
        </p:nvSpPr>
        <p:spPr>
          <a:xfrm>
            <a:off x="8247888" y="5010912"/>
            <a:ext cx="3127248" cy="438912"/>
          </a:xfrm>
          <a:prstGeom prst="rect">
            <a:avLst/>
          </a:prstGeom>
          <a:noFill/>
          <a:ln/>
        </p:spPr>
        <p:txBody>
          <a:bodyPr wrap="square" lIns="0" tIns="0" rIns="0" bIns="0" rtlCol="0" anchor="t"/>
          <a:lstStyle/>
          <a:p>
            <a:pPr indent="0" marL="0">
              <a:buNone/>
            </a:pPr>
            <a:r>
              <a:rPr lang="en-US" sz="1150" dirty="0">
                <a:solidFill>
                  <a:srgbClr val="1B2733"/>
                </a:solidFill>
                <a:latin typeface="Arial" pitchFamily="34" charset="0"/>
                <a:ea typeface="Arial" pitchFamily="34" charset="-122"/>
                <a:cs typeface="Arial" pitchFamily="34" charset="-120"/>
              </a:rPr>
              <a:t>FD001 cần huấn luyện lại hoặc domain adaptation</a:t>
            </a:r>
            <a:endParaRPr lang="en-US" sz="1150" dirty="0"/>
          </a:p>
        </p:txBody>
      </p:sp>
      <p:sp>
        <p:nvSpPr>
          <p:cNvPr id="45" name="Text 42"/>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250" b="1" dirty="0">
                <a:solidFill>
                  <a:srgbClr val="0B2239"/>
                </a:solidFill>
                <a:latin typeface="Arial" pitchFamily="34" charset="0"/>
                <a:ea typeface="Arial" pitchFamily="34" charset="-122"/>
                <a:cs typeface="Arial" pitchFamily="34" charset="-120"/>
              </a:rPr>
              <a:t>Đóng góp Big Data: batch ETL nhiều file, Parquet Silver/Gold, parity Pandas–PySpark và artifact có hash, run_info để tái lập.</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239"/>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t"/>
          <a:lstStyle/>
          <a:p>
            <a:pPr indent="0" marL="0">
              <a:buNone/>
            </a:pPr>
            <a:r>
              <a:rPr lang="en-US" sz="1050" b="1" spc="100" kern="0" dirty="0">
                <a:solidFill>
                  <a:srgbClr val="BFD9E3"/>
                </a:solidFill>
                <a:latin typeface="Arial" pitchFamily="34" charset="0"/>
                <a:ea typeface="Arial" pitchFamily="34" charset="-122"/>
                <a:cs typeface="Arial" pitchFamily="34" charset="-120"/>
              </a:rPr>
              <a:t>PHẦN 5 · MỞ RỘNG VÀ KẾT LUẬN</a:t>
            </a:r>
            <a:endParaRPr lang="en-US" sz="1050" dirty="0"/>
          </a:p>
        </p:txBody>
      </p:sp>
      <p:sp>
        <p:nvSpPr>
          <p:cNvPr id="3" name="Text 1"/>
          <p:cNvSpPr txBox="1"/>
          <p:nvPr/>
        </p:nvSpPr>
        <p:spPr>
          <a:xfrm>
            <a:off x="548640" y="731520"/>
            <a:ext cx="10972800"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Giới hạn và hướng tiếp theo</a:t>
            </a:r>
            <a:endParaRPr lang="en-US" sz="2700" dirty="0"/>
          </a:p>
        </p:txBody>
      </p:sp>
      <p:sp>
        <p:nvSpPr>
          <p:cNvPr id="4" name="Text 2"/>
          <p:cNvSpPr txBox="1"/>
          <p:nvPr/>
        </p:nvSpPr>
        <p:spPr>
          <a:xfrm>
            <a:off x="548640" y="1600200"/>
            <a:ext cx="5303520" cy="365760"/>
          </a:xfrm>
          <a:prstGeom prst="rect">
            <a:avLst/>
          </a:prstGeom>
          <a:noFill/>
          <a:ln/>
        </p:spPr>
        <p:txBody>
          <a:bodyPr wrap="square" lIns="0" tIns="0" rIns="0" bIns="0" rtlCol="0" anchor="t"/>
          <a:lstStyle/>
          <a:p>
            <a:pPr indent="0" marL="0">
              <a:buNone/>
            </a:pPr>
            <a:r>
              <a:rPr lang="en-US" sz="1700" b="1" dirty="0">
                <a:solidFill>
                  <a:srgbClr val="F2B880"/>
                </a:solidFill>
                <a:latin typeface="Arial" pitchFamily="34" charset="0"/>
                <a:ea typeface="Arial" pitchFamily="34" charset="-122"/>
                <a:cs typeface="Arial" pitchFamily="34" charset="-120"/>
              </a:rPr>
              <a:t>Giới hạn đã biết</a:t>
            </a:r>
            <a:endParaRPr lang="en-US" sz="1700" dirty="0"/>
          </a:p>
        </p:txBody>
      </p:sp>
      <p:sp>
        <p:nvSpPr>
          <p:cNvPr id="5" name="Text 3"/>
          <p:cNvSpPr txBox="1"/>
          <p:nvPr/>
        </p:nvSpPr>
        <p:spPr>
          <a:xfrm>
            <a:off x="548640" y="2103120"/>
            <a:ext cx="521208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Dữ liệu mô phỏng; FD001 chỉ có một điều kiện vận hành và một fault mode.</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Mỗi test engine chỉ được đánh giá tại một điểm cắt.</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Không có chi phí, downtime, intervention records: chưa tối ưu được lịch bảo trì.</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Benchmark Pandas/PySpark chạy local; ghi qua driver, chưa đo cluster.</a:t>
            </a:r>
            <a:endParaRPr lang="en-US" sz="1500" dirty="0"/>
          </a:p>
        </p:txBody>
      </p:sp>
      <p:sp>
        <p:nvSpPr>
          <p:cNvPr id="6" name="Text 4"/>
          <p:cNvSpPr txBox="1"/>
          <p:nvPr/>
        </p:nvSpPr>
        <p:spPr>
          <a:xfrm>
            <a:off x="6355080" y="1600200"/>
            <a:ext cx="5303520" cy="365760"/>
          </a:xfrm>
          <a:prstGeom prst="rect">
            <a:avLst/>
          </a:prstGeom>
          <a:noFill/>
          <a:ln/>
        </p:spPr>
        <p:txBody>
          <a:bodyPr wrap="square" lIns="0" tIns="0" rIns="0" bIns="0" rtlCol="0" anchor="t"/>
          <a:lstStyle/>
          <a:p>
            <a:pPr indent="0" marL="0">
              <a:buNone/>
            </a:pPr>
            <a:r>
              <a:rPr lang="en-US" sz="1700" b="1" dirty="0">
                <a:solidFill>
                  <a:srgbClr val="BFD9E3"/>
                </a:solidFill>
                <a:latin typeface="Arial" pitchFamily="34" charset="0"/>
                <a:ea typeface="Arial" pitchFamily="34" charset="-122"/>
                <a:cs typeface="Arial" pitchFamily="34" charset="-120"/>
              </a:rPr>
              <a:t>Đã bổ sung và hướng tiếp theo</a:t>
            </a:r>
            <a:endParaRPr lang="en-US" sz="1700" dirty="0"/>
          </a:p>
        </p:txBody>
      </p:sp>
      <p:sp>
        <p:nvSpPr>
          <p:cNvPr id="7" name="Text 5"/>
          <p:cNvSpPr txBox="1"/>
          <p:nvPr/>
        </p:nvSpPr>
        <p:spPr>
          <a:xfrm>
            <a:off x="6355080" y="2103120"/>
            <a:ext cx="521208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Refit mù HGB169 trên cùng protocol để xác nhận candidate bằng một lần chạy độc lập.</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Hiệu chuẩn warning policy riêng với chi phí báo sớm, báo trễ và tiêu chí vận hành.</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Đánh giá sai số theo toàn quỹ đạo trên engine chưa thấy và kèm khoảng không chắc chắn.</a:t>
            </a:r>
            <a:endParaRPr lang="en-US" sz="1500" dirty="0"/>
          </a:p>
          <a:p>
            <a:pPr marL="342900" indent="-342900">
              <a:spcAft>
                <a:spcPts val="1000"/>
              </a:spcAft>
              <a:buSzPct val="100000"/>
              <a:buChar char="•"/>
            </a:pPr>
            <a:r>
              <a:rPr lang="en-US" sz="1500" dirty="0">
                <a:solidFill>
                  <a:srgbClr val="FFFFFF"/>
                </a:solidFill>
                <a:latin typeface="Arial" pitchFamily="34" charset="0"/>
                <a:ea typeface="Arial" pitchFamily="34" charset="-122"/>
                <a:cs typeface="Arial" pitchFamily="34" charset="-120"/>
              </a:rPr>
              <a:t>Benchmark PySpark trên cluster thực; benchmark local hiện chỉ là bằng chứng khả năng chạy.</a:t>
            </a:r>
            <a:endParaRPr lang="en-US" sz="1500" dirty="0"/>
          </a:p>
        </p:txBody>
      </p:sp>
      <p:sp>
        <p:nvSpPr>
          <p:cNvPr id="8" name="Text 6"/>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Xin cảm ơn thầy/cô. Xin nhận câu hỏi.</a:t>
            </a:r>
            <a:endParaRPr lang="en-US" sz="2600" dirty="0"/>
          </a:p>
        </p:txBody>
      </p:sp>
      <p:sp>
        <p:nvSpPr>
          <p:cNvPr id="9" name="Text 7"/>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dirty="0">
                <a:solidFill>
                  <a:srgbClr val="BFD9E3"/>
                </a:solidFill>
                <a:latin typeface="Arial" pitchFamily="34" charset="0"/>
                <a:ea typeface="Arial" pitchFamily="34" charset="-122"/>
                <a:cs typeface="Arial" pitchFamily="34" charset="-120"/>
              </a:rPr>
              <a:t>Dashboard: uv run --extra dashboard streamlit run app.py · Kịch bản demo: handoff/DEMO_SCRIPT.md</a:t>
            </a:r>
            <a:endParaRPr lang="en-US" sz="1300" dirty="0"/>
          </a:p>
        </p:txBody>
      </p:sp>
      <p:sp>
        <p:nvSpPr>
          <p:cNvPr id="10" name="Text 8"/>
          <p:cNvSpPr txBox="1"/>
          <p:nvPr/>
        </p:nvSpPr>
        <p:spPr>
          <a:xfrm>
            <a:off x="10908792" y="6446520"/>
            <a:ext cx="731520" cy="237744"/>
          </a:xfrm>
          <a:prstGeom prst="rect">
            <a:avLst/>
          </a:prstGeom>
          <a:noFill/>
          <a:ln/>
        </p:spPr>
        <p:txBody>
          <a:bodyPr wrap="square" lIns="0" tIns="0" rIns="0" bIns="0" rtlCol="0" anchor="ctr"/>
          <a:lstStyle/>
          <a:p>
            <a:pPr algn="r" indent="0" marL="0">
              <a:buNone/>
            </a:pPr>
            <a:r>
              <a:rPr lang="en-US" sz="1000" dirty="0">
                <a:solidFill>
                  <a:srgbClr val="BFD9E3"/>
                </a:solidFill>
                <a:latin typeface="Arial" pitchFamily="34" charset="0"/>
                <a:ea typeface="Arial" pitchFamily="34" charset="-122"/>
                <a:cs typeface="Arial" pitchFamily="34" charset="-120"/>
              </a:rPr>
              <a:t>20 / 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Dự đoán RUL và cảnh báo sớm trên NASA C-MAPSS</dc:title>
  <dc:subject>PptxGenJS Presentation</dc:subject>
  <dc:creator>Phan Nguyễn Mai Phương</dc:creator>
  <cp:lastModifiedBy>Phan Nguyễn Mai Phương</cp:lastModifiedBy>
  <cp:revision>1</cp:revision>
  <dcterms:created xsi:type="dcterms:W3CDTF">2026-10-07T08:45:56Z</dcterms:created>
  <dcterms:modified xsi:type="dcterms:W3CDTF">2026-10-07T08:45:56Z</dcterms:modified>
</cp:coreProperties>
</file>