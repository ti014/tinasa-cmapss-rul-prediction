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733"/>
                </a:solidFill>
                <a:latin typeface="Arial"/>
              </a:defRPr>
            </a:pPr>
            <a:r>
              <a:rPr sz="1200" b="0" i="0" u="none" strike="noStrike">
                <a:solidFill>
                  <a:srgbClr val="1B2733"/>
                </a:solidFill>
                <a:latin typeface="Arial"/>
              </a:rPr>
              <a:t>build_engine_summary · Pandas · lần chạy cold (mili giây)</a:t>
            </a:r>
          </a:p>
        </c:rich>
      </c:tx>
      <c:layout/>
      <c:overlay val="0"/>
    </c:title>
    <c:autoTitleDeleted val="0"/>
    <c:plotArea>
      <c:layout/>
      <c:barChart>
        <c:barDir val="col"/>
        <c:grouping val="clustered"/>
        <c:varyColors val="0"/>
        <c:ser>
          <c:idx val="0"/>
          <c:order val="0"/>
          <c:tx>
            <c:strRef>
              <c:f>Sheet1!$B$1</c:f>
              <c:strCache>
                <c:ptCount val="1"/>
                <c:pt idx="0">
                  <c:v>ms</c:v>
                </c:pt>
              </c:strCache>
            </c:strRef>
          </c:tx>
          <c:spPr>
            <a:solidFill>
              <a:srgbClr val="157A7F"/>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1× · 33.727 dòng</c:v>
                  </c:pt>
                  <c:pt idx="1">
                    <c:v>10× · 337.270 dòng</c:v>
                  </c:pt>
                  <c:pt idx="2">
                    <c:v>100× · 3.372.700 dòng</c:v>
                  </c:pt>
                </c:lvl>
              </c:multiLvlStrCache>
            </c:multiLvlStrRef>
          </c:cat>
          <c:val>
            <c:numRef>
              <c:f>Sheet1!$B$2:$B$4</c:f>
              <c:numCache>
                <c:formatCode>General</c:formatCode>
                <c:ptCount val="3"/>
                <c:pt idx="0">
                  <c:v>20</c:v>
                </c:pt>
                <c:pt idx="1">
                  <c:v>159</c:v>
                </c:pt>
                <c:pt idx="2">
                  <c:v>1675</c:v>
                </c:pt>
              </c:numCache>
            </c:numRef>
          </c:val>
        </c:ser>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B2733"/>
                </a:solidFill>
                <a:latin typeface="Arial"/>
              </a:defRPr>
            </a:pPr>
            <a:r>
              <a:rPr sz="1150" b="0" i="0" u="none" strike="noStrike">
                <a:solidFill>
                  <a:srgbClr val="1B2733"/>
                </a:solidFill>
                <a:latin typeface="Arial"/>
              </a:rPr>
              <a:t>MAE trung bình trên 10 engine (thang Health Index)</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157A7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ARIMA · 0,4110</c:v>
                  </c:pt>
                  <c:pt idx="1">
                    <c:v>Drift · 0,7469</c:v>
                  </c:pt>
                  <c:pt idx="2">
                    <c:v>Last-value · 0,9478</c:v>
                  </c:pt>
                </c:lvl>
              </c:multiLvlStrCache>
            </c:multiLvlStrRef>
          </c:cat>
          <c:val>
            <c:numRef>
              <c:f>Sheet1!$B$2:$B$4</c:f>
              <c:numCache>
                <c:formatCode>General</c:formatCode>
                <c:ptCount val="3"/>
                <c:pt idx="0">
                  <c:v>0.411</c:v>
                </c:pt>
                <c:pt idx="1">
                  <c:v>0.7469</c:v>
                </c:pt>
                <c:pt idx="2">
                  <c:v>0.9478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733"/>
                </a:solidFill>
                <a:latin typeface="Arial"/>
              </a:defRPr>
            </a:pPr>
            <a:r>
              <a:rPr sz="1300" b="0" i="0" u="none" strike="noStrike">
                <a:solidFill>
                  <a:srgbClr val="1B2733"/>
                </a:solidFill>
                <a:latin typeface="Arial"/>
              </a:rPr>
              <a:t>Mean engine-level MAE, 5-fold GroupKFold (cycles)</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157A7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Median baseline · 46,95</c:v>
                  </c:pt>
                  <c:pt idx="1">
                    <c:v>Ridge (α = 1) · 23,99</c:v>
                  </c:pt>
                  <c:pt idx="2">
                    <c:v>HistGradientBoosting · 20,21</c:v>
                  </c:pt>
                </c:lvl>
              </c:multiLvlStrCache>
            </c:multiLvlStrRef>
          </c:cat>
          <c:val>
            <c:numRef>
              <c:f>Sheet1!$B$2:$B$4</c:f>
              <c:numCache>
                <c:formatCode>General</c:formatCode>
                <c:ptCount val="3"/>
                <c:pt idx="0">
                  <c:v>46.95</c:v>
                </c:pt>
                <c:pt idx="1">
                  <c:v>23.99</c:v>
                </c:pt>
                <c:pt idx="2">
                  <c:v>20.21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733"/>
                </a:solidFill>
                <a:latin typeface="Arial"/>
              </a:defRPr>
            </a:pPr>
            <a:r>
              <a:rPr sz="1100" b="0" i="0" u="none" strike="noStrike">
                <a:solidFill>
                  <a:srgbClr val="1B2733"/>
                </a:solidFill>
                <a:latin typeface="Arial"/>
              </a:rPr>
              <a:t>Thời điểm cảnh báo đầu tiên so với RUL thật = 30 (số engine)</a:t>
            </a:r>
          </a:p>
        </c:rich>
      </c:tx>
      <c:layout/>
      <c:overlay val="0"/>
    </c:title>
    <c:autoTitleDeleted val="0"/>
    <c:plotArea>
      <c:layout/>
      <c:barChart>
        <c:barDir val="col"/>
        <c:grouping val="clustered"/>
        <c:varyColors val="0"/>
        <c:ser>
          <c:idx val="0"/>
          <c:order val="0"/>
          <c:tx>
            <c:strRef>
              <c:f>Sheet1!$B$1</c:f>
              <c:strCache>
                <c:ptCount val="1"/>
                <c:pt idx="0">
                  <c:v>Engines</c:v>
                </c:pt>
              </c:strCache>
            </c:strRef>
          </c:tx>
          <c:spPr>
            <a:solidFill>
              <a:srgbClr val="157A7F"/>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Trước ngưỡng</c:v>
                  </c:pt>
                  <c:pt idx="1">
                    <c:v>Đúng ngưỡng</c:v>
                  </c:pt>
                  <c:pt idx="2">
                    <c:v>Sau ngưỡng</c:v>
                  </c:pt>
                </c:lvl>
              </c:multiLvlStrCache>
            </c:multiLvlStrRef>
          </c:cat>
          <c:val>
            <c:numRef>
              <c:f>Sheet1!$B$2:$B$4</c:f>
              <c:numCache>
                <c:formatCode>General</c:formatCode>
                <c:ptCount val="3"/>
                <c:pt idx="0">
                  <c:v>44</c:v>
                </c:pt>
                <c:pt idx="1">
                  <c:v>7</c:v>
                </c:pt>
                <c:pt idx="2">
                  <c:v>49</c:v>
                </c:pt>
              </c:numCache>
            </c:numRef>
          </c:val>
        </c:ser>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733"/>
                </a:solidFill>
                <a:latin typeface="Arial"/>
              </a:defRPr>
            </a:pPr>
            <a:r>
              <a:rPr sz="1300" b="0" i="0" u="none" strike="noStrike">
                <a:solidFill>
                  <a:srgbClr val="1B2733"/>
                </a:solidFill>
                <a:latin typeface="Arial"/>
              </a:rPr>
              <a:t>Mean engine MAE trên test (cycles, làm tròn), window 10</a:t>
            </a:r>
          </a:p>
        </c:rich>
      </c:tx>
      <c:layout/>
      <c:overlay val="0"/>
    </c:title>
    <c:autoTitleDeleted val="0"/>
    <c:plotArea>
      <c:layout/>
      <c:barChart>
        <c:barDir val="col"/>
        <c:grouping val="clustered"/>
        <c:varyColors val="0"/>
        <c:ser>
          <c:idx val="0"/>
          <c:order val="0"/>
          <c:tx>
            <c:strRef>
              <c:f>Sheet1!$B$1</c:f>
              <c:strCache>
                <c:ptCount val="1"/>
                <c:pt idx="0">
                  <c:v>Train và test cùng subset</c:v>
                </c:pt>
              </c:strCache>
            </c:strRef>
          </c:tx>
          <c:spPr>
            <a:solidFill>
              <a:srgbClr val="BFD9E3"/>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FD002</c:v>
                  </c:pt>
                  <c:pt idx="1">
                    <c:v>FD003</c:v>
                  </c:pt>
                  <c:pt idx="2">
                    <c:v>FD004</c:v>
                  </c:pt>
                </c:lvl>
              </c:multiLvlStrCache>
            </c:multiLvlStrRef>
          </c:cat>
          <c:val>
            <c:numRef>
              <c:f>Sheet1!$B$2:$B$4</c:f>
              <c:numCache>
                <c:formatCode>General</c:formatCode>
                <c:ptCount val="3"/>
                <c:pt idx="0">
                  <c:v>22.36</c:v>
                </c:pt>
                <c:pt idx="1">
                  <c:v>28.33</c:v>
                </c:pt>
                <c:pt idx="2">
                  <c:v>27.22</c:v>
                </c:pt>
              </c:numCache>
            </c:numRef>
          </c:val>
        </c:ser>
        <c:ser>
          <c:idx val="1"/>
          <c:order val="1"/>
          <c:tx>
            <c:strRef>
              <c:f>Sheet1!$C$1</c:f>
              <c:strCache>
                <c:ptCount val="1"/>
                <c:pt idx="0">
                  <c:v>Train FD001 → test subset</c:v>
                </c:pt>
              </c:strCache>
            </c:strRef>
          </c:tx>
          <c:spPr>
            <a:solidFill>
              <a:srgbClr val="C8701E"/>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FD002</c:v>
                  </c:pt>
                  <c:pt idx="1">
                    <c:v>FD003</c:v>
                  </c:pt>
                  <c:pt idx="2">
                    <c:v>FD004</c:v>
                  </c:pt>
                </c:lvl>
              </c:multiLvlStrCache>
            </c:multiLvlStrRef>
          </c:cat>
          <c:val>
            <c:numRef>
              <c:f>Sheet1!$C$2:$C$4</c:f>
              <c:numCache>
                <c:formatCode>General</c:formatCode>
                <c:ptCount val="3"/>
                <c:pt idx="0">
                  <c:v>60.32</c:v>
                </c:pt>
                <c:pt idx="1">
                  <c:v>47.39</c:v>
                </c:pt>
                <c:pt idx="2">
                  <c:v>58.57</c:v>
                </c:pt>
              </c:numCache>
            </c:numRef>
          </c:val>
        </c:ser>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7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30 giây.
Chào thầy/cô. Giới thiệu tên, môn học. Nêu một câu mục tiêu: xây dựng pipeline từ raw data đến dự đoán RUL và cảnh báo sớm, có thể kiểm tra và tái lập.
Bốn con số ở dưới là khung của bài: 100 train engines, 21 sensor, 126 đặc trưng, MAE 15,3490 cycles trên 100 test engines.
Nguồn: outputs/modeling/tables/final_metrics.json; outputs/features/run_info.json.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Đọc nhanh 5 phần và thời lượng. Nhấn mạnh ba câu hỏi nghiên cứu; slide 19 sẽ trả lời lại từng câu bằng số liệu.
Q1 gắn với yêu cầu trực quan hóa xu hướng suy giảm. Q2 gắn với dự đoán thời điểm cần bảo trì. Q3 gắn với biểu đồ cảnh báo sớm và câu hỏi tổng quát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Remaining Useful Life (RUL, tuổi thọ hữu ích còn lại) là số cycle vận hành còn lại trước failure. Đây là supervised regression.
Ví dụ: engine kết thúc ở cycle 200, tại cycle 170 thì RUL = 30 cycles. Đơn vị là cycle; dữ liệu không có thông tin quy đổi ra giờ hoặc ngày.
Bảng bên phải đối chiếu từng yêu cầu kỹ thuật của đề tài với phần đã làm và slide trình bày. Nói rõ: xử lý nhiễu được thực hiện qua thống kê trên window và Health Index; repository chưa dùng bộ lọc tín hiệu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C-MAPSS là dữ liệu mô phỏng động cơ turbofan của NASA. Mỗi subset có train (chạy đến failure), test (bị cắt trước failure) và file RUL_FD00x.txt chứa nhãn test.
FD001: 1 điều kiện vận hành, 1 fault mode (HPC degradation), 100 train và 100 test engines, 33.727 observations.
FD002 thêm 6 điều kiện vận hành; FD003 thêm fault mode Fan; FD004 có cả hai.
Mỗi dòng có 26 trường: engine_id, cycle, 3 operational settings, 21 sensor. Khóa trong một subset là (split, engine_id,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Train: mỗi engine chạy đến failure nên nhãn suy ra trực tiếp: RUL = cycle cuối − cycle hiện tại. FD001 có 20.631 nhãn train.
Test: chuỗi bị cắt trước failure. Không được lấy cycle cuối quan sát làm failure. Model tạo đúng một dự đoán tại cycle cuối quan sát của mỗi test engine; sau khi ghi final predictions mới ghép RUL_FD001.txt để chấm điểm. run_info ghi test_label_join.status = completed_after_final_predictions.
Bên phải: ba kiểm soát cho nhãn test. final_metrics.json ghi test_label_sha256 để đối chiếu file nhãn đã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 phút.
Đọc sơ đồ từ trái sang phải. Bronze là file raw. Reader kiểm tra đúng 26 trường, kiểu dữ liệu, khóa duy nhất và cycle liên tục; train và test được union theo dòng (Pandas concat hoặc PySpark unionByName), không phải join.
Silver lưu observations và train_targets dạng Parquet. Gold lưu engine_summary dạng Parquet và SQLite. Từ Silver, bước đặc trưng tạo trailing window 30 cycles.
Modeling dùng GroupKFold, refit và tạo 100 dự đoán test. Hai nhánh phụ EDA/thống kê và Health Index chỉ dùng train.
Phần Big Data nằm ở batch ETL nhiều file, Parquet Silver/Gold và parity Pandas–PySpark. Modeling và rolling features dùng Pandas/scikit-learn.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 phút.
Bảng trái: cùng input, Pandas pipeline và PySpark pipeline cho cùng schema, khóa, số dòng và giá trị ở ba boundary; sai khác tuyệt đối lớn nhất bằng 0.
Biểu đồ phải: nhân bản dữ liệu 1×, 10×, 100× rồi đo phép build_engine_summary bằng Pandas. 100× là 3.372.700 dòng, lần chạy cold mất 1,6752 giây.
Giới hạn cần nói rõ: đây không phải benchmark PySpark, không đo I/O và không chạy trên cluster. PySpark hiện chạy local để kiểm tra parity. Không claim Airflow hoặc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Histogram và boxplot: tuổi thọ train từ 128 đến 362 cycles, trung vị 199, có vài engine dài bất thường ở đuôi phải.
Bảy cột không đổi trong cả 100 engine: sensor 1, 5, 10, 16, 18, 19 và setting_3. sensor_6 không đổi trong 38/100 engine.
Repository chưa làm feature selection dựa trên EDA; các cột này vẫn nằm trong 126 đặc trưng. Đây là quyết định có chủ đích để không dùng kết quả EDA làm bước chọn biến ngoài training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45 giây.
Hai hình là quỹ đạo gốc của ba train engine có tuổi thọ 178, 199 và 229 cycles. sensor_4 tăng dần, sensor_7 giảm dần khi tiến gần failure; tín hiệu có nhiễu theo từng cycle.
Kiểm định: với mỗi train engine, lấy mean 30 cycle cuối trừ mean 30 cycle đầu. Bootstrap theo engine 10.000 lần cho khoảng tin cậy, Wilcoxon signed-rank cho p-value, Benjamini–Hochberg với q = 0,05 cho 21 sensor.
Kết quả: 15 sensor bác bỏ giả thuyết không; 6 sensor hằng số nên không kiểm định.
Giới hạn: đây là mô tả khác biệt đầu/cuối vòng đời, không chứng minh nhân quả và không phải feature selection.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45 giây.
Ví dụ tại cycle 170: window gồm cycles 141–170. Cycle 171 trở đi không được dùng.
Với mỗi sensor tính 6 thống kê: last, mean, sample std, min, max, slope tuyến tính. 21 × 6 = 126 cột.
29 cycle đầu mỗi engine chưa đủ window nên không tạo dòng; không padding. FD001 có 17.731 train windows và 10.196 test windows.
Về yêu cầu xử lý nhiễu và chuẩn hóa: mean, min, max, slope trên 30 cycle tóm tắt dao động từng cycle; repository chưa dùng bộ lọc tín hiệu riêng. ETL chuẩn hóa schema và kiểu dữ liệu. StandardScaler fit trong training fold cho Ridge và trên 90 engine cho Health Index; HGB dùng thang đo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Health Index là PC1 sau StandardScaler; scaler, PCA và hướng PC1 fit trên 90 train engines, 10 engine còn lại chỉ được transform. Hình cho thấy chỉ số giảm dần và giảm nhanh ở cuối vòng đời: đây là biểu đồ xu hướng suy giảm mà đề tài yêu cầu.
ARIMA fit 70% đầu chuỗi, dự báo 30% cuối. MAE trung bình 0,4110, thấp hơn drift 0,7469 và last-value 0,9478 (thang Health Index, không phải cycle).
Giới hạn: ARIMA chỉ thấp hơn drift ở 7/10 engine; coverage khoảng dự đoán 95% dao động 21,43%–97,03%. Health Index forecast không phải RUL forecast; đây là phân tích phụ.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Sơ đồ trái: 100 train engines chia thành 5 nhóm 20 engine. Mỗi fold dùng một nhóm làm validation, bốn nhóm còn lại để fit.
Vì sao không chia ngẫu nhiên theo dòng: hai window liền kề của cùng engine chồng lấn 29/30 cycle. Nếu một window ở train và window kề nó ở validation, metric sẽ lạc quan.
Bốn bước bên phải: chọn model bằng mean engine-level MAE; đặt trọng số để tổng trọng số mỗi engine bằng 1, engine dài không chi phối loss; refit trên toàn bộ 17.731 train windows; dự đoán một điểm cho mỗi test engine rồi mới ghép nhãn.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15 giây.
Ba ứng viên: median baseline (dự đoán hằng), Ridge với StandardScaler trong pipeline, HistGradientBoostingRegressor.
Mean engine MAE: median 46,9543, Ridge 23,9922, HGB 20,2143 cycles. HGB được chọn.
Baseline cho biết mô hình học được nhiều hơn một dự đoán hằng. Kết luận chỉ áp dụng trong ba ứng viên và protocol này; không nói HGB là tốt nhất cho mọi dataset.
Lưu ý: MAE CV (khoảng 20) và MAE test (khoảng 15) không so trực tiếp: CV chấm mọi train window từ cycle 30 đến failure, còn test chỉ chấm một điểm cắt mỗi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45 giây.
Kết quả chính của báo cáo: mean engine MAE 15,3490 cycles, RMSE 20,5413 cycles, NASA score 1.513,2577.
Bootstrap theo engine 10.000 lần: khoảng tin cậy 95% cho MAE là [12,7286; 18,0866].
Đọc hình: trục ngang là RUL thật, trục dọc là RUL dự đoán; điểm càng gần đường chéo càng đúng. Vùng RUL thấp bám sát đường chéo hơn vùng RUL cao.
Trên slide làm tròn 2 chữ số; số đầy đủ nằm trong notes và báo cáo. NASA score bất đối xứng, không có đơn vị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Hình: residual = dự đoán − thật theo RUL thật. Residual dương nghĩa là model nghĩ engine còn sống lâu hơn thực tế.
74 dự đoán cao hơn RUL thật, 26 dự đoán thấp hơn. Sai số tăng khi RUL thật lớn: ở đầu vòng đời tín hiệu suy giảm còn yếu.
Ví dụ engine 23: RUL thật 113, dự đoán 170,4768, sai 57,4768 cycles. Không loại engine này khỏi metric.
Mười trường hợp sai lớn nhất chiếm 75,5% NASA score. Trên OOF, khi RUL thật 150–200 dự đoán trung bình 147,16; khi 200–400 là 145,36 cycles: model không phân biệt được các trạng thái còn khỏe (outputs/diagnostics/error_diagnostics.json).
Thông điệp: metric trung bình không thay thế việc xem từng trường hợp sai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 phút.
Đây là biểu đồ xu hướng cảnh báo sớm theo yêu cầu đề tài. Hình: engine 1, đường xanh là RUL thật, đường đỏ là RUL dự đoán OOF, đường cam là ngưỡng 30 cycles. Cảnh báo đầu tiên tại cycle 162, trước failure ở cycle 192 đúng 30 cycles.
Trên 100 engine: 44 cảnh báo trước khi RUL thật chạm 30, 7 đúng ngưỡng, 49 sau ngưỡng nhưng vẫn trước failure; không engine nào thiếu cảnh báo.
Lead time đến failure: trung vị 30 cycles, khoảng tứ phân vị 26–35, miền 19–55.
Cảnh báo trễ tập trung ở engine ngắn đời: 49 engine cảnh báo sau ngưỡng có tuổi thọ trung bình 182,8 cycles, so với 229,1 ở nhóm cảnh báo trước ngưỡng; tương quan Pearson giữa tuổi thọ và độ trễ là -0,56.
Giới hạn: OOF cũng đã dùng để chọn model, nên đây là mô tả nội bộ. Mọi train engine đều đi đến failure nên tỷ lệ cảnh báo sai cấp engine không xác định. Không có chi phí bảo trì nên chưa phải chính sách bảo trì.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45 giây.
Mục tiêu: giảm sai số khi RUL ≤ 30 và giảm cảnh báo trễ, không làm tăng MAE toàn bộ. Nested GroupKFold 5×3: vòng ngoài giữ riêng một nhóm engine để đánh giá; vòng trong chia phần còn lại thành 3 nhóm để chọn cấu hình.
Vòng ngoài trên 17.731 dòng: MAE RUL thấp 3,6676 → 3,6730 cycles (Δ +0,0054, CI 95% [-0,0506; 0,0639]); cảnh báo trễ/bỏ lỡ 49 → 53. Không đạt tiêu chí, giữ baseline; test MAE vẫn 15,3490.
Bảng dưới là inner CV dùng để chọn: hgb_08 giảm MAE RUL thấp khoảng 9,75% nhưng tăng MAE toàn bộ 0,32 cycles. Đây là đánh đổi, không phải bằng chứng ngoài mẫu. Đợt sau cần chốt mức đánh đổi chấp nhận được trước khi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Câu hỏi: model FD001 có dùng được cho subset khác không. Chạy cùng pipeline với window 10 vì FD004 có test engine ngắn nhất chỉ 19 cycles. Không so các số này với MAE 15,3490 dùng window 30.
Cột xanh nhạt: train và test cùng subset (FD002 22,3556, FD003 28,3255, FD004 27,2218). Cột cam: giữ model FD001 áp dụng sang test subset khác (60,3215, 47,3949, 58,5731). FD001 nội bộ với window 10 là 21,9258.
Chẩn đoán: với FD002 và FD004 chỉ khoảng 15% và 14% giá trị sensor test nằm trong miền train FD001, dự đoán gần như hằng số (độ lệch chuẩn 13,3 và 12,7). FD003 có 95% giá trị trong miền nhưng dự đoán lệch cao trung bình 45,3 cycles.
Diễn giải: khác biệt điều kiện vận hành (FD002) và fault mode (FD003) đều làm MAE tăng; FD004 có cả hai. Kết luận thực tế: cần huấn luyện lại hoặc domain adaptation trước khi áp dụng. Đây là negative result nhưng trả lời trực tiếp câu hỏi tổng quát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15 giây.
Q1: có. 15/21 sensor thay đổi giữa đầu và cuối vòng đời; Health Index giảm rõ ở cuối vòng đời.
Q2: MAE 15,3490 cycles, CI 95% [12,7286; 18,0866] trên 100 test engines FD001, window 30.
Q3: với ngưỡng 30 cycles, lead time trung vị 30 cycles trên OOF, nhưng 49/100 cảnh báo đến sau ngưỡng thật. Model FD001 không chuyển trực tiếp sang subset khác.
Đóng góp Big Data: batch ETL nhiều file, Parquet Silver/Gold, parity Pandas–PySpark, artifact có hash và run_info.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45 giây, sau đó hỏi đáp.
Nêu bốn giới hạn chính, không làm mạnh câu chữ. Bốn hướng tiếp theo lấy từ Mục 6.7 của báo cáo; là đề xuất, chưa triển khai. Hướng CNN/LSTM: RMSE báo cáo 20,54, Li và cộng sự (2018, Table 4) đạt 12,61 khi cắt nhãn ở 125 và 13,32 khi không cắt; hai kết quả không so trực tiếp.
Nếu còn thời gian hoặc cô yêu cầu: mở dashboard theo handoff/DEMO_SCRIPT.md (khoảng 4 phút); không chạy lại training khi trình bày.
Nguồn: report/sections/discussion.tex.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9"/>
        </a:solidFill>
      </p:bgPr>
    </p:bg>
    <p:spTree>
      <p:nvGrpSpPr>
        <p:cNvPr id="1" name=""/>
        <p:cNvGrpSpPr/>
        <p:nvPr/>
      </p:nvGrpSpPr>
      <p:grpSpPr>
        <a:xfrm>
          <a:off x="0" y="0"/>
          <a:ext cx="0" cy="0"/>
          <a:chOff x="0" y="0"/>
          <a:chExt cx="0" cy="0"/>
        </a:xfrm>
      </p:grpSpPr>
      <p:sp>
        <p:nvSpPr>
          <p:cNvPr id="2" name="Text 0"/>
          <p:cNvSpPr txBox="1"/>
          <p:nvPr/>
        </p:nvSpPr>
        <p:spPr>
          <a:xfrm>
            <a:off x="731520" y="731520"/>
            <a:ext cx="9144000" cy="320040"/>
          </a:xfrm>
          <a:prstGeom prst="rect">
            <a:avLst/>
          </a:prstGeom>
          <a:noFill/>
          <a:ln/>
        </p:spPr>
        <p:txBody>
          <a:bodyPr wrap="square" lIns="0" tIns="0" rIns="0" bIns="0" rtlCol="0" anchor="t"/>
          <a:lstStyle/>
          <a:p>
            <a:pPr indent="0" marL="0">
              <a:buNone/>
            </a:pPr>
            <a:r>
              <a:rPr lang="en-US" sz="1300" b="1" spc="200" kern="0" dirty="0">
                <a:solidFill>
                  <a:srgbClr val="BFD9E3"/>
                </a:solidFill>
                <a:latin typeface="Arial" pitchFamily="34" charset="0"/>
                <a:ea typeface="Arial" pitchFamily="34" charset="-122"/>
                <a:cs typeface="Arial" pitchFamily="34" charset="-120"/>
              </a:rPr>
              <a:t>BÁO CÁO CUỐI KỲ · PHÂN TÍCH DỮ LIỆU LỚN</a:t>
            </a:r>
            <a:endParaRPr lang="en-US" sz="1300" dirty="0"/>
          </a:p>
        </p:txBody>
      </p:sp>
      <p:sp>
        <p:nvSpPr>
          <p:cNvPr id="3" name="Text 1"/>
          <p:cNvSpPr txBox="1"/>
          <p:nvPr/>
        </p:nvSpPr>
        <p:spPr>
          <a:xfrm>
            <a:off x="731520" y="1325880"/>
            <a:ext cx="10241280" cy="146304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Dự đoán tuổi thọ còn lại và cảnh báo sớm cho động cơ turbofan</a:t>
            </a:r>
            <a:endParaRPr lang="en-US" sz="4000" dirty="0"/>
          </a:p>
        </p:txBody>
      </p:sp>
      <p:sp>
        <p:nvSpPr>
          <p:cNvPr id="4" name="Text 2"/>
          <p:cNvSpPr txBox="1"/>
          <p:nvPr/>
        </p:nvSpPr>
        <p:spPr>
          <a:xfrm>
            <a:off x="731520" y="2880360"/>
            <a:ext cx="10058400" cy="457200"/>
          </a:xfrm>
          <a:prstGeom prst="rect">
            <a:avLst/>
          </a:prstGeom>
          <a:noFill/>
          <a:ln/>
        </p:spPr>
        <p:txBody>
          <a:bodyPr wrap="square" lIns="0" tIns="0" rIns="0" bIns="0" rtlCol="0" anchor="t"/>
          <a:lstStyle/>
          <a:p>
            <a:pPr indent="0" marL="0">
              <a:buNone/>
            </a:pPr>
            <a:r>
              <a:rPr lang="en-US" sz="2000" dirty="0">
                <a:solidFill>
                  <a:srgbClr val="BFD9E3"/>
                </a:solidFill>
                <a:latin typeface="Arial" pitchFamily="34" charset="0"/>
                <a:ea typeface="Arial" pitchFamily="34" charset="-122"/>
                <a:cs typeface="Arial" pitchFamily="34" charset="-120"/>
              </a:rPr>
              <a:t>Pipeline dữ liệu chuỗi thời gian trên NASA C-MAPSS FD001–FD004</a:t>
            </a:r>
            <a:endParaRPr lang="en-US" sz="2000" dirty="0"/>
          </a:p>
        </p:txBody>
      </p:sp>
      <p:sp>
        <p:nvSpPr>
          <p:cNvPr id="5" name="Text 3"/>
          <p:cNvSpPr txBox="1"/>
          <p:nvPr/>
        </p:nvSpPr>
        <p:spPr>
          <a:xfrm>
            <a:off x="73152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100</a:t>
            </a:r>
            <a:endParaRPr lang="en-US" sz="3000" dirty="0"/>
          </a:p>
        </p:txBody>
      </p:sp>
      <p:sp>
        <p:nvSpPr>
          <p:cNvPr id="6" name="Text 4"/>
          <p:cNvSpPr txBox="1"/>
          <p:nvPr/>
        </p:nvSpPr>
        <p:spPr>
          <a:xfrm>
            <a:off x="73152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train engines FD001</a:t>
            </a:r>
            <a:endParaRPr lang="en-US" sz="1300" dirty="0"/>
          </a:p>
        </p:txBody>
      </p:sp>
      <p:sp>
        <p:nvSpPr>
          <p:cNvPr id="7" name="Text 5"/>
          <p:cNvSpPr txBox="1"/>
          <p:nvPr/>
        </p:nvSpPr>
        <p:spPr>
          <a:xfrm>
            <a:off x="338328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21</a:t>
            </a:r>
            <a:endParaRPr lang="en-US" sz="3000" dirty="0"/>
          </a:p>
        </p:txBody>
      </p:sp>
      <p:sp>
        <p:nvSpPr>
          <p:cNvPr id="8" name="Text 6"/>
          <p:cNvSpPr txBox="1"/>
          <p:nvPr/>
        </p:nvSpPr>
        <p:spPr>
          <a:xfrm>
            <a:off x="338328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sensor mỗi cycle</a:t>
            </a:r>
            <a:endParaRPr lang="en-US" sz="1300" dirty="0"/>
          </a:p>
        </p:txBody>
      </p:sp>
      <p:sp>
        <p:nvSpPr>
          <p:cNvPr id="9" name="Text 7"/>
          <p:cNvSpPr txBox="1"/>
          <p:nvPr/>
        </p:nvSpPr>
        <p:spPr>
          <a:xfrm>
            <a:off x="603504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126</a:t>
            </a:r>
            <a:endParaRPr lang="en-US" sz="3000" dirty="0"/>
          </a:p>
        </p:txBody>
      </p:sp>
      <p:sp>
        <p:nvSpPr>
          <p:cNvPr id="10" name="Text 8"/>
          <p:cNvSpPr txBox="1"/>
          <p:nvPr/>
        </p:nvSpPr>
        <p:spPr>
          <a:xfrm>
            <a:off x="603504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đặc trưng từ window 30</a:t>
            </a:r>
            <a:endParaRPr lang="en-US" sz="1300" dirty="0"/>
          </a:p>
        </p:txBody>
      </p:sp>
      <p:sp>
        <p:nvSpPr>
          <p:cNvPr id="11" name="Text 9"/>
          <p:cNvSpPr txBox="1"/>
          <p:nvPr/>
        </p:nvSpPr>
        <p:spPr>
          <a:xfrm>
            <a:off x="868680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15,35</a:t>
            </a:r>
            <a:endParaRPr lang="en-US" sz="3000" dirty="0"/>
          </a:p>
        </p:txBody>
      </p:sp>
      <p:sp>
        <p:nvSpPr>
          <p:cNvPr id="12" name="Text 10"/>
          <p:cNvSpPr txBox="1"/>
          <p:nvPr/>
        </p:nvSpPr>
        <p:spPr>
          <a:xfrm>
            <a:off x="868680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MAE (cycles) trên test</a:t>
            </a:r>
            <a:endParaRPr lang="en-US" sz="1300" dirty="0"/>
          </a:p>
        </p:txBody>
      </p:sp>
      <p:sp>
        <p:nvSpPr>
          <p:cNvPr id="13" name="Text 11"/>
          <p:cNvSpPr txBox="1"/>
          <p:nvPr/>
        </p:nvSpPr>
        <p:spPr>
          <a:xfrm>
            <a:off x="731520" y="5532120"/>
            <a:ext cx="7315200" cy="347472"/>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Phan Nguyễn Mai Phương · MSHV 25002711</a:t>
            </a:r>
            <a:endParaRPr lang="en-US" sz="1700" dirty="0"/>
          </a:p>
        </p:txBody>
      </p:sp>
      <p:sp>
        <p:nvSpPr>
          <p:cNvPr id="14" name="Text 12"/>
          <p:cNvSpPr txBox="1"/>
          <p:nvPr/>
        </p:nvSpPr>
        <p:spPr>
          <a:xfrm>
            <a:off x="731520" y="5897880"/>
            <a:ext cx="731520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Học viên cao học ngành Khoa học máy tính · Tháng 9/2026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Nội dung trình bày và ba câu hỏi nghiên cứu</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30 phút, 5 phần; kết luận ở cuối trả lời lần lượt từng câu hỏi</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report/main.pdf; handoff/SPEECH_SCRIPT_VI.pdf</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2 / 20</a:t>
            </a:r>
            <a:endParaRPr lang="en-US" sz="1000" dirty="0"/>
          </a:p>
        </p:txBody>
      </p:sp>
      <p:sp>
        <p:nvSpPr>
          <p:cNvPr id="9" name="Shape 6"/>
          <p:cNvSpPr/>
          <p:nvPr/>
        </p:nvSpPr>
        <p:spPr>
          <a:xfrm>
            <a:off x="548640" y="2011680"/>
            <a:ext cx="548640" cy="548640"/>
          </a:xfrm>
          <a:prstGeom prst="ellipse">
            <a:avLst/>
          </a:prstGeom>
          <a:solidFill>
            <a:srgbClr val="0B2239"/>
          </a:solidFill>
          <a:ln/>
        </p:spPr>
      </p:sp>
      <p:sp>
        <p:nvSpPr>
          <p:cNvPr id="10" name="Text 7"/>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1280160" y="2029968"/>
            <a:ext cx="4206240" cy="310896"/>
          </a:xfrm>
          <a:prstGeom prst="rect">
            <a:avLst/>
          </a:prstGeom>
          <a:noFill/>
          <a:ln/>
        </p:spPr>
        <p:txBody>
          <a:bodyPr wrap="square" lIns="0" tIns="0" rIns="0" bIns="0" rtlCol="0" anchor="t"/>
          <a:lstStyle/>
          <a:p>
            <a:pPr indent="0" marL="0">
              <a:buNone/>
            </a:pPr>
            <a:r>
              <a:rPr lang="en-US" sz="1800" b="1" dirty="0">
                <a:solidFill>
                  <a:srgbClr val="1B2733"/>
                </a:solidFill>
                <a:latin typeface="Arial" pitchFamily="34" charset="0"/>
                <a:ea typeface="Arial" pitchFamily="34" charset="-122"/>
                <a:cs typeface="Arial" pitchFamily="34" charset="-120"/>
              </a:rPr>
              <a:t>Bài toán và dữ liệu</a:t>
            </a:r>
            <a:endParaRPr lang="en-US" sz="1800" dirty="0"/>
          </a:p>
        </p:txBody>
      </p:sp>
      <p:sp>
        <p:nvSpPr>
          <p:cNvPr id="12" name="Text 9"/>
          <p:cNvSpPr txBox="1"/>
          <p:nvPr/>
        </p:nvSpPr>
        <p:spPr>
          <a:xfrm>
            <a:off x="1280160" y="2340864"/>
            <a:ext cx="4206240" cy="237744"/>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Slide 2–5 · 6 phút</a:t>
            </a:r>
            <a:endParaRPr lang="en-US" sz="1250" dirty="0"/>
          </a:p>
        </p:txBody>
      </p:sp>
      <p:sp>
        <p:nvSpPr>
          <p:cNvPr id="13" name="Shape 10"/>
          <p:cNvSpPr/>
          <p:nvPr/>
        </p:nvSpPr>
        <p:spPr>
          <a:xfrm>
            <a:off x="548640" y="2834640"/>
            <a:ext cx="548640" cy="548640"/>
          </a:xfrm>
          <a:prstGeom prst="ellipse">
            <a:avLst/>
          </a:prstGeom>
          <a:solidFill>
            <a:srgbClr val="0B2239"/>
          </a:solidFill>
          <a:ln/>
        </p:spPr>
      </p:sp>
      <p:sp>
        <p:nvSpPr>
          <p:cNvPr id="14" name="Text 11"/>
          <p:cNvSpPr txBox="1"/>
          <p:nvPr/>
        </p:nvSpPr>
        <p:spPr>
          <a:xfrm>
            <a:off x="548640" y="2834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2"/>
          <p:cNvSpPr txBox="1"/>
          <p:nvPr/>
        </p:nvSpPr>
        <p:spPr>
          <a:xfrm>
            <a:off x="1280160" y="2852928"/>
            <a:ext cx="4206240" cy="310896"/>
          </a:xfrm>
          <a:prstGeom prst="rect">
            <a:avLst/>
          </a:prstGeom>
          <a:noFill/>
          <a:ln/>
        </p:spPr>
        <p:txBody>
          <a:bodyPr wrap="square" lIns="0" tIns="0" rIns="0" bIns="0" rtlCol="0" anchor="t"/>
          <a:lstStyle/>
          <a:p>
            <a:pPr indent="0" marL="0">
              <a:buNone/>
            </a:pPr>
            <a:r>
              <a:rPr lang="en-US" sz="1800" b="1" dirty="0">
                <a:solidFill>
                  <a:srgbClr val="1B2733"/>
                </a:solidFill>
                <a:latin typeface="Arial" pitchFamily="34" charset="0"/>
                <a:ea typeface="Arial" pitchFamily="34" charset="-122"/>
                <a:cs typeface="Arial" pitchFamily="34" charset="-120"/>
              </a:rPr>
              <a:t>Pipeline Big Data</a:t>
            </a:r>
            <a:endParaRPr lang="en-US" sz="1800" dirty="0"/>
          </a:p>
        </p:txBody>
      </p:sp>
      <p:sp>
        <p:nvSpPr>
          <p:cNvPr id="16" name="Text 13"/>
          <p:cNvSpPr txBox="1"/>
          <p:nvPr/>
        </p:nvSpPr>
        <p:spPr>
          <a:xfrm>
            <a:off x="1280160" y="3163824"/>
            <a:ext cx="4206240" cy="237744"/>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Slide 6–7 · 4 phút</a:t>
            </a:r>
            <a:endParaRPr lang="en-US" sz="1250" dirty="0"/>
          </a:p>
        </p:txBody>
      </p:sp>
      <p:sp>
        <p:nvSpPr>
          <p:cNvPr id="17" name="Shape 14"/>
          <p:cNvSpPr/>
          <p:nvPr/>
        </p:nvSpPr>
        <p:spPr>
          <a:xfrm>
            <a:off x="548640" y="3657600"/>
            <a:ext cx="548640" cy="548640"/>
          </a:xfrm>
          <a:prstGeom prst="ellipse">
            <a:avLst/>
          </a:prstGeom>
          <a:solidFill>
            <a:srgbClr val="0B2239"/>
          </a:solidFill>
          <a:ln/>
        </p:spPr>
      </p:sp>
      <p:sp>
        <p:nvSpPr>
          <p:cNvPr id="18" name="Text 15"/>
          <p:cNvSpPr txBox="1"/>
          <p:nvPr/>
        </p:nvSpPr>
        <p:spPr>
          <a:xfrm>
            <a:off x="548640" y="36576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6"/>
          <p:cNvSpPr txBox="1"/>
          <p:nvPr/>
        </p:nvSpPr>
        <p:spPr>
          <a:xfrm>
            <a:off x="1280160" y="3675888"/>
            <a:ext cx="4206240" cy="310896"/>
          </a:xfrm>
          <a:prstGeom prst="rect">
            <a:avLst/>
          </a:prstGeom>
          <a:noFill/>
          <a:ln/>
        </p:spPr>
        <p:txBody>
          <a:bodyPr wrap="square" lIns="0" tIns="0" rIns="0" bIns="0" rtlCol="0" anchor="t"/>
          <a:lstStyle/>
          <a:p>
            <a:pPr indent="0" marL="0">
              <a:buNone/>
            </a:pPr>
            <a:r>
              <a:rPr lang="en-US" sz="1800" b="1" dirty="0">
                <a:solidFill>
                  <a:srgbClr val="1B2733"/>
                </a:solidFill>
                <a:latin typeface="Arial" pitchFamily="34" charset="0"/>
                <a:ea typeface="Arial" pitchFamily="34" charset="-122"/>
                <a:cs typeface="Arial" pitchFamily="34" charset="-120"/>
              </a:rPr>
              <a:t>Phân tích chuỗi thời gian</a:t>
            </a:r>
            <a:endParaRPr lang="en-US" sz="1800" dirty="0"/>
          </a:p>
        </p:txBody>
      </p:sp>
      <p:sp>
        <p:nvSpPr>
          <p:cNvPr id="20" name="Text 17"/>
          <p:cNvSpPr txBox="1"/>
          <p:nvPr/>
        </p:nvSpPr>
        <p:spPr>
          <a:xfrm>
            <a:off x="1280160" y="3986784"/>
            <a:ext cx="4206240" cy="237744"/>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Slide 8–11 · 6 phút</a:t>
            </a:r>
            <a:endParaRPr lang="en-US" sz="1250" dirty="0"/>
          </a:p>
        </p:txBody>
      </p:sp>
      <p:sp>
        <p:nvSpPr>
          <p:cNvPr id="21" name="Shape 18"/>
          <p:cNvSpPr/>
          <p:nvPr/>
        </p:nvSpPr>
        <p:spPr>
          <a:xfrm>
            <a:off x="548640" y="4480560"/>
            <a:ext cx="548640" cy="548640"/>
          </a:xfrm>
          <a:prstGeom prst="ellipse">
            <a:avLst/>
          </a:prstGeom>
          <a:solidFill>
            <a:srgbClr val="0B2239"/>
          </a:solidFill>
          <a:ln/>
        </p:spPr>
      </p:sp>
      <p:sp>
        <p:nvSpPr>
          <p:cNvPr id="22" name="Text 19"/>
          <p:cNvSpPr txBox="1"/>
          <p:nvPr/>
        </p:nvSpPr>
        <p:spPr>
          <a:xfrm>
            <a:off x="548640" y="4480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20"/>
          <p:cNvSpPr txBox="1"/>
          <p:nvPr/>
        </p:nvSpPr>
        <p:spPr>
          <a:xfrm>
            <a:off x="1280160" y="4498848"/>
            <a:ext cx="4206240" cy="310896"/>
          </a:xfrm>
          <a:prstGeom prst="rect">
            <a:avLst/>
          </a:prstGeom>
          <a:noFill/>
          <a:ln/>
        </p:spPr>
        <p:txBody>
          <a:bodyPr wrap="square" lIns="0" tIns="0" rIns="0" bIns="0" rtlCol="0" anchor="t"/>
          <a:lstStyle/>
          <a:p>
            <a:pPr indent="0" marL="0">
              <a:buNone/>
            </a:pPr>
            <a:r>
              <a:rPr lang="en-US" sz="1800" b="1" dirty="0">
                <a:solidFill>
                  <a:srgbClr val="1B2733"/>
                </a:solidFill>
                <a:latin typeface="Arial" pitchFamily="34" charset="0"/>
                <a:ea typeface="Arial" pitchFamily="34" charset="-122"/>
                <a:cs typeface="Arial" pitchFamily="34" charset="-120"/>
              </a:rPr>
              <a:t>Mô hình và đánh giá</a:t>
            </a:r>
            <a:endParaRPr lang="en-US" sz="1800" dirty="0"/>
          </a:p>
        </p:txBody>
      </p:sp>
      <p:sp>
        <p:nvSpPr>
          <p:cNvPr id="24" name="Text 21"/>
          <p:cNvSpPr txBox="1"/>
          <p:nvPr/>
        </p:nvSpPr>
        <p:spPr>
          <a:xfrm>
            <a:off x="1280160" y="4809744"/>
            <a:ext cx="4206240" cy="237744"/>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Slide 12–16 · 8 phút</a:t>
            </a:r>
            <a:endParaRPr lang="en-US" sz="1250" dirty="0"/>
          </a:p>
        </p:txBody>
      </p:sp>
      <p:sp>
        <p:nvSpPr>
          <p:cNvPr id="25" name="Shape 22"/>
          <p:cNvSpPr/>
          <p:nvPr/>
        </p:nvSpPr>
        <p:spPr>
          <a:xfrm>
            <a:off x="548640" y="5303520"/>
            <a:ext cx="548640" cy="548640"/>
          </a:xfrm>
          <a:prstGeom prst="ellipse">
            <a:avLst/>
          </a:prstGeom>
          <a:solidFill>
            <a:srgbClr val="0B2239"/>
          </a:solidFill>
          <a:ln/>
        </p:spPr>
      </p:sp>
      <p:sp>
        <p:nvSpPr>
          <p:cNvPr id="26" name="Text 23"/>
          <p:cNvSpPr txBox="1"/>
          <p:nvPr/>
        </p:nvSpPr>
        <p:spPr>
          <a:xfrm>
            <a:off x="548640" y="53035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4"/>
          <p:cNvSpPr txBox="1"/>
          <p:nvPr/>
        </p:nvSpPr>
        <p:spPr>
          <a:xfrm>
            <a:off x="1280160" y="5321808"/>
            <a:ext cx="4206240" cy="310896"/>
          </a:xfrm>
          <a:prstGeom prst="rect">
            <a:avLst/>
          </a:prstGeom>
          <a:noFill/>
          <a:ln/>
        </p:spPr>
        <p:txBody>
          <a:bodyPr wrap="square" lIns="0" tIns="0" rIns="0" bIns="0" rtlCol="0" anchor="t"/>
          <a:lstStyle/>
          <a:p>
            <a:pPr indent="0" marL="0">
              <a:buNone/>
            </a:pPr>
            <a:r>
              <a:rPr lang="en-US" sz="1800" b="1" dirty="0">
                <a:solidFill>
                  <a:srgbClr val="1B2733"/>
                </a:solidFill>
                <a:latin typeface="Arial" pitchFamily="34" charset="0"/>
                <a:ea typeface="Arial" pitchFamily="34" charset="-122"/>
                <a:cs typeface="Arial" pitchFamily="34" charset="-120"/>
              </a:rPr>
              <a:t>Mở rộng và kết luận</a:t>
            </a:r>
            <a:endParaRPr lang="en-US" sz="1800" dirty="0"/>
          </a:p>
        </p:txBody>
      </p:sp>
      <p:sp>
        <p:nvSpPr>
          <p:cNvPr id="28" name="Text 25"/>
          <p:cNvSpPr txBox="1"/>
          <p:nvPr/>
        </p:nvSpPr>
        <p:spPr>
          <a:xfrm>
            <a:off x="1280160" y="5632704"/>
            <a:ext cx="4206240" cy="237744"/>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Slide 17–20 · 5 phút</a:t>
            </a:r>
            <a:endParaRPr lang="en-US" sz="1250" dirty="0"/>
          </a:p>
        </p:txBody>
      </p:sp>
      <p:sp>
        <p:nvSpPr>
          <p:cNvPr id="29" name="Shape 26"/>
          <p:cNvSpPr/>
          <p:nvPr/>
        </p:nvSpPr>
        <p:spPr>
          <a:xfrm>
            <a:off x="6172200" y="1920240"/>
            <a:ext cx="5468112" cy="4251960"/>
          </a:xfrm>
          <a:prstGeom prst="roundRect">
            <a:avLst>
              <a:gd name="adj" fmla="val 1720"/>
            </a:avLst>
          </a:prstGeom>
          <a:solidFill>
            <a:srgbClr val="EEF3F6"/>
          </a:solidFill>
          <a:ln/>
        </p:spPr>
      </p:sp>
      <p:sp>
        <p:nvSpPr>
          <p:cNvPr id="30" name="Text 27"/>
          <p:cNvSpPr txBox="1"/>
          <p:nvPr/>
        </p:nvSpPr>
        <p:spPr>
          <a:xfrm>
            <a:off x="6492240" y="2148840"/>
            <a:ext cx="4846320" cy="365760"/>
          </a:xfrm>
          <a:prstGeom prst="rect">
            <a:avLst/>
          </a:prstGeom>
          <a:noFill/>
          <a:ln/>
        </p:spPr>
        <p:txBody>
          <a:bodyPr wrap="square" lIns="0" tIns="0" rIns="0" bIns="0" rtlCol="0" anchor="t"/>
          <a:lstStyle/>
          <a:p>
            <a:pPr indent="0" marL="0">
              <a:buNone/>
            </a:pPr>
            <a:r>
              <a:rPr lang="en-US" sz="1800" b="1" dirty="0">
                <a:solidFill>
                  <a:srgbClr val="0B2239"/>
                </a:solidFill>
                <a:latin typeface="Arial" pitchFamily="34" charset="0"/>
                <a:ea typeface="Arial" pitchFamily="34" charset="-122"/>
                <a:cs typeface="Arial" pitchFamily="34" charset="-120"/>
              </a:rPr>
              <a:t>Câu hỏi nghiên cứu</a:t>
            </a:r>
            <a:endParaRPr lang="en-US" sz="1800" dirty="0"/>
          </a:p>
        </p:txBody>
      </p:sp>
      <p:sp>
        <p:nvSpPr>
          <p:cNvPr id="31" name="Shape 28"/>
          <p:cNvSpPr/>
          <p:nvPr/>
        </p:nvSpPr>
        <p:spPr>
          <a:xfrm>
            <a:off x="6492240" y="2697480"/>
            <a:ext cx="475488" cy="475488"/>
          </a:xfrm>
          <a:prstGeom prst="ellipse">
            <a:avLst/>
          </a:prstGeom>
          <a:solidFill>
            <a:srgbClr val="C8701E"/>
          </a:solidFill>
          <a:ln/>
        </p:spPr>
      </p:sp>
      <p:sp>
        <p:nvSpPr>
          <p:cNvPr id="32" name="Text 29"/>
          <p:cNvSpPr txBox="1"/>
          <p:nvPr/>
        </p:nvSpPr>
        <p:spPr>
          <a:xfrm>
            <a:off x="6492240" y="26974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Q1</a:t>
            </a:r>
            <a:endParaRPr lang="en-US" sz="1300" dirty="0"/>
          </a:p>
        </p:txBody>
      </p:sp>
      <p:sp>
        <p:nvSpPr>
          <p:cNvPr id="33" name="Text 30"/>
          <p:cNvSpPr txBox="1"/>
          <p:nvPr/>
        </p:nvSpPr>
        <p:spPr>
          <a:xfrm>
            <a:off x="7178040" y="2679192"/>
            <a:ext cx="4206240" cy="960120"/>
          </a:xfrm>
          <a:prstGeom prst="rect">
            <a:avLst/>
          </a:prstGeom>
          <a:noFill/>
          <a:ln/>
        </p:spPr>
        <p:txBody>
          <a:bodyPr wrap="square" lIns="0" tIns="0" rIns="0" bIns="0" rtlCol="0" anchor="t"/>
          <a:lstStyle/>
          <a:p>
            <a:pPr indent="0" marL="0">
              <a:buNone/>
            </a:pPr>
            <a:r>
              <a:rPr lang="en-US" sz="1500" dirty="0">
                <a:solidFill>
                  <a:srgbClr val="1B2733"/>
                </a:solidFill>
                <a:latin typeface="Arial" pitchFamily="34" charset="0"/>
                <a:ea typeface="Arial" pitchFamily="34" charset="-122"/>
                <a:cs typeface="Arial" pitchFamily="34" charset="-120"/>
              </a:rPr>
              <a:t>Dữ liệu sensor có thể hiện xu hướng suy giảm theo vòng đời engine không?</a:t>
            </a:r>
            <a:endParaRPr lang="en-US" sz="1500" dirty="0"/>
          </a:p>
        </p:txBody>
      </p:sp>
      <p:sp>
        <p:nvSpPr>
          <p:cNvPr id="34" name="Shape 31"/>
          <p:cNvSpPr/>
          <p:nvPr/>
        </p:nvSpPr>
        <p:spPr>
          <a:xfrm>
            <a:off x="6492240" y="3813048"/>
            <a:ext cx="475488" cy="475488"/>
          </a:xfrm>
          <a:prstGeom prst="ellipse">
            <a:avLst/>
          </a:prstGeom>
          <a:solidFill>
            <a:srgbClr val="C8701E"/>
          </a:solidFill>
          <a:ln/>
        </p:spPr>
      </p:sp>
      <p:sp>
        <p:nvSpPr>
          <p:cNvPr id="35" name="Text 32"/>
          <p:cNvSpPr txBox="1"/>
          <p:nvPr/>
        </p:nvSpPr>
        <p:spPr>
          <a:xfrm>
            <a:off x="6492240" y="381304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Q2</a:t>
            </a:r>
            <a:endParaRPr lang="en-US" sz="1300" dirty="0"/>
          </a:p>
        </p:txBody>
      </p:sp>
      <p:sp>
        <p:nvSpPr>
          <p:cNvPr id="36" name="Text 33"/>
          <p:cNvSpPr txBox="1"/>
          <p:nvPr/>
        </p:nvSpPr>
        <p:spPr>
          <a:xfrm>
            <a:off x="7178040" y="3794760"/>
            <a:ext cx="4206240" cy="960120"/>
          </a:xfrm>
          <a:prstGeom prst="rect">
            <a:avLst/>
          </a:prstGeom>
          <a:noFill/>
          <a:ln/>
        </p:spPr>
        <p:txBody>
          <a:bodyPr wrap="square" lIns="0" tIns="0" rIns="0" bIns="0" rtlCol="0" anchor="t"/>
          <a:lstStyle/>
          <a:p>
            <a:pPr indent="0" marL="0">
              <a:buNone/>
            </a:pPr>
            <a:r>
              <a:rPr lang="en-US" sz="1500" dirty="0">
                <a:solidFill>
                  <a:srgbClr val="1B2733"/>
                </a:solidFill>
                <a:latin typeface="Arial" pitchFamily="34" charset="0"/>
                <a:ea typeface="Arial" pitchFamily="34" charset="-122"/>
                <a:cs typeface="Arial" pitchFamily="34" charset="-120"/>
              </a:rPr>
              <a:t>Từ 30 cycle gần nhất, RUL của engine chưa thấy được dự đoán với sai số bao nhiêu?</a:t>
            </a:r>
            <a:endParaRPr lang="en-US" sz="1500" dirty="0"/>
          </a:p>
        </p:txBody>
      </p:sp>
      <p:sp>
        <p:nvSpPr>
          <p:cNvPr id="37" name="Shape 34"/>
          <p:cNvSpPr/>
          <p:nvPr/>
        </p:nvSpPr>
        <p:spPr>
          <a:xfrm>
            <a:off x="6492240" y="4928616"/>
            <a:ext cx="475488" cy="475488"/>
          </a:xfrm>
          <a:prstGeom prst="ellipse">
            <a:avLst/>
          </a:prstGeom>
          <a:solidFill>
            <a:srgbClr val="C8701E"/>
          </a:solidFill>
          <a:ln/>
        </p:spPr>
      </p:sp>
      <p:sp>
        <p:nvSpPr>
          <p:cNvPr id="38" name="Text 35"/>
          <p:cNvSpPr txBox="1"/>
          <p:nvPr/>
        </p:nvSpPr>
        <p:spPr>
          <a:xfrm>
            <a:off x="649224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Q3</a:t>
            </a:r>
            <a:endParaRPr lang="en-US" sz="1300" dirty="0"/>
          </a:p>
        </p:txBody>
      </p:sp>
      <p:sp>
        <p:nvSpPr>
          <p:cNvPr id="39" name="Text 36"/>
          <p:cNvSpPr txBox="1"/>
          <p:nvPr/>
        </p:nvSpPr>
        <p:spPr>
          <a:xfrm>
            <a:off x="7178040" y="4910328"/>
            <a:ext cx="4206240" cy="960120"/>
          </a:xfrm>
          <a:prstGeom prst="rect">
            <a:avLst/>
          </a:prstGeom>
          <a:noFill/>
          <a:ln/>
        </p:spPr>
        <p:txBody>
          <a:bodyPr wrap="square" lIns="0" tIns="0" rIns="0" bIns="0" rtlCol="0" anchor="t"/>
          <a:lstStyle/>
          <a:p>
            <a:pPr indent="0" marL="0">
              <a:buNone/>
            </a:pPr>
            <a:r>
              <a:rPr lang="en-US" sz="1500" dirty="0">
                <a:solidFill>
                  <a:srgbClr val="1B2733"/>
                </a:solidFill>
                <a:latin typeface="Arial" pitchFamily="34" charset="0"/>
                <a:ea typeface="Arial" pitchFamily="34" charset="-122"/>
                <a:cs typeface="Arial" pitchFamily="34" charset="-120"/>
              </a:rPr>
              <a:t>Có thể phát cảnh báo trước khi RUL xuống dưới 30 cycles không, và model có dùng được cho subset khác không?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Bài toán: ước lượng số cycle còn lại trước failure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Đề tài 8 yêu cầu phát hiện dấu hiệu suy giảm và dự đoán thời điểm cần bảo trì từ dữ liệu cảm biến</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references/context/assignment-brief.png; report/sections/problem-data.tex; data/CONTRACTS.md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3 / 20</a:t>
            </a:r>
            <a:endParaRPr lang="en-US" sz="1000" dirty="0"/>
          </a:p>
        </p:txBody>
      </p:sp>
      <p:sp>
        <p:nvSpPr>
          <p:cNvPr id="9" name="Text 6"/>
          <p:cNvSpPr txBox="1"/>
          <p:nvPr/>
        </p:nvSpPr>
        <p:spPr>
          <a:xfrm>
            <a:off x="548640" y="1965960"/>
            <a:ext cx="475488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Ví dụ trên một train engine</a:t>
            </a:r>
            <a:endParaRPr lang="en-US" sz="1500" dirty="0"/>
          </a:p>
        </p:txBody>
      </p:sp>
      <p:sp>
        <p:nvSpPr>
          <p:cNvPr id="10" name="Shape 7"/>
          <p:cNvSpPr/>
          <p:nvPr/>
        </p:nvSpPr>
        <p:spPr>
          <a:xfrm>
            <a:off x="685800" y="2788920"/>
            <a:ext cx="4389120" cy="182880"/>
          </a:xfrm>
          <a:prstGeom prst="rect">
            <a:avLst/>
          </a:prstGeom>
          <a:solidFill>
            <a:srgbClr val="DCEFEF"/>
          </a:solidFill>
          <a:ln/>
        </p:spPr>
      </p:sp>
      <p:sp>
        <p:nvSpPr>
          <p:cNvPr id="11" name="Shape 8"/>
          <p:cNvSpPr/>
          <p:nvPr/>
        </p:nvSpPr>
        <p:spPr>
          <a:xfrm>
            <a:off x="4416552" y="2788920"/>
            <a:ext cx="658368" cy="182880"/>
          </a:xfrm>
          <a:prstGeom prst="rect">
            <a:avLst/>
          </a:prstGeom>
          <a:solidFill>
            <a:srgbClr val="C8701E"/>
          </a:solidFill>
          <a:ln/>
        </p:spPr>
      </p:sp>
      <p:sp>
        <p:nvSpPr>
          <p:cNvPr id="12" name="Shape 9"/>
          <p:cNvSpPr/>
          <p:nvPr/>
        </p:nvSpPr>
        <p:spPr>
          <a:xfrm>
            <a:off x="4983480" y="2743200"/>
            <a:ext cx="274320" cy="274320"/>
          </a:xfrm>
          <a:prstGeom prst="ellipse">
            <a:avLst/>
          </a:prstGeom>
          <a:solidFill>
            <a:srgbClr val="B23A3A"/>
          </a:solidFill>
          <a:ln/>
        </p:spPr>
      </p:sp>
      <p:sp>
        <p:nvSpPr>
          <p:cNvPr id="13" name="Text 10"/>
          <p:cNvSpPr txBox="1"/>
          <p:nvPr/>
        </p:nvSpPr>
        <p:spPr>
          <a:xfrm>
            <a:off x="594360" y="3081528"/>
            <a:ext cx="914400" cy="256032"/>
          </a:xfrm>
          <a:prstGeom prst="rect">
            <a:avLst/>
          </a:prstGeom>
          <a:noFill/>
          <a:ln/>
        </p:spPr>
        <p:txBody>
          <a:bodyPr wrap="square" lIns="0" tIns="0" rIns="0" bIns="0" rtlCol="0" anchor="t"/>
          <a:lstStyle/>
          <a:p>
            <a:pPr indent="0" marL="0">
              <a:buNone/>
            </a:pPr>
            <a:r>
              <a:rPr lang="en-US" sz="1100" dirty="0">
                <a:solidFill>
                  <a:srgbClr val="5A6B7B"/>
                </a:solidFill>
                <a:latin typeface="Arial" pitchFamily="34" charset="0"/>
                <a:ea typeface="Arial" pitchFamily="34" charset="-122"/>
                <a:cs typeface="Arial" pitchFamily="34" charset="-120"/>
              </a:rPr>
              <a:t>cycle 1</a:t>
            </a:r>
            <a:endParaRPr lang="en-US" sz="1100" dirty="0"/>
          </a:p>
        </p:txBody>
      </p:sp>
      <p:sp>
        <p:nvSpPr>
          <p:cNvPr id="14" name="Text 11"/>
          <p:cNvSpPr txBox="1"/>
          <p:nvPr/>
        </p:nvSpPr>
        <p:spPr>
          <a:xfrm>
            <a:off x="3959352" y="2404872"/>
            <a:ext cx="914400" cy="274320"/>
          </a:xfrm>
          <a:prstGeom prst="rect">
            <a:avLst/>
          </a:prstGeom>
          <a:noFill/>
          <a:ln/>
        </p:spPr>
        <p:txBody>
          <a:bodyPr wrap="square" lIns="0" tIns="0" rIns="0" bIns="0" rtlCol="0" anchor="t"/>
          <a:lstStyle/>
          <a:p>
            <a:pPr algn="ctr" indent="0" marL="0">
              <a:buNone/>
            </a:pPr>
            <a:r>
              <a:rPr lang="en-US" sz="1200" b="1" dirty="0">
                <a:solidFill>
                  <a:srgbClr val="C8701E"/>
                </a:solidFill>
                <a:latin typeface="Arial" pitchFamily="34" charset="0"/>
                <a:ea typeface="Arial" pitchFamily="34" charset="-122"/>
                <a:cs typeface="Arial" pitchFamily="34" charset="-120"/>
              </a:rPr>
              <a:t>t = 170</a:t>
            </a:r>
            <a:endParaRPr lang="en-US" sz="1200" dirty="0"/>
          </a:p>
        </p:txBody>
      </p:sp>
      <p:sp>
        <p:nvSpPr>
          <p:cNvPr id="15" name="Text 12"/>
          <p:cNvSpPr txBox="1"/>
          <p:nvPr/>
        </p:nvSpPr>
        <p:spPr>
          <a:xfrm>
            <a:off x="4572000" y="3081528"/>
            <a:ext cx="1005840" cy="457200"/>
          </a:xfrm>
          <a:prstGeom prst="rect">
            <a:avLst/>
          </a:prstGeom>
          <a:noFill/>
          <a:ln/>
        </p:spPr>
        <p:txBody>
          <a:bodyPr wrap="square" lIns="0" tIns="0" rIns="0" bIns="0" rtlCol="0" anchor="t"/>
          <a:lstStyle/>
          <a:p>
            <a:pPr algn="ctr" indent="0" marL="0">
              <a:buNone/>
            </a:pPr>
            <a:r>
              <a:rPr lang="en-US" sz="1100" dirty="0">
                <a:solidFill>
                  <a:srgbClr val="B23A3A"/>
                </a:solidFill>
                <a:latin typeface="Arial" pitchFamily="34" charset="0"/>
                <a:ea typeface="Arial" pitchFamily="34" charset="-122"/>
                <a:cs typeface="Arial" pitchFamily="34" charset="-120"/>
              </a:rPr>
              <a:t>failure</a:t>
            </a:r>
            <a:endParaRPr lang="en-US" sz="1100" dirty="0"/>
          </a:p>
          <a:p>
            <a:pPr algn="ctr" indent="0" marL="0">
              <a:buNone/>
            </a:pPr>
            <a:r>
              <a:rPr lang="en-US" sz="1100" dirty="0">
                <a:solidFill>
                  <a:srgbClr val="B23A3A"/>
                </a:solidFill>
                <a:latin typeface="Arial" pitchFamily="34" charset="0"/>
                <a:ea typeface="Arial" pitchFamily="34" charset="-122"/>
                <a:cs typeface="Arial" pitchFamily="34" charset="-120"/>
              </a:rPr>
              <a:t>cycle 200</a:t>
            </a:r>
            <a:endParaRPr lang="en-US" sz="1100" dirty="0"/>
          </a:p>
        </p:txBody>
      </p:sp>
      <p:sp>
        <p:nvSpPr>
          <p:cNvPr id="16" name="Text 13"/>
          <p:cNvSpPr txBox="1"/>
          <p:nvPr/>
        </p:nvSpPr>
        <p:spPr>
          <a:xfrm>
            <a:off x="548640" y="3749040"/>
            <a:ext cx="4937760" cy="411480"/>
          </a:xfrm>
          <a:prstGeom prst="rect">
            <a:avLst/>
          </a:prstGeom>
          <a:noFill/>
          <a:ln/>
        </p:spPr>
        <p:txBody>
          <a:bodyPr wrap="square" lIns="0" tIns="0" rIns="0" bIns="0" rtlCol="0" anchor="t"/>
          <a:lstStyle/>
          <a:p>
            <a:pPr indent="0" marL="0">
              <a:buNone/>
            </a:pPr>
            <a:r>
              <a:rPr lang="en-US" sz="2200" b="1" dirty="0">
                <a:solidFill>
                  <a:srgbClr val="0B2239"/>
                </a:solidFill>
                <a:latin typeface="Arial" pitchFamily="34" charset="0"/>
                <a:ea typeface="Arial" pitchFamily="34" charset="-122"/>
                <a:cs typeface="Arial" pitchFamily="34" charset="-120"/>
              </a:rPr>
              <a:t>RUL(t) = cycle cuối − t</a:t>
            </a:r>
            <a:endParaRPr lang="en-US" sz="2200" dirty="0"/>
          </a:p>
        </p:txBody>
      </p:sp>
      <p:sp>
        <p:nvSpPr>
          <p:cNvPr id="17" name="Text 14"/>
          <p:cNvSpPr txBox="1"/>
          <p:nvPr/>
        </p:nvSpPr>
        <p:spPr>
          <a:xfrm>
            <a:off x="548640" y="4206240"/>
            <a:ext cx="4937760" cy="365760"/>
          </a:xfrm>
          <a:prstGeom prst="rect">
            <a:avLst/>
          </a:prstGeom>
          <a:noFill/>
          <a:ln/>
        </p:spPr>
        <p:txBody>
          <a:bodyPr wrap="square" lIns="0" tIns="0" rIns="0" bIns="0" rtlCol="0" anchor="t"/>
          <a:lstStyle/>
          <a:p>
            <a:pPr indent="0" marL="0">
              <a:buNone/>
            </a:pPr>
            <a:r>
              <a:rPr lang="en-US" sz="1600" b="1" dirty="0">
                <a:solidFill>
                  <a:srgbClr val="C8701E"/>
                </a:solidFill>
                <a:latin typeface="Arial" pitchFamily="34" charset="0"/>
                <a:ea typeface="Arial" pitchFamily="34" charset="-122"/>
                <a:cs typeface="Arial" pitchFamily="34" charset="-120"/>
              </a:rPr>
              <a:t>RUL(170) = 200 − 170 = 30 cycles</a:t>
            </a:r>
            <a:endParaRPr lang="en-US" sz="1600" dirty="0"/>
          </a:p>
        </p:txBody>
      </p:sp>
      <p:sp>
        <p:nvSpPr>
          <p:cNvPr id="18" name="Text 15"/>
          <p:cNvSpPr txBox="1"/>
          <p:nvPr/>
        </p:nvSpPr>
        <p:spPr>
          <a:xfrm>
            <a:off x="548640" y="4800600"/>
            <a:ext cx="4846320" cy="1097280"/>
          </a:xfrm>
          <a:prstGeom prst="rect">
            <a:avLst/>
          </a:prstGeom>
          <a:noFill/>
          <a:ln/>
        </p:spPr>
        <p:txBody>
          <a:bodyPr wrap="square" lIns="0" tIns="0" rIns="0" bIns="0" rtlCol="0" anchor="t"/>
          <a:lstStyle/>
          <a:p>
            <a:pPr indent="0" marL="0">
              <a:buNone/>
            </a:pPr>
            <a:r>
              <a:rPr lang="en-US" sz="1400" dirty="0">
                <a:solidFill>
                  <a:srgbClr val="1B2733"/>
                </a:solidFill>
                <a:latin typeface="Arial" pitchFamily="34" charset="0"/>
                <a:ea typeface="Arial" pitchFamily="34" charset="-122"/>
                <a:cs typeface="Arial" pitchFamily="34" charset="-120"/>
              </a:rPr>
              <a:t>Supervised regression: input là chuỗi 21 sensor theo cycle, output là một số RUL. Đơn vị là cycle, không quy đổi ra giờ.</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06440" y="1965960"/>
          <a:ext cx="5833872" cy="914400"/>
        </p:xfrm>
        <a:graphic>
          <a:graphicData uri="http://schemas.openxmlformats.org/drawingml/2006/table">
            <a:tbl>
              <a:tblPr/>
              <a:tblGrid>
                <a:gridCol w="2011680"/>
                <a:gridCol w="3136392"/>
                <a:gridCol w="685800"/>
              </a:tblGrid>
              <a:tr h="64008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Yêu cầu của đề tài</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Cách đáp ứng trong báo cáo</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Slide</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Xử lý chuỗi thời gian cảm biến</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Kiểm tra schema, khóa, cycle liên tục; window theo từng engine</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6, 10</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Xử lý nhiễu tín hiệu</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Thống kê trên window 30 và Health Index PCA; chưa dùng bộ lọc riêng</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10, 11</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Chuẩn hóa, tổng hợp theo window</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Chuẩn hóa schema; StandardScaler trong fold; 126 đặc trưng</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Trực quan xu hướng suy giảm</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Quỹ đạo sensor, kiểm định đầu/cuối vòng đời, Health Index</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9, 11</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Dự đoán thời điểm bảo trì, cảnh báo sớm</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Dự đoán RUL; cảnh báo khi RUL dự đoán ≤ 30 cycles</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14, 16</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NASA C-MAPSS: bốn subset, hai trục khác biệt</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Hai trục là số điều kiện vận hành và số fault mode; FD001 là protocol chính, FD002–FD004 dùng ở slide 18</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data/raw/readme.txt; outputs/cross_dataset/FD00x/etl/run_info.json; data/CONTRACTS.md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4 / 20</a:t>
            </a:r>
            <a:endParaRPr lang="en-US" sz="1000" dirty="0"/>
          </a:p>
        </p:txBody>
      </p:sp>
      <p:sp>
        <p:nvSpPr>
          <p:cNvPr id="9" name="Shape 6"/>
          <p:cNvSpPr/>
          <p:nvPr/>
        </p:nvSpPr>
        <p:spPr>
          <a:xfrm>
            <a:off x="548640" y="1920240"/>
            <a:ext cx="2651760" cy="2514600"/>
          </a:xfrm>
          <a:prstGeom prst="roundRect">
            <a:avLst>
              <a:gd name="adj" fmla="val 2909"/>
            </a:avLst>
          </a:prstGeom>
          <a:solidFill>
            <a:srgbClr val="0B2239"/>
          </a:solidFill>
          <a:ln/>
        </p:spPr>
      </p:sp>
      <p:sp>
        <p:nvSpPr>
          <p:cNvPr id="10" name="Text 7"/>
          <p:cNvSpPr txBox="1"/>
          <p:nvPr/>
        </p:nvSpPr>
        <p:spPr>
          <a:xfrm>
            <a:off x="777240" y="2057400"/>
            <a:ext cx="2194560" cy="45720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FD001</a:t>
            </a:r>
            <a:endParaRPr lang="en-US" sz="2400" dirty="0"/>
          </a:p>
        </p:txBody>
      </p:sp>
      <p:sp>
        <p:nvSpPr>
          <p:cNvPr id="11" name="Text 8"/>
          <p:cNvSpPr txBox="1"/>
          <p:nvPr/>
        </p:nvSpPr>
        <p:spPr>
          <a:xfrm>
            <a:off x="777240" y="2514600"/>
            <a:ext cx="2194560" cy="274320"/>
          </a:xfrm>
          <a:prstGeom prst="rect">
            <a:avLst/>
          </a:prstGeom>
          <a:noFill/>
          <a:ln/>
        </p:spPr>
        <p:txBody>
          <a:bodyPr wrap="square" lIns="0" tIns="0" rIns="0" bIns="0" rtlCol="0" anchor="t"/>
          <a:lstStyle/>
          <a:p>
            <a:pPr indent="0" marL="0">
              <a:buNone/>
            </a:pPr>
            <a:r>
              <a:rPr lang="en-US" sz="1150" b="1" dirty="0">
                <a:solidFill>
                  <a:srgbClr val="BFD9E3"/>
                </a:solidFill>
                <a:latin typeface="Arial" pitchFamily="34" charset="0"/>
                <a:ea typeface="Arial" pitchFamily="34" charset="-122"/>
                <a:cs typeface="Arial" pitchFamily="34" charset="-120"/>
              </a:rPr>
              <a:t>Protocol chính</a:t>
            </a:r>
            <a:endParaRPr lang="en-US" sz="1150" dirty="0"/>
          </a:p>
        </p:txBody>
      </p:sp>
      <p:sp>
        <p:nvSpPr>
          <p:cNvPr id="12" name="Text 9"/>
          <p:cNvSpPr txBox="1"/>
          <p:nvPr/>
        </p:nvSpPr>
        <p:spPr>
          <a:xfrm>
            <a:off x="777240" y="2880360"/>
            <a:ext cx="2286000"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1 điều kiện vận hành</a:t>
            </a:r>
            <a:endParaRPr lang="en-US" sz="1300" dirty="0"/>
          </a:p>
          <a:p>
            <a:pPr indent="0" marL="0">
              <a:buNone/>
            </a:pPr>
            <a:r>
              <a:rPr lang="en-US" sz="1300" dirty="0">
                <a:solidFill>
                  <a:srgbClr val="FFFFFF"/>
                </a:solidFill>
                <a:latin typeface="Arial" pitchFamily="34" charset="0"/>
                <a:ea typeface="Arial" pitchFamily="34" charset="-122"/>
                <a:cs typeface="Arial" pitchFamily="34" charset="-120"/>
              </a:rPr>
              <a:t>1 fault mode (HPC)</a:t>
            </a:r>
            <a:endParaRPr lang="en-US" sz="1300" dirty="0"/>
          </a:p>
        </p:txBody>
      </p:sp>
      <p:sp>
        <p:nvSpPr>
          <p:cNvPr id="13" name="Text 10"/>
          <p:cNvSpPr txBox="1"/>
          <p:nvPr/>
        </p:nvSpPr>
        <p:spPr>
          <a:xfrm>
            <a:off x="777240" y="3566160"/>
            <a:ext cx="2286000" cy="566928"/>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100 train / 100 test engines</a:t>
            </a:r>
            <a:endParaRPr lang="en-US" sz="1300" dirty="0"/>
          </a:p>
          <a:p>
            <a:pPr indent="0" marL="0">
              <a:buNone/>
            </a:pPr>
            <a:r>
              <a:rPr lang="en-US" sz="1300" dirty="0">
                <a:solidFill>
                  <a:srgbClr val="BFD9E3"/>
                </a:solidFill>
                <a:latin typeface="Arial" pitchFamily="34" charset="0"/>
                <a:ea typeface="Arial" pitchFamily="34" charset="-122"/>
                <a:cs typeface="Arial" pitchFamily="34" charset="-120"/>
              </a:rPr>
              <a:t>33.727 observations</a:t>
            </a:r>
            <a:endParaRPr lang="en-US" sz="1300" dirty="0"/>
          </a:p>
        </p:txBody>
      </p:sp>
      <p:sp>
        <p:nvSpPr>
          <p:cNvPr id="14" name="Shape 11"/>
          <p:cNvSpPr/>
          <p:nvPr/>
        </p:nvSpPr>
        <p:spPr>
          <a:xfrm>
            <a:off x="3364992" y="1920240"/>
            <a:ext cx="2651760" cy="2514600"/>
          </a:xfrm>
          <a:prstGeom prst="roundRect">
            <a:avLst>
              <a:gd name="adj" fmla="val 2909"/>
            </a:avLst>
          </a:prstGeom>
          <a:solidFill>
            <a:srgbClr val="EEF3F6"/>
          </a:solidFill>
          <a:ln/>
        </p:spPr>
      </p:sp>
      <p:sp>
        <p:nvSpPr>
          <p:cNvPr id="15" name="Text 12"/>
          <p:cNvSpPr txBox="1"/>
          <p:nvPr/>
        </p:nvSpPr>
        <p:spPr>
          <a:xfrm>
            <a:off x="3593592" y="2057400"/>
            <a:ext cx="2194560" cy="457200"/>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FD002</a:t>
            </a:r>
            <a:endParaRPr lang="en-US" sz="2400" dirty="0"/>
          </a:p>
        </p:txBody>
      </p:sp>
      <p:sp>
        <p:nvSpPr>
          <p:cNvPr id="16" name="Text 13"/>
          <p:cNvSpPr txBox="1"/>
          <p:nvPr/>
        </p:nvSpPr>
        <p:spPr>
          <a:xfrm>
            <a:off x="3593592" y="2514600"/>
            <a:ext cx="2194560" cy="274320"/>
          </a:xfrm>
          <a:prstGeom prst="rect">
            <a:avLst/>
          </a:prstGeom>
          <a:noFill/>
          <a:ln/>
        </p:spPr>
        <p:txBody>
          <a:bodyPr wrap="square" lIns="0" tIns="0" rIns="0" bIns="0" rtlCol="0" anchor="t"/>
          <a:lstStyle/>
          <a:p>
            <a:pPr indent="0" marL="0">
              <a:buNone/>
            </a:pPr>
            <a:r>
              <a:rPr lang="en-US" sz="1150" b="1" dirty="0">
                <a:solidFill>
                  <a:srgbClr val="157A7F"/>
                </a:solidFill>
                <a:latin typeface="Arial" pitchFamily="34" charset="0"/>
                <a:ea typeface="Arial" pitchFamily="34" charset="-122"/>
                <a:cs typeface="Arial" pitchFamily="34" charset="-120"/>
              </a:rPr>
              <a:t>Kiểm tra chuyển miền</a:t>
            </a:r>
            <a:endParaRPr lang="en-US" sz="1150" dirty="0"/>
          </a:p>
        </p:txBody>
      </p:sp>
      <p:sp>
        <p:nvSpPr>
          <p:cNvPr id="17" name="Text 14"/>
          <p:cNvSpPr txBox="1"/>
          <p:nvPr/>
        </p:nvSpPr>
        <p:spPr>
          <a:xfrm>
            <a:off x="3593592" y="2880360"/>
            <a:ext cx="2286000" cy="566928"/>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6 điều kiện vận hành</a:t>
            </a:r>
            <a:endParaRPr lang="en-US" sz="1300" dirty="0"/>
          </a:p>
          <a:p>
            <a:pPr indent="0" marL="0">
              <a:buNone/>
            </a:pPr>
            <a:r>
              <a:rPr lang="en-US" sz="1300" dirty="0">
                <a:solidFill>
                  <a:srgbClr val="1B2733"/>
                </a:solidFill>
                <a:latin typeface="Arial" pitchFamily="34" charset="0"/>
                <a:ea typeface="Arial" pitchFamily="34" charset="-122"/>
                <a:cs typeface="Arial" pitchFamily="34" charset="-120"/>
              </a:rPr>
              <a:t>1 fault mode (HPC)</a:t>
            </a:r>
            <a:endParaRPr lang="en-US" sz="1300" dirty="0"/>
          </a:p>
        </p:txBody>
      </p:sp>
      <p:sp>
        <p:nvSpPr>
          <p:cNvPr id="18" name="Text 15"/>
          <p:cNvSpPr txBox="1"/>
          <p:nvPr/>
        </p:nvSpPr>
        <p:spPr>
          <a:xfrm>
            <a:off x="3593592" y="3566160"/>
            <a:ext cx="2286000" cy="566928"/>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260 train / 259 test engines</a:t>
            </a:r>
            <a:endParaRPr lang="en-US" sz="1300" dirty="0"/>
          </a:p>
          <a:p>
            <a:pPr indent="0" marL="0">
              <a:buNone/>
            </a:pPr>
            <a:r>
              <a:rPr lang="en-US" sz="1300" dirty="0">
                <a:solidFill>
                  <a:srgbClr val="5A6B7B"/>
                </a:solidFill>
                <a:latin typeface="Arial" pitchFamily="34" charset="0"/>
                <a:ea typeface="Arial" pitchFamily="34" charset="-122"/>
                <a:cs typeface="Arial" pitchFamily="34" charset="-120"/>
              </a:rPr>
              <a:t>87.750 observations</a:t>
            </a:r>
            <a:endParaRPr lang="en-US" sz="1300" dirty="0"/>
          </a:p>
        </p:txBody>
      </p:sp>
      <p:sp>
        <p:nvSpPr>
          <p:cNvPr id="19" name="Shape 16"/>
          <p:cNvSpPr/>
          <p:nvPr/>
        </p:nvSpPr>
        <p:spPr>
          <a:xfrm>
            <a:off x="6181344" y="1920240"/>
            <a:ext cx="2651760" cy="2514600"/>
          </a:xfrm>
          <a:prstGeom prst="roundRect">
            <a:avLst>
              <a:gd name="adj" fmla="val 2909"/>
            </a:avLst>
          </a:prstGeom>
          <a:solidFill>
            <a:srgbClr val="EEF3F6"/>
          </a:solidFill>
          <a:ln/>
        </p:spPr>
      </p:sp>
      <p:sp>
        <p:nvSpPr>
          <p:cNvPr id="20" name="Text 17"/>
          <p:cNvSpPr txBox="1"/>
          <p:nvPr/>
        </p:nvSpPr>
        <p:spPr>
          <a:xfrm>
            <a:off x="6409944" y="2057400"/>
            <a:ext cx="2194560" cy="457200"/>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FD003</a:t>
            </a:r>
            <a:endParaRPr lang="en-US" sz="2400" dirty="0"/>
          </a:p>
        </p:txBody>
      </p:sp>
      <p:sp>
        <p:nvSpPr>
          <p:cNvPr id="21" name="Text 18"/>
          <p:cNvSpPr txBox="1"/>
          <p:nvPr/>
        </p:nvSpPr>
        <p:spPr>
          <a:xfrm>
            <a:off x="6409944" y="2514600"/>
            <a:ext cx="2194560" cy="274320"/>
          </a:xfrm>
          <a:prstGeom prst="rect">
            <a:avLst/>
          </a:prstGeom>
          <a:noFill/>
          <a:ln/>
        </p:spPr>
        <p:txBody>
          <a:bodyPr wrap="square" lIns="0" tIns="0" rIns="0" bIns="0" rtlCol="0" anchor="t"/>
          <a:lstStyle/>
          <a:p>
            <a:pPr indent="0" marL="0">
              <a:buNone/>
            </a:pPr>
            <a:r>
              <a:rPr lang="en-US" sz="1150" b="1" dirty="0">
                <a:solidFill>
                  <a:srgbClr val="157A7F"/>
                </a:solidFill>
                <a:latin typeface="Arial" pitchFamily="34" charset="0"/>
                <a:ea typeface="Arial" pitchFamily="34" charset="-122"/>
                <a:cs typeface="Arial" pitchFamily="34" charset="-120"/>
              </a:rPr>
              <a:t>Kiểm tra chuyển miền</a:t>
            </a:r>
            <a:endParaRPr lang="en-US" sz="1150" dirty="0"/>
          </a:p>
        </p:txBody>
      </p:sp>
      <p:sp>
        <p:nvSpPr>
          <p:cNvPr id="22" name="Text 19"/>
          <p:cNvSpPr txBox="1"/>
          <p:nvPr/>
        </p:nvSpPr>
        <p:spPr>
          <a:xfrm>
            <a:off x="6409944" y="2880360"/>
            <a:ext cx="2286000" cy="566928"/>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1 điều kiện vận hành</a:t>
            </a:r>
            <a:endParaRPr lang="en-US" sz="1300" dirty="0"/>
          </a:p>
          <a:p>
            <a:pPr indent="0" marL="0">
              <a:buNone/>
            </a:pPr>
            <a:r>
              <a:rPr lang="en-US" sz="1300" dirty="0">
                <a:solidFill>
                  <a:srgbClr val="1B2733"/>
                </a:solidFill>
                <a:latin typeface="Arial" pitchFamily="34" charset="0"/>
                <a:ea typeface="Arial" pitchFamily="34" charset="-122"/>
                <a:cs typeface="Arial" pitchFamily="34" charset="-120"/>
              </a:rPr>
              <a:t>2 fault mode (HPC, Fan)</a:t>
            </a:r>
            <a:endParaRPr lang="en-US" sz="1300" dirty="0"/>
          </a:p>
        </p:txBody>
      </p:sp>
      <p:sp>
        <p:nvSpPr>
          <p:cNvPr id="23" name="Text 20"/>
          <p:cNvSpPr txBox="1"/>
          <p:nvPr/>
        </p:nvSpPr>
        <p:spPr>
          <a:xfrm>
            <a:off x="6409944" y="3566160"/>
            <a:ext cx="2286000" cy="566928"/>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100 train / 100 test engines</a:t>
            </a:r>
            <a:endParaRPr lang="en-US" sz="1300" dirty="0"/>
          </a:p>
          <a:p>
            <a:pPr indent="0" marL="0">
              <a:buNone/>
            </a:pPr>
            <a:r>
              <a:rPr lang="en-US" sz="1300" dirty="0">
                <a:solidFill>
                  <a:srgbClr val="5A6B7B"/>
                </a:solidFill>
                <a:latin typeface="Arial" pitchFamily="34" charset="0"/>
                <a:ea typeface="Arial" pitchFamily="34" charset="-122"/>
                <a:cs typeface="Arial" pitchFamily="34" charset="-120"/>
              </a:rPr>
              <a:t>41.316 observations</a:t>
            </a:r>
            <a:endParaRPr lang="en-US" sz="1300" dirty="0"/>
          </a:p>
        </p:txBody>
      </p:sp>
      <p:sp>
        <p:nvSpPr>
          <p:cNvPr id="24" name="Shape 21"/>
          <p:cNvSpPr/>
          <p:nvPr/>
        </p:nvSpPr>
        <p:spPr>
          <a:xfrm>
            <a:off x="8997696" y="1920240"/>
            <a:ext cx="2651760" cy="2514600"/>
          </a:xfrm>
          <a:prstGeom prst="roundRect">
            <a:avLst>
              <a:gd name="adj" fmla="val 2909"/>
            </a:avLst>
          </a:prstGeom>
          <a:solidFill>
            <a:srgbClr val="EEF3F6"/>
          </a:solidFill>
          <a:ln/>
        </p:spPr>
      </p:sp>
      <p:sp>
        <p:nvSpPr>
          <p:cNvPr id="25" name="Text 22"/>
          <p:cNvSpPr txBox="1"/>
          <p:nvPr/>
        </p:nvSpPr>
        <p:spPr>
          <a:xfrm>
            <a:off x="9226296" y="2057400"/>
            <a:ext cx="2194560" cy="457200"/>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FD004</a:t>
            </a:r>
            <a:endParaRPr lang="en-US" sz="2400" dirty="0"/>
          </a:p>
        </p:txBody>
      </p:sp>
      <p:sp>
        <p:nvSpPr>
          <p:cNvPr id="26" name="Text 23"/>
          <p:cNvSpPr txBox="1"/>
          <p:nvPr/>
        </p:nvSpPr>
        <p:spPr>
          <a:xfrm>
            <a:off x="9226296" y="2514600"/>
            <a:ext cx="2194560" cy="274320"/>
          </a:xfrm>
          <a:prstGeom prst="rect">
            <a:avLst/>
          </a:prstGeom>
          <a:noFill/>
          <a:ln/>
        </p:spPr>
        <p:txBody>
          <a:bodyPr wrap="square" lIns="0" tIns="0" rIns="0" bIns="0" rtlCol="0" anchor="t"/>
          <a:lstStyle/>
          <a:p>
            <a:pPr indent="0" marL="0">
              <a:buNone/>
            </a:pPr>
            <a:r>
              <a:rPr lang="en-US" sz="1150" b="1" dirty="0">
                <a:solidFill>
                  <a:srgbClr val="157A7F"/>
                </a:solidFill>
                <a:latin typeface="Arial" pitchFamily="34" charset="0"/>
                <a:ea typeface="Arial" pitchFamily="34" charset="-122"/>
                <a:cs typeface="Arial" pitchFamily="34" charset="-120"/>
              </a:rPr>
              <a:t>Kiểm tra chuyển miền</a:t>
            </a:r>
            <a:endParaRPr lang="en-US" sz="1150" dirty="0"/>
          </a:p>
        </p:txBody>
      </p:sp>
      <p:sp>
        <p:nvSpPr>
          <p:cNvPr id="27" name="Text 24"/>
          <p:cNvSpPr txBox="1"/>
          <p:nvPr/>
        </p:nvSpPr>
        <p:spPr>
          <a:xfrm>
            <a:off x="9226296" y="2880360"/>
            <a:ext cx="2286000" cy="566928"/>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6 điều kiện vận hành</a:t>
            </a:r>
            <a:endParaRPr lang="en-US" sz="1300" dirty="0"/>
          </a:p>
          <a:p>
            <a:pPr indent="0" marL="0">
              <a:buNone/>
            </a:pPr>
            <a:r>
              <a:rPr lang="en-US" sz="1300" dirty="0">
                <a:solidFill>
                  <a:srgbClr val="1B2733"/>
                </a:solidFill>
                <a:latin typeface="Arial" pitchFamily="34" charset="0"/>
                <a:ea typeface="Arial" pitchFamily="34" charset="-122"/>
                <a:cs typeface="Arial" pitchFamily="34" charset="-120"/>
              </a:rPr>
              <a:t>2 fault mode (HPC, Fan)</a:t>
            </a:r>
            <a:endParaRPr lang="en-US" sz="1300" dirty="0"/>
          </a:p>
        </p:txBody>
      </p:sp>
      <p:sp>
        <p:nvSpPr>
          <p:cNvPr id="28" name="Text 25"/>
          <p:cNvSpPr txBox="1"/>
          <p:nvPr/>
        </p:nvSpPr>
        <p:spPr>
          <a:xfrm>
            <a:off x="9226296" y="3566160"/>
            <a:ext cx="2286000" cy="566928"/>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249 train / 248 test engines</a:t>
            </a:r>
            <a:endParaRPr lang="en-US" sz="1300" dirty="0"/>
          </a:p>
          <a:p>
            <a:pPr indent="0" marL="0">
              <a:buNone/>
            </a:pPr>
            <a:r>
              <a:rPr lang="en-US" sz="1300" dirty="0">
                <a:solidFill>
                  <a:srgbClr val="5A6B7B"/>
                </a:solidFill>
                <a:latin typeface="Arial" pitchFamily="34" charset="0"/>
                <a:ea typeface="Arial" pitchFamily="34" charset="-122"/>
                <a:cs typeface="Arial" pitchFamily="34" charset="-120"/>
              </a:rPr>
              <a:t>102.463 observations</a:t>
            </a:r>
            <a:endParaRPr lang="en-US" sz="1300" dirty="0"/>
          </a:p>
        </p:txBody>
      </p:sp>
      <p:sp>
        <p:nvSpPr>
          <p:cNvPr id="29" name="Text 26"/>
          <p:cNvSpPr txBox="1"/>
          <p:nvPr/>
        </p:nvSpPr>
        <p:spPr>
          <a:xfrm>
            <a:off x="548640" y="4681728"/>
            <a:ext cx="7315200"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Một dòng observation có 26 trường</a:t>
            </a:r>
            <a:endParaRPr lang="en-US" sz="1500" dirty="0"/>
          </a:p>
        </p:txBody>
      </p:sp>
      <p:sp>
        <p:nvSpPr>
          <p:cNvPr id="30" name="Shape 27"/>
          <p:cNvSpPr/>
          <p:nvPr/>
        </p:nvSpPr>
        <p:spPr>
          <a:xfrm>
            <a:off x="548640" y="5074920"/>
            <a:ext cx="1234440" cy="457200"/>
          </a:xfrm>
          <a:prstGeom prst="roundRect">
            <a:avLst>
              <a:gd name="adj" fmla="val 16000"/>
            </a:avLst>
          </a:prstGeom>
          <a:solidFill>
            <a:srgbClr val="0B2239"/>
          </a:solidFill>
          <a:ln/>
        </p:spPr>
      </p:sp>
      <p:sp>
        <p:nvSpPr>
          <p:cNvPr id="31" name="Text 28"/>
          <p:cNvSpPr txBox="1"/>
          <p:nvPr/>
        </p:nvSpPr>
        <p:spPr>
          <a:xfrm>
            <a:off x="548640" y="507492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engine_id</a:t>
            </a:r>
            <a:endParaRPr lang="en-US" sz="1300" dirty="0"/>
          </a:p>
        </p:txBody>
      </p:sp>
      <p:sp>
        <p:nvSpPr>
          <p:cNvPr id="32" name="Shape 29"/>
          <p:cNvSpPr/>
          <p:nvPr/>
        </p:nvSpPr>
        <p:spPr>
          <a:xfrm>
            <a:off x="1856232" y="5074920"/>
            <a:ext cx="914400" cy="457200"/>
          </a:xfrm>
          <a:prstGeom prst="roundRect">
            <a:avLst>
              <a:gd name="adj" fmla="val 16000"/>
            </a:avLst>
          </a:prstGeom>
          <a:solidFill>
            <a:srgbClr val="0B2239"/>
          </a:solidFill>
          <a:ln/>
        </p:spPr>
      </p:sp>
      <p:sp>
        <p:nvSpPr>
          <p:cNvPr id="33" name="Text 30"/>
          <p:cNvSpPr txBox="1"/>
          <p:nvPr/>
        </p:nvSpPr>
        <p:spPr>
          <a:xfrm>
            <a:off x="1856232" y="5074920"/>
            <a:ext cx="9144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cycle</a:t>
            </a:r>
            <a:endParaRPr lang="en-US" sz="1300" dirty="0"/>
          </a:p>
        </p:txBody>
      </p:sp>
      <p:sp>
        <p:nvSpPr>
          <p:cNvPr id="34" name="Shape 31"/>
          <p:cNvSpPr/>
          <p:nvPr/>
        </p:nvSpPr>
        <p:spPr>
          <a:xfrm>
            <a:off x="2843784" y="5074920"/>
            <a:ext cx="2331720" cy="457200"/>
          </a:xfrm>
          <a:prstGeom prst="roundRect">
            <a:avLst>
              <a:gd name="adj" fmla="val 16000"/>
            </a:avLst>
          </a:prstGeom>
          <a:solidFill>
            <a:srgbClr val="157A7F"/>
          </a:solidFill>
          <a:ln/>
        </p:spPr>
      </p:sp>
      <p:sp>
        <p:nvSpPr>
          <p:cNvPr id="35" name="Text 32"/>
          <p:cNvSpPr txBox="1"/>
          <p:nvPr/>
        </p:nvSpPr>
        <p:spPr>
          <a:xfrm>
            <a:off x="2843784" y="5074920"/>
            <a:ext cx="2331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setting_1 … setting_3</a:t>
            </a:r>
            <a:endParaRPr lang="en-US" sz="1300" dirty="0"/>
          </a:p>
        </p:txBody>
      </p:sp>
      <p:sp>
        <p:nvSpPr>
          <p:cNvPr id="36" name="Shape 33"/>
          <p:cNvSpPr/>
          <p:nvPr/>
        </p:nvSpPr>
        <p:spPr>
          <a:xfrm>
            <a:off x="5248656" y="5074920"/>
            <a:ext cx="6400800" cy="457200"/>
          </a:xfrm>
          <a:prstGeom prst="roundRect">
            <a:avLst>
              <a:gd name="adj" fmla="val 16000"/>
            </a:avLst>
          </a:prstGeom>
          <a:solidFill>
            <a:srgbClr val="C8701E"/>
          </a:solidFill>
          <a:ln/>
        </p:spPr>
      </p:sp>
      <p:sp>
        <p:nvSpPr>
          <p:cNvPr id="37" name="Text 34"/>
          <p:cNvSpPr txBox="1"/>
          <p:nvPr/>
        </p:nvSpPr>
        <p:spPr>
          <a:xfrm>
            <a:off x="5248656" y="5074920"/>
            <a:ext cx="64008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sensor_1 … sensor_21</a:t>
            </a:r>
            <a:endParaRPr lang="en-US" sz="1300" dirty="0"/>
          </a:p>
        </p:txBody>
      </p:sp>
      <p:sp>
        <p:nvSpPr>
          <p:cNvPr id="38" name="Text 35"/>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Khóa trong một subset: (split, engine_id, cycle). Bốn subset được xử lý riêng vì khóa chưa có dataset_id.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Nhãn RUL tạo từ train; nhãn test chỉ mở sau khi đã dự đoán</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Ranh giới này ngăn data leakage (rò rỉ dữ liệu) từ test vào EDA, đặc trưng và chọn mô hình</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data/CONTRACTS.md; outputs/etl/parity.json; outputs/modeling/run_info.json; outputs/modeling/tables/final_metrics.json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5 / 20</a:t>
            </a:r>
            <a:endParaRPr lang="en-US" sz="1000" dirty="0"/>
          </a:p>
        </p:txBody>
      </p:sp>
      <p:sp>
        <p:nvSpPr>
          <p:cNvPr id="9" name="Text 6"/>
          <p:cNvSpPr txBox="1"/>
          <p:nvPr/>
        </p:nvSpPr>
        <p:spPr>
          <a:xfrm>
            <a:off x="548640" y="2011680"/>
            <a:ext cx="1463040" cy="310896"/>
          </a:xfrm>
          <a:prstGeom prst="rect">
            <a:avLst/>
          </a:prstGeom>
          <a:noFill/>
          <a:ln/>
        </p:spPr>
        <p:txBody>
          <a:bodyPr wrap="square" lIns="0" tIns="0" rIns="0" bIns="0" rtlCol="0" anchor="t"/>
          <a:lstStyle/>
          <a:p>
            <a:pPr indent="0" marL="0">
              <a:buNone/>
            </a:pPr>
            <a:r>
              <a:rPr lang="en-US" sz="1700" b="1" dirty="0">
                <a:solidFill>
                  <a:srgbClr val="0B2239"/>
                </a:solidFill>
                <a:latin typeface="Arial" pitchFamily="34" charset="0"/>
                <a:ea typeface="Arial" pitchFamily="34" charset="-122"/>
                <a:cs typeface="Arial" pitchFamily="34" charset="-120"/>
              </a:rPr>
              <a:t>Train</a:t>
            </a:r>
            <a:endParaRPr lang="en-US" sz="1700" dirty="0"/>
          </a:p>
        </p:txBody>
      </p:sp>
      <p:sp>
        <p:nvSpPr>
          <p:cNvPr id="10" name="Text 7"/>
          <p:cNvSpPr txBox="1"/>
          <p:nvPr/>
        </p:nvSpPr>
        <p:spPr>
          <a:xfrm>
            <a:off x="548640" y="2340864"/>
            <a:ext cx="1554480" cy="54864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100 engines chạy đến failure</a:t>
            </a:r>
            <a:endParaRPr lang="en-US" sz="1150" dirty="0"/>
          </a:p>
        </p:txBody>
      </p:sp>
      <p:sp>
        <p:nvSpPr>
          <p:cNvPr id="11" name="Shape 8"/>
          <p:cNvSpPr/>
          <p:nvPr/>
        </p:nvSpPr>
        <p:spPr>
          <a:xfrm>
            <a:off x="2194560" y="2121408"/>
            <a:ext cx="5212080" cy="237744"/>
          </a:xfrm>
          <a:prstGeom prst="rect">
            <a:avLst/>
          </a:prstGeom>
          <a:solidFill>
            <a:srgbClr val="DCEFEF"/>
          </a:solidFill>
          <a:ln/>
        </p:spPr>
      </p:sp>
      <p:sp>
        <p:nvSpPr>
          <p:cNvPr id="12" name="Shape 9"/>
          <p:cNvSpPr/>
          <p:nvPr/>
        </p:nvSpPr>
        <p:spPr>
          <a:xfrm>
            <a:off x="7269480" y="2075688"/>
            <a:ext cx="329184" cy="329184"/>
          </a:xfrm>
          <a:prstGeom prst="ellipse">
            <a:avLst/>
          </a:prstGeom>
          <a:solidFill>
            <a:srgbClr val="B23A3A"/>
          </a:solidFill>
          <a:ln/>
        </p:spPr>
      </p:sp>
      <p:sp>
        <p:nvSpPr>
          <p:cNvPr id="13" name="Text 10"/>
          <p:cNvSpPr txBox="1"/>
          <p:nvPr/>
        </p:nvSpPr>
        <p:spPr>
          <a:xfrm>
            <a:off x="6949440" y="2468880"/>
            <a:ext cx="914400" cy="256032"/>
          </a:xfrm>
          <a:prstGeom prst="rect">
            <a:avLst/>
          </a:prstGeom>
          <a:noFill/>
          <a:ln/>
        </p:spPr>
        <p:txBody>
          <a:bodyPr wrap="square" lIns="0" tIns="0" rIns="0" bIns="0" rtlCol="0" anchor="t"/>
          <a:lstStyle/>
          <a:p>
            <a:pPr algn="ctr" indent="0" marL="0">
              <a:buNone/>
            </a:pPr>
            <a:r>
              <a:rPr lang="en-US" sz="1150" dirty="0">
                <a:solidFill>
                  <a:srgbClr val="B23A3A"/>
                </a:solidFill>
                <a:latin typeface="Arial" pitchFamily="34" charset="0"/>
                <a:ea typeface="Arial" pitchFamily="34" charset="-122"/>
                <a:cs typeface="Arial" pitchFamily="34" charset="-120"/>
              </a:rPr>
              <a:t>failure</a:t>
            </a:r>
            <a:endParaRPr lang="en-US" sz="1150" dirty="0"/>
          </a:p>
        </p:txBody>
      </p:sp>
      <p:sp>
        <p:nvSpPr>
          <p:cNvPr id="14" name="Text 11"/>
          <p:cNvSpPr txBox="1"/>
          <p:nvPr/>
        </p:nvSpPr>
        <p:spPr>
          <a:xfrm>
            <a:off x="548640" y="3337560"/>
            <a:ext cx="1463040" cy="310896"/>
          </a:xfrm>
          <a:prstGeom prst="rect">
            <a:avLst/>
          </a:prstGeom>
          <a:noFill/>
          <a:ln/>
        </p:spPr>
        <p:txBody>
          <a:bodyPr wrap="square" lIns="0" tIns="0" rIns="0" bIns="0" rtlCol="0" anchor="t"/>
          <a:lstStyle/>
          <a:p>
            <a:pPr indent="0" marL="0">
              <a:buNone/>
            </a:pPr>
            <a:r>
              <a:rPr lang="en-US" sz="1700" b="1" dirty="0">
                <a:solidFill>
                  <a:srgbClr val="0B2239"/>
                </a:solidFill>
                <a:latin typeface="Arial" pitchFamily="34" charset="0"/>
                <a:ea typeface="Arial" pitchFamily="34" charset="-122"/>
                <a:cs typeface="Arial" pitchFamily="34" charset="-120"/>
              </a:rPr>
              <a:t>Test</a:t>
            </a:r>
            <a:endParaRPr lang="en-US" sz="1700" dirty="0"/>
          </a:p>
        </p:txBody>
      </p:sp>
      <p:sp>
        <p:nvSpPr>
          <p:cNvPr id="15" name="Text 12"/>
          <p:cNvSpPr txBox="1"/>
          <p:nvPr/>
        </p:nvSpPr>
        <p:spPr>
          <a:xfrm>
            <a:off x="548640" y="3666744"/>
            <a:ext cx="1554480" cy="54864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100 engines bị cắt trước failure</a:t>
            </a:r>
            <a:endParaRPr lang="en-US" sz="1150" dirty="0"/>
          </a:p>
        </p:txBody>
      </p:sp>
      <p:sp>
        <p:nvSpPr>
          <p:cNvPr id="16" name="Shape 13"/>
          <p:cNvSpPr/>
          <p:nvPr/>
        </p:nvSpPr>
        <p:spPr>
          <a:xfrm>
            <a:off x="2194560" y="3447288"/>
            <a:ext cx="3566160" cy="237744"/>
          </a:xfrm>
          <a:prstGeom prst="rect">
            <a:avLst/>
          </a:prstGeom>
          <a:solidFill>
            <a:srgbClr val="DCEFEF"/>
          </a:solidFill>
          <a:ln/>
        </p:spPr>
      </p:sp>
      <p:sp>
        <p:nvSpPr>
          <p:cNvPr id="17" name="Shape 14"/>
          <p:cNvSpPr/>
          <p:nvPr/>
        </p:nvSpPr>
        <p:spPr>
          <a:xfrm>
            <a:off x="5760720" y="3566160"/>
            <a:ext cx="1645920" cy="0"/>
          </a:xfrm>
          <a:prstGeom prst="line">
            <a:avLst/>
          </a:prstGeom>
          <a:noFill/>
          <a:ln w="19050">
            <a:solidFill>
              <a:srgbClr val="9AA8B5"/>
            </a:solidFill>
            <a:prstDash val="dash"/>
          </a:ln>
        </p:spPr>
      </p:sp>
      <p:sp>
        <p:nvSpPr>
          <p:cNvPr id="18" name="Shape 15"/>
          <p:cNvSpPr/>
          <p:nvPr/>
        </p:nvSpPr>
        <p:spPr>
          <a:xfrm>
            <a:off x="5641848" y="3429000"/>
            <a:ext cx="274320" cy="274320"/>
          </a:xfrm>
          <a:prstGeom prst="ellipse">
            <a:avLst/>
          </a:prstGeom>
          <a:solidFill>
            <a:srgbClr val="C8701E"/>
          </a:solidFill>
          <a:ln/>
        </p:spPr>
      </p:sp>
      <p:sp>
        <p:nvSpPr>
          <p:cNvPr id="19" name="Text 16"/>
          <p:cNvSpPr txBox="1"/>
          <p:nvPr/>
        </p:nvSpPr>
        <p:spPr>
          <a:xfrm>
            <a:off x="4297680" y="3794760"/>
            <a:ext cx="1645920" cy="256032"/>
          </a:xfrm>
          <a:prstGeom prst="rect">
            <a:avLst/>
          </a:prstGeom>
          <a:noFill/>
          <a:ln/>
        </p:spPr>
        <p:txBody>
          <a:bodyPr wrap="square" lIns="0" tIns="0" rIns="0" bIns="0" rtlCol="0" anchor="t"/>
          <a:lstStyle/>
          <a:p>
            <a:pPr algn="r" indent="0" marL="0">
              <a:buNone/>
            </a:pPr>
            <a:r>
              <a:rPr lang="en-US" sz="1150" dirty="0">
                <a:solidFill>
                  <a:srgbClr val="C8701E"/>
                </a:solidFill>
                <a:latin typeface="Arial" pitchFamily="34" charset="0"/>
                <a:ea typeface="Arial" pitchFamily="34" charset="-122"/>
                <a:cs typeface="Arial" pitchFamily="34" charset="-120"/>
              </a:rPr>
              <a:t>cycle cuối quan sát</a:t>
            </a:r>
            <a:endParaRPr lang="en-US" sz="1150" dirty="0"/>
          </a:p>
        </p:txBody>
      </p:sp>
      <p:sp>
        <p:nvSpPr>
          <p:cNvPr id="20" name="Text 17"/>
          <p:cNvSpPr txBox="1"/>
          <p:nvPr/>
        </p:nvSpPr>
        <p:spPr>
          <a:xfrm>
            <a:off x="6035040" y="3794760"/>
            <a:ext cx="1463040" cy="256032"/>
          </a:xfrm>
          <a:prstGeom prst="rect">
            <a:avLst/>
          </a:prstGeom>
          <a:noFill/>
          <a:ln/>
        </p:spPr>
        <p:txBody>
          <a:bodyPr wrap="square" lIns="0" tIns="0" rIns="0" bIns="0" rtlCol="0" anchor="t"/>
          <a:lstStyle/>
          <a:p>
            <a:pPr algn="r" indent="0" marL="0">
              <a:buNone/>
            </a:pPr>
            <a:r>
              <a:rPr lang="en-US" sz="1150" dirty="0">
                <a:solidFill>
                  <a:srgbClr val="9AA8B5"/>
                </a:solidFill>
                <a:latin typeface="Arial" pitchFamily="34" charset="0"/>
                <a:ea typeface="Arial" pitchFamily="34" charset="-122"/>
                <a:cs typeface="Arial" pitchFamily="34" charset="-120"/>
              </a:rPr>
              <a:t>failure chưa biết</a:t>
            </a:r>
            <a:endParaRPr lang="en-US" sz="1150" dirty="0"/>
          </a:p>
        </p:txBody>
      </p:sp>
      <p:sp>
        <p:nvSpPr>
          <p:cNvPr id="21" name="Shape 18"/>
          <p:cNvSpPr/>
          <p:nvPr/>
        </p:nvSpPr>
        <p:spPr>
          <a:xfrm>
            <a:off x="548640" y="4572000"/>
            <a:ext cx="7223760" cy="1371600"/>
          </a:xfrm>
          <a:prstGeom prst="roundRect">
            <a:avLst>
              <a:gd name="adj" fmla="val 5333"/>
            </a:avLst>
          </a:prstGeom>
          <a:solidFill>
            <a:srgbClr val="EEF3F6"/>
          </a:solidFill>
          <a:ln/>
        </p:spPr>
      </p:sp>
      <p:sp>
        <p:nvSpPr>
          <p:cNvPr id="22" name="Text 19"/>
          <p:cNvSpPr txBox="1"/>
          <p:nvPr/>
        </p:nvSpPr>
        <p:spPr>
          <a:xfrm>
            <a:off x="777240" y="4736592"/>
            <a:ext cx="6858000" cy="1325880"/>
          </a:xfrm>
          <a:prstGeom prst="rect">
            <a:avLst/>
          </a:prstGeom>
          <a:noFill/>
          <a:ln/>
        </p:spPr>
        <p:txBody>
          <a:bodyPr wrap="square" lIns="0" tIns="0" rIns="0" bIns="0" rtlCol="0" anchor="t"/>
          <a:lstStyle/>
          <a:p>
            <a:pPr indent="0" marL="0">
              <a:spcAft>
                <a:spcPts val="800"/>
              </a:spcAft>
              <a:buNone/>
            </a:pPr>
            <a:r>
              <a:rPr lang="en-US" sz="1450" b="1" dirty="0">
                <a:solidFill>
                  <a:srgbClr val="0B2239"/>
                </a:solidFill>
                <a:latin typeface="Arial" pitchFamily="34" charset="0"/>
                <a:ea typeface="Arial" pitchFamily="34" charset="-122"/>
                <a:cs typeface="Arial" pitchFamily="34" charset="-120"/>
              </a:rPr>
              <a:t>Train: </a:t>
            </a:r>
            <a:pPr indent="0" marL="0">
              <a:spcAft>
                <a:spcPts val="800"/>
              </a:spcAft>
              <a:buNone/>
            </a:pPr>
            <a:r>
              <a:rPr lang="en-US" sz="1450" dirty="0">
                <a:solidFill>
                  <a:srgbClr val="1B2733"/>
                </a:solidFill>
                <a:latin typeface="Arial" pitchFamily="34" charset="0"/>
                <a:ea typeface="Arial" pitchFamily="34" charset="-122"/>
                <a:cs typeface="Arial" pitchFamily="34" charset="-120"/>
              </a:rPr>
              <a:t>RUL(t) = cycle cuối − t → 20.631 nhãn</a:t>
            </a:r>
            <a:endParaRPr lang="en-US" sz="1450" dirty="0"/>
          </a:p>
          <a:p>
            <a:pPr indent="0" marL="0">
              <a:spcAft>
                <a:spcPts val="800"/>
              </a:spcAft>
              <a:buNone/>
            </a:pPr>
            <a:r>
              <a:rPr lang="en-US" sz="1450" b="1" dirty="0">
                <a:solidFill>
                  <a:srgbClr val="0B2239"/>
                </a:solidFill>
                <a:latin typeface="Arial" pitchFamily="34" charset="0"/>
                <a:ea typeface="Arial" pitchFamily="34" charset="-122"/>
                <a:cs typeface="Arial" pitchFamily="34" charset="-120"/>
              </a:rPr>
              <a:t>Test: </a:t>
            </a:r>
            <a:pPr indent="0" marL="0">
              <a:spcAft>
                <a:spcPts val="800"/>
              </a:spcAft>
              <a:buNone/>
            </a:pPr>
            <a:r>
              <a:rPr lang="en-US" sz="1450" dirty="0">
                <a:solidFill>
                  <a:srgbClr val="1B2733"/>
                </a:solidFill>
                <a:latin typeface="Arial" pitchFamily="34" charset="0"/>
                <a:ea typeface="Arial" pitchFamily="34" charset="-122"/>
                <a:cs typeface="Arial" pitchFamily="34" charset="-120"/>
              </a:rPr>
              <a:t>1 dự đoán/engine tại cycle cuối → ghi final predictions → mới ghép RUL_FD001.txt</a:t>
            </a:r>
            <a:endParaRPr lang="en-US" sz="1450" dirty="0"/>
          </a:p>
        </p:txBody>
      </p:sp>
      <p:sp>
        <p:nvSpPr>
          <p:cNvPr id="23" name="Shape 20"/>
          <p:cNvSpPr/>
          <p:nvPr/>
        </p:nvSpPr>
        <p:spPr>
          <a:xfrm>
            <a:off x="8229600" y="1920240"/>
            <a:ext cx="3410712" cy="4251960"/>
          </a:xfrm>
          <a:prstGeom prst="roundRect">
            <a:avLst>
              <a:gd name="adj" fmla="val 2145"/>
            </a:avLst>
          </a:prstGeom>
          <a:solidFill>
            <a:srgbClr val="0B2239"/>
          </a:solidFill>
          <a:ln/>
        </p:spPr>
      </p:sp>
      <p:sp>
        <p:nvSpPr>
          <p:cNvPr id="24" name="Text 21"/>
          <p:cNvSpPr txBox="1"/>
          <p:nvPr/>
        </p:nvSpPr>
        <p:spPr>
          <a:xfrm>
            <a:off x="8503920" y="2103120"/>
            <a:ext cx="292608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Kiểm soát nhãn test</a:t>
            </a:r>
            <a:endParaRPr lang="en-US" sz="1600" dirty="0"/>
          </a:p>
        </p:txBody>
      </p:sp>
      <p:sp>
        <p:nvSpPr>
          <p:cNvPr id="25" name="Text 22"/>
          <p:cNvSpPr txBox="1"/>
          <p:nvPr/>
        </p:nvSpPr>
        <p:spPr>
          <a:xfrm>
            <a:off x="8503920" y="2651760"/>
            <a:ext cx="2926080" cy="365760"/>
          </a:xfrm>
          <a:prstGeom prst="rect">
            <a:avLst/>
          </a:prstGeom>
          <a:noFill/>
          <a:ln/>
        </p:spPr>
        <p:txBody>
          <a:bodyPr wrap="square" lIns="0" tIns="0" rIns="0" bIns="0" rtlCol="0" anchor="t"/>
          <a:lstStyle/>
          <a:p>
            <a:pPr indent="0" marL="0">
              <a:buNone/>
            </a:pPr>
            <a:r>
              <a:rPr lang="en-US" sz="1900" b="1" dirty="0">
                <a:solidFill>
                  <a:srgbClr val="F2B880"/>
                </a:solidFill>
                <a:latin typeface="Arial" pitchFamily="34" charset="0"/>
                <a:ea typeface="Arial" pitchFamily="34" charset="-122"/>
                <a:cs typeface="Arial" pitchFamily="34" charset="-120"/>
              </a:rPr>
              <a:t>Không dùng</a:t>
            </a:r>
            <a:endParaRPr lang="en-US" sz="1900" dirty="0"/>
          </a:p>
        </p:txBody>
      </p:sp>
      <p:sp>
        <p:nvSpPr>
          <p:cNvPr id="26" name="Text 23"/>
          <p:cNvSpPr txBox="1"/>
          <p:nvPr/>
        </p:nvSpPr>
        <p:spPr>
          <a:xfrm>
            <a:off x="8503920" y="3035808"/>
            <a:ext cx="2926080" cy="64008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trong EDA, đặc trưng, chọn model</a:t>
            </a:r>
            <a:endParaRPr lang="en-US" sz="1250" dirty="0"/>
          </a:p>
        </p:txBody>
      </p:sp>
      <p:sp>
        <p:nvSpPr>
          <p:cNvPr id="27" name="Text 24"/>
          <p:cNvSpPr txBox="1"/>
          <p:nvPr/>
        </p:nvSpPr>
        <p:spPr>
          <a:xfrm>
            <a:off x="8503920" y="3794760"/>
            <a:ext cx="2926080" cy="365760"/>
          </a:xfrm>
          <a:prstGeom prst="rect">
            <a:avLst/>
          </a:prstGeom>
          <a:noFill/>
          <a:ln/>
        </p:spPr>
        <p:txBody>
          <a:bodyPr wrap="square" lIns="0" tIns="0" rIns="0" bIns="0" rtlCol="0" anchor="t"/>
          <a:lstStyle/>
          <a:p>
            <a:pPr indent="0" marL="0">
              <a:buNone/>
            </a:pPr>
            <a:r>
              <a:rPr lang="en-US" sz="1900" b="1" dirty="0">
                <a:solidFill>
                  <a:srgbClr val="F2B880"/>
                </a:solidFill>
                <a:latin typeface="Arial" pitchFamily="34" charset="0"/>
                <a:ea typeface="Arial" pitchFamily="34" charset="-122"/>
                <a:cs typeface="Arial" pitchFamily="34" charset="-120"/>
              </a:rPr>
              <a:t>Ghép muộn</a:t>
            </a:r>
            <a:endParaRPr lang="en-US" sz="1900" dirty="0"/>
          </a:p>
        </p:txBody>
      </p:sp>
      <p:sp>
        <p:nvSpPr>
          <p:cNvPr id="28" name="Text 25"/>
          <p:cNvSpPr txBox="1"/>
          <p:nvPr/>
        </p:nvSpPr>
        <p:spPr>
          <a:xfrm>
            <a:off x="8503920" y="4178808"/>
            <a:ext cx="2926080" cy="64008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sau khi đã ghi final predictions</a:t>
            </a:r>
            <a:endParaRPr lang="en-US" sz="1250" dirty="0"/>
          </a:p>
        </p:txBody>
      </p:sp>
      <p:sp>
        <p:nvSpPr>
          <p:cNvPr id="29" name="Text 26"/>
          <p:cNvSpPr txBox="1"/>
          <p:nvPr/>
        </p:nvSpPr>
        <p:spPr>
          <a:xfrm>
            <a:off x="8503920" y="4937760"/>
            <a:ext cx="2926080" cy="365760"/>
          </a:xfrm>
          <a:prstGeom prst="rect">
            <a:avLst/>
          </a:prstGeom>
          <a:noFill/>
          <a:ln/>
        </p:spPr>
        <p:txBody>
          <a:bodyPr wrap="square" lIns="0" tIns="0" rIns="0" bIns="0" rtlCol="0" anchor="t"/>
          <a:lstStyle/>
          <a:p>
            <a:pPr indent="0" marL="0">
              <a:buNone/>
            </a:pPr>
            <a:r>
              <a:rPr lang="en-US" sz="1900" b="1" dirty="0">
                <a:solidFill>
                  <a:srgbClr val="F2B880"/>
                </a:solidFill>
                <a:latin typeface="Arial" pitchFamily="34" charset="0"/>
                <a:ea typeface="Arial" pitchFamily="34" charset="-122"/>
                <a:cs typeface="Arial" pitchFamily="34" charset="-120"/>
              </a:rPr>
              <a:t>Có dấu vết</a:t>
            </a:r>
            <a:endParaRPr lang="en-US" sz="1900" dirty="0"/>
          </a:p>
        </p:txBody>
      </p:sp>
      <p:sp>
        <p:nvSpPr>
          <p:cNvPr id="30" name="Text 27"/>
          <p:cNvSpPr txBox="1"/>
          <p:nvPr/>
        </p:nvSpPr>
        <p:spPr>
          <a:xfrm>
            <a:off x="8503920" y="5321808"/>
            <a:ext cx="2926080" cy="64008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run_info ghi trạng thái join; final_metrics ghi SHA-256 của nhãn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65176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2 · PIPELINE BIG DATA</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Pipeline Bronze → Silver → Gold → đặc trưng → mô hình</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Mỗi bước ghi artifact kèm hash và run_info để truy vết và chạy lại</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assets/diagrams/fd001-pipeline.drawio; handoff/DATA_WALKTHROUGH.md; outputs/*/run_info.json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6 / 20</a:t>
            </a:r>
            <a:endParaRPr lang="en-US" sz="1000" dirty="0"/>
          </a:p>
        </p:txBody>
      </p:sp>
      <p:sp>
        <p:nvSpPr>
          <p:cNvPr id="9" name="Shape 6"/>
          <p:cNvSpPr/>
          <p:nvPr/>
        </p:nvSpPr>
        <p:spPr>
          <a:xfrm>
            <a:off x="4242816" y="1847088"/>
            <a:ext cx="3703320" cy="329184"/>
          </a:xfrm>
          <a:prstGeom prst="rect">
            <a:avLst/>
          </a:prstGeom>
          <a:solidFill>
            <a:srgbClr val="FBEBD9"/>
          </a:solidFill>
          <a:ln/>
        </p:spPr>
      </p:sp>
      <p:sp>
        <p:nvSpPr>
          <p:cNvPr id="10" name="Text 7"/>
          <p:cNvSpPr txBox="1"/>
          <p:nvPr/>
        </p:nvSpPr>
        <p:spPr>
          <a:xfrm>
            <a:off x="4242816" y="1847088"/>
            <a:ext cx="3703320" cy="329184"/>
          </a:xfrm>
          <a:prstGeom prst="rect">
            <a:avLst/>
          </a:prstGeom>
          <a:noFill/>
          <a:ln/>
        </p:spPr>
        <p:txBody>
          <a:bodyPr wrap="square" lIns="0" tIns="0" rIns="0" bIns="0" rtlCol="0" anchor="ctr"/>
          <a:lstStyle/>
          <a:p>
            <a:pPr algn="ctr" indent="0" marL="0">
              <a:buNone/>
            </a:pPr>
            <a:r>
              <a:rPr lang="en-US" sz="1200" b="1" dirty="0">
                <a:solidFill>
                  <a:srgbClr val="C8701E"/>
                </a:solidFill>
                <a:latin typeface="Arial" pitchFamily="34" charset="0"/>
                <a:ea typeface="Arial" pitchFamily="34" charset="-122"/>
                <a:cs typeface="Arial" pitchFamily="34" charset="-120"/>
              </a:rPr>
              <a:t>Pandas và PySpark: kết quả khớp</a:t>
            </a:r>
            <a:endParaRPr lang="en-US" sz="1200" dirty="0"/>
          </a:p>
        </p:txBody>
      </p:sp>
      <p:sp>
        <p:nvSpPr>
          <p:cNvPr id="11" name="Shape 8"/>
          <p:cNvSpPr/>
          <p:nvPr/>
        </p:nvSpPr>
        <p:spPr>
          <a:xfrm>
            <a:off x="548640" y="2331720"/>
            <a:ext cx="1627632" cy="1600200"/>
          </a:xfrm>
          <a:prstGeom prst="roundRect">
            <a:avLst>
              <a:gd name="adj" fmla="val 4571"/>
            </a:avLst>
          </a:prstGeom>
          <a:solidFill>
            <a:srgbClr val="EEF3F6"/>
          </a:solidFill>
          <a:ln/>
        </p:spPr>
      </p:sp>
      <p:sp>
        <p:nvSpPr>
          <p:cNvPr id="12" name="Text 9"/>
          <p:cNvSpPr txBox="1"/>
          <p:nvPr/>
        </p:nvSpPr>
        <p:spPr>
          <a:xfrm>
            <a:off x="658368"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Bronze</a:t>
            </a:r>
            <a:endParaRPr lang="en-US" sz="1500" dirty="0"/>
          </a:p>
        </p:txBody>
      </p:sp>
      <p:sp>
        <p:nvSpPr>
          <p:cNvPr id="13" name="Text 10"/>
          <p:cNvSpPr txBox="1"/>
          <p:nvPr/>
        </p:nvSpPr>
        <p:spPr>
          <a:xfrm>
            <a:off x="658368"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Raw TXT</a:t>
            </a:r>
            <a:endParaRPr lang="en-US" sz="1200" dirty="0"/>
          </a:p>
        </p:txBody>
      </p:sp>
      <p:sp>
        <p:nvSpPr>
          <p:cNvPr id="14" name="Text 11"/>
          <p:cNvSpPr txBox="1"/>
          <p:nvPr/>
        </p:nvSpPr>
        <p:spPr>
          <a:xfrm>
            <a:off x="658368"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train, test,</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RUL_FD00x</a:t>
            </a:r>
            <a:endParaRPr lang="en-US" sz="1150" dirty="0"/>
          </a:p>
        </p:txBody>
      </p:sp>
      <p:sp>
        <p:nvSpPr>
          <p:cNvPr id="15" name="Shape 12"/>
          <p:cNvSpPr/>
          <p:nvPr/>
        </p:nvSpPr>
        <p:spPr>
          <a:xfrm>
            <a:off x="2203704" y="3131820"/>
            <a:ext cx="210312" cy="0"/>
          </a:xfrm>
          <a:prstGeom prst="line">
            <a:avLst/>
          </a:prstGeom>
          <a:noFill/>
          <a:ln w="19050">
            <a:solidFill>
              <a:srgbClr val="5A6B7B"/>
            </a:solidFill>
            <a:prstDash val="solid"/>
            <a:tailEnd type="triangle"/>
          </a:ln>
        </p:spPr>
      </p:sp>
      <p:sp>
        <p:nvSpPr>
          <p:cNvPr id="16" name="Shape 13"/>
          <p:cNvSpPr/>
          <p:nvPr/>
        </p:nvSpPr>
        <p:spPr>
          <a:xfrm>
            <a:off x="2441448" y="2331720"/>
            <a:ext cx="1627632" cy="1600200"/>
          </a:xfrm>
          <a:prstGeom prst="roundRect">
            <a:avLst>
              <a:gd name="adj" fmla="val 4571"/>
            </a:avLst>
          </a:prstGeom>
          <a:solidFill>
            <a:srgbClr val="EEF3F6"/>
          </a:solidFill>
          <a:ln/>
        </p:spPr>
      </p:sp>
      <p:sp>
        <p:nvSpPr>
          <p:cNvPr id="17" name="Text 14"/>
          <p:cNvSpPr txBox="1"/>
          <p:nvPr/>
        </p:nvSpPr>
        <p:spPr>
          <a:xfrm>
            <a:off x="2551176"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Validation</a:t>
            </a:r>
            <a:endParaRPr lang="en-US" sz="1500" dirty="0"/>
          </a:p>
        </p:txBody>
      </p:sp>
      <p:sp>
        <p:nvSpPr>
          <p:cNvPr id="18" name="Text 15"/>
          <p:cNvSpPr txBox="1"/>
          <p:nvPr/>
        </p:nvSpPr>
        <p:spPr>
          <a:xfrm>
            <a:off x="2551176"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Reader</a:t>
            </a:r>
            <a:endParaRPr lang="en-US" sz="1200" dirty="0"/>
          </a:p>
        </p:txBody>
      </p:sp>
      <p:sp>
        <p:nvSpPr>
          <p:cNvPr id="19" name="Text 16"/>
          <p:cNvSpPr txBox="1"/>
          <p:nvPr/>
        </p:nvSpPr>
        <p:spPr>
          <a:xfrm>
            <a:off x="2551176"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26 trường, kiểu,</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khóa, cycle liên tục</a:t>
            </a:r>
            <a:endParaRPr lang="en-US" sz="1150" dirty="0"/>
          </a:p>
        </p:txBody>
      </p:sp>
      <p:sp>
        <p:nvSpPr>
          <p:cNvPr id="20" name="Shape 17"/>
          <p:cNvSpPr/>
          <p:nvPr/>
        </p:nvSpPr>
        <p:spPr>
          <a:xfrm>
            <a:off x="4096512" y="3131820"/>
            <a:ext cx="210312" cy="0"/>
          </a:xfrm>
          <a:prstGeom prst="line">
            <a:avLst/>
          </a:prstGeom>
          <a:noFill/>
          <a:ln w="19050">
            <a:solidFill>
              <a:srgbClr val="5A6B7B"/>
            </a:solidFill>
            <a:prstDash val="solid"/>
            <a:tailEnd type="triangle"/>
          </a:ln>
        </p:spPr>
      </p:sp>
      <p:sp>
        <p:nvSpPr>
          <p:cNvPr id="21" name="Shape 18"/>
          <p:cNvSpPr/>
          <p:nvPr/>
        </p:nvSpPr>
        <p:spPr>
          <a:xfrm>
            <a:off x="4334256" y="2331720"/>
            <a:ext cx="1627632" cy="1600200"/>
          </a:xfrm>
          <a:prstGeom prst="roundRect">
            <a:avLst>
              <a:gd name="adj" fmla="val 4571"/>
            </a:avLst>
          </a:prstGeom>
          <a:solidFill>
            <a:srgbClr val="EEF3F6"/>
          </a:solidFill>
          <a:ln/>
        </p:spPr>
      </p:sp>
      <p:sp>
        <p:nvSpPr>
          <p:cNvPr id="22" name="Text 19"/>
          <p:cNvSpPr txBox="1"/>
          <p:nvPr/>
        </p:nvSpPr>
        <p:spPr>
          <a:xfrm>
            <a:off x="4443984"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Silver</a:t>
            </a:r>
            <a:endParaRPr lang="en-US" sz="1500" dirty="0"/>
          </a:p>
        </p:txBody>
      </p:sp>
      <p:sp>
        <p:nvSpPr>
          <p:cNvPr id="23" name="Text 20"/>
          <p:cNvSpPr txBox="1"/>
          <p:nvPr/>
        </p:nvSpPr>
        <p:spPr>
          <a:xfrm>
            <a:off x="4443984"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Parquet</a:t>
            </a:r>
            <a:endParaRPr lang="en-US" sz="1200" dirty="0"/>
          </a:p>
        </p:txBody>
      </p:sp>
      <p:sp>
        <p:nvSpPr>
          <p:cNvPr id="24" name="Text 21"/>
          <p:cNvSpPr txBox="1"/>
          <p:nvPr/>
        </p:nvSpPr>
        <p:spPr>
          <a:xfrm>
            <a:off x="4443984"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observations 33.727</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train_targets 20.631</a:t>
            </a:r>
            <a:endParaRPr lang="en-US" sz="1150" dirty="0"/>
          </a:p>
        </p:txBody>
      </p:sp>
      <p:sp>
        <p:nvSpPr>
          <p:cNvPr id="25" name="Shape 22"/>
          <p:cNvSpPr/>
          <p:nvPr/>
        </p:nvSpPr>
        <p:spPr>
          <a:xfrm>
            <a:off x="5989320" y="3131820"/>
            <a:ext cx="210312" cy="0"/>
          </a:xfrm>
          <a:prstGeom prst="line">
            <a:avLst/>
          </a:prstGeom>
          <a:noFill/>
          <a:ln w="19050">
            <a:solidFill>
              <a:srgbClr val="5A6B7B"/>
            </a:solidFill>
            <a:prstDash val="solid"/>
            <a:tailEnd type="triangle"/>
          </a:ln>
        </p:spPr>
      </p:sp>
      <p:sp>
        <p:nvSpPr>
          <p:cNvPr id="26" name="Shape 23"/>
          <p:cNvSpPr/>
          <p:nvPr/>
        </p:nvSpPr>
        <p:spPr>
          <a:xfrm>
            <a:off x="6227064" y="2331720"/>
            <a:ext cx="1627632" cy="1600200"/>
          </a:xfrm>
          <a:prstGeom prst="roundRect">
            <a:avLst>
              <a:gd name="adj" fmla="val 4571"/>
            </a:avLst>
          </a:prstGeom>
          <a:solidFill>
            <a:srgbClr val="EEF3F6"/>
          </a:solidFill>
          <a:ln/>
        </p:spPr>
      </p:sp>
      <p:sp>
        <p:nvSpPr>
          <p:cNvPr id="27" name="Text 24"/>
          <p:cNvSpPr txBox="1"/>
          <p:nvPr/>
        </p:nvSpPr>
        <p:spPr>
          <a:xfrm>
            <a:off x="6336792"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Gold</a:t>
            </a:r>
            <a:endParaRPr lang="en-US" sz="1500" dirty="0"/>
          </a:p>
        </p:txBody>
      </p:sp>
      <p:sp>
        <p:nvSpPr>
          <p:cNvPr id="28" name="Text 25"/>
          <p:cNvSpPr txBox="1"/>
          <p:nvPr/>
        </p:nvSpPr>
        <p:spPr>
          <a:xfrm>
            <a:off x="6336792"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Parquet + SQLite</a:t>
            </a:r>
            <a:endParaRPr lang="en-US" sz="1200" dirty="0"/>
          </a:p>
        </p:txBody>
      </p:sp>
      <p:sp>
        <p:nvSpPr>
          <p:cNvPr id="29" name="Text 26"/>
          <p:cNvSpPr txBox="1"/>
          <p:nvPr/>
        </p:nvSpPr>
        <p:spPr>
          <a:xfrm>
            <a:off x="6336792"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engine_summary</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200 engines</a:t>
            </a:r>
            <a:endParaRPr lang="en-US" sz="1150" dirty="0"/>
          </a:p>
        </p:txBody>
      </p:sp>
      <p:sp>
        <p:nvSpPr>
          <p:cNvPr id="30" name="Shape 27"/>
          <p:cNvSpPr/>
          <p:nvPr/>
        </p:nvSpPr>
        <p:spPr>
          <a:xfrm>
            <a:off x="7882128" y="3131820"/>
            <a:ext cx="210312" cy="0"/>
          </a:xfrm>
          <a:prstGeom prst="line">
            <a:avLst/>
          </a:prstGeom>
          <a:noFill/>
          <a:ln w="19050">
            <a:solidFill>
              <a:srgbClr val="5A6B7B"/>
            </a:solidFill>
            <a:prstDash val="solid"/>
            <a:tailEnd type="triangle"/>
          </a:ln>
        </p:spPr>
      </p:sp>
      <p:sp>
        <p:nvSpPr>
          <p:cNvPr id="31" name="Shape 28"/>
          <p:cNvSpPr/>
          <p:nvPr/>
        </p:nvSpPr>
        <p:spPr>
          <a:xfrm>
            <a:off x="8119872" y="2331720"/>
            <a:ext cx="1627632" cy="1600200"/>
          </a:xfrm>
          <a:prstGeom prst="roundRect">
            <a:avLst>
              <a:gd name="adj" fmla="val 4571"/>
            </a:avLst>
          </a:prstGeom>
          <a:solidFill>
            <a:srgbClr val="157A7F"/>
          </a:solidFill>
          <a:ln/>
        </p:spPr>
      </p:sp>
      <p:sp>
        <p:nvSpPr>
          <p:cNvPr id="32" name="Text 29"/>
          <p:cNvSpPr txBox="1"/>
          <p:nvPr/>
        </p:nvSpPr>
        <p:spPr>
          <a:xfrm>
            <a:off x="8229600" y="2441448"/>
            <a:ext cx="1408176"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Đặc trưng</a:t>
            </a:r>
            <a:endParaRPr lang="en-US" sz="1500" dirty="0"/>
          </a:p>
        </p:txBody>
      </p:sp>
      <p:sp>
        <p:nvSpPr>
          <p:cNvPr id="33" name="Text 30"/>
          <p:cNvSpPr txBox="1"/>
          <p:nvPr/>
        </p:nvSpPr>
        <p:spPr>
          <a:xfrm>
            <a:off x="8229600" y="2761488"/>
            <a:ext cx="1408176" cy="274320"/>
          </a:xfrm>
          <a:prstGeom prst="rect">
            <a:avLst/>
          </a:prstGeom>
          <a:noFill/>
          <a:ln/>
        </p:spPr>
        <p:txBody>
          <a:bodyPr wrap="square" lIns="0" tIns="0" rIns="0" bIns="0" rtlCol="0" anchor="t"/>
          <a:lstStyle/>
          <a:p>
            <a:pPr indent="0" marL="0">
              <a:buNone/>
            </a:pPr>
            <a:r>
              <a:rPr lang="en-US" sz="1200" b="1" dirty="0">
                <a:solidFill>
                  <a:srgbClr val="BFD9E3"/>
                </a:solidFill>
                <a:latin typeface="Arial" pitchFamily="34" charset="0"/>
                <a:ea typeface="Arial" pitchFamily="34" charset="-122"/>
                <a:cs typeface="Arial" pitchFamily="34" charset="-120"/>
              </a:rPr>
              <a:t>Window 30</a:t>
            </a:r>
            <a:endParaRPr lang="en-US" sz="1200" dirty="0"/>
          </a:p>
        </p:txBody>
      </p:sp>
      <p:sp>
        <p:nvSpPr>
          <p:cNvPr id="34" name="Text 31"/>
          <p:cNvSpPr txBox="1"/>
          <p:nvPr/>
        </p:nvSpPr>
        <p:spPr>
          <a:xfrm>
            <a:off x="8229600" y="3108960"/>
            <a:ext cx="1444752" cy="73152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27.927 dòng</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 126 cột</a:t>
            </a:r>
            <a:endParaRPr lang="en-US" sz="1150" dirty="0"/>
          </a:p>
        </p:txBody>
      </p:sp>
      <p:sp>
        <p:nvSpPr>
          <p:cNvPr id="35" name="Shape 32"/>
          <p:cNvSpPr/>
          <p:nvPr/>
        </p:nvSpPr>
        <p:spPr>
          <a:xfrm>
            <a:off x="9774936" y="3131820"/>
            <a:ext cx="210312" cy="0"/>
          </a:xfrm>
          <a:prstGeom prst="line">
            <a:avLst/>
          </a:prstGeom>
          <a:noFill/>
          <a:ln w="19050">
            <a:solidFill>
              <a:srgbClr val="5A6B7B"/>
            </a:solidFill>
            <a:prstDash val="solid"/>
            <a:tailEnd type="triangle"/>
          </a:ln>
        </p:spPr>
      </p:sp>
      <p:sp>
        <p:nvSpPr>
          <p:cNvPr id="36" name="Shape 33"/>
          <p:cNvSpPr/>
          <p:nvPr/>
        </p:nvSpPr>
        <p:spPr>
          <a:xfrm>
            <a:off x="10012680" y="2331720"/>
            <a:ext cx="1627632" cy="1600200"/>
          </a:xfrm>
          <a:prstGeom prst="roundRect">
            <a:avLst>
              <a:gd name="adj" fmla="val 4571"/>
            </a:avLst>
          </a:prstGeom>
          <a:solidFill>
            <a:srgbClr val="0B2239"/>
          </a:solidFill>
          <a:ln/>
        </p:spPr>
      </p:sp>
      <p:sp>
        <p:nvSpPr>
          <p:cNvPr id="37" name="Text 34"/>
          <p:cNvSpPr txBox="1"/>
          <p:nvPr/>
        </p:nvSpPr>
        <p:spPr>
          <a:xfrm>
            <a:off x="10122408" y="2441448"/>
            <a:ext cx="1408176"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Mô hình</a:t>
            </a:r>
            <a:endParaRPr lang="en-US" sz="1500" dirty="0"/>
          </a:p>
        </p:txBody>
      </p:sp>
      <p:sp>
        <p:nvSpPr>
          <p:cNvPr id="38" name="Text 35"/>
          <p:cNvSpPr txBox="1"/>
          <p:nvPr/>
        </p:nvSpPr>
        <p:spPr>
          <a:xfrm>
            <a:off x="10122408" y="2761488"/>
            <a:ext cx="1408176" cy="274320"/>
          </a:xfrm>
          <a:prstGeom prst="rect">
            <a:avLst/>
          </a:prstGeom>
          <a:noFill/>
          <a:ln/>
        </p:spPr>
        <p:txBody>
          <a:bodyPr wrap="square" lIns="0" tIns="0" rIns="0" bIns="0" rtlCol="0" anchor="t"/>
          <a:lstStyle/>
          <a:p>
            <a:pPr indent="0" marL="0">
              <a:buNone/>
            </a:pPr>
            <a:r>
              <a:rPr lang="en-US" sz="1200" b="1" dirty="0">
                <a:solidFill>
                  <a:srgbClr val="BFD9E3"/>
                </a:solidFill>
                <a:latin typeface="Arial" pitchFamily="34" charset="0"/>
                <a:ea typeface="Arial" pitchFamily="34" charset="-122"/>
                <a:cs typeface="Arial" pitchFamily="34" charset="-120"/>
              </a:rPr>
              <a:t>HGB</a:t>
            </a:r>
            <a:endParaRPr lang="en-US" sz="1200" dirty="0"/>
          </a:p>
        </p:txBody>
      </p:sp>
      <p:sp>
        <p:nvSpPr>
          <p:cNvPr id="39" name="Text 36"/>
          <p:cNvSpPr txBox="1"/>
          <p:nvPr/>
        </p:nvSpPr>
        <p:spPr>
          <a:xfrm>
            <a:off x="10122408" y="3108960"/>
            <a:ext cx="1444752" cy="73152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GroupKFold → refit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 100 dự đoán test</a:t>
            </a:r>
            <a:endParaRPr lang="en-US" sz="1150" dirty="0"/>
          </a:p>
        </p:txBody>
      </p:sp>
      <p:sp>
        <p:nvSpPr>
          <p:cNvPr id="40" name="Shape 37"/>
          <p:cNvSpPr/>
          <p:nvPr/>
        </p:nvSpPr>
        <p:spPr>
          <a:xfrm>
            <a:off x="5148072" y="3977640"/>
            <a:ext cx="0" cy="612648"/>
          </a:xfrm>
          <a:prstGeom prst="line">
            <a:avLst/>
          </a:prstGeom>
          <a:noFill/>
          <a:ln w="19050">
            <a:solidFill>
              <a:srgbClr val="5A6B7B"/>
            </a:solidFill>
            <a:prstDash val="solid"/>
            <a:tailEnd type="triangle"/>
          </a:ln>
        </p:spPr>
      </p:sp>
      <p:sp>
        <p:nvSpPr>
          <p:cNvPr id="41" name="Shape 38"/>
          <p:cNvSpPr/>
          <p:nvPr/>
        </p:nvSpPr>
        <p:spPr>
          <a:xfrm>
            <a:off x="3364992" y="4617720"/>
            <a:ext cx="3566160" cy="822960"/>
          </a:xfrm>
          <a:prstGeom prst="roundRect">
            <a:avLst>
              <a:gd name="adj" fmla="val 8889"/>
            </a:avLst>
          </a:prstGeom>
          <a:solidFill>
            <a:srgbClr val="FFFFFF"/>
          </a:solidFill>
          <a:ln w="9525">
            <a:solidFill>
              <a:srgbClr val="C9D4DD"/>
            </a:solidFill>
            <a:prstDash val="solid"/>
          </a:ln>
        </p:spPr>
      </p:sp>
      <p:sp>
        <p:nvSpPr>
          <p:cNvPr id="42" name="Text 39"/>
          <p:cNvSpPr txBox="1"/>
          <p:nvPr/>
        </p:nvSpPr>
        <p:spPr>
          <a:xfrm>
            <a:off x="3502152" y="4690872"/>
            <a:ext cx="3291840" cy="36576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EDA, kiểm định, Health Index–ARIMA</a:t>
            </a:r>
            <a:endParaRPr lang="en-US" sz="1300" dirty="0"/>
          </a:p>
        </p:txBody>
      </p:sp>
      <p:sp>
        <p:nvSpPr>
          <p:cNvPr id="43" name="Text 40"/>
          <p:cNvSpPr txBox="1"/>
          <p:nvPr/>
        </p:nvSpPr>
        <p:spPr>
          <a:xfrm>
            <a:off x="3502152" y="5056632"/>
            <a:ext cx="329184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chỉ dùng train · slide 8–11</a:t>
            </a:r>
            <a:endParaRPr lang="en-US" sz="1150" dirty="0"/>
          </a:p>
        </p:txBody>
      </p:sp>
      <p:sp>
        <p:nvSpPr>
          <p:cNvPr id="44" name="Shape 41"/>
          <p:cNvSpPr/>
          <p:nvPr/>
        </p:nvSpPr>
        <p:spPr>
          <a:xfrm>
            <a:off x="10826496" y="3977640"/>
            <a:ext cx="0" cy="612648"/>
          </a:xfrm>
          <a:prstGeom prst="line">
            <a:avLst/>
          </a:prstGeom>
          <a:noFill/>
          <a:ln w="19050">
            <a:solidFill>
              <a:srgbClr val="5A6B7B"/>
            </a:solidFill>
            <a:prstDash val="solid"/>
            <a:tailEnd type="triangle"/>
          </a:ln>
        </p:spPr>
      </p:sp>
      <p:sp>
        <p:nvSpPr>
          <p:cNvPr id="45" name="Shape 42"/>
          <p:cNvSpPr/>
          <p:nvPr/>
        </p:nvSpPr>
        <p:spPr>
          <a:xfrm>
            <a:off x="9262872" y="4617720"/>
            <a:ext cx="2377440" cy="822960"/>
          </a:xfrm>
          <a:prstGeom prst="roundRect">
            <a:avLst>
              <a:gd name="adj" fmla="val 8889"/>
            </a:avLst>
          </a:prstGeom>
          <a:solidFill>
            <a:srgbClr val="FFFFFF"/>
          </a:solidFill>
          <a:ln w="9525">
            <a:solidFill>
              <a:srgbClr val="C9D4DD"/>
            </a:solidFill>
            <a:prstDash val="solid"/>
          </a:ln>
        </p:spPr>
      </p:sp>
      <p:sp>
        <p:nvSpPr>
          <p:cNvPr id="46" name="Text 43"/>
          <p:cNvSpPr txBox="1"/>
          <p:nvPr/>
        </p:nvSpPr>
        <p:spPr>
          <a:xfrm>
            <a:off x="9400032" y="4690872"/>
            <a:ext cx="2103120" cy="36576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Metric, hình, dashboard</a:t>
            </a:r>
            <a:endParaRPr lang="en-US" sz="1300" dirty="0"/>
          </a:p>
        </p:txBody>
      </p:sp>
      <p:sp>
        <p:nvSpPr>
          <p:cNvPr id="47" name="Text 44"/>
          <p:cNvSpPr txBox="1"/>
          <p:nvPr/>
        </p:nvSpPr>
        <p:spPr>
          <a:xfrm>
            <a:off x="9400032" y="5056632"/>
            <a:ext cx="210312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14–16</a:t>
            </a:r>
            <a:endParaRPr lang="en-US" sz="1150" dirty="0"/>
          </a:p>
        </p:txBody>
      </p:sp>
      <p:sp>
        <p:nvSpPr>
          <p:cNvPr id="48" name="Text 45"/>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Khóa observation: (split, engine_id, cycle). Feature và target được join bằng đủ ba cột khóa và kiểm tra quan hệ 1:1.</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65176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2 · PIPELINE BIG DATA</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Pandas và PySpark cho cùng kết quả tại ba boundary</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Thử nghiệm khả năng mở rộng hiện chỉ đo Pandas in-memory; chưa có benchmark Spark hoặc cluster</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outputs/etl/parity.json; outputs/etl/benchmark.json; handoff/DATA_WALKTHROUGH.md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7 / 20</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669280" cy="914400"/>
        </p:xfrm>
        <a:graphic>
          <a:graphicData uri="http://schemas.openxmlformats.org/drawingml/2006/table">
            <a:tbl>
              <a:tblPr/>
              <a:tblGrid>
                <a:gridCol w="2148840"/>
                <a:gridCol w="1097280"/>
                <a:gridCol w="1417320"/>
                <a:gridCol w="1005840"/>
              </a:tblGrid>
              <a:tr h="50292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Boundary</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Số dòng</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Sai khác lớn nhất</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Kết quả</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50292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silver_observations</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33.727</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Khớp</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silver_train_targets</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20.631</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Khớp</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50292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gold_engine_summary</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200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Khớp</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4251960"/>
            <a:ext cx="5669280" cy="1600200"/>
          </a:xfrm>
          <a:prstGeom prst="roundRect">
            <a:avLst>
              <a:gd name="adj" fmla="val 4571"/>
            </a:avLst>
          </a:prstGeom>
          <a:solidFill>
            <a:srgbClr val="EEF3F6"/>
          </a:solidFill>
          <a:ln/>
        </p:spPr>
      </p:sp>
      <p:sp>
        <p:nvSpPr>
          <p:cNvPr id="11" name="Text 7"/>
          <p:cNvSpPr txBox="1"/>
          <p:nvPr/>
        </p:nvSpPr>
        <p:spPr>
          <a:xfrm>
            <a:off x="777240" y="4389120"/>
            <a:ext cx="530352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Kiểm tra cùng một input bằng hai engine xử lý</a:t>
            </a:r>
            <a:endParaRPr lang="en-US" sz="1400" dirty="0"/>
          </a:p>
        </p:txBody>
      </p:sp>
      <p:sp>
        <p:nvSpPr>
          <p:cNvPr id="12" name="Text 8"/>
          <p:cNvSpPr txBox="1"/>
          <p:nvPr/>
        </p:nvSpPr>
        <p:spPr>
          <a:xfrm>
            <a:off x="777240" y="4754880"/>
            <a:ext cx="5257800" cy="128016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So khớp schema, khóa (split, engine_id, cycle), số dòng và giá trị số. PySpark chạy local; modeling và rolling features dùng Pandas/scikit-learn.</a:t>
            </a:r>
            <a:endParaRPr lang="en-US" sz="1300" dirty="0"/>
          </a:p>
        </p:txBody>
      </p:sp>
      <p:graphicFrame>
        <p:nvGraphicFramePr>
          <p:cNvPr id="13" name="Chart 0" descr=""/>
          <p:cNvGraphicFramePr/>
          <p:nvPr/>
        </p:nvGraphicFramePr>
        <p:xfrm>
          <a:off x="6583680" y="1920240"/>
          <a:ext cx="5056632" cy="3566160"/>
        </p:xfrm>
        <a:graphic xmlns:a="http://schemas.openxmlformats.org/drawingml/2006/main">
          <a:graphicData uri="http://schemas.openxmlformats.org/drawingml/2006/chart">
            <c:chart xmlns:c="http://schemas.openxmlformats.org/drawingml/2006/chart" r:id="rId1"/>
          </a:graphicData>
        </a:graphic>
      </p:graphicFrame>
      <p:sp>
        <p:nvSpPr>
          <p:cNvPr id="14" name="Text 9"/>
          <p:cNvSpPr txBox="1"/>
          <p:nvPr/>
        </p:nvSpPr>
        <p:spPr>
          <a:xfrm>
            <a:off x="6583680" y="5577840"/>
            <a:ext cx="5056632" cy="54864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Số dòng tăng 100×, thời gian tăng khoảng 86× (0,0195 → 1,6752 giây).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EDA: tuổi thọ phân tán rộng và 7 cột không đổi</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EDA chỉ dùng train để hiểu dữ liệu trước khi xây dựng đặc trưng</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outputs/eda/figures/engine_lifetimes.png; outputs/eda/tables/constant_engine_counts.csv; lifetime_summary.csv</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8 / 20</a:t>
            </a:r>
            <a:endParaRPr lang="en-US" sz="1000" dirty="0"/>
          </a:p>
        </p:txBody>
      </p:sp>
      <p:pic>
        <p:nvPicPr>
          <p:cNvPr id="9" name="Image 0" descr="Histogram và boxplot tuổi thọ 100 train engines">    </p:cNvPr>
          <p:cNvPicPr>
            <a:picLocks noChangeAspect="1"/>
          </p:cNvPicPr>
          <p:nvPr/>
        </p:nvPicPr>
        <p:blipFill>
          <a:blip r:embed="rId1"/>
          <a:stretch>
            <a:fillRect/>
          </a:stretch>
        </p:blipFill>
        <p:spPr>
          <a:xfrm>
            <a:off x="548640" y="1965960"/>
            <a:ext cx="6949440" cy="2359826"/>
          </a:xfrm>
          <a:prstGeom prst="rect">
            <a:avLst/>
          </a:prstGeom>
        </p:spPr>
      </p:pic>
      <p:sp>
        <p:nvSpPr>
          <p:cNvPr id="10" name="Text 6"/>
          <p:cNvSpPr txBox="1"/>
          <p:nvPr/>
        </p:nvSpPr>
        <p:spPr>
          <a:xfrm>
            <a:off x="54864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128</a:t>
            </a:r>
            <a:endParaRPr lang="en-US" sz="2600" dirty="0"/>
          </a:p>
        </p:txBody>
      </p:sp>
      <p:sp>
        <p:nvSpPr>
          <p:cNvPr id="11" name="Text 7"/>
          <p:cNvSpPr txBox="1"/>
          <p:nvPr/>
        </p:nvSpPr>
        <p:spPr>
          <a:xfrm>
            <a:off x="54864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Ngắn nhất (cycles)</a:t>
            </a:r>
            <a:endParaRPr lang="en-US" sz="1200" dirty="0"/>
          </a:p>
        </p:txBody>
      </p:sp>
      <p:sp>
        <p:nvSpPr>
          <p:cNvPr id="12" name="Text 8"/>
          <p:cNvSpPr txBox="1"/>
          <p:nvPr/>
        </p:nvSpPr>
        <p:spPr>
          <a:xfrm>
            <a:off x="233172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199</a:t>
            </a:r>
            <a:endParaRPr lang="en-US" sz="2600" dirty="0"/>
          </a:p>
        </p:txBody>
      </p:sp>
      <p:sp>
        <p:nvSpPr>
          <p:cNvPr id="13" name="Text 9"/>
          <p:cNvSpPr txBox="1"/>
          <p:nvPr/>
        </p:nvSpPr>
        <p:spPr>
          <a:xfrm>
            <a:off x="233172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Trung vị (cycles)</a:t>
            </a:r>
            <a:endParaRPr lang="en-US" sz="1200" dirty="0"/>
          </a:p>
        </p:txBody>
      </p:sp>
      <p:sp>
        <p:nvSpPr>
          <p:cNvPr id="14" name="Text 10"/>
          <p:cNvSpPr txBox="1"/>
          <p:nvPr/>
        </p:nvSpPr>
        <p:spPr>
          <a:xfrm>
            <a:off x="411480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206,31</a:t>
            </a:r>
            <a:endParaRPr lang="en-US" sz="2600" dirty="0"/>
          </a:p>
        </p:txBody>
      </p:sp>
      <p:sp>
        <p:nvSpPr>
          <p:cNvPr id="15" name="Text 11"/>
          <p:cNvSpPr txBox="1"/>
          <p:nvPr/>
        </p:nvSpPr>
        <p:spPr>
          <a:xfrm>
            <a:off x="411480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Trung bình (cycles)</a:t>
            </a:r>
            <a:endParaRPr lang="en-US" sz="1200" dirty="0"/>
          </a:p>
        </p:txBody>
      </p:sp>
      <p:sp>
        <p:nvSpPr>
          <p:cNvPr id="16" name="Text 12"/>
          <p:cNvSpPr txBox="1"/>
          <p:nvPr/>
        </p:nvSpPr>
        <p:spPr>
          <a:xfrm>
            <a:off x="589788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362</a:t>
            </a:r>
            <a:endParaRPr lang="en-US" sz="2600" dirty="0"/>
          </a:p>
        </p:txBody>
      </p:sp>
      <p:sp>
        <p:nvSpPr>
          <p:cNvPr id="17" name="Text 13"/>
          <p:cNvSpPr txBox="1"/>
          <p:nvPr/>
        </p:nvSpPr>
        <p:spPr>
          <a:xfrm>
            <a:off x="589788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Dài nhất (cycles)</a:t>
            </a:r>
            <a:endParaRPr lang="en-US" sz="1200" dirty="0"/>
          </a:p>
        </p:txBody>
      </p:sp>
      <p:sp>
        <p:nvSpPr>
          <p:cNvPr id="18" name="Shape 14"/>
          <p:cNvSpPr/>
          <p:nvPr/>
        </p:nvSpPr>
        <p:spPr>
          <a:xfrm>
            <a:off x="7863840" y="1920240"/>
            <a:ext cx="3776472" cy="4251960"/>
          </a:xfrm>
          <a:prstGeom prst="roundRect">
            <a:avLst>
              <a:gd name="adj" fmla="val 1937"/>
            </a:avLst>
          </a:prstGeom>
          <a:solidFill>
            <a:srgbClr val="EEF3F6"/>
          </a:solidFill>
          <a:ln/>
        </p:spPr>
      </p:sp>
      <p:sp>
        <p:nvSpPr>
          <p:cNvPr id="19" name="Text 15"/>
          <p:cNvSpPr txBox="1"/>
          <p:nvPr/>
        </p:nvSpPr>
        <p:spPr>
          <a:xfrm>
            <a:off x="8092440" y="2103120"/>
            <a:ext cx="3383280" cy="320040"/>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Không đổi trong cả 100 engine</a:t>
            </a:r>
            <a:endParaRPr lang="en-US" sz="1500" dirty="0"/>
          </a:p>
        </p:txBody>
      </p:sp>
      <p:sp>
        <p:nvSpPr>
          <p:cNvPr id="20" name="Shape 16"/>
          <p:cNvSpPr/>
          <p:nvPr/>
        </p:nvSpPr>
        <p:spPr>
          <a:xfrm>
            <a:off x="8092440" y="2560320"/>
            <a:ext cx="1572768" cy="402336"/>
          </a:xfrm>
          <a:prstGeom prst="roundRect">
            <a:avLst>
              <a:gd name="adj" fmla="val 18182"/>
            </a:avLst>
          </a:prstGeom>
          <a:solidFill>
            <a:srgbClr val="5A6B7B"/>
          </a:solidFill>
          <a:ln/>
        </p:spPr>
      </p:sp>
      <p:sp>
        <p:nvSpPr>
          <p:cNvPr id="21" name="Text 17"/>
          <p:cNvSpPr txBox="1"/>
          <p:nvPr/>
        </p:nvSpPr>
        <p:spPr>
          <a:xfrm>
            <a:off x="8092440" y="256032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a:t>
            </a:r>
            <a:endParaRPr lang="en-US" sz="1250" dirty="0"/>
          </a:p>
        </p:txBody>
      </p:sp>
      <p:sp>
        <p:nvSpPr>
          <p:cNvPr id="22" name="Shape 18"/>
          <p:cNvSpPr/>
          <p:nvPr/>
        </p:nvSpPr>
        <p:spPr>
          <a:xfrm>
            <a:off x="9784080" y="2560320"/>
            <a:ext cx="1572768" cy="402336"/>
          </a:xfrm>
          <a:prstGeom prst="roundRect">
            <a:avLst>
              <a:gd name="adj" fmla="val 18182"/>
            </a:avLst>
          </a:prstGeom>
          <a:solidFill>
            <a:srgbClr val="5A6B7B"/>
          </a:solidFill>
          <a:ln/>
        </p:spPr>
      </p:sp>
      <p:sp>
        <p:nvSpPr>
          <p:cNvPr id="23" name="Text 19"/>
          <p:cNvSpPr txBox="1"/>
          <p:nvPr/>
        </p:nvSpPr>
        <p:spPr>
          <a:xfrm>
            <a:off x="9784080" y="256032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sensor_5</a:t>
            </a:r>
            <a:endParaRPr lang="en-US" sz="1250" dirty="0"/>
          </a:p>
        </p:txBody>
      </p:sp>
      <p:sp>
        <p:nvSpPr>
          <p:cNvPr id="24" name="Shape 20"/>
          <p:cNvSpPr/>
          <p:nvPr/>
        </p:nvSpPr>
        <p:spPr>
          <a:xfrm>
            <a:off x="8092440" y="3063240"/>
            <a:ext cx="1572768" cy="402336"/>
          </a:xfrm>
          <a:prstGeom prst="roundRect">
            <a:avLst>
              <a:gd name="adj" fmla="val 18182"/>
            </a:avLst>
          </a:prstGeom>
          <a:solidFill>
            <a:srgbClr val="5A6B7B"/>
          </a:solidFill>
          <a:ln/>
        </p:spPr>
      </p:sp>
      <p:sp>
        <p:nvSpPr>
          <p:cNvPr id="25" name="Text 21"/>
          <p:cNvSpPr txBox="1"/>
          <p:nvPr/>
        </p:nvSpPr>
        <p:spPr>
          <a:xfrm>
            <a:off x="8092440" y="306324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sensor_10</a:t>
            </a:r>
            <a:endParaRPr lang="en-US" sz="1250" dirty="0"/>
          </a:p>
        </p:txBody>
      </p:sp>
      <p:sp>
        <p:nvSpPr>
          <p:cNvPr id="26" name="Shape 22"/>
          <p:cNvSpPr/>
          <p:nvPr/>
        </p:nvSpPr>
        <p:spPr>
          <a:xfrm>
            <a:off x="9784080" y="3063240"/>
            <a:ext cx="1572768" cy="402336"/>
          </a:xfrm>
          <a:prstGeom prst="roundRect">
            <a:avLst>
              <a:gd name="adj" fmla="val 18182"/>
            </a:avLst>
          </a:prstGeom>
          <a:solidFill>
            <a:srgbClr val="5A6B7B"/>
          </a:solidFill>
          <a:ln/>
        </p:spPr>
      </p:sp>
      <p:sp>
        <p:nvSpPr>
          <p:cNvPr id="27" name="Text 23"/>
          <p:cNvSpPr txBox="1"/>
          <p:nvPr/>
        </p:nvSpPr>
        <p:spPr>
          <a:xfrm>
            <a:off x="9784080" y="306324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sensor_16</a:t>
            </a:r>
            <a:endParaRPr lang="en-US" sz="1250" dirty="0"/>
          </a:p>
        </p:txBody>
      </p:sp>
      <p:sp>
        <p:nvSpPr>
          <p:cNvPr id="28" name="Shape 24"/>
          <p:cNvSpPr/>
          <p:nvPr/>
        </p:nvSpPr>
        <p:spPr>
          <a:xfrm>
            <a:off x="8092440" y="3566160"/>
            <a:ext cx="1572768" cy="402336"/>
          </a:xfrm>
          <a:prstGeom prst="roundRect">
            <a:avLst>
              <a:gd name="adj" fmla="val 18182"/>
            </a:avLst>
          </a:prstGeom>
          <a:solidFill>
            <a:srgbClr val="5A6B7B"/>
          </a:solidFill>
          <a:ln/>
        </p:spPr>
      </p:sp>
      <p:sp>
        <p:nvSpPr>
          <p:cNvPr id="29" name="Text 25"/>
          <p:cNvSpPr txBox="1"/>
          <p:nvPr/>
        </p:nvSpPr>
        <p:spPr>
          <a:xfrm>
            <a:off x="8092440" y="356616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sensor_18</a:t>
            </a:r>
            <a:endParaRPr lang="en-US" sz="1250" dirty="0"/>
          </a:p>
        </p:txBody>
      </p:sp>
      <p:sp>
        <p:nvSpPr>
          <p:cNvPr id="30" name="Shape 26"/>
          <p:cNvSpPr/>
          <p:nvPr/>
        </p:nvSpPr>
        <p:spPr>
          <a:xfrm>
            <a:off x="9784080" y="3566160"/>
            <a:ext cx="1572768" cy="402336"/>
          </a:xfrm>
          <a:prstGeom prst="roundRect">
            <a:avLst>
              <a:gd name="adj" fmla="val 18182"/>
            </a:avLst>
          </a:prstGeom>
          <a:solidFill>
            <a:srgbClr val="5A6B7B"/>
          </a:solidFill>
          <a:ln/>
        </p:spPr>
      </p:sp>
      <p:sp>
        <p:nvSpPr>
          <p:cNvPr id="31" name="Text 27"/>
          <p:cNvSpPr txBox="1"/>
          <p:nvPr/>
        </p:nvSpPr>
        <p:spPr>
          <a:xfrm>
            <a:off x="9784080" y="356616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sensor_19</a:t>
            </a:r>
            <a:endParaRPr lang="en-US" sz="1250" dirty="0"/>
          </a:p>
        </p:txBody>
      </p:sp>
      <p:sp>
        <p:nvSpPr>
          <p:cNvPr id="32" name="Shape 28"/>
          <p:cNvSpPr/>
          <p:nvPr/>
        </p:nvSpPr>
        <p:spPr>
          <a:xfrm>
            <a:off x="8092440" y="4069080"/>
            <a:ext cx="1572768" cy="402336"/>
          </a:xfrm>
          <a:prstGeom prst="roundRect">
            <a:avLst>
              <a:gd name="adj" fmla="val 18182"/>
            </a:avLst>
          </a:prstGeom>
          <a:solidFill>
            <a:srgbClr val="157A7F"/>
          </a:solidFill>
          <a:ln/>
        </p:spPr>
      </p:sp>
      <p:sp>
        <p:nvSpPr>
          <p:cNvPr id="33" name="Text 29"/>
          <p:cNvSpPr txBox="1"/>
          <p:nvPr/>
        </p:nvSpPr>
        <p:spPr>
          <a:xfrm>
            <a:off x="8092440" y="406908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setting_3</a:t>
            </a:r>
            <a:endParaRPr lang="en-US" sz="1250" dirty="0"/>
          </a:p>
        </p:txBody>
      </p:sp>
      <p:sp>
        <p:nvSpPr>
          <p:cNvPr id="34" name="Text 30"/>
          <p:cNvSpPr txBox="1"/>
          <p:nvPr/>
        </p:nvSpPr>
        <p:spPr>
          <a:xfrm>
            <a:off x="8092440" y="4663440"/>
            <a:ext cx="3383280" cy="36576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sensor_6 không đổi trong 38/100 engine.</a:t>
            </a:r>
            <a:endParaRPr lang="en-US" sz="1300" dirty="0"/>
          </a:p>
        </p:txBody>
      </p:sp>
      <p:sp>
        <p:nvSpPr>
          <p:cNvPr id="35" name="Text 31"/>
          <p:cNvSpPr txBox="1"/>
          <p:nvPr/>
        </p:nvSpPr>
        <p:spPr>
          <a:xfrm>
            <a:off x="8092440" y="5120640"/>
            <a:ext cx="3383280" cy="868680"/>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Chưa loại cột nào: 126 đặc trưng vẫn gồm đủ 21 sensor; không làm feature selection từ EDA.</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Nhiều sensor thay đổi rõ khi engine tiến gần failure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So sánh 30 cycle đầu và 30 cycle cuối trên cùng engine: 15/21 sensor có thay đổi sau hiệu chỉnh FDR</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outputs/eda/figures/sensor_trajectories_1.png; outputs/statistics/tables/sensor_inference.csv; report/sections/methodology.tex</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9 / 20</a:t>
            </a:r>
            <a:endParaRPr lang="en-US" sz="1000" dirty="0"/>
          </a:p>
        </p:txBody>
      </p:sp>
      <p:pic>
        <p:nvPicPr>
          <p:cNvPr id="9" name="Image 0" descr="Quỹ đạo sensor_4 của ba train engine">    </p:cNvPr>
          <p:cNvPicPr>
            <a:picLocks noChangeAspect="1"/>
          </p:cNvPicPr>
          <p:nvPr/>
        </p:nvPicPr>
        <p:blipFill>
          <a:blip r:embed="rId1"/>
          <a:stretch>
            <a:fillRect/>
          </a:stretch>
        </p:blipFill>
        <p:spPr>
          <a:xfrm>
            <a:off x="548640" y="1828800"/>
            <a:ext cx="4069080" cy="1954229"/>
          </a:xfrm>
          <a:prstGeom prst="rect">
            <a:avLst/>
          </a:prstGeom>
        </p:spPr>
      </p:pic>
      <p:pic>
        <p:nvPicPr>
          <p:cNvPr id="10" name="Image 1" descr="Quỹ đạo sensor_7 của ba train engine">    </p:cNvPr>
          <p:cNvPicPr>
            <a:picLocks noChangeAspect="1"/>
          </p:cNvPicPr>
          <p:nvPr/>
        </p:nvPicPr>
        <p:blipFill>
          <a:blip r:embed="rId2"/>
          <a:stretch>
            <a:fillRect/>
          </a:stretch>
        </p:blipFill>
        <p:spPr>
          <a:xfrm>
            <a:off x="548640" y="3856181"/>
            <a:ext cx="4069080" cy="2000818"/>
          </a:xfrm>
          <a:prstGeom prst="rect">
            <a:avLst/>
          </a:prstGeom>
        </p:spPr>
      </p:pic>
      <p:sp>
        <p:nvSpPr>
          <p:cNvPr id="11" name="Text 6"/>
          <p:cNvSpPr txBox="1"/>
          <p:nvPr/>
        </p:nvSpPr>
        <p:spPr>
          <a:xfrm>
            <a:off x="548640" y="6089904"/>
            <a:ext cx="4206240" cy="274320"/>
          </a:xfrm>
          <a:prstGeom prst="rect">
            <a:avLst/>
          </a:prstGeom>
          <a:noFill/>
          <a:ln/>
        </p:spPr>
        <p:txBody>
          <a:bodyPr wrap="square" lIns="0" tIns="0" rIns="0" bIns="0" rtlCol="0" anchor="t"/>
          <a:lstStyle/>
          <a:p>
            <a:pPr indent="0" marL="0">
              <a:buNone/>
            </a:pPr>
            <a:r>
              <a:rPr lang="en-US" sz="1000" dirty="0">
                <a:solidFill>
                  <a:srgbClr val="5A6B7B"/>
                </a:solidFill>
                <a:latin typeface="Arial" pitchFamily="34" charset="0"/>
                <a:ea typeface="Arial" pitchFamily="34" charset="-122"/>
                <a:cs typeface="Arial" pitchFamily="34" charset="-120"/>
              </a:rPr>
              <a:t>Engine 87 (178 cycles), 26 (199), 75 (229); giá trị gốc chưa chuẩn hóa.</a:t>
            </a:r>
            <a:endParaRPr lang="en-US" sz="1000" dirty="0"/>
          </a:p>
        </p:txBody>
      </p:sp>
      <p:sp>
        <p:nvSpPr>
          <p:cNvPr id="12" name="Shape 7"/>
          <p:cNvSpPr/>
          <p:nvPr/>
        </p:nvSpPr>
        <p:spPr>
          <a:xfrm>
            <a:off x="5120640" y="1965960"/>
            <a:ext cx="457200" cy="457200"/>
          </a:xfrm>
          <a:prstGeom prst="ellipse">
            <a:avLst/>
          </a:prstGeom>
          <a:solidFill>
            <a:srgbClr val="157A7F"/>
          </a:solidFill>
          <a:ln/>
        </p:spPr>
      </p:sp>
      <p:sp>
        <p:nvSpPr>
          <p:cNvPr id="13" name="Text 8"/>
          <p:cNvSpPr txBox="1"/>
          <p:nvPr/>
        </p:nvSpPr>
        <p:spPr>
          <a:xfrm>
            <a:off x="512064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4" name="Text 9"/>
          <p:cNvSpPr txBox="1"/>
          <p:nvPr/>
        </p:nvSpPr>
        <p:spPr>
          <a:xfrm>
            <a:off x="5760720" y="1938528"/>
            <a:ext cx="58521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Ghép cặp trong engine</a:t>
            </a:r>
            <a:endParaRPr lang="en-US" sz="1500" dirty="0"/>
          </a:p>
        </p:txBody>
      </p:sp>
      <p:sp>
        <p:nvSpPr>
          <p:cNvPr id="15" name="Text 10"/>
          <p:cNvSpPr txBox="1"/>
          <p:nvPr/>
        </p:nvSpPr>
        <p:spPr>
          <a:xfrm>
            <a:off x="5760720" y="2240280"/>
            <a:ext cx="5852160" cy="365760"/>
          </a:xfrm>
          <a:prstGeom prst="rect">
            <a:avLst/>
          </a:prstGeom>
          <a:noFill/>
          <a:ln/>
        </p:spPr>
        <p:txBody>
          <a:bodyPr wrap="square" lIns="0" tIns="0" rIns="0" bIns="0" rtlCol="0" anchor="t"/>
          <a:lstStyle/>
          <a:p>
            <a:pPr indent="0" marL="0">
              <a:buNone/>
            </a:pPr>
            <a:r>
              <a:rPr lang="en-US" sz="1350" dirty="0">
                <a:solidFill>
                  <a:srgbClr val="1B2733"/>
                </a:solidFill>
                <a:latin typeface="Arial" pitchFamily="34" charset="0"/>
                <a:ea typeface="Arial" pitchFamily="34" charset="-122"/>
                <a:cs typeface="Arial" pitchFamily="34" charset="-120"/>
              </a:rPr>
              <a:t>Δ = mean(30 cycle cuối) − mean(30 cycle đầu)</a:t>
            </a:r>
            <a:endParaRPr lang="en-US" sz="1350" dirty="0"/>
          </a:p>
        </p:txBody>
      </p:sp>
      <p:sp>
        <p:nvSpPr>
          <p:cNvPr id="16" name="Shape 11"/>
          <p:cNvSpPr/>
          <p:nvPr/>
        </p:nvSpPr>
        <p:spPr>
          <a:xfrm>
            <a:off x="5120640" y="2834640"/>
            <a:ext cx="457200" cy="457200"/>
          </a:xfrm>
          <a:prstGeom prst="ellipse">
            <a:avLst/>
          </a:prstGeom>
          <a:solidFill>
            <a:srgbClr val="157A7F"/>
          </a:solidFill>
          <a:ln/>
        </p:spPr>
      </p:sp>
      <p:sp>
        <p:nvSpPr>
          <p:cNvPr id="17" name="Text 12"/>
          <p:cNvSpPr txBox="1"/>
          <p:nvPr/>
        </p:nvSpPr>
        <p:spPr>
          <a:xfrm>
            <a:off x="5120640" y="2834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Text 13"/>
          <p:cNvSpPr txBox="1"/>
          <p:nvPr/>
        </p:nvSpPr>
        <p:spPr>
          <a:xfrm>
            <a:off x="5760720" y="2807208"/>
            <a:ext cx="58521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Bootstrap và Wilcoxon</a:t>
            </a:r>
            <a:endParaRPr lang="en-US" sz="1500" dirty="0"/>
          </a:p>
        </p:txBody>
      </p:sp>
      <p:sp>
        <p:nvSpPr>
          <p:cNvPr id="19" name="Text 14"/>
          <p:cNvSpPr txBox="1"/>
          <p:nvPr/>
        </p:nvSpPr>
        <p:spPr>
          <a:xfrm>
            <a:off x="5760720" y="3108960"/>
            <a:ext cx="5852160" cy="365760"/>
          </a:xfrm>
          <a:prstGeom prst="rect">
            <a:avLst/>
          </a:prstGeom>
          <a:noFill/>
          <a:ln/>
        </p:spPr>
        <p:txBody>
          <a:bodyPr wrap="square" lIns="0" tIns="0" rIns="0" bIns="0" rtlCol="0" anchor="t"/>
          <a:lstStyle/>
          <a:p>
            <a:pPr indent="0" marL="0">
              <a:buNone/>
            </a:pPr>
            <a:r>
              <a:rPr lang="en-US" sz="1350" dirty="0">
                <a:solidFill>
                  <a:srgbClr val="1B2733"/>
                </a:solidFill>
                <a:latin typeface="Arial" pitchFamily="34" charset="0"/>
                <a:ea typeface="Arial" pitchFamily="34" charset="-122"/>
                <a:cs typeface="Arial" pitchFamily="34" charset="-120"/>
              </a:rPr>
              <a:t>Lấy mẫu lại engine 10.000 lần; Wilcoxon signed-rank</a:t>
            </a:r>
            <a:endParaRPr lang="en-US" sz="1350" dirty="0"/>
          </a:p>
        </p:txBody>
      </p:sp>
      <p:sp>
        <p:nvSpPr>
          <p:cNvPr id="20" name="Shape 15"/>
          <p:cNvSpPr/>
          <p:nvPr/>
        </p:nvSpPr>
        <p:spPr>
          <a:xfrm>
            <a:off x="5120640" y="3703320"/>
            <a:ext cx="457200" cy="457200"/>
          </a:xfrm>
          <a:prstGeom prst="ellipse">
            <a:avLst/>
          </a:prstGeom>
          <a:solidFill>
            <a:srgbClr val="157A7F"/>
          </a:solidFill>
          <a:ln/>
        </p:spPr>
      </p:sp>
      <p:sp>
        <p:nvSpPr>
          <p:cNvPr id="21" name="Text 16"/>
          <p:cNvSpPr txBox="1"/>
          <p:nvPr/>
        </p:nvSpPr>
        <p:spPr>
          <a:xfrm>
            <a:off x="5120640" y="3703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7"/>
          <p:cNvSpPr txBox="1"/>
          <p:nvPr/>
        </p:nvSpPr>
        <p:spPr>
          <a:xfrm>
            <a:off x="5760720" y="3675888"/>
            <a:ext cx="58521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Hiệu chỉnh đa kiểm định</a:t>
            </a:r>
            <a:endParaRPr lang="en-US" sz="1500" dirty="0"/>
          </a:p>
        </p:txBody>
      </p:sp>
      <p:sp>
        <p:nvSpPr>
          <p:cNvPr id="23" name="Text 18"/>
          <p:cNvSpPr txBox="1"/>
          <p:nvPr/>
        </p:nvSpPr>
        <p:spPr>
          <a:xfrm>
            <a:off x="5760720" y="3977640"/>
            <a:ext cx="5852160" cy="365760"/>
          </a:xfrm>
          <a:prstGeom prst="rect">
            <a:avLst/>
          </a:prstGeom>
          <a:noFill/>
          <a:ln/>
        </p:spPr>
        <p:txBody>
          <a:bodyPr wrap="square" lIns="0" tIns="0" rIns="0" bIns="0" rtlCol="0" anchor="t"/>
          <a:lstStyle/>
          <a:p>
            <a:pPr indent="0" marL="0">
              <a:buNone/>
            </a:pPr>
            <a:r>
              <a:rPr lang="en-US" sz="1350" dirty="0">
                <a:solidFill>
                  <a:srgbClr val="1B2733"/>
                </a:solidFill>
                <a:latin typeface="Arial" pitchFamily="34" charset="0"/>
                <a:ea typeface="Arial" pitchFamily="34" charset="-122"/>
                <a:cs typeface="Arial" pitchFamily="34" charset="-120"/>
              </a:rPr>
              <a:t>Benjamini–Hochberg cho 21 sensor, q = 0,05</a:t>
            </a:r>
            <a:endParaRPr lang="en-US" sz="1350" dirty="0"/>
          </a:p>
        </p:txBody>
      </p:sp>
      <p:sp>
        <p:nvSpPr>
          <p:cNvPr id="24" name="Shape 19"/>
          <p:cNvSpPr/>
          <p:nvPr/>
        </p:nvSpPr>
        <p:spPr>
          <a:xfrm>
            <a:off x="5120640" y="4572000"/>
            <a:ext cx="3017520" cy="1554480"/>
          </a:xfrm>
          <a:prstGeom prst="roundRect">
            <a:avLst>
              <a:gd name="adj" fmla="val 4706"/>
            </a:avLst>
          </a:prstGeom>
          <a:solidFill>
            <a:srgbClr val="0B2239"/>
          </a:solidFill>
          <a:ln/>
        </p:spPr>
      </p:sp>
      <p:sp>
        <p:nvSpPr>
          <p:cNvPr id="25" name="Text 20"/>
          <p:cNvSpPr txBox="1"/>
          <p:nvPr/>
        </p:nvSpPr>
        <p:spPr>
          <a:xfrm>
            <a:off x="5349240" y="4663440"/>
            <a:ext cx="2651760" cy="6858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15/21</a:t>
            </a:r>
            <a:endParaRPr lang="en-US" sz="4000" dirty="0"/>
          </a:p>
        </p:txBody>
      </p:sp>
      <p:sp>
        <p:nvSpPr>
          <p:cNvPr id="26" name="Text 21"/>
          <p:cNvSpPr txBox="1"/>
          <p:nvPr/>
        </p:nvSpPr>
        <p:spPr>
          <a:xfrm>
            <a:off x="5349240" y="5376672"/>
            <a:ext cx="2651760" cy="59436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sensor bác bỏ giả thuyết không sau hiệu chỉnh</a:t>
            </a:r>
            <a:endParaRPr lang="en-US" sz="1250" dirty="0"/>
          </a:p>
        </p:txBody>
      </p:sp>
      <p:sp>
        <p:nvSpPr>
          <p:cNvPr id="27" name="Shape 22"/>
          <p:cNvSpPr/>
          <p:nvPr/>
        </p:nvSpPr>
        <p:spPr>
          <a:xfrm>
            <a:off x="8321040" y="4572000"/>
            <a:ext cx="3319272" cy="1554480"/>
          </a:xfrm>
          <a:prstGeom prst="roundRect">
            <a:avLst>
              <a:gd name="adj" fmla="val 4706"/>
            </a:avLst>
          </a:prstGeom>
          <a:solidFill>
            <a:srgbClr val="EEF3F6"/>
          </a:solidFill>
          <a:ln/>
        </p:spPr>
      </p:sp>
      <p:sp>
        <p:nvSpPr>
          <p:cNvPr id="28" name="Text 23"/>
          <p:cNvSpPr txBox="1"/>
          <p:nvPr/>
        </p:nvSpPr>
        <p:spPr>
          <a:xfrm>
            <a:off x="8503920" y="4709160"/>
            <a:ext cx="2971800" cy="132588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6 sensor hằng số nên không kiểm định. Kết quả mô tả khác biệt đầu/cuối vòng đời, không chứng minh nhân quả.</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Trailing window 30 cycle biến chuỗi sensor thành 126 đặc trưng</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Mỗi dòng đặc trưng chỉ dùng quá khứ của chính engine đó; không dùng cycle tương lai hoặc engine khác</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outputs/features/run_info.json; src/cmapss/features/rolling.py; handoff/DATA_WALKTHROUGH.md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10 / 20</a:t>
            </a:r>
            <a:endParaRPr lang="en-US" sz="1000" dirty="0"/>
          </a:p>
        </p:txBody>
      </p:sp>
      <p:sp>
        <p:nvSpPr>
          <p:cNvPr id="9" name="Shape 6"/>
          <p:cNvSpPr/>
          <p:nvPr/>
        </p:nvSpPr>
        <p:spPr>
          <a:xfrm>
            <a:off x="548640" y="2240280"/>
            <a:ext cx="155448" cy="384048"/>
          </a:xfrm>
          <a:prstGeom prst="rect">
            <a:avLst/>
          </a:prstGeom>
          <a:solidFill>
            <a:srgbClr val="DCEFEF"/>
          </a:solidFill>
          <a:ln/>
        </p:spPr>
      </p:sp>
      <p:sp>
        <p:nvSpPr>
          <p:cNvPr id="10" name="Shape 7"/>
          <p:cNvSpPr/>
          <p:nvPr/>
        </p:nvSpPr>
        <p:spPr>
          <a:xfrm>
            <a:off x="731520" y="2240280"/>
            <a:ext cx="155448" cy="384048"/>
          </a:xfrm>
          <a:prstGeom prst="rect">
            <a:avLst/>
          </a:prstGeom>
          <a:solidFill>
            <a:srgbClr val="DCEFEF"/>
          </a:solidFill>
          <a:ln/>
        </p:spPr>
      </p:sp>
      <p:sp>
        <p:nvSpPr>
          <p:cNvPr id="11" name="Shape 8"/>
          <p:cNvSpPr/>
          <p:nvPr/>
        </p:nvSpPr>
        <p:spPr>
          <a:xfrm>
            <a:off x="914400" y="2240280"/>
            <a:ext cx="155448" cy="384048"/>
          </a:xfrm>
          <a:prstGeom prst="rect">
            <a:avLst/>
          </a:prstGeom>
          <a:solidFill>
            <a:srgbClr val="DCEFEF"/>
          </a:solidFill>
          <a:ln/>
        </p:spPr>
      </p:sp>
      <p:sp>
        <p:nvSpPr>
          <p:cNvPr id="12" name="Shape 9"/>
          <p:cNvSpPr/>
          <p:nvPr/>
        </p:nvSpPr>
        <p:spPr>
          <a:xfrm>
            <a:off x="1097280" y="2240280"/>
            <a:ext cx="155448" cy="384048"/>
          </a:xfrm>
          <a:prstGeom prst="rect">
            <a:avLst/>
          </a:prstGeom>
          <a:solidFill>
            <a:srgbClr val="DCEFEF"/>
          </a:solidFill>
          <a:ln/>
        </p:spPr>
      </p:sp>
      <p:sp>
        <p:nvSpPr>
          <p:cNvPr id="13" name="Shape 10"/>
          <p:cNvSpPr/>
          <p:nvPr/>
        </p:nvSpPr>
        <p:spPr>
          <a:xfrm>
            <a:off x="1280160" y="2240280"/>
            <a:ext cx="155448" cy="384048"/>
          </a:xfrm>
          <a:prstGeom prst="rect">
            <a:avLst/>
          </a:prstGeom>
          <a:solidFill>
            <a:srgbClr val="DCEFEF"/>
          </a:solidFill>
          <a:ln/>
        </p:spPr>
      </p:sp>
      <p:sp>
        <p:nvSpPr>
          <p:cNvPr id="14" name="Shape 11"/>
          <p:cNvSpPr/>
          <p:nvPr/>
        </p:nvSpPr>
        <p:spPr>
          <a:xfrm>
            <a:off x="1463040" y="2240280"/>
            <a:ext cx="155448" cy="384048"/>
          </a:xfrm>
          <a:prstGeom prst="rect">
            <a:avLst/>
          </a:prstGeom>
          <a:solidFill>
            <a:srgbClr val="157A7F"/>
          </a:solidFill>
          <a:ln/>
        </p:spPr>
      </p:sp>
      <p:sp>
        <p:nvSpPr>
          <p:cNvPr id="15" name="Shape 12"/>
          <p:cNvSpPr/>
          <p:nvPr/>
        </p:nvSpPr>
        <p:spPr>
          <a:xfrm>
            <a:off x="1645920" y="2240280"/>
            <a:ext cx="155448" cy="384048"/>
          </a:xfrm>
          <a:prstGeom prst="rect">
            <a:avLst/>
          </a:prstGeom>
          <a:solidFill>
            <a:srgbClr val="157A7F"/>
          </a:solidFill>
          <a:ln/>
        </p:spPr>
      </p:sp>
      <p:sp>
        <p:nvSpPr>
          <p:cNvPr id="16" name="Shape 13"/>
          <p:cNvSpPr/>
          <p:nvPr/>
        </p:nvSpPr>
        <p:spPr>
          <a:xfrm>
            <a:off x="1828800" y="2240280"/>
            <a:ext cx="155448" cy="384048"/>
          </a:xfrm>
          <a:prstGeom prst="rect">
            <a:avLst/>
          </a:prstGeom>
          <a:solidFill>
            <a:srgbClr val="157A7F"/>
          </a:solidFill>
          <a:ln/>
        </p:spPr>
      </p:sp>
      <p:sp>
        <p:nvSpPr>
          <p:cNvPr id="17" name="Shape 14"/>
          <p:cNvSpPr/>
          <p:nvPr/>
        </p:nvSpPr>
        <p:spPr>
          <a:xfrm>
            <a:off x="2011680" y="2240280"/>
            <a:ext cx="155448" cy="384048"/>
          </a:xfrm>
          <a:prstGeom prst="rect">
            <a:avLst/>
          </a:prstGeom>
          <a:solidFill>
            <a:srgbClr val="157A7F"/>
          </a:solidFill>
          <a:ln/>
        </p:spPr>
      </p:sp>
      <p:sp>
        <p:nvSpPr>
          <p:cNvPr id="18" name="Shape 15"/>
          <p:cNvSpPr/>
          <p:nvPr/>
        </p:nvSpPr>
        <p:spPr>
          <a:xfrm>
            <a:off x="2194560" y="2240280"/>
            <a:ext cx="155448" cy="384048"/>
          </a:xfrm>
          <a:prstGeom prst="rect">
            <a:avLst/>
          </a:prstGeom>
          <a:solidFill>
            <a:srgbClr val="157A7F"/>
          </a:solidFill>
          <a:ln/>
        </p:spPr>
      </p:sp>
      <p:sp>
        <p:nvSpPr>
          <p:cNvPr id="19" name="Shape 16"/>
          <p:cNvSpPr/>
          <p:nvPr/>
        </p:nvSpPr>
        <p:spPr>
          <a:xfrm>
            <a:off x="2377440" y="2240280"/>
            <a:ext cx="155448" cy="384048"/>
          </a:xfrm>
          <a:prstGeom prst="rect">
            <a:avLst/>
          </a:prstGeom>
          <a:solidFill>
            <a:srgbClr val="157A7F"/>
          </a:solidFill>
          <a:ln/>
        </p:spPr>
      </p:sp>
      <p:sp>
        <p:nvSpPr>
          <p:cNvPr id="20" name="Shape 17"/>
          <p:cNvSpPr/>
          <p:nvPr/>
        </p:nvSpPr>
        <p:spPr>
          <a:xfrm>
            <a:off x="2560320" y="2240280"/>
            <a:ext cx="155448" cy="384048"/>
          </a:xfrm>
          <a:prstGeom prst="rect">
            <a:avLst/>
          </a:prstGeom>
          <a:solidFill>
            <a:srgbClr val="157A7F"/>
          </a:solidFill>
          <a:ln/>
        </p:spPr>
      </p:sp>
      <p:sp>
        <p:nvSpPr>
          <p:cNvPr id="21" name="Shape 18"/>
          <p:cNvSpPr/>
          <p:nvPr/>
        </p:nvSpPr>
        <p:spPr>
          <a:xfrm>
            <a:off x="2743200" y="2240280"/>
            <a:ext cx="155448" cy="384048"/>
          </a:xfrm>
          <a:prstGeom prst="rect">
            <a:avLst/>
          </a:prstGeom>
          <a:solidFill>
            <a:srgbClr val="157A7F"/>
          </a:solidFill>
          <a:ln/>
        </p:spPr>
      </p:sp>
      <p:sp>
        <p:nvSpPr>
          <p:cNvPr id="22" name="Shape 19"/>
          <p:cNvSpPr/>
          <p:nvPr/>
        </p:nvSpPr>
        <p:spPr>
          <a:xfrm>
            <a:off x="2926080" y="2240280"/>
            <a:ext cx="155448" cy="384048"/>
          </a:xfrm>
          <a:prstGeom prst="rect">
            <a:avLst/>
          </a:prstGeom>
          <a:solidFill>
            <a:srgbClr val="157A7F"/>
          </a:solidFill>
          <a:ln/>
        </p:spPr>
      </p:sp>
      <p:sp>
        <p:nvSpPr>
          <p:cNvPr id="23" name="Shape 20"/>
          <p:cNvSpPr/>
          <p:nvPr/>
        </p:nvSpPr>
        <p:spPr>
          <a:xfrm>
            <a:off x="3108960" y="2240280"/>
            <a:ext cx="155448" cy="384048"/>
          </a:xfrm>
          <a:prstGeom prst="rect">
            <a:avLst/>
          </a:prstGeom>
          <a:solidFill>
            <a:srgbClr val="157A7F"/>
          </a:solidFill>
          <a:ln/>
        </p:spPr>
      </p:sp>
      <p:sp>
        <p:nvSpPr>
          <p:cNvPr id="24" name="Shape 21"/>
          <p:cNvSpPr/>
          <p:nvPr/>
        </p:nvSpPr>
        <p:spPr>
          <a:xfrm>
            <a:off x="3291840" y="2240280"/>
            <a:ext cx="155448" cy="384048"/>
          </a:xfrm>
          <a:prstGeom prst="rect">
            <a:avLst/>
          </a:prstGeom>
          <a:solidFill>
            <a:srgbClr val="157A7F"/>
          </a:solidFill>
          <a:ln/>
        </p:spPr>
      </p:sp>
      <p:sp>
        <p:nvSpPr>
          <p:cNvPr id="25" name="Shape 22"/>
          <p:cNvSpPr/>
          <p:nvPr/>
        </p:nvSpPr>
        <p:spPr>
          <a:xfrm>
            <a:off x="3474720" y="2240280"/>
            <a:ext cx="155448" cy="384048"/>
          </a:xfrm>
          <a:prstGeom prst="rect">
            <a:avLst/>
          </a:prstGeom>
          <a:solidFill>
            <a:srgbClr val="157A7F"/>
          </a:solidFill>
          <a:ln/>
        </p:spPr>
      </p:sp>
      <p:sp>
        <p:nvSpPr>
          <p:cNvPr id="26" name="Shape 23"/>
          <p:cNvSpPr/>
          <p:nvPr/>
        </p:nvSpPr>
        <p:spPr>
          <a:xfrm>
            <a:off x="3657600" y="2240280"/>
            <a:ext cx="155448" cy="384048"/>
          </a:xfrm>
          <a:prstGeom prst="rect">
            <a:avLst/>
          </a:prstGeom>
          <a:solidFill>
            <a:srgbClr val="157A7F"/>
          </a:solidFill>
          <a:ln/>
        </p:spPr>
      </p:sp>
      <p:sp>
        <p:nvSpPr>
          <p:cNvPr id="27" name="Shape 24"/>
          <p:cNvSpPr/>
          <p:nvPr/>
        </p:nvSpPr>
        <p:spPr>
          <a:xfrm>
            <a:off x="3840480" y="2240280"/>
            <a:ext cx="155448" cy="384048"/>
          </a:xfrm>
          <a:prstGeom prst="rect">
            <a:avLst/>
          </a:prstGeom>
          <a:solidFill>
            <a:srgbClr val="157A7F"/>
          </a:solidFill>
          <a:ln/>
        </p:spPr>
      </p:sp>
      <p:sp>
        <p:nvSpPr>
          <p:cNvPr id="28" name="Shape 25"/>
          <p:cNvSpPr/>
          <p:nvPr/>
        </p:nvSpPr>
        <p:spPr>
          <a:xfrm>
            <a:off x="4023360" y="2240280"/>
            <a:ext cx="155448" cy="384048"/>
          </a:xfrm>
          <a:prstGeom prst="rect">
            <a:avLst/>
          </a:prstGeom>
          <a:solidFill>
            <a:srgbClr val="157A7F"/>
          </a:solidFill>
          <a:ln/>
        </p:spPr>
      </p:sp>
      <p:sp>
        <p:nvSpPr>
          <p:cNvPr id="29" name="Shape 26"/>
          <p:cNvSpPr/>
          <p:nvPr/>
        </p:nvSpPr>
        <p:spPr>
          <a:xfrm>
            <a:off x="4206240" y="2240280"/>
            <a:ext cx="155448" cy="384048"/>
          </a:xfrm>
          <a:prstGeom prst="rect">
            <a:avLst/>
          </a:prstGeom>
          <a:solidFill>
            <a:srgbClr val="157A7F"/>
          </a:solidFill>
          <a:ln/>
        </p:spPr>
      </p:sp>
      <p:sp>
        <p:nvSpPr>
          <p:cNvPr id="30" name="Shape 27"/>
          <p:cNvSpPr/>
          <p:nvPr/>
        </p:nvSpPr>
        <p:spPr>
          <a:xfrm>
            <a:off x="4389120" y="2240280"/>
            <a:ext cx="155448" cy="384048"/>
          </a:xfrm>
          <a:prstGeom prst="rect">
            <a:avLst/>
          </a:prstGeom>
          <a:solidFill>
            <a:srgbClr val="157A7F"/>
          </a:solidFill>
          <a:ln/>
        </p:spPr>
      </p:sp>
      <p:sp>
        <p:nvSpPr>
          <p:cNvPr id="31" name="Shape 28"/>
          <p:cNvSpPr/>
          <p:nvPr/>
        </p:nvSpPr>
        <p:spPr>
          <a:xfrm>
            <a:off x="4572000" y="2240280"/>
            <a:ext cx="155448" cy="384048"/>
          </a:xfrm>
          <a:prstGeom prst="rect">
            <a:avLst/>
          </a:prstGeom>
          <a:solidFill>
            <a:srgbClr val="157A7F"/>
          </a:solidFill>
          <a:ln/>
        </p:spPr>
      </p:sp>
      <p:sp>
        <p:nvSpPr>
          <p:cNvPr id="32" name="Shape 29"/>
          <p:cNvSpPr/>
          <p:nvPr/>
        </p:nvSpPr>
        <p:spPr>
          <a:xfrm>
            <a:off x="4754880" y="2240280"/>
            <a:ext cx="155448" cy="384048"/>
          </a:xfrm>
          <a:prstGeom prst="rect">
            <a:avLst/>
          </a:prstGeom>
          <a:solidFill>
            <a:srgbClr val="157A7F"/>
          </a:solidFill>
          <a:ln/>
        </p:spPr>
      </p:sp>
      <p:sp>
        <p:nvSpPr>
          <p:cNvPr id="33" name="Shape 30"/>
          <p:cNvSpPr/>
          <p:nvPr/>
        </p:nvSpPr>
        <p:spPr>
          <a:xfrm>
            <a:off x="4937760" y="2240280"/>
            <a:ext cx="155448" cy="384048"/>
          </a:xfrm>
          <a:prstGeom prst="rect">
            <a:avLst/>
          </a:prstGeom>
          <a:solidFill>
            <a:srgbClr val="157A7F"/>
          </a:solidFill>
          <a:ln/>
        </p:spPr>
      </p:sp>
      <p:sp>
        <p:nvSpPr>
          <p:cNvPr id="34" name="Shape 31"/>
          <p:cNvSpPr/>
          <p:nvPr/>
        </p:nvSpPr>
        <p:spPr>
          <a:xfrm>
            <a:off x="5120640" y="2240280"/>
            <a:ext cx="155448" cy="384048"/>
          </a:xfrm>
          <a:prstGeom prst="rect">
            <a:avLst/>
          </a:prstGeom>
          <a:solidFill>
            <a:srgbClr val="157A7F"/>
          </a:solidFill>
          <a:ln/>
        </p:spPr>
      </p:sp>
      <p:sp>
        <p:nvSpPr>
          <p:cNvPr id="35" name="Shape 32"/>
          <p:cNvSpPr/>
          <p:nvPr/>
        </p:nvSpPr>
        <p:spPr>
          <a:xfrm>
            <a:off x="5303520" y="2240280"/>
            <a:ext cx="155448" cy="384048"/>
          </a:xfrm>
          <a:prstGeom prst="rect">
            <a:avLst/>
          </a:prstGeom>
          <a:solidFill>
            <a:srgbClr val="157A7F"/>
          </a:solidFill>
          <a:ln/>
        </p:spPr>
      </p:sp>
      <p:sp>
        <p:nvSpPr>
          <p:cNvPr id="36" name="Shape 33"/>
          <p:cNvSpPr/>
          <p:nvPr/>
        </p:nvSpPr>
        <p:spPr>
          <a:xfrm>
            <a:off x="5486400" y="2240280"/>
            <a:ext cx="155448" cy="384048"/>
          </a:xfrm>
          <a:prstGeom prst="rect">
            <a:avLst/>
          </a:prstGeom>
          <a:solidFill>
            <a:srgbClr val="157A7F"/>
          </a:solidFill>
          <a:ln/>
        </p:spPr>
      </p:sp>
      <p:sp>
        <p:nvSpPr>
          <p:cNvPr id="37" name="Shape 34"/>
          <p:cNvSpPr/>
          <p:nvPr/>
        </p:nvSpPr>
        <p:spPr>
          <a:xfrm>
            <a:off x="5669280" y="2240280"/>
            <a:ext cx="155448" cy="384048"/>
          </a:xfrm>
          <a:prstGeom prst="rect">
            <a:avLst/>
          </a:prstGeom>
          <a:solidFill>
            <a:srgbClr val="157A7F"/>
          </a:solidFill>
          <a:ln/>
        </p:spPr>
      </p:sp>
      <p:sp>
        <p:nvSpPr>
          <p:cNvPr id="38" name="Shape 35"/>
          <p:cNvSpPr/>
          <p:nvPr/>
        </p:nvSpPr>
        <p:spPr>
          <a:xfrm>
            <a:off x="5852160" y="2240280"/>
            <a:ext cx="155448" cy="384048"/>
          </a:xfrm>
          <a:prstGeom prst="rect">
            <a:avLst/>
          </a:prstGeom>
          <a:solidFill>
            <a:srgbClr val="157A7F"/>
          </a:solidFill>
          <a:ln/>
        </p:spPr>
      </p:sp>
      <p:sp>
        <p:nvSpPr>
          <p:cNvPr id="39" name="Shape 36"/>
          <p:cNvSpPr/>
          <p:nvPr/>
        </p:nvSpPr>
        <p:spPr>
          <a:xfrm>
            <a:off x="6035040" y="2240280"/>
            <a:ext cx="155448" cy="384048"/>
          </a:xfrm>
          <a:prstGeom prst="rect">
            <a:avLst/>
          </a:prstGeom>
          <a:solidFill>
            <a:srgbClr val="157A7F"/>
          </a:solidFill>
          <a:ln/>
        </p:spPr>
      </p:sp>
      <p:sp>
        <p:nvSpPr>
          <p:cNvPr id="40" name="Shape 37"/>
          <p:cNvSpPr/>
          <p:nvPr/>
        </p:nvSpPr>
        <p:spPr>
          <a:xfrm>
            <a:off x="6217920" y="2240280"/>
            <a:ext cx="155448" cy="384048"/>
          </a:xfrm>
          <a:prstGeom prst="rect">
            <a:avLst/>
          </a:prstGeom>
          <a:solidFill>
            <a:srgbClr val="157A7F"/>
          </a:solidFill>
          <a:ln/>
        </p:spPr>
      </p:sp>
      <p:sp>
        <p:nvSpPr>
          <p:cNvPr id="41" name="Shape 38"/>
          <p:cNvSpPr/>
          <p:nvPr/>
        </p:nvSpPr>
        <p:spPr>
          <a:xfrm>
            <a:off x="6400800" y="2240280"/>
            <a:ext cx="155448" cy="384048"/>
          </a:xfrm>
          <a:prstGeom prst="rect">
            <a:avLst/>
          </a:prstGeom>
          <a:solidFill>
            <a:srgbClr val="157A7F"/>
          </a:solidFill>
          <a:ln/>
        </p:spPr>
      </p:sp>
      <p:sp>
        <p:nvSpPr>
          <p:cNvPr id="42" name="Shape 39"/>
          <p:cNvSpPr/>
          <p:nvPr/>
        </p:nvSpPr>
        <p:spPr>
          <a:xfrm>
            <a:off x="6583680" y="2240280"/>
            <a:ext cx="155448" cy="384048"/>
          </a:xfrm>
          <a:prstGeom prst="rect">
            <a:avLst/>
          </a:prstGeom>
          <a:solidFill>
            <a:srgbClr val="157A7F"/>
          </a:solidFill>
          <a:ln/>
        </p:spPr>
      </p:sp>
      <p:sp>
        <p:nvSpPr>
          <p:cNvPr id="43" name="Shape 40"/>
          <p:cNvSpPr/>
          <p:nvPr/>
        </p:nvSpPr>
        <p:spPr>
          <a:xfrm>
            <a:off x="6766560" y="2240280"/>
            <a:ext cx="155448" cy="384048"/>
          </a:xfrm>
          <a:prstGeom prst="rect">
            <a:avLst/>
          </a:prstGeom>
          <a:solidFill>
            <a:srgbClr val="C8701E"/>
          </a:solidFill>
          <a:ln/>
        </p:spPr>
      </p:sp>
      <p:sp>
        <p:nvSpPr>
          <p:cNvPr id="44" name="Shape 41"/>
          <p:cNvSpPr/>
          <p:nvPr/>
        </p:nvSpPr>
        <p:spPr>
          <a:xfrm>
            <a:off x="6949440" y="2240280"/>
            <a:ext cx="155448" cy="384048"/>
          </a:xfrm>
          <a:prstGeom prst="rect">
            <a:avLst/>
          </a:prstGeom>
          <a:solidFill>
            <a:srgbClr val="E6EAEE"/>
          </a:solidFill>
          <a:ln/>
        </p:spPr>
      </p:sp>
      <p:sp>
        <p:nvSpPr>
          <p:cNvPr id="45" name="Shape 42"/>
          <p:cNvSpPr/>
          <p:nvPr/>
        </p:nvSpPr>
        <p:spPr>
          <a:xfrm>
            <a:off x="7132320" y="2240280"/>
            <a:ext cx="155448" cy="384048"/>
          </a:xfrm>
          <a:prstGeom prst="rect">
            <a:avLst/>
          </a:prstGeom>
          <a:solidFill>
            <a:srgbClr val="E6EAEE"/>
          </a:solidFill>
          <a:ln/>
        </p:spPr>
      </p:sp>
      <p:sp>
        <p:nvSpPr>
          <p:cNvPr id="46" name="Shape 43"/>
          <p:cNvSpPr/>
          <p:nvPr/>
        </p:nvSpPr>
        <p:spPr>
          <a:xfrm>
            <a:off x="7315200" y="2240280"/>
            <a:ext cx="155448" cy="384048"/>
          </a:xfrm>
          <a:prstGeom prst="rect">
            <a:avLst/>
          </a:prstGeom>
          <a:solidFill>
            <a:srgbClr val="E6EAEE"/>
          </a:solidFill>
          <a:ln/>
        </p:spPr>
      </p:sp>
      <p:sp>
        <p:nvSpPr>
          <p:cNvPr id="47" name="Shape 44"/>
          <p:cNvSpPr/>
          <p:nvPr/>
        </p:nvSpPr>
        <p:spPr>
          <a:xfrm>
            <a:off x="7498080" y="2240280"/>
            <a:ext cx="155448" cy="384048"/>
          </a:xfrm>
          <a:prstGeom prst="rect">
            <a:avLst/>
          </a:prstGeom>
          <a:solidFill>
            <a:srgbClr val="E6EAEE"/>
          </a:solidFill>
          <a:ln/>
        </p:spPr>
      </p:sp>
      <p:sp>
        <p:nvSpPr>
          <p:cNvPr id="48" name="Shape 45"/>
          <p:cNvSpPr/>
          <p:nvPr/>
        </p:nvSpPr>
        <p:spPr>
          <a:xfrm>
            <a:off x="7680960" y="2240280"/>
            <a:ext cx="155448" cy="384048"/>
          </a:xfrm>
          <a:prstGeom prst="rect">
            <a:avLst/>
          </a:prstGeom>
          <a:solidFill>
            <a:srgbClr val="E6EAEE"/>
          </a:solidFill>
          <a:ln/>
        </p:spPr>
      </p:sp>
      <p:sp>
        <p:nvSpPr>
          <p:cNvPr id="49" name="Text 46"/>
          <p:cNvSpPr txBox="1"/>
          <p:nvPr/>
        </p:nvSpPr>
        <p:spPr>
          <a:xfrm>
            <a:off x="6446520" y="1929384"/>
            <a:ext cx="822960" cy="274320"/>
          </a:xfrm>
          <a:prstGeom prst="rect">
            <a:avLst/>
          </a:prstGeom>
          <a:noFill/>
          <a:ln/>
        </p:spPr>
        <p:txBody>
          <a:bodyPr wrap="square" lIns="0" tIns="0" rIns="0" bIns="0" rtlCol="0" anchor="t"/>
          <a:lstStyle/>
          <a:p>
            <a:pPr algn="ctr" indent="0" marL="0">
              <a:buNone/>
            </a:pPr>
            <a:r>
              <a:rPr lang="en-US" sz="1200" b="1" dirty="0">
                <a:solidFill>
                  <a:srgbClr val="C8701E"/>
                </a:solidFill>
                <a:latin typeface="Arial" pitchFamily="34" charset="0"/>
                <a:ea typeface="Arial" pitchFamily="34" charset="-122"/>
                <a:cs typeface="Arial" pitchFamily="34" charset="-120"/>
              </a:rPr>
              <a:t>t = 170</a:t>
            </a:r>
            <a:endParaRPr lang="en-US" sz="1200" dirty="0"/>
          </a:p>
        </p:txBody>
      </p:sp>
      <p:sp>
        <p:nvSpPr>
          <p:cNvPr id="50" name="Text 47"/>
          <p:cNvSpPr txBox="1"/>
          <p:nvPr/>
        </p:nvSpPr>
        <p:spPr>
          <a:xfrm>
            <a:off x="1463040" y="2697480"/>
            <a:ext cx="5486400" cy="274320"/>
          </a:xfrm>
          <a:prstGeom prst="rect">
            <a:avLst/>
          </a:prstGeom>
          <a:noFill/>
          <a:ln/>
        </p:spPr>
        <p:txBody>
          <a:bodyPr wrap="square" lIns="0" tIns="0" rIns="0" bIns="0" rtlCol="0" anchor="t"/>
          <a:lstStyle/>
          <a:p>
            <a:pPr algn="ctr" indent="0" marL="0">
              <a:buNone/>
            </a:pPr>
            <a:r>
              <a:rPr lang="en-US" sz="1250" b="1" dirty="0">
                <a:solidFill>
                  <a:srgbClr val="157A7F"/>
                </a:solidFill>
                <a:latin typeface="Arial" pitchFamily="34" charset="0"/>
                <a:ea typeface="Arial" pitchFamily="34" charset="-122"/>
                <a:cs typeface="Arial" pitchFamily="34" charset="-120"/>
              </a:rPr>
              <a:t>window: cycles 141–170</a:t>
            </a:r>
            <a:endParaRPr lang="en-US" sz="1250" dirty="0"/>
          </a:p>
        </p:txBody>
      </p:sp>
      <p:sp>
        <p:nvSpPr>
          <p:cNvPr id="51" name="Text 48"/>
          <p:cNvSpPr txBox="1"/>
          <p:nvPr/>
        </p:nvSpPr>
        <p:spPr>
          <a:xfrm>
            <a:off x="6400800" y="2697480"/>
            <a:ext cx="1463040" cy="274320"/>
          </a:xfrm>
          <a:prstGeom prst="rect">
            <a:avLst/>
          </a:prstGeom>
          <a:noFill/>
          <a:ln/>
        </p:spPr>
        <p:txBody>
          <a:bodyPr wrap="square" lIns="0" tIns="0" rIns="0" bIns="0" rtlCol="0" anchor="t"/>
          <a:lstStyle/>
          <a:p>
            <a:pPr algn="r" indent="0" marL="0">
              <a:buNone/>
            </a:pPr>
            <a:r>
              <a:rPr lang="en-US" sz="1150" dirty="0">
                <a:solidFill>
                  <a:srgbClr val="5A6B7B"/>
                </a:solidFill>
                <a:latin typeface="Arial" pitchFamily="34" charset="0"/>
                <a:ea typeface="Arial" pitchFamily="34" charset="-122"/>
                <a:cs typeface="Arial" pitchFamily="34" charset="-120"/>
              </a:rPr>
              <a:t>171+: không dùng</a:t>
            </a:r>
            <a:endParaRPr lang="en-US" sz="1150" dirty="0"/>
          </a:p>
        </p:txBody>
      </p:sp>
      <p:sp>
        <p:nvSpPr>
          <p:cNvPr id="52" name="Text 49"/>
          <p:cNvSpPr txBox="1"/>
          <p:nvPr/>
        </p:nvSpPr>
        <p:spPr>
          <a:xfrm>
            <a:off x="548640" y="3291840"/>
            <a:ext cx="7315200" cy="365760"/>
          </a:xfrm>
          <a:prstGeom prst="rect">
            <a:avLst/>
          </a:prstGeom>
          <a:noFill/>
          <a:ln/>
        </p:spPr>
        <p:txBody>
          <a:bodyPr wrap="square" lIns="0" tIns="0" rIns="0" bIns="0" rtlCol="0" anchor="t"/>
          <a:lstStyle/>
          <a:p>
            <a:pPr indent="0" marL="0">
              <a:buNone/>
            </a:pPr>
            <a:r>
              <a:rPr lang="en-US" sz="1800" b="1" dirty="0">
                <a:solidFill>
                  <a:srgbClr val="0B2239"/>
                </a:solidFill>
                <a:latin typeface="Arial" pitchFamily="34" charset="0"/>
                <a:ea typeface="Arial" pitchFamily="34" charset="-122"/>
                <a:cs typeface="Arial" pitchFamily="34" charset="-120"/>
              </a:rPr>
              <a:t>21 sensor × 6 thống kê = 126 cột</a:t>
            </a:r>
            <a:endParaRPr lang="en-US" sz="1800" dirty="0"/>
          </a:p>
        </p:txBody>
      </p:sp>
      <p:sp>
        <p:nvSpPr>
          <p:cNvPr id="53" name="Shape 50"/>
          <p:cNvSpPr/>
          <p:nvPr/>
        </p:nvSpPr>
        <p:spPr>
          <a:xfrm>
            <a:off x="548640" y="3794760"/>
            <a:ext cx="2286000" cy="731520"/>
          </a:xfrm>
          <a:prstGeom prst="roundRect">
            <a:avLst>
              <a:gd name="adj" fmla="val 10000"/>
            </a:avLst>
          </a:prstGeom>
          <a:solidFill>
            <a:srgbClr val="EEF3F6"/>
          </a:solidFill>
          <a:ln/>
        </p:spPr>
      </p:sp>
      <p:sp>
        <p:nvSpPr>
          <p:cNvPr id="54" name="Text 51"/>
          <p:cNvSpPr txBox="1"/>
          <p:nvPr/>
        </p:nvSpPr>
        <p:spPr>
          <a:xfrm>
            <a:off x="685800" y="386791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last</a:t>
            </a:r>
            <a:endParaRPr lang="en-US" sz="1500" dirty="0"/>
          </a:p>
        </p:txBody>
      </p:sp>
      <p:sp>
        <p:nvSpPr>
          <p:cNvPr id="55" name="Text 52"/>
          <p:cNvSpPr txBox="1"/>
          <p:nvPr/>
        </p:nvSpPr>
        <p:spPr>
          <a:xfrm>
            <a:off x="685800" y="418795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trạng thái hiện tại</a:t>
            </a:r>
            <a:endParaRPr lang="en-US" sz="1200" dirty="0"/>
          </a:p>
        </p:txBody>
      </p:sp>
      <p:sp>
        <p:nvSpPr>
          <p:cNvPr id="56" name="Shape 53"/>
          <p:cNvSpPr/>
          <p:nvPr/>
        </p:nvSpPr>
        <p:spPr>
          <a:xfrm>
            <a:off x="2971800" y="3794760"/>
            <a:ext cx="2286000" cy="731520"/>
          </a:xfrm>
          <a:prstGeom prst="roundRect">
            <a:avLst>
              <a:gd name="adj" fmla="val 10000"/>
            </a:avLst>
          </a:prstGeom>
          <a:solidFill>
            <a:srgbClr val="EEF3F6"/>
          </a:solidFill>
          <a:ln/>
        </p:spPr>
      </p:sp>
      <p:sp>
        <p:nvSpPr>
          <p:cNvPr id="57" name="Text 54"/>
          <p:cNvSpPr txBox="1"/>
          <p:nvPr/>
        </p:nvSpPr>
        <p:spPr>
          <a:xfrm>
            <a:off x="3108960" y="386791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mean</a:t>
            </a:r>
            <a:endParaRPr lang="en-US" sz="1500" dirty="0"/>
          </a:p>
        </p:txBody>
      </p:sp>
      <p:sp>
        <p:nvSpPr>
          <p:cNvPr id="58" name="Text 55"/>
          <p:cNvSpPr txBox="1"/>
          <p:nvPr/>
        </p:nvSpPr>
        <p:spPr>
          <a:xfrm>
            <a:off x="3108960" y="418795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mức trung bình</a:t>
            </a:r>
            <a:endParaRPr lang="en-US" sz="1200" dirty="0"/>
          </a:p>
        </p:txBody>
      </p:sp>
      <p:sp>
        <p:nvSpPr>
          <p:cNvPr id="59" name="Shape 56"/>
          <p:cNvSpPr/>
          <p:nvPr/>
        </p:nvSpPr>
        <p:spPr>
          <a:xfrm>
            <a:off x="5394960" y="3794760"/>
            <a:ext cx="2286000" cy="731520"/>
          </a:xfrm>
          <a:prstGeom prst="roundRect">
            <a:avLst>
              <a:gd name="adj" fmla="val 10000"/>
            </a:avLst>
          </a:prstGeom>
          <a:solidFill>
            <a:srgbClr val="EEF3F6"/>
          </a:solidFill>
          <a:ln/>
        </p:spPr>
      </p:sp>
      <p:sp>
        <p:nvSpPr>
          <p:cNvPr id="60" name="Text 57"/>
          <p:cNvSpPr txBox="1"/>
          <p:nvPr/>
        </p:nvSpPr>
        <p:spPr>
          <a:xfrm>
            <a:off x="5532120" y="386791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std</a:t>
            </a:r>
            <a:endParaRPr lang="en-US" sz="1500" dirty="0"/>
          </a:p>
        </p:txBody>
      </p:sp>
      <p:sp>
        <p:nvSpPr>
          <p:cNvPr id="61" name="Text 58"/>
          <p:cNvSpPr txBox="1"/>
          <p:nvPr/>
        </p:nvSpPr>
        <p:spPr>
          <a:xfrm>
            <a:off x="5532120" y="418795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độ dao động</a:t>
            </a:r>
            <a:endParaRPr lang="en-US" sz="1200" dirty="0"/>
          </a:p>
        </p:txBody>
      </p:sp>
      <p:sp>
        <p:nvSpPr>
          <p:cNvPr id="62" name="Shape 59"/>
          <p:cNvSpPr/>
          <p:nvPr/>
        </p:nvSpPr>
        <p:spPr>
          <a:xfrm>
            <a:off x="548640" y="4663440"/>
            <a:ext cx="2286000" cy="731520"/>
          </a:xfrm>
          <a:prstGeom prst="roundRect">
            <a:avLst>
              <a:gd name="adj" fmla="val 10000"/>
            </a:avLst>
          </a:prstGeom>
          <a:solidFill>
            <a:srgbClr val="EEF3F6"/>
          </a:solidFill>
          <a:ln/>
        </p:spPr>
      </p:sp>
      <p:sp>
        <p:nvSpPr>
          <p:cNvPr id="63" name="Text 60"/>
          <p:cNvSpPr txBox="1"/>
          <p:nvPr/>
        </p:nvSpPr>
        <p:spPr>
          <a:xfrm>
            <a:off x="685800" y="473659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min</a:t>
            </a:r>
            <a:endParaRPr lang="en-US" sz="1500" dirty="0"/>
          </a:p>
        </p:txBody>
      </p:sp>
      <p:sp>
        <p:nvSpPr>
          <p:cNvPr id="64" name="Text 61"/>
          <p:cNvSpPr txBox="1"/>
          <p:nvPr/>
        </p:nvSpPr>
        <p:spPr>
          <a:xfrm>
            <a:off x="685800" y="505663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cận dưới</a:t>
            </a:r>
            <a:endParaRPr lang="en-US" sz="1200" dirty="0"/>
          </a:p>
        </p:txBody>
      </p:sp>
      <p:sp>
        <p:nvSpPr>
          <p:cNvPr id="65" name="Shape 62"/>
          <p:cNvSpPr/>
          <p:nvPr/>
        </p:nvSpPr>
        <p:spPr>
          <a:xfrm>
            <a:off x="2971800" y="4663440"/>
            <a:ext cx="2286000" cy="731520"/>
          </a:xfrm>
          <a:prstGeom prst="roundRect">
            <a:avLst>
              <a:gd name="adj" fmla="val 10000"/>
            </a:avLst>
          </a:prstGeom>
          <a:solidFill>
            <a:srgbClr val="EEF3F6"/>
          </a:solidFill>
          <a:ln/>
        </p:spPr>
      </p:sp>
      <p:sp>
        <p:nvSpPr>
          <p:cNvPr id="66" name="Text 63"/>
          <p:cNvSpPr txBox="1"/>
          <p:nvPr/>
        </p:nvSpPr>
        <p:spPr>
          <a:xfrm>
            <a:off x="3108960" y="473659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max</a:t>
            </a:r>
            <a:endParaRPr lang="en-US" sz="1500" dirty="0"/>
          </a:p>
        </p:txBody>
      </p:sp>
      <p:sp>
        <p:nvSpPr>
          <p:cNvPr id="67" name="Text 64"/>
          <p:cNvSpPr txBox="1"/>
          <p:nvPr/>
        </p:nvSpPr>
        <p:spPr>
          <a:xfrm>
            <a:off x="3108960" y="505663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cận trên</a:t>
            </a:r>
            <a:endParaRPr lang="en-US" sz="1200" dirty="0"/>
          </a:p>
        </p:txBody>
      </p:sp>
      <p:sp>
        <p:nvSpPr>
          <p:cNvPr id="68" name="Shape 65"/>
          <p:cNvSpPr/>
          <p:nvPr/>
        </p:nvSpPr>
        <p:spPr>
          <a:xfrm>
            <a:off x="5394960" y="4663440"/>
            <a:ext cx="2286000" cy="731520"/>
          </a:xfrm>
          <a:prstGeom prst="roundRect">
            <a:avLst>
              <a:gd name="adj" fmla="val 10000"/>
            </a:avLst>
          </a:prstGeom>
          <a:solidFill>
            <a:srgbClr val="EEF3F6"/>
          </a:solidFill>
          <a:ln/>
        </p:spPr>
      </p:sp>
      <p:sp>
        <p:nvSpPr>
          <p:cNvPr id="69" name="Text 66"/>
          <p:cNvSpPr txBox="1"/>
          <p:nvPr/>
        </p:nvSpPr>
        <p:spPr>
          <a:xfrm>
            <a:off x="5532120" y="473659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slope</a:t>
            </a:r>
            <a:endParaRPr lang="en-US" sz="1500" dirty="0"/>
          </a:p>
        </p:txBody>
      </p:sp>
      <p:sp>
        <p:nvSpPr>
          <p:cNvPr id="70" name="Text 67"/>
          <p:cNvSpPr txBox="1"/>
          <p:nvPr/>
        </p:nvSpPr>
        <p:spPr>
          <a:xfrm>
            <a:off x="5532120" y="505663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xu hướng tăng/giảm</a:t>
            </a:r>
            <a:endParaRPr lang="en-US" sz="1200" dirty="0"/>
          </a:p>
        </p:txBody>
      </p:sp>
      <p:sp>
        <p:nvSpPr>
          <p:cNvPr id="71" name="Text 68"/>
          <p:cNvSpPr txBox="1"/>
          <p:nvPr/>
        </p:nvSpPr>
        <p:spPr>
          <a:xfrm>
            <a:off x="548640" y="5669280"/>
            <a:ext cx="7315200" cy="457200"/>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17.731 train windows · 10.196 test windows · 29 cycle đầu mỗi engine chưa đủ window, không padding</a:t>
            </a:r>
            <a:endParaRPr lang="en-US" sz="1250" dirty="0"/>
          </a:p>
        </p:txBody>
      </p:sp>
      <p:sp>
        <p:nvSpPr>
          <p:cNvPr id="72" name="Shape 69"/>
          <p:cNvSpPr/>
          <p:nvPr/>
        </p:nvSpPr>
        <p:spPr>
          <a:xfrm>
            <a:off x="8138160" y="1920240"/>
            <a:ext cx="3502152" cy="4251960"/>
          </a:xfrm>
          <a:prstGeom prst="roundRect">
            <a:avLst>
              <a:gd name="adj" fmla="val 2089"/>
            </a:avLst>
          </a:prstGeom>
          <a:solidFill>
            <a:srgbClr val="0B2239"/>
          </a:solidFill>
          <a:ln/>
        </p:spPr>
      </p:sp>
      <p:sp>
        <p:nvSpPr>
          <p:cNvPr id="73" name="Text 70"/>
          <p:cNvSpPr txBox="1"/>
          <p:nvPr/>
        </p:nvSpPr>
        <p:spPr>
          <a:xfrm>
            <a:off x="8366760" y="2103120"/>
            <a:ext cx="3108960" cy="329184"/>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Nhiễu và chuẩn hóa</a:t>
            </a:r>
            <a:endParaRPr lang="en-US" sz="1600" dirty="0"/>
          </a:p>
        </p:txBody>
      </p:sp>
      <p:sp>
        <p:nvSpPr>
          <p:cNvPr id="74" name="Text 71"/>
          <p:cNvSpPr txBox="1"/>
          <p:nvPr/>
        </p:nvSpPr>
        <p:spPr>
          <a:xfrm>
            <a:off x="8366760" y="2560320"/>
            <a:ext cx="31089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Thống kê trên 30 cycle tóm tắt dao động từng cycle; chưa dùng bộ lọc tín hiệu riêng.</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ETL chuẩn hóa schema và kiểu dữ liệu.</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StandardScaler fit trong training fold (Ridge) và trên 90 engine (Health Index).</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HGB dùng thang đo gốc.</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Health Index gom 21 sensor thành một đường suy giảm</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PCA fit trên 90 train engines; ARIMA dự báo 30% cuối chuỗi của 10 engine giữ riêng</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outputs/timeseries/figures/health_index_selected_engines.png; tables/forecast_metrics.csv; tables/baseline_metrics.csv</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11 / 20</a:t>
            </a:r>
            <a:endParaRPr lang="en-US" sz="1000" dirty="0"/>
          </a:p>
        </p:txBody>
      </p:sp>
      <p:pic>
        <p:nvPicPr>
          <p:cNvPr id="9" name="Image 0" descr="Health Index của 10 validation engines">    </p:cNvPr>
          <p:cNvPicPr>
            <a:picLocks noChangeAspect="1"/>
          </p:cNvPicPr>
          <p:nvPr/>
        </p:nvPicPr>
        <p:blipFill>
          <a:blip r:embed="rId1"/>
          <a:stretch>
            <a:fillRect/>
          </a:stretch>
        </p:blipFill>
        <p:spPr>
          <a:xfrm>
            <a:off x="548640" y="1874520"/>
            <a:ext cx="6766560" cy="3690851"/>
          </a:xfrm>
          <a:prstGeom prst="rect">
            <a:avLst/>
          </a:prstGeom>
        </p:spPr>
      </p:pic>
      <p:graphicFrame>
        <p:nvGraphicFramePr>
          <p:cNvPr id="10" name="Chart 0" descr=""/>
          <p:cNvGraphicFramePr/>
          <p:nvPr/>
        </p:nvGraphicFramePr>
        <p:xfrm>
          <a:off x="7589520" y="1874520"/>
          <a:ext cx="4050792" cy="274320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7589520" y="4800600"/>
            <a:ext cx="4050792" cy="1097280"/>
          </a:xfrm>
          <a:prstGeom prst="roundRect">
            <a:avLst>
              <a:gd name="adj" fmla="val 6667"/>
            </a:avLst>
          </a:prstGeom>
          <a:solidFill>
            <a:srgbClr val="FBEBD9"/>
          </a:solidFill>
          <a:ln/>
        </p:spPr>
      </p:sp>
      <p:sp>
        <p:nvSpPr>
          <p:cNvPr id="12" name="Text 7"/>
          <p:cNvSpPr txBox="1"/>
          <p:nvPr/>
        </p:nvSpPr>
        <p:spPr>
          <a:xfrm>
            <a:off x="7772400" y="4873752"/>
            <a:ext cx="3703320" cy="96012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Coverage khoảng dự đoán 95%: 21,43%–97,03% giữa các engine. Health Index không phải RUL; đây là phân tích phụ.</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Đánh giá theo engine để tránh data leakage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5-fold GroupKFold: mọi window của một engine nằm cùng một phía của phép chia</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outputs/modeling/tables/evaluation_protocol.csv; outputs/modeling/run_info.json; report/sections/methodology.tex</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12 / 20</a:t>
            </a:r>
            <a:endParaRPr lang="en-US" sz="1000" dirty="0"/>
          </a:p>
        </p:txBody>
      </p:sp>
      <p:sp>
        <p:nvSpPr>
          <p:cNvPr id="9" name="Text 6"/>
          <p:cNvSpPr txBox="1"/>
          <p:nvPr/>
        </p:nvSpPr>
        <p:spPr>
          <a:xfrm>
            <a:off x="548640" y="2148840"/>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1</a:t>
            </a:r>
            <a:endParaRPr lang="en-US" sz="1300" dirty="0"/>
          </a:p>
        </p:txBody>
      </p:sp>
      <p:sp>
        <p:nvSpPr>
          <p:cNvPr id="10" name="Shape 7"/>
          <p:cNvSpPr/>
          <p:nvPr/>
        </p:nvSpPr>
        <p:spPr>
          <a:xfrm>
            <a:off x="1417320" y="2148840"/>
            <a:ext cx="960120" cy="457200"/>
          </a:xfrm>
          <a:prstGeom prst="roundRect">
            <a:avLst>
              <a:gd name="adj" fmla="val 16000"/>
            </a:avLst>
          </a:prstGeom>
          <a:solidFill>
            <a:srgbClr val="C8701E"/>
          </a:solidFill>
          <a:ln/>
        </p:spPr>
      </p:sp>
      <p:sp>
        <p:nvSpPr>
          <p:cNvPr id="11" name="Text 8"/>
          <p:cNvSpPr txBox="1"/>
          <p:nvPr/>
        </p:nvSpPr>
        <p:spPr>
          <a:xfrm>
            <a:off x="1417320" y="2148840"/>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12" name="Shape 9"/>
          <p:cNvSpPr/>
          <p:nvPr/>
        </p:nvSpPr>
        <p:spPr>
          <a:xfrm>
            <a:off x="2441448" y="2148840"/>
            <a:ext cx="960120" cy="457200"/>
          </a:xfrm>
          <a:prstGeom prst="roundRect">
            <a:avLst>
              <a:gd name="adj" fmla="val 16000"/>
            </a:avLst>
          </a:prstGeom>
          <a:solidFill>
            <a:srgbClr val="DCEFEF"/>
          </a:solidFill>
          <a:ln/>
        </p:spPr>
      </p:sp>
      <p:sp>
        <p:nvSpPr>
          <p:cNvPr id="13" name="Shape 10"/>
          <p:cNvSpPr/>
          <p:nvPr/>
        </p:nvSpPr>
        <p:spPr>
          <a:xfrm>
            <a:off x="3465576" y="2148840"/>
            <a:ext cx="960120" cy="457200"/>
          </a:xfrm>
          <a:prstGeom prst="roundRect">
            <a:avLst>
              <a:gd name="adj" fmla="val 16000"/>
            </a:avLst>
          </a:prstGeom>
          <a:solidFill>
            <a:srgbClr val="DCEFEF"/>
          </a:solidFill>
          <a:ln/>
        </p:spPr>
      </p:sp>
      <p:sp>
        <p:nvSpPr>
          <p:cNvPr id="14" name="Shape 11"/>
          <p:cNvSpPr/>
          <p:nvPr/>
        </p:nvSpPr>
        <p:spPr>
          <a:xfrm>
            <a:off x="4489704" y="2148840"/>
            <a:ext cx="960120" cy="457200"/>
          </a:xfrm>
          <a:prstGeom prst="roundRect">
            <a:avLst>
              <a:gd name="adj" fmla="val 16000"/>
            </a:avLst>
          </a:prstGeom>
          <a:solidFill>
            <a:srgbClr val="DCEFEF"/>
          </a:solidFill>
          <a:ln/>
        </p:spPr>
      </p:sp>
      <p:sp>
        <p:nvSpPr>
          <p:cNvPr id="15" name="Shape 12"/>
          <p:cNvSpPr/>
          <p:nvPr/>
        </p:nvSpPr>
        <p:spPr>
          <a:xfrm>
            <a:off x="5513832" y="2148840"/>
            <a:ext cx="960120" cy="457200"/>
          </a:xfrm>
          <a:prstGeom prst="roundRect">
            <a:avLst>
              <a:gd name="adj" fmla="val 16000"/>
            </a:avLst>
          </a:prstGeom>
          <a:solidFill>
            <a:srgbClr val="DCEFEF"/>
          </a:solidFill>
          <a:ln/>
        </p:spPr>
      </p:sp>
      <p:sp>
        <p:nvSpPr>
          <p:cNvPr id="16" name="Text 13"/>
          <p:cNvSpPr txBox="1"/>
          <p:nvPr/>
        </p:nvSpPr>
        <p:spPr>
          <a:xfrm>
            <a:off x="548640" y="2807208"/>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2</a:t>
            </a:r>
            <a:endParaRPr lang="en-US" sz="1300" dirty="0"/>
          </a:p>
        </p:txBody>
      </p:sp>
      <p:sp>
        <p:nvSpPr>
          <p:cNvPr id="17" name="Shape 14"/>
          <p:cNvSpPr/>
          <p:nvPr/>
        </p:nvSpPr>
        <p:spPr>
          <a:xfrm>
            <a:off x="1417320" y="2807208"/>
            <a:ext cx="960120" cy="457200"/>
          </a:xfrm>
          <a:prstGeom prst="roundRect">
            <a:avLst>
              <a:gd name="adj" fmla="val 16000"/>
            </a:avLst>
          </a:prstGeom>
          <a:solidFill>
            <a:srgbClr val="DCEFEF"/>
          </a:solidFill>
          <a:ln/>
        </p:spPr>
      </p:sp>
      <p:sp>
        <p:nvSpPr>
          <p:cNvPr id="18" name="Shape 15"/>
          <p:cNvSpPr/>
          <p:nvPr/>
        </p:nvSpPr>
        <p:spPr>
          <a:xfrm>
            <a:off x="2441448" y="2807208"/>
            <a:ext cx="960120" cy="457200"/>
          </a:xfrm>
          <a:prstGeom prst="roundRect">
            <a:avLst>
              <a:gd name="adj" fmla="val 16000"/>
            </a:avLst>
          </a:prstGeom>
          <a:solidFill>
            <a:srgbClr val="C8701E"/>
          </a:solidFill>
          <a:ln/>
        </p:spPr>
      </p:sp>
      <p:sp>
        <p:nvSpPr>
          <p:cNvPr id="19" name="Text 16"/>
          <p:cNvSpPr txBox="1"/>
          <p:nvPr/>
        </p:nvSpPr>
        <p:spPr>
          <a:xfrm>
            <a:off x="2441448" y="2807208"/>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20" name="Shape 17"/>
          <p:cNvSpPr/>
          <p:nvPr/>
        </p:nvSpPr>
        <p:spPr>
          <a:xfrm>
            <a:off x="3465576" y="2807208"/>
            <a:ext cx="960120" cy="457200"/>
          </a:xfrm>
          <a:prstGeom prst="roundRect">
            <a:avLst>
              <a:gd name="adj" fmla="val 16000"/>
            </a:avLst>
          </a:prstGeom>
          <a:solidFill>
            <a:srgbClr val="DCEFEF"/>
          </a:solidFill>
          <a:ln/>
        </p:spPr>
      </p:sp>
      <p:sp>
        <p:nvSpPr>
          <p:cNvPr id="21" name="Shape 18"/>
          <p:cNvSpPr/>
          <p:nvPr/>
        </p:nvSpPr>
        <p:spPr>
          <a:xfrm>
            <a:off x="4489704" y="2807208"/>
            <a:ext cx="960120" cy="457200"/>
          </a:xfrm>
          <a:prstGeom prst="roundRect">
            <a:avLst>
              <a:gd name="adj" fmla="val 16000"/>
            </a:avLst>
          </a:prstGeom>
          <a:solidFill>
            <a:srgbClr val="DCEFEF"/>
          </a:solidFill>
          <a:ln/>
        </p:spPr>
      </p:sp>
      <p:sp>
        <p:nvSpPr>
          <p:cNvPr id="22" name="Shape 19"/>
          <p:cNvSpPr/>
          <p:nvPr/>
        </p:nvSpPr>
        <p:spPr>
          <a:xfrm>
            <a:off x="5513832" y="2807208"/>
            <a:ext cx="960120" cy="457200"/>
          </a:xfrm>
          <a:prstGeom prst="roundRect">
            <a:avLst>
              <a:gd name="adj" fmla="val 16000"/>
            </a:avLst>
          </a:prstGeom>
          <a:solidFill>
            <a:srgbClr val="DCEFEF"/>
          </a:solidFill>
          <a:ln/>
        </p:spPr>
      </p:sp>
      <p:sp>
        <p:nvSpPr>
          <p:cNvPr id="23" name="Text 20"/>
          <p:cNvSpPr txBox="1"/>
          <p:nvPr/>
        </p:nvSpPr>
        <p:spPr>
          <a:xfrm>
            <a:off x="548640" y="3465576"/>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3</a:t>
            </a:r>
            <a:endParaRPr lang="en-US" sz="1300" dirty="0"/>
          </a:p>
        </p:txBody>
      </p:sp>
      <p:sp>
        <p:nvSpPr>
          <p:cNvPr id="24" name="Shape 21"/>
          <p:cNvSpPr/>
          <p:nvPr/>
        </p:nvSpPr>
        <p:spPr>
          <a:xfrm>
            <a:off x="1417320" y="3465576"/>
            <a:ext cx="960120" cy="457200"/>
          </a:xfrm>
          <a:prstGeom prst="roundRect">
            <a:avLst>
              <a:gd name="adj" fmla="val 16000"/>
            </a:avLst>
          </a:prstGeom>
          <a:solidFill>
            <a:srgbClr val="DCEFEF"/>
          </a:solidFill>
          <a:ln/>
        </p:spPr>
      </p:sp>
      <p:sp>
        <p:nvSpPr>
          <p:cNvPr id="25" name="Shape 22"/>
          <p:cNvSpPr/>
          <p:nvPr/>
        </p:nvSpPr>
        <p:spPr>
          <a:xfrm>
            <a:off x="2441448" y="3465576"/>
            <a:ext cx="960120" cy="457200"/>
          </a:xfrm>
          <a:prstGeom prst="roundRect">
            <a:avLst>
              <a:gd name="adj" fmla="val 16000"/>
            </a:avLst>
          </a:prstGeom>
          <a:solidFill>
            <a:srgbClr val="DCEFEF"/>
          </a:solidFill>
          <a:ln/>
        </p:spPr>
      </p:sp>
      <p:sp>
        <p:nvSpPr>
          <p:cNvPr id="26" name="Shape 23"/>
          <p:cNvSpPr/>
          <p:nvPr/>
        </p:nvSpPr>
        <p:spPr>
          <a:xfrm>
            <a:off x="3465576" y="3465576"/>
            <a:ext cx="960120" cy="457200"/>
          </a:xfrm>
          <a:prstGeom prst="roundRect">
            <a:avLst>
              <a:gd name="adj" fmla="val 16000"/>
            </a:avLst>
          </a:prstGeom>
          <a:solidFill>
            <a:srgbClr val="C8701E"/>
          </a:solidFill>
          <a:ln/>
        </p:spPr>
      </p:sp>
      <p:sp>
        <p:nvSpPr>
          <p:cNvPr id="27" name="Text 24"/>
          <p:cNvSpPr txBox="1"/>
          <p:nvPr/>
        </p:nvSpPr>
        <p:spPr>
          <a:xfrm>
            <a:off x="3465576" y="3465576"/>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28" name="Shape 25"/>
          <p:cNvSpPr/>
          <p:nvPr/>
        </p:nvSpPr>
        <p:spPr>
          <a:xfrm>
            <a:off x="4489704" y="3465576"/>
            <a:ext cx="960120" cy="457200"/>
          </a:xfrm>
          <a:prstGeom prst="roundRect">
            <a:avLst>
              <a:gd name="adj" fmla="val 16000"/>
            </a:avLst>
          </a:prstGeom>
          <a:solidFill>
            <a:srgbClr val="DCEFEF"/>
          </a:solidFill>
          <a:ln/>
        </p:spPr>
      </p:sp>
      <p:sp>
        <p:nvSpPr>
          <p:cNvPr id="29" name="Shape 26"/>
          <p:cNvSpPr/>
          <p:nvPr/>
        </p:nvSpPr>
        <p:spPr>
          <a:xfrm>
            <a:off x="5513832" y="3465576"/>
            <a:ext cx="960120" cy="457200"/>
          </a:xfrm>
          <a:prstGeom prst="roundRect">
            <a:avLst>
              <a:gd name="adj" fmla="val 16000"/>
            </a:avLst>
          </a:prstGeom>
          <a:solidFill>
            <a:srgbClr val="DCEFEF"/>
          </a:solidFill>
          <a:ln/>
        </p:spPr>
      </p:sp>
      <p:sp>
        <p:nvSpPr>
          <p:cNvPr id="30" name="Text 27"/>
          <p:cNvSpPr txBox="1"/>
          <p:nvPr/>
        </p:nvSpPr>
        <p:spPr>
          <a:xfrm>
            <a:off x="548640" y="4123944"/>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4</a:t>
            </a:r>
            <a:endParaRPr lang="en-US" sz="1300" dirty="0"/>
          </a:p>
        </p:txBody>
      </p:sp>
      <p:sp>
        <p:nvSpPr>
          <p:cNvPr id="31" name="Shape 28"/>
          <p:cNvSpPr/>
          <p:nvPr/>
        </p:nvSpPr>
        <p:spPr>
          <a:xfrm>
            <a:off x="1417320" y="4123944"/>
            <a:ext cx="960120" cy="457200"/>
          </a:xfrm>
          <a:prstGeom prst="roundRect">
            <a:avLst>
              <a:gd name="adj" fmla="val 16000"/>
            </a:avLst>
          </a:prstGeom>
          <a:solidFill>
            <a:srgbClr val="DCEFEF"/>
          </a:solidFill>
          <a:ln/>
        </p:spPr>
      </p:sp>
      <p:sp>
        <p:nvSpPr>
          <p:cNvPr id="32" name="Shape 29"/>
          <p:cNvSpPr/>
          <p:nvPr/>
        </p:nvSpPr>
        <p:spPr>
          <a:xfrm>
            <a:off x="2441448" y="4123944"/>
            <a:ext cx="960120" cy="457200"/>
          </a:xfrm>
          <a:prstGeom prst="roundRect">
            <a:avLst>
              <a:gd name="adj" fmla="val 16000"/>
            </a:avLst>
          </a:prstGeom>
          <a:solidFill>
            <a:srgbClr val="DCEFEF"/>
          </a:solidFill>
          <a:ln/>
        </p:spPr>
      </p:sp>
      <p:sp>
        <p:nvSpPr>
          <p:cNvPr id="33" name="Shape 30"/>
          <p:cNvSpPr/>
          <p:nvPr/>
        </p:nvSpPr>
        <p:spPr>
          <a:xfrm>
            <a:off x="3465576" y="4123944"/>
            <a:ext cx="960120" cy="457200"/>
          </a:xfrm>
          <a:prstGeom prst="roundRect">
            <a:avLst>
              <a:gd name="adj" fmla="val 16000"/>
            </a:avLst>
          </a:prstGeom>
          <a:solidFill>
            <a:srgbClr val="DCEFEF"/>
          </a:solidFill>
          <a:ln/>
        </p:spPr>
      </p:sp>
      <p:sp>
        <p:nvSpPr>
          <p:cNvPr id="34" name="Shape 31"/>
          <p:cNvSpPr/>
          <p:nvPr/>
        </p:nvSpPr>
        <p:spPr>
          <a:xfrm>
            <a:off x="4489704" y="4123944"/>
            <a:ext cx="960120" cy="457200"/>
          </a:xfrm>
          <a:prstGeom prst="roundRect">
            <a:avLst>
              <a:gd name="adj" fmla="val 16000"/>
            </a:avLst>
          </a:prstGeom>
          <a:solidFill>
            <a:srgbClr val="C8701E"/>
          </a:solidFill>
          <a:ln/>
        </p:spPr>
      </p:sp>
      <p:sp>
        <p:nvSpPr>
          <p:cNvPr id="35" name="Text 32"/>
          <p:cNvSpPr txBox="1"/>
          <p:nvPr/>
        </p:nvSpPr>
        <p:spPr>
          <a:xfrm>
            <a:off x="4489704" y="4123944"/>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36" name="Shape 33"/>
          <p:cNvSpPr/>
          <p:nvPr/>
        </p:nvSpPr>
        <p:spPr>
          <a:xfrm>
            <a:off x="5513832" y="4123944"/>
            <a:ext cx="960120" cy="457200"/>
          </a:xfrm>
          <a:prstGeom prst="roundRect">
            <a:avLst>
              <a:gd name="adj" fmla="val 16000"/>
            </a:avLst>
          </a:prstGeom>
          <a:solidFill>
            <a:srgbClr val="DCEFEF"/>
          </a:solidFill>
          <a:ln/>
        </p:spPr>
      </p:sp>
      <p:sp>
        <p:nvSpPr>
          <p:cNvPr id="37" name="Text 34"/>
          <p:cNvSpPr txBox="1"/>
          <p:nvPr/>
        </p:nvSpPr>
        <p:spPr>
          <a:xfrm>
            <a:off x="548640" y="4782312"/>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5</a:t>
            </a:r>
            <a:endParaRPr lang="en-US" sz="1300" dirty="0"/>
          </a:p>
        </p:txBody>
      </p:sp>
      <p:sp>
        <p:nvSpPr>
          <p:cNvPr id="38" name="Shape 35"/>
          <p:cNvSpPr/>
          <p:nvPr/>
        </p:nvSpPr>
        <p:spPr>
          <a:xfrm>
            <a:off x="1417320" y="4782312"/>
            <a:ext cx="960120" cy="457200"/>
          </a:xfrm>
          <a:prstGeom prst="roundRect">
            <a:avLst>
              <a:gd name="adj" fmla="val 16000"/>
            </a:avLst>
          </a:prstGeom>
          <a:solidFill>
            <a:srgbClr val="DCEFEF"/>
          </a:solidFill>
          <a:ln/>
        </p:spPr>
      </p:sp>
      <p:sp>
        <p:nvSpPr>
          <p:cNvPr id="39" name="Shape 36"/>
          <p:cNvSpPr/>
          <p:nvPr/>
        </p:nvSpPr>
        <p:spPr>
          <a:xfrm>
            <a:off x="2441448" y="4782312"/>
            <a:ext cx="960120" cy="457200"/>
          </a:xfrm>
          <a:prstGeom prst="roundRect">
            <a:avLst>
              <a:gd name="adj" fmla="val 16000"/>
            </a:avLst>
          </a:prstGeom>
          <a:solidFill>
            <a:srgbClr val="DCEFEF"/>
          </a:solidFill>
          <a:ln/>
        </p:spPr>
      </p:sp>
      <p:sp>
        <p:nvSpPr>
          <p:cNvPr id="40" name="Shape 37"/>
          <p:cNvSpPr/>
          <p:nvPr/>
        </p:nvSpPr>
        <p:spPr>
          <a:xfrm>
            <a:off x="3465576" y="4782312"/>
            <a:ext cx="960120" cy="457200"/>
          </a:xfrm>
          <a:prstGeom prst="roundRect">
            <a:avLst>
              <a:gd name="adj" fmla="val 16000"/>
            </a:avLst>
          </a:prstGeom>
          <a:solidFill>
            <a:srgbClr val="DCEFEF"/>
          </a:solidFill>
          <a:ln/>
        </p:spPr>
      </p:sp>
      <p:sp>
        <p:nvSpPr>
          <p:cNvPr id="41" name="Shape 38"/>
          <p:cNvSpPr/>
          <p:nvPr/>
        </p:nvSpPr>
        <p:spPr>
          <a:xfrm>
            <a:off x="4489704" y="4782312"/>
            <a:ext cx="960120" cy="457200"/>
          </a:xfrm>
          <a:prstGeom prst="roundRect">
            <a:avLst>
              <a:gd name="adj" fmla="val 16000"/>
            </a:avLst>
          </a:prstGeom>
          <a:solidFill>
            <a:srgbClr val="DCEFEF"/>
          </a:solidFill>
          <a:ln/>
        </p:spPr>
      </p:sp>
      <p:sp>
        <p:nvSpPr>
          <p:cNvPr id="42" name="Shape 39"/>
          <p:cNvSpPr/>
          <p:nvPr/>
        </p:nvSpPr>
        <p:spPr>
          <a:xfrm>
            <a:off x="5513832" y="4782312"/>
            <a:ext cx="960120" cy="457200"/>
          </a:xfrm>
          <a:prstGeom prst="roundRect">
            <a:avLst>
              <a:gd name="adj" fmla="val 16000"/>
            </a:avLst>
          </a:prstGeom>
          <a:solidFill>
            <a:srgbClr val="C8701E"/>
          </a:solidFill>
          <a:ln/>
        </p:spPr>
      </p:sp>
      <p:sp>
        <p:nvSpPr>
          <p:cNvPr id="43" name="Text 40"/>
          <p:cNvSpPr txBox="1"/>
          <p:nvPr/>
        </p:nvSpPr>
        <p:spPr>
          <a:xfrm>
            <a:off x="5513832" y="4782312"/>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44" name="Text 41"/>
          <p:cNvSpPr txBox="1"/>
          <p:nvPr/>
        </p:nvSpPr>
        <p:spPr>
          <a:xfrm>
            <a:off x="548640" y="5486400"/>
            <a:ext cx="603504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Mỗi ô là một nhóm 20 train engines; màu nhạt là phần fit.</a:t>
            </a:r>
            <a:endParaRPr lang="en-US" sz="1150" dirty="0"/>
          </a:p>
        </p:txBody>
      </p:sp>
      <p:sp>
        <p:nvSpPr>
          <p:cNvPr id="45" name="Shape 42"/>
          <p:cNvSpPr/>
          <p:nvPr/>
        </p:nvSpPr>
        <p:spPr>
          <a:xfrm>
            <a:off x="6903720" y="2011680"/>
            <a:ext cx="457200" cy="457200"/>
          </a:xfrm>
          <a:prstGeom prst="ellipse">
            <a:avLst/>
          </a:prstGeom>
          <a:solidFill>
            <a:srgbClr val="0B2239"/>
          </a:solidFill>
          <a:ln/>
        </p:spPr>
      </p:sp>
      <p:sp>
        <p:nvSpPr>
          <p:cNvPr id="46" name="Text 43"/>
          <p:cNvSpPr txBox="1"/>
          <p:nvPr/>
        </p:nvSpPr>
        <p:spPr>
          <a:xfrm>
            <a:off x="690372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47" name="Text 44"/>
          <p:cNvSpPr txBox="1"/>
          <p:nvPr/>
        </p:nvSpPr>
        <p:spPr>
          <a:xfrm>
            <a:off x="7543800" y="198424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Chọn model</a:t>
            </a:r>
            <a:endParaRPr lang="en-US" sz="1500" dirty="0"/>
          </a:p>
        </p:txBody>
      </p:sp>
      <p:sp>
        <p:nvSpPr>
          <p:cNvPr id="48" name="Text 45"/>
          <p:cNvSpPr txBox="1"/>
          <p:nvPr/>
        </p:nvSpPr>
        <p:spPr>
          <a:xfrm>
            <a:off x="7543800" y="228600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mean engine-level MAE trên dự đoán OOF</a:t>
            </a:r>
            <a:endParaRPr lang="en-US" sz="1300" dirty="0"/>
          </a:p>
        </p:txBody>
      </p:sp>
      <p:sp>
        <p:nvSpPr>
          <p:cNvPr id="49" name="Shape 46"/>
          <p:cNvSpPr/>
          <p:nvPr/>
        </p:nvSpPr>
        <p:spPr>
          <a:xfrm>
            <a:off x="6903720" y="2880360"/>
            <a:ext cx="457200" cy="457200"/>
          </a:xfrm>
          <a:prstGeom prst="ellipse">
            <a:avLst/>
          </a:prstGeom>
          <a:solidFill>
            <a:srgbClr val="0B2239"/>
          </a:solidFill>
          <a:ln/>
        </p:spPr>
      </p:sp>
      <p:sp>
        <p:nvSpPr>
          <p:cNvPr id="50" name="Text 47"/>
          <p:cNvSpPr txBox="1"/>
          <p:nvPr/>
        </p:nvSpPr>
        <p:spPr>
          <a:xfrm>
            <a:off x="6903720" y="2880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51" name="Text 48"/>
          <p:cNvSpPr txBox="1"/>
          <p:nvPr/>
        </p:nvSpPr>
        <p:spPr>
          <a:xfrm>
            <a:off x="7543800" y="285292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Cân bằng engine</a:t>
            </a:r>
            <a:endParaRPr lang="en-US" sz="1500" dirty="0"/>
          </a:p>
        </p:txBody>
      </p:sp>
      <p:sp>
        <p:nvSpPr>
          <p:cNvPr id="52" name="Text 49"/>
          <p:cNvSpPr txBox="1"/>
          <p:nvPr/>
        </p:nvSpPr>
        <p:spPr>
          <a:xfrm>
            <a:off x="7543800" y="315468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tổng sample weight mỗi engine bằng 1 trong fold</a:t>
            </a:r>
            <a:endParaRPr lang="en-US" sz="1300" dirty="0"/>
          </a:p>
        </p:txBody>
      </p:sp>
      <p:sp>
        <p:nvSpPr>
          <p:cNvPr id="53" name="Shape 50"/>
          <p:cNvSpPr/>
          <p:nvPr/>
        </p:nvSpPr>
        <p:spPr>
          <a:xfrm>
            <a:off x="6903720" y="3749040"/>
            <a:ext cx="457200" cy="457200"/>
          </a:xfrm>
          <a:prstGeom prst="ellipse">
            <a:avLst/>
          </a:prstGeom>
          <a:solidFill>
            <a:srgbClr val="0B2239"/>
          </a:solidFill>
          <a:ln/>
        </p:spPr>
      </p:sp>
      <p:sp>
        <p:nvSpPr>
          <p:cNvPr id="54" name="Text 51"/>
          <p:cNvSpPr txBox="1"/>
          <p:nvPr/>
        </p:nvSpPr>
        <p:spPr>
          <a:xfrm>
            <a:off x="690372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55" name="Text 52"/>
          <p:cNvSpPr txBox="1"/>
          <p:nvPr/>
        </p:nvSpPr>
        <p:spPr>
          <a:xfrm>
            <a:off x="7543800" y="372160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Refit</a:t>
            </a:r>
            <a:endParaRPr lang="en-US" sz="1500" dirty="0"/>
          </a:p>
        </p:txBody>
      </p:sp>
      <p:sp>
        <p:nvSpPr>
          <p:cNvPr id="56" name="Text 53"/>
          <p:cNvSpPr txBox="1"/>
          <p:nvPr/>
        </p:nvSpPr>
        <p:spPr>
          <a:xfrm>
            <a:off x="7543800" y="402336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toàn bộ 17.731 train windows</a:t>
            </a:r>
            <a:endParaRPr lang="en-US" sz="1300" dirty="0"/>
          </a:p>
        </p:txBody>
      </p:sp>
      <p:sp>
        <p:nvSpPr>
          <p:cNvPr id="57" name="Shape 54"/>
          <p:cNvSpPr/>
          <p:nvPr/>
        </p:nvSpPr>
        <p:spPr>
          <a:xfrm>
            <a:off x="6903720" y="4617720"/>
            <a:ext cx="457200" cy="457200"/>
          </a:xfrm>
          <a:prstGeom prst="ellipse">
            <a:avLst/>
          </a:prstGeom>
          <a:solidFill>
            <a:srgbClr val="0B2239"/>
          </a:solidFill>
          <a:ln/>
        </p:spPr>
      </p:sp>
      <p:sp>
        <p:nvSpPr>
          <p:cNvPr id="58" name="Text 55"/>
          <p:cNvSpPr txBox="1"/>
          <p:nvPr/>
        </p:nvSpPr>
        <p:spPr>
          <a:xfrm>
            <a:off x="6903720" y="4617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59" name="Text 56"/>
          <p:cNvSpPr txBox="1"/>
          <p:nvPr/>
        </p:nvSpPr>
        <p:spPr>
          <a:xfrm>
            <a:off x="7543800" y="459028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Dự đoán test</a:t>
            </a:r>
            <a:endParaRPr lang="en-US" sz="1500" dirty="0"/>
          </a:p>
        </p:txBody>
      </p:sp>
      <p:sp>
        <p:nvSpPr>
          <p:cNvPr id="60" name="Text 57"/>
          <p:cNvSpPr txBox="1"/>
          <p:nvPr/>
        </p:nvSpPr>
        <p:spPr>
          <a:xfrm>
            <a:off x="7543800" y="489204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1 điểm/engine tại cycle cuối, sau đó mới ghép nhãn</a:t>
            </a:r>
            <a:endParaRPr lang="en-US" sz="1300" dirty="0"/>
          </a:p>
        </p:txBody>
      </p:sp>
      <p:sp>
        <p:nvSpPr>
          <p:cNvPr id="61" name="Shape 58"/>
          <p:cNvSpPr/>
          <p:nvPr/>
        </p:nvSpPr>
        <p:spPr>
          <a:xfrm>
            <a:off x="6903720" y="5486400"/>
            <a:ext cx="4736592" cy="713232"/>
          </a:xfrm>
          <a:prstGeom prst="roundRect">
            <a:avLst>
              <a:gd name="adj" fmla="val 10256"/>
            </a:avLst>
          </a:prstGeom>
          <a:solidFill>
            <a:srgbClr val="FBEBD9"/>
          </a:solidFill>
          <a:ln/>
        </p:spPr>
      </p:sp>
      <p:sp>
        <p:nvSpPr>
          <p:cNvPr id="62" name="Text 59"/>
          <p:cNvSpPr txBox="1"/>
          <p:nvPr/>
        </p:nvSpPr>
        <p:spPr>
          <a:xfrm>
            <a:off x="7059168" y="5550408"/>
            <a:ext cx="4480560" cy="59436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Hai window liền kề trùng 29/30 cycle; chia ngẫu nhiên theo dòng làm metric lạc quan.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HistGradientBoosting có MAE thấp nhất trong cross-validation</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Ba ứng viên được so sánh trên cùng 5 fold và cùng metric đã định trước</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outputs/modeling/tables/model_metrics.csv; outputs/modeling/run_info.json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13 / 20</a:t>
            </a:r>
            <a:endParaRPr lang="en-US" sz="1000" dirty="0"/>
          </a:p>
        </p:txBody>
      </p:sp>
      <p:graphicFrame>
        <p:nvGraphicFramePr>
          <p:cNvPr id="9" name="Chart 0" descr=""/>
          <p:cNvGraphicFramePr/>
          <p:nvPr/>
        </p:nvGraphicFramePr>
        <p:xfrm>
          <a:off x="548640" y="1874520"/>
          <a:ext cx="67665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680960" y="2011680"/>
          <a:ext cx="3959352" cy="914400"/>
        </p:xfrm>
        <a:graphic>
          <a:graphicData uri="http://schemas.openxmlformats.org/drawingml/2006/table">
            <a:tbl>
              <a:tblPr/>
              <a:tblGrid>
                <a:gridCol w="2130552"/>
                <a:gridCol w="1828800"/>
              </a:tblGrid>
              <a:tr h="45720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MAE ± std giữa fold</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457200">
                <a:tc>
                  <a:txBody>
                    <a:bodyPr/>
                    <a:lstStyle/>
                    <a:p>
                      <a:pPr algn="l" indent="0" marL="0">
                        <a:buNone/>
                      </a:pPr>
                      <a:r>
                        <a:rPr lang="en-US" sz="1300" b="1" dirty="0">
                          <a:solidFill>
                            <a:srgbClr val="1B2733"/>
                          </a:solidFill>
                          <a:latin typeface="Arial" pitchFamily="34" charset="0"/>
                          <a:ea typeface="Arial" pitchFamily="34" charset="-122"/>
                          <a:cs typeface="Arial" pitchFamily="34" charset="-120"/>
                        </a:rPr>
                        <a:t>HistGradientBoosting</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DCEFEF"/>
                    </a:solidFill>
                  </a:tcPr>
                </a:tc>
                <a:tc>
                  <a:txBody>
                    <a:bodyPr/>
                    <a:lstStyle/>
                    <a:p>
                      <a:pPr algn="l" indent="0" marL="0">
                        <a:buNone/>
                      </a:pPr>
                      <a:r>
                        <a:rPr lang="en-US" sz="1300" b="1" dirty="0">
                          <a:solidFill>
                            <a:srgbClr val="1B2733"/>
                          </a:solidFill>
                          <a:latin typeface="Arial" pitchFamily="34" charset="0"/>
                          <a:ea typeface="Arial" pitchFamily="34" charset="-122"/>
                          <a:cs typeface="Arial" pitchFamily="34" charset="-120"/>
                        </a:rPr>
                        <a:t>20,21 ± 0,98</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DCEFEF"/>
                    </a:solidFill>
                  </a:tcPr>
                </a:tc>
              </a:tr>
              <a:tr h="45720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Ridge (α = 1)</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23,99 ± 0,95</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45720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Median baseline</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46,95 ± 0,12</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11" name="Shape 6"/>
          <p:cNvSpPr/>
          <p:nvPr/>
        </p:nvSpPr>
        <p:spPr>
          <a:xfrm>
            <a:off x="7680960" y="4160520"/>
            <a:ext cx="3959352" cy="1828800"/>
          </a:xfrm>
          <a:prstGeom prst="roundRect">
            <a:avLst>
              <a:gd name="adj" fmla="val 4000"/>
            </a:avLst>
          </a:prstGeom>
          <a:solidFill>
            <a:srgbClr val="EEF3F6"/>
          </a:solidFill>
          <a:ln/>
        </p:spPr>
      </p:sp>
      <p:sp>
        <p:nvSpPr>
          <p:cNvPr id="12" name="Text 7"/>
          <p:cNvSpPr txBox="1"/>
          <p:nvPr/>
        </p:nvSpPr>
        <p:spPr>
          <a:xfrm>
            <a:off x="7863840" y="4297680"/>
            <a:ext cx="365760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CV và test chấm trên tập điểm khác nhau</a:t>
            </a:r>
            <a:endParaRPr lang="en-US" sz="1400" dirty="0"/>
          </a:p>
        </p:txBody>
      </p:sp>
      <p:sp>
        <p:nvSpPr>
          <p:cNvPr id="13" name="Text 8"/>
          <p:cNvSpPr txBox="1"/>
          <p:nvPr/>
        </p:nvSpPr>
        <p:spPr>
          <a:xfrm>
            <a:off x="7863840" y="4709160"/>
            <a:ext cx="3611880" cy="118872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CV chấm mọi train window từ cycle 30 đến failure; test chỉ chấm một điểm cắt mỗi engine. Không so trực tiếp hai con số.</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Trên 100 test engines: MAE 15,35 cycles</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Mỗi engine đóng góp một dự đoán tại cycle cuối được quan sát; nhãn test chỉ được dùng ở bước này</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outputs/modeling/tables/final_metrics.json; outputs/modeling/figures/final_true_vs_predicted.png</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14 / 20</a:t>
            </a:r>
            <a:endParaRPr lang="en-US" sz="1000" dirty="0"/>
          </a:p>
        </p:txBody>
      </p:sp>
      <p:sp>
        <p:nvSpPr>
          <p:cNvPr id="9" name="Shape 6"/>
          <p:cNvSpPr/>
          <p:nvPr/>
        </p:nvSpPr>
        <p:spPr>
          <a:xfrm>
            <a:off x="548640" y="1920240"/>
            <a:ext cx="4754880" cy="1325880"/>
          </a:xfrm>
          <a:prstGeom prst="roundRect">
            <a:avLst>
              <a:gd name="adj" fmla="val 5517"/>
            </a:avLst>
          </a:prstGeom>
          <a:solidFill>
            <a:srgbClr val="0B2239"/>
          </a:solidFill>
          <a:ln/>
        </p:spPr>
      </p:sp>
      <p:sp>
        <p:nvSpPr>
          <p:cNvPr id="10" name="Text 7"/>
          <p:cNvSpPr txBox="1"/>
          <p:nvPr/>
        </p:nvSpPr>
        <p:spPr>
          <a:xfrm>
            <a:off x="777240" y="2029968"/>
            <a:ext cx="2377440" cy="6858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15,35</a:t>
            </a:r>
            <a:endParaRPr lang="en-US" sz="3600" dirty="0"/>
          </a:p>
        </p:txBody>
      </p:sp>
      <p:sp>
        <p:nvSpPr>
          <p:cNvPr id="11" name="Text 8"/>
          <p:cNvSpPr txBox="1"/>
          <p:nvPr/>
        </p:nvSpPr>
        <p:spPr>
          <a:xfrm>
            <a:off x="3108960" y="2103120"/>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MAE (cycles)</a:t>
            </a:r>
            <a:endParaRPr lang="en-US" sz="1500" dirty="0"/>
          </a:p>
        </p:txBody>
      </p:sp>
      <p:sp>
        <p:nvSpPr>
          <p:cNvPr id="12" name="Text 9"/>
          <p:cNvSpPr txBox="1"/>
          <p:nvPr/>
        </p:nvSpPr>
        <p:spPr>
          <a:xfrm>
            <a:off x="3108960" y="2450592"/>
            <a:ext cx="2103120" cy="685800"/>
          </a:xfrm>
          <a:prstGeom prst="rect">
            <a:avLst/>
          </a:prstGeom>
          <a:noFill/>
          <a:ln/>
        </p:spPr>
        <p:txBody>
          <a:bodyPr wrap="square" lIns="0" tIns="0" rIns="0" bIns="0" rtlCol="0" anchor="t"/>
          <a:lstStyle/>
          <a:p>
            <a:pPr indent="0" marL="0">
              <a:buNone/>
            </a:pPr>
            <a:r>
              <a:rPr lang="en-US" sz="1200" dirty="0">
                <a:solidFill>
                  <a:srgbClr val="BFD9E3"/>
                </a:solidFill>
                <a:latin typeface="Arial" pitchFamily="34" charset="0"/>
                <a:ea typeface="Arial" pitchFamily="34" charset="-122"/>
                <a:cs typeface="Arial" pitchFamily="34" charset="-120"/>
              </a:rPr>
              <a:t>CI 95%: [12,73; 18,09]</a:t>
            </a:r>
            <a:endParaRPr lang="en-US" sz="1200" dirty="0"/>
          </a:p>
        </p:txBody>
      </p:sp>
      <p:sp>
        <p:nvSpPr>
          <p:cNvPr id="13" name="Shape 10"/>
          <p:cNvSpPr/>
          <p:nvPr/>
        </p:nvSpPr>
        <p:spPr>
          <a:xfrm>
            <a:off x="548640" y="3383280"/>
            <a:ext cx="4754880" cy="1325880"/>
          </a:xfrm>
          <a:prstGeom prst="roundRect">
            <a:avLst>
              <a:gd name="adj" fmla="val 5517"/>
            </a:avLst>
          </a:prstGeom>
          <a:solidFill>
            <a:srgbClr val="EEF3F6"/>
          </a:solidFill>
          <a:ln/>
        </p:spPr>
      </p:sp>
      <p:sp>
        <p:nvSpPr>
          <p:cNvPr id="14" name="Text 11"/>
          <p:cNvSpPr txBox="1"/>
          <p:nvPr/>
        </p:nvSpPr>
        <p:spPr>
          <a:xfrm>
            <a:off x="777240" y="3493008"/>
            <a:ext cx="2377440" cy="685800"/>
          </a:xfrm>
          <a:prstGeom prst="rect">
            <a:avLst/>
          </a:prstGeom>
          <a:noFill/>
          <a:ln/>
        </p:spPr>
        <p:txBody>
          <a:bodyPr wrap="square" lIns="0" tIns="0" rIns="0" bIns="0" rtlCol="0" anchor="ctr"/>
          <a:lstStyle/>
          <a:p>
            <a:pPr indent="0" marL="0">
              <a:buNone/>
            </a:pPr>
            <a:r>
              <a:rPr lang="en-US" sz="3600" b="1" dirty="0">
                <a:solidFill>
                  <a:srgbClr val="0B2239"/>
                </a:solidFill>
                <a:latin typeface="Arial" pitchFamily="34" charset="0"/>
                <a:ea typeface="Arial" pitchFamily="34" charset="-122"/>
                <a:cs typeface="Arial" pitchFamily="34" charset="-120"/>
              </a:rPr>
              <a:t>20,54</a:t>
            </a:r>
            <a:endParaRPr lang="en-US" sz="3600" dirty="0"/>
          </a:p>
        </p:txBody>
      </p:sp>
      <p:sp>
        <p:nvSpPr>
          <p:cNvPr id="15" name="Text 12"/>
          <p:cNvSpPr txBox="1"/>
          <p:nvPr/>
        </p:nvSpPr>
        <p:spPr>
          <a:xfrm>
            <a:off x="3108960" y="3566160"/>
            <a:ext cx="2103120" cy="320040"/>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RMSE (cycles)</a:t>
            </a:r>
            <a:endParaRPr lang="en-US" sz="1500" dirty="0"/>
          </a:p>
        </p:txBody>
      </p:sp>
      <p:sp>
        <p:nvSpPr>
          <p:cNvPr id="16" name="Text 13"/>
          <p:cNvSpPr txBox="1"/>
          <p:nvPr/>
        </p:nvSpPr>
        <p:spPr>
          <a:xfrm>
            <a:off x="3108960" y="3913632"/>
            <a:ext cx="2103120" cy="6858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Phạt sai số lớn mạnh hơn MAE</a:t>
            </a:r>
            <a:endParaRPr lang="en-US" sz="1200" dirty="0"/>
          </a:p>
        </p:txBody>
      </p:sp>
      <p:sp>
        <p:nvSpPr>
          <p:cNvPr id="17" name="Shape 14"/>
          <p:cNvSpPr/>
          <p:nvPr/>
        </p:nvSpPr>
        <p:spPr>
          <a:xfrm>
            <a:off x="548640" y="4846320"/>
            <a:ext cx="4754880" cy="1325880"/>
          </a:xfrm>
          <a:prstGeom prst="roundRect">
            <a:avLst>
              <a:gd name="adj" fmla="val 5517"/>
            </a:avLst>
          </a:prstGeom>
          <a:solidFill>
            <a:srgbClr val="EEF3F6"/>
          </a:solidFill>
          <a:ln/>
        </p:spPr>
      </p:sp>
      <p:sp>
        <p:nvSpPr>
          <p:cNvPr id="18" name="Text 15"/>
          <p:cNvSpPr txBox="1"/>
          <p:nvPr/>
        </p:nvSpPr>
        <p:spPr>
          <a:xfrm>
            <a:off x="777240" y="4956048"/>
            <a:ext cx="2377440" cy="685800"/>
          </a:xfrm>
          <a:prstGeom prst="rect">
            <a:avLst/>
          </a:prstGeom>
          <a:noFill/>
          <a:ln/>
        </p:spPr>
        <p:txBody>
          <a:bodyPr wrap="square" lIns="0" tIns="0" rIns="0" bIns="0" rtlCol="0" anchor="ctr"/>
          <a:lstStyle/>
          <a:p>
            <a:pPr indent="0" marL="0">
              <a:buNone/>
            </a:pPr>
            <a:r>
              <a:rPr lang="en-US" sz="3600" b="1" dirty="0">
                <a:solidFill>
                  <a:srgbClr val="0B2239"/>
                </a:solidFill>
                <a:latin typeface="Arial" pitchFamily="34" charset="0"/>
                <a:ea typeface="Arial" pitchFamily="34" charset="-122"/>
                <a:cs typeface="Arial" pitchFamily="34" charset="-120"/>
              </a:rPr>
              <a:t>1.513,26</a:t>
            </a:r>
            <a:endParaRPr lang="en-US" sz="3600" dirty="0"/>
          </a:p>
        </p:txBody>
      </p:sp>
      <p:sp>
        <p:nvSpPr>
          <p:cNvPr id="19" name="Text 16"/>
          <p:cNvSpPr txBox="1"/>
          <p:nvPr/>
        </p:nvSpPr>
        <p:spPr>
          <a:xfrm>
            <a:off x="3108960" y="5029200"/>
            <a:ext cx="2103120" cy="320040"/>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NASA score</a:t>
            </a:r>
            <a:endParaRPr lang="en-US" sz="1500" dirty="0"/>
          </a:p>
        </p:txBody>
      </p:sp>
      <p:sp>
        <p:nvSpPr>
          <p:cNvPr id="20" name="Text 17"/>
          <p:cNvSpPr txBox="1"/>
          <p:nvPr/>
        </p:nvSpPr>
        <p:spPr>
          <a:xfrm>
            <a:off x="3108960" y="5376672"/>
            <a:ext cx="2103120" cy="6858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Phạt dự đoán trễ nặng hơn; không có đơn vị</a:t>
            </a:r>
            <a:endParaRPr lang="en-US" sz="1200" dirty="0"/>
          </a:p>
        </p:txBody>
      </p:sp>
      <p:pic>
        <p:nvPicPr>
          <p:cNvPr id="21" name="Image 0" descr="RUL thật và RUL dự đoán trên 100 test engines">    </p:cNvPr>
          <p:cNvPicPr>
            <a:picLocks noChangeAspect="1"/>
          </p:cNvPicPr>
          <p:nvPr/>
        </p:nvPicPr>
        <p:blipFill>
          <a:blip r:embed="rId1"/>
          <a:stretch>
            <a:fillRect/>
          </a:stretch>
        </p:blipFill>
        <p:spPr>
          <a:xfrm>
            <a:off x="5760720" y="1874520"/>
            <a:ext cx="5879592" cy="419970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Sai số lớn tập trung ở dự đoán cao hơn RUL thật</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Dự đoán cao hơn RUL thật tương ứng cảnh báo muộn; NASA score phạt loại sai số này nặng hơn</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outputs/modeling/predictions/final_evaluation.parquet; outputs/modeling/figures/final_residuals_by_rul.png; outputs/diagnostics/error_diagnostics.json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15 / 20</a:t>
            </a:r>
            <a:endParaRPr lang="en-US" sz="1000" dirty="0"/>
          </a:p>
        </p:txBody>
      </p:sp>
      <p:pic>
        <p:nvPicPr>
          <p:cNvPr id="9" name="Image 0" descr="Residual theo RUL thật trên 100 test engines">    </p:cNvPr>
          <p:cNvPicPr>
            <a:picLocks noChangeAspect="1"/>
          </p:cNvPicPr>
          <p:nvPr/>
        </p:nvPicPr>
        <p:blipFill>
          <a:blip r:embed="rId1"/>
          <a:stretch>
            <a:fillRect/>
          </a:stretch>
        </p:blipFill>
        <p:spPr>
          <a:xfrm>
            <a:off x="548640" y="1874520"/>
            <a:ext cx="6035040" cy="4310743"/>
          </a:xfrm>
          <a:prstGeom prst="rect">
            <a:avLst/>
          </a:prstGeom>
        </p:spPr>
      </p:pic>
      <p:sp>
        <p:nvSpPr>
          <p:cNvPr id="10" name="Text 6"/>
          <p:cNvSpPr txBox="1"/>
          <p:nvPr/>
        </p:nvSpPr>
        <p:spPr>
          <a:xfrm>
            <a:off x="6949440" y="1965960"/>
            <a:ext cx="4663440"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Hướng sai số trên 100 test engines</a:t>
            </a:r>
            <a:endParaRPr lang="en-US" sz="1500" dirty="0"/>
          </a:p>
        </p:txBody>
      </p:sp>
      <p:sp>
        <p:nvSpPr>
          <p:cNvPr id="11" name="Shape 7"/>
          <p:cNvSpPr/>
          <p:nvPr/>
        </p:nvSpPr>
        <p:spPr>
          <a:xfrm>
            <a:off x="6949440" y="2423160"/>
            <a:ext cx="3450946" cy="548640"/>
          </a:xfrm>
          <a:prstGeom prst="rect">
            <a:avLst/>
          </a:prstGeom>
          <a:solidFill>
            <a:srgbClr val="C8701E"/>
          </a:solidFill>
          <a:ln/>
        </p:spPr>
      </p:sp>
      <p:sp>
        <p:nvSpPr>
          <p:cNvPr id="12" name="Shape 8"/>
          <p:cNvSpPr/>
          <p:nvPr/>
        </p:nvSpPr>
        <p:spPr>
          <a:xfrm>
            <a:off x="10400386" y="2423160"/>
            <a:ext cx="1212494" cy="548640"/>
          </a:xfrm>
          <a:prstGeom prst="rect">
            <a:avLst/>
          </a:prstGeom>
          <a:solidFill>
            <a:srgbClr val="157A7F"/>
          </a:solidFill>
          <a:ln/>
        </p:spPr>
      </p:sp>
      <p:sp>
        <p:nvSpPr>
          <p:cNvPr id="13" name="Text 9"/>
          <p:cNvSpPr txBox="1"/>
          <p:nvPr/>
        </p:nvSpPr>
        <p:spPr>
          <a:xfrm>
            <a:off x="7040880" y="2423160"/>
            <a:ext cx="228600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74 cao hơn</a:t>
            </a:r>
            <a:endParaRPr lang="en-US" sz="1500" dirty="0"/>
          </a:p>
        </p:txBody>
      </p:sp>
      <p:sp>
        <p:nvSpPr>
          <p:cNvPr id="14" name="Text 10"/>
          <p:cNvSpPr txBox="1"/>
          <p:nvPr/>
        </p:nvSpPr>
        <p:spPr>
          <a:xfrm>
            <a:off x="10400386" y="2423160"/>
            <a:ext cx="1212494"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26 thấp hơn</a:t>
            </a:r>
            <a:endParaRPr lang="en-US" sz="1250" dirty="0"/>
          </a:p>
        </p:txBody>
      </p:sp>
      <p:sp>
        <p:nvSpPr>
          <p:cNvPr id="15" name="Shape 11"/>
          <p:cNvSpPr/>
          <p:nvPr/>
        </p:nvSpPr>
        <p:spPr>
          <a:xfrm>
            <a:off x="6949440" y="3337560"/>
            <a:ext cx="4690872" cy="1828800"/>
          </a:xfrm>
          <a:prstGeom prst="roundRect">
            <a:avLst>
              <a:gd name="adj" fmla="val 4000"/>
            </a:avLst>
          </a:prstGeom>
          <a:solidFill>
            <a:srgbClr val="EEF3F6"/>
          </a:solidFill>
          <a:ln/>
        </p:spPr>
      </p:sp>
      <p:sp>
        <p:nvSpPr>
          <p:cNvPr id="16" name="Text 12"/>
          <p:cNvSpPr txBox="1"/>
          <p:nvPr/>
        </p:nvSpPr>
        <p:spPr>
          <a:xfrm>
            <a:off x="7178040" y="3474720"/>
            <a:ext cx="429768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Trường hợp sai lớn nhất: engine 23</a:t>
            </a:r>
            <a:endParaRPr lang="en-US" sz="1400" dirty="0"/>
          </a:p>
        </p:txBody>
      </p:sp>
      <p:sp>
        <p:nvSpPr>
          <p:cNvPr id="17" name="Text 13"/>
          <p:cNvSpPr txBox="1"/>
          <p:nvPr/>
        </p:nvSpPr>
        <p:spPr>
          <a:xfrm>
            <a:off x="7178040" y="3931920"/>
            <a:ext cx="1417320" cy="548640"/>
          </a:xfrm>
          <a:prstGeom prst="rect">
            <a:avLst/>
          </a:prstGeom>
          <a:noFill/>
          <a:ln/>
        </p:spPr>
        <p:txBody>
          <a:bodyPr wrap="square" lIns="0" tIns="0" rIns="0" bIns="0" rtlCol="0" anchor="t"/>
          <a:lstStyle/>
          <a:p>
            <a:pPr indent="0" marL="0">
              <a:buNone/>
            </a:pPr>
            <a:r>
              <a:rPr lang="en-US" sz="2600" b="1" dirty="0">
                <a:solidFill>
                  <a:srgbClr val="0B2239"/>
                </a:solidFill>
                <a:latin typeface="Arial" pitchFamily="34" charset="0"/>
                <a:ea typeface="Arial" pitchFamily="34" charset="-122"/>
                <a:cs typeface="Arial" pitchFamily="34" charset="-120"/>
              </a:rPr>
              <a:t>113</a:t>
            </a:r>
            <a:endParaRPr lang="en-US" sz="2600" dirty="0"/>
          </a:p>
        </p:txBody>
      </p:sp>
      <p:sp>
        <p:nvSpPr>
          <p:cNvPr id="18" name="Text 14"/>
          <p:cNvSpPr txBox="1"/>
          <p:nvPr/>
        </p:nvSpPr>
        <p:spPr>
          <a:xfrm>
            <a:off x="7178040" y="4526280"/>
            <a:ext cx="1417320" cy="45720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RUL thật (cycles)</a:t>
            </a:r>
            <a:endParaRPr lang="en-US" sz="1150" dirty="0"/>
          </a:p>
        </p:txBody>
      </p:sp>
      <p:sp>
        <p:nvSpPr>
          <p:cNvPr id="19" name="Text 15"/>
          <p:cNvSpPr txBox="1"/>
          <p:nvPr/>
        </p:nvSpPr>
        <p:spPr>
          <a:xfrm>
            <a:off x="8641080" y="3931920"/>
            <a:ext cx="1417320" cy="548640"/>
          </a:xfrm>
          <a:prstGeom prst="rect">
            <a:avLst/>
          </a:prstGeom>
          <a:noFill/>
          <a:ln/>
        </p:spPr>
        <p:txBody>
          <a:bodyPr wrap="square" lIns="0" tIns="0" rIns="0" bIns="0" rtlCol="0" anchor="t"/>
          <a:lstStyle/>
          <a:p>
            <a:pPr indent="0" marL="0">
              <a:buNone/>
            </a:pPr>
            <a:r>
              <a:rPr lang="en-US" sz="2600" b="1" dirty="0">
                <a:solidFill>
                  <a:srgbClr val="0B2239"/>
                </a:solidFill>
                <a:latin typeface="Arial" pitchFamily="34" charset="0"/>
                <a:ea typeface="Arial" pitchFamily="34" charset="-122"/>
                <a:cs typeface="Arial" pitchFamily="34" charset="-120"/>
              </a:rPr>
              <a:t>170,48</a:t>
            </a:r>
            <a:endParaRPr lang="en-US" sz="2600" dirty="0"/>
          </a:p>
        </p:txBody>
      </p:sp>
      <p:sp>
        <p:nvSpPr>
          <p:cNvPr id="20" name="Text 16"/>
          <p:cNvSpPr txBox="1"/>
          <p:nvPr/>
        </p:nvSpPr>
        <p:spPr>
          <a:xfrm>
            <a:off x="8641080" y="4526280"/>
            <a:ext cx="1417320" cy="45720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Dự đoán (cycles)</a:t>
            </a:r>
            <a:endParaRPr lang="en-US" sz="1150" dirty="0"/>
          </a:p>
        </p:txBody>
      </p:sp>
      <p:sp>
        <p:nvSpPr>
          <p:cNvPr id="21" name="Text 17"/>
          <p:cNvSpPr txBox="1"/>
          <p:nvPr/>
        </p:nvSpPr>
        <p:spPr>
          <a:xfrm>
            <a:off x="10104120" y="3931920"/>
            <a:ext cx="1417320" cy="548640"/>
          </a:xfrm>
          <a:prstGeom prst="rect">
            <a:avLst/>
          </a:prstGeom>
          <a:noFill/>
          <a:ln/>
        </p:spPr>
        <p:txBody>
          <a:bodyPr wrap="square" lIns="0" tIns="0" rIns="0" bIns="0" rtlCol="0" anchor="t"/>
          <a:lstStyle/>
          <a:p>
            <a:pPr indent="0" marL="0">
              <a:buNone/>
            </a:pPr>
            <a:r>
              <a:rPr lang="en-US" sz="2600" b="1" dirty="0">
                <a:solidFill>
                  <a:srgbClr val="C8701E"/>
                </a:solidFill>
                <a:latin typeface="Arial" pitchFamily="34" charset="0"/>
                <a:ea typeface="Arial" pitchFamily="34" charset="-122"/>
                <a:cs typeface="Arial" pitchFamily="34" charset="-120"/>
              </a:rPr>
              <a:t>57,48</a:t>
            </a:r>
            <a:endParaRPr lang="en-US" sz="2600" dirty="0"/>
          </a:p>
        </p:txBody>
      </p:sp>
      <p:sp>
        <p:nvSpPr>
          <p:cNvPr id="22" name="Text 18"/>
          <p:cNvSpPr txBox="1"/>
          <p:nvPr/>
        </p:nvSpPr>
        <p:spPr>
          <a:xfrm>
            <a:off x="10104120" y="4526280"/>
            <a:ext cx="1417320" cy="45720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Sai số (cycles)</a:t>
            </a:r>
            <a:endParaRPr lang="en-US" sz="1150" dirty="0"/>
          </a:p>
        </p:txBody>
      </p:sp>
      <p:sp>
        <p:nvSpPr>
          <p:cNvPr id="23" name="Text 19"/>
          <p:cNvSpPr txBox="1"/>
          <p:nvPr/>
        </p:nvSpPr>
        <p:spPr>
          <a:xfrm>
            <a:off x="6949440" y="5349240"/>
            <a:ext cx="4690872" cy="82296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10 trường hợp sai lớn nhất chiếm 75,5% NASA score. Trên OOF, dự đoán dừng quanh 145–147 cycles khi RUL thật &gt; 150.</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Cảnh báo sớm: báo động khi RUL dự đoán ≤ 30 cycles</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Trên dự đoán OOF của 100 train engines, mọi engine được cảnh báo trước failure; 49 engine cảnh báo sau ngưỡng thật</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outputs/modeling/tables/warning_summary.json; outputs/modeling/figures/warning_trajectory.png; outputs/diagnostics/error_diagnostics.json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16 / 20</a:t>
            </a:r>
            <a:endParaRPr lang="en-US" sz="1000" dirty="0"/>
          </a:p>
        </p:txBody>
      </p:sp>
      <p:pic>
        <p:nvPicPr>
          <p:cNvPr id="9" name="Image 0" descr="Quỹ đạo RUL thật, RUL dự đoán OOF và ngưỡng cảnh báo của engine 1">    </p:cNvPr>
          <p:cNvPicPr>
            <a:picLocks noChangeAspect="1"/>
          </p:cNvPicPr>
          <p:nvPr/>
        </p:nvPicPr>
        <p:blipFill>
          <a:blip r:embed="rId1"/>
          <a:stretch>
            <a:fillRect/>
          </a:stretch>
        </p:blipFill>
        <p:spPr>
          <a:xfrm>
            <a:off x="548640" y="1874520"/>
            <a:ext cx="6309360" cy="3549015"/>
          </a:xfrm>
          <a:prstGeom prst="rect">
            <a:avLst/>
          </a:prstGeom>
        </p:spPr>
      </p:pic>
      <p:graphicFrame>
        <p:nvGraphicFramePr>
          <p:cNvPr id="10" name="Chart 0" descr=""/>
          <p:cNvGraphicFramePr/>
          <p:nvPr/>
        </p:nvGraphicFramePr>
        <p:xfrm>
          <a:off x="7132320" y="1828800"/>
          <a:ext cx="4507992" cy="233172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7132320" y="4251960"/>
            <a:ext cx="1481328" cy="457200"/>
          </a:xfrm>
          <a:prstGeom prst="rect">
            <a:avLst/>
          </a:prstGeom>
          <a:noFill/>
          <a:ln/>
        </p:spPr>
        <p:txBody>
          <a:bodyPr wrap="square" lIns="0" tIns="0" rIns="0" bIns="0" rtlCol="0" anchor="t"/>
          <a:lstStyle/>
          <a:p>
            <a:pPr indent="0" marL="0">
              <a:buNone/>
            </a:pPr>
            <a:r>
              <a:rPr lang="en-US" sz="2200" b="1" dirty="0">
                <a:solidFill>
                  <a:srgbClr val="0B2239"/>
                </a:solidFill>
                <a:latin typeface="Arial" pitchFamily="34" charset="0"/>
                <a:ea typeface="Arial" pitchFamily="34" charset="-122"/>
                <a:cs typeface="Arial" pitchFamily="34" charset="-120"/>
              </a:rPr>
              <a:t>30 cycles</a:t>
            </a:r>
            <a:endParaRPr lang="en-US" sz="2200" dirty="0"/>
          </a:p>
        </p:txBody>
      </p:sp>
      <p:sp>
        <p:nvSpPr>
          <p:cNvPr id="12" name="Text 7"/>
          <p:cNvSpPr txBox="1"/>
          <p:nvPr/>
        </p:nvSpPr>
        <p:spPr>
          <a:xfrm>
            <a:off x="7132320" y="4709160"/>
            <a:ext cx="1481328" cy="274320"/>
          </a:xfrm>
          <a:prstGeom prst="rect">
            <a:avLst/>
          </a:prstGeom>
          <a:noFill/>
          <a:ln/>
        </p:spPr>
        <p:txBody>
          <a:bodyPr wrap="square" lIns="0" tIns="0" rIns="0" bIns="0" rtlCol="0" anchor="t"/>
          <a:lstStyle/>
          <a:p>
            <a:pPr indent="0" marL="0">
              <a:buNone/>
            </a:pPr>
            <a:r>
              <a:rPr lang="en-US" sz="1100" dirty="0">
                <a:solidFill>
                  <a:srgbClr val="5A6B7B"/>
                </a:solidFill>
                <a:latin typeface="Arial" pitchFamily="34" charset="0"/>
                <a:ea typeface="Arial" pitchFamily="34" charset="-122"/>
                <a:cs typeface="Arial" pitchFamily="34" charset="-120"/>
              </a:rPr>
              <a:t>Trung vị lead time</a:t>
            </a:r>
            <a:endParaRPr lang="en-US" sz="1100" dirty="0"/>
          </a:p>
        </p:txBody>
      </p:sp>
      <p:sp>
        <p:nvSpPr>
          <p:cNvPr id="13" name="Text 8"/>
          <p:cNvSpPr txBox="1"/>
          <p:nvPr/>
        </p:nvSpPr>
        <p:spPr>
          <a:xfrm>
            <a:off x="8650224" y="4251960"/>
            <a:ext cx="1481328" cy="457200"/>
          </a:xfrm>
          <a:prstGeom prst="rect">
            <a:avLst/>
          </a:prstGeom>
          <a:noFill/>
          <a:ln/>
        </p:spPr>
        <p:txBody>
          <a:bodyPr wrap="square" lIns="0" tIns="0" rIns="0" bIns="0" rtlCol="0" anchor="t"/>
          <a:lstStyle/>
          <a:p>
            <a:pPr indent="0" marL="0">
              <a:buNone/>
            </a:pPr>
            <a:r>
              <a:rPr lang="en-US" sz="2000" b="1" dirty="0">
                <a:solidFill>
                  <a:srgbClr val="0B2239"/>
                </a:solidFill>
                <a:latin typeface="Arial" pitchFamily="34" charset="0"/>
                <a:ea typeface="Arial" pitchFamily="34" charset="-122"/>
                <a:cs typeface="Arial" pitchFamily="34" charset="-120"/>
              </a:rPr>
              <a:t>26–35</a:t>
            </a:r>
            <a:endParaRPr lang="en-US" sz="2000" dirty="0"/>
          </a:p>
        </p:txBody>
      </p:sp>
      <p:sp>
        <p:nvSpPr>
          <p:cNvPr id="14" name="Text 9"/>
          <p:cNvSpPr txBox="1"/>
          <p:nvPr/>
        </p:nvSpPr>
        <p:spPr>
          <a:xfrm>
            <a:off x="8650224" y="4709160"/>
            <a:ext cx="1481328" cy="274320"/>
          </a:xfrm>
          <a:prstGeom prst="rect">
            <a:avLst/>
          </a:prstGeom>
          <a:noFill/>
          <a:ln/>
        </p:spPr>
        <p:txBody>
          <a:bodyPr wrap="square" lIns="0" tIns="0" rIns="0" bIns="0" rtlCol="0" anchor="t"/>
          <a:lstStyle/>
          <a:p>
            <a:pPr indent="0" marL="0">
              <a:buNone/>
            </a:pPr>
            <a:r>
              <a:rPr lang="en-US" sz="1100" dirty="0">
                <a:solidFill>
                  <a:srgbClr val="5A6B7B"/>
                </a:solidFill>
                <a:latin typeface="Arial" pitchFamily="34" charset="0"/>
                <a:ea typeface="Arial" pitchFamily="34" charset="-122"/>
                <a:cs typeface="Arial" pitchFamily="34" charset="-120"/>
              </a:rPr>
              <a:t>Tứ phân vị</a:t>
            </a:r>
            <a:endParaRPr lang="en-US" sz="1100" dirty="0"/>
          </a:p>
        </p:txBody>
      </p:sp>
      <p:sp>
        <p:nvSpPr>
          <p:cNvPr id="15" name="Text 10"/>
          <p:cNvSpPr txBox="1"/>
          <p:nvPr/>
        </p:nvSpPr>
        <p:spPr>
          <a:xfrm>
            <a:off x="10168128" y="4251960"/>
            <a:ext cx="1481328" cy="457200"/>
          </a:xfrm>
          <a:prstGeom prst="rect">
            <a:avLst/>
          </a:prstGeom>
          <a:noFill/>
          <a:ln/>
        </p:spPr>
        <p:txBody>
          <a:bodyPr wrap="square" lIns="0" tIns="0" rIns="0" bIns="0" rtlCol="0" anchor="t"/>
          <a:lstStyle/>
          <a:p>
            <a:pPr indent="0" marL="0">
              <a:buNone/>
            </a:pPr>
            <a:r>
              <a:rPr lang="en-US" sz="2000" b="1" dirty="0">
                <a:solidFill>
                  <a:srgbClr val="0B2239"/>
                </a:solidFill>
                <a:latin typeface="Arial" pitchFamily="34" charset="0"/>
                <a:ea typeface="Arial" pitchFamily="34" charset="-122"/>
                <a:cs typeface="Arial" pitchFamily="34" charset="-120"/>
              </a:rPr>
              <a:t>19–55</a:t>
            </a:r>
            <a:endParaRPr lang="en-US" sz="2000" dirty="0"/>
          </a:p>
        </p:txBody>
      </p:sp>
      <p:sp>
        <p:nvSpPr>
          <p:cNvPr id="16" name="Text 11"/>
          <p:cNvSpPr txBox="1"/>
          <p:nvPr/>
        </p:nvSpPr>
        <p:spPr>
          <a:xfrm>
            <a:off x="10168128" y="4709160"/>
            <a:ext cx="1481328" cy="274320"/>
          </a:xfrm>
          <a:prstGeom prst="rect">
            <a:avLst/>
          </a:prstGeom>
          <a:noFill/>
          <a:ln/>
        </p:spPr>
        <p:txBody>
          <a:bodyPr wrap="square" lIns="0" tIns="0" rIns="0" bIns="0" rtlCol="0" anchor="t"/>
          <a:lstStyle/>
          <a:p>
            <a:pPr indent="0" marL="0">
              <a:buNone/>
            </a:pPr>
            <a:r>
              <a:rPr lang="en-US" sz="1100" dirty="0">
                <a:solidFill>
                  <a:srgbClr val="5A6B7B"/>
                </a:solidFill>
                <a:latin typeface="Arial" pitchFamily="34" charset="0"/>
                <a:ea typeface="Arial" pitchFamily="34" charset="-122"/>
                <a:cs typeface="Arial" pitchFamily="34" charset="-120"/>
              </a:rPr>
              <a:t>Miền</a:t>
            </a:r>
            <a:endParaRPr lang="en-US" sz="1100" dirty="0"/>
          </a:p>
        </p:txBody>
      </p:sp>
      <p:sp>
        <p:nvSpPr>
          <p:cNvPr id="17" name="Shape 12"/>
          <p:cNvSpPr/>
          <p:nvPr/>
        </p:nvSpPr>
        <p:spPr>
          <a:xfrm>
            <a:off x="7132320" y="5120640"/>
            <a:ext cx="4507992" cy="1051560"/>
          </a:xfrm>
          <a:prstGeom prst="roundRect">
            <a:avLst>
              <a:gd name="adj" fmla="val 6957"/>
            </a:avLst>
          </a:prstGeom>
          <a:solidFill>
            <a:srgbClr val="FBEBD9"/>
          </a:solidFill>
          <a:ln/>
        </p:spPr>
      </p:sp>
      <p:sp>
        <p:nvSpPr>
          <p:cNvPr id="18" name="Text 13"/>
          <p:cNvSpPr txBox="1"/>
          <p:nvPr/>
        </p:nvSpPr>
        <p:spPr>
          <a:xfrm>
            <a:off x="7296912" y="5175504"/>
            <a:ext cx="4206240" cy="950976"/>
          </a:xfrm>
          <a:prstGeom prst="rect">
            <a:avLst/>
          </a:prstGeom>
          <a:noFill/>
          <a:ln/>
        </p:spPr>
        <p:txBody>
          <a:bodyPr wrap="square" lIns="0" tIns="0" rIns="0" bIns="0" rtlCol="0" anchor="ctr"/>
          <a:lstStyle/>
          <a:p>
            <a:pPr indent="0" marL="0">
              <a:spcAft>
                <a:spcPts val="400"/>
              </a:spcAft>
              <a:buNone/>
            </a:pPr>
            <a:r>
              <a:rPr lang="en-US" sz="1200" b="1" dirty="0">
                <a:solidFill>
                  <a:srgbClr val="1B2733"/>
                </a:solidFill>
                <a:latin typeface="Arial" pitchFamily="34" charset="0"/>
                <a:ea typeface="Arial" pitchFamily="34" charset="-122"/>
                <a:cs typeface="Arial" pitchFamily="34" charset="-120"/>
              </a:rPr>
              <a:t>Cảnh báo trễ tập trung ở engine ngắn đời: tuổi thọ TB 182,8 so với 229,1 cycles (r = -0,56).</a:t>
            </a:r>
            <a:endParaRPr lang="en-US" sz="1200" dirty="0"/>
          </a:p>
          <a:p>
            <a:pPr indent="0" marL="0">
              <a:spcAft>
                <a:spcPts val="400"/>
              </a:spcAft>
              <a:buNone/>
            </a:pPr>
            <a:r>
              <a:rPr lang="en-US" sz="1200" dirty="0">
                <a:solidFill>
                  <a:srgbClr val="1B2733"/>
                </a:solidFill>
                <a:latin typeface="Arial" pitchFamily="34" charset="0"/>
                <a:ea typeface="Arial" pitchFamily="34" charset="-122"/>
                <a:cs typeface="Arial" pitchFamily="34" charset="-120"/>
              </a:rPr>
              <a:t>OOF đã dùng để chọn model; chưa có chi phí bảo trì.</a:t>
            </a:r>
            <a:endParaRPr lang="en-US" sz="1200" dirty="0"/>
          </a:p>
        </p:txBody>
      </p:sp>
      <p:sp>
        <p:nvSpPr>
          <p:cNvPr id="19" name="Text 14"/>
          <p:cNvSpPr txBox="1"/>
          <p:nvPr/>
        </p:nvSpPr>
        <p:spPr>
          <a:xfrm>
            <a:off x="548640" y="5514975"/>
            <a:ext cx="630936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Engine 1: cảnh báo tại cycle 162, failure tại cycle 192.</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5 · MỞ RỘNG VÀ KẾT LUẬN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Thử cải thiện bằng nested CV: chưa đạt tiêu chí, giữ baseline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Window 10/20/30, 24 cấu hình HGB, 3 cách đặt trọng số; test không dùng để chọn cấu hình</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outputs/experiments/rul_improvement/20260927_full/ (ablation_metrics.csv, paired_comparison.csv, final_selection_metrics.csv, decision.json)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17 / 20</a:t>
            </a:r>
            <a:endParaRPr lang="en-US" sz="1000" dirty="0"/>
          </a:p>
        </p:txBody>
      </p:sp>
      <p:sp>
        <p:nvSpPr>
          <p:cNvPr id="9" name="Text 6"/>
          <p:cNvSpPr txBox="1"/>
          <p:nvPr/>
        </p:nvSpPr>
        <p:spPr>
          <a:xfrm>
            <a:off x="548640" y="1920240"/>
            <a:ext cx="3108960"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Nested GroupKFold</a:t>
            </a:r>
            <a:endParaRPr lang="en-US" sz="1500" dirty="0"/>
          </a:p>
        </p:txBody>
      </p:sp>
      <p:sp>
        <p:nvSpPr>
          <p:cNvPr id="10" name="Shape 7"/>
          <p:cNvSpPr/>
          <p:nvPr/>
        </p:nvSpPr>
        <p:spPr>
          <a:xfrm>
            <a:off x="548640" y="2377440"/>
            <a:ext cx="3108960" cy="960120"/>
          </a:xfrm>
          <a:prstGeom prst="roundRect">
            <a:avLst>
              <a:gd name="adj" fmla="val 7619"/>
            </a:avLst>
          </a:prstGeom>
          <a:solidFill>
            <a:srgbClr val="0B2239"/>
          </a:solidFill>
          <a:ln/>
        </p:spPr>
      </p:sp>
      <p:sp>
        <p:nvSpPr>
          <p:cNvPr id="11" name="Text 8"/>
          <p:cNvSpPr txBox="1"/>
          <p:nvPr/>
        </p:nvSpPr>
        <p:spPr>
          <a:xfrm>
            <a:off x="731520" y="2487168"/>
            <a:ext cx="2743200"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5 vòng ngoài</a:t>
            </a:r>
            <a:endParaRPr lang="en-US" sz="1500" dirty="0"/>
          </a:p>
        </p:txBody>
      </p:sp>
      <p:sp>
        <p:nvSpPr>
          <p:cNvPr id="12" name="Text 9"/>
          <p:cNvSpPr txBox="1"/>
          <p:nvPr/>
        </p:nvSpPr>
        <p:spPr>
          <a:xfrm>
            <a:off x="731520" y="2816352"/>
            <a:ext cx="2834640" cy="475488"/>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giữ riêng 20 engine để đánh giá</a:t>
            </a:r>
            <a:endParaRPr lang="en-US" sz="1200" dirty="0"/>
          </a:p>
        </p:txBody>
      </p:sp>
      <p:sp>
        <p:nvSpPr>
          <p:cNvPr id="13" name="Shape 10"/>
          <p:cNvSpPr/>
          <p:nvPr/>
        </p:nvSpPr>
        <p:spPr>
          <a:xfrm>
            <a:off x="2103120" y="3355848"/>
            <a:ext cx="0" cy="237744"/>
          </a:xfrm>
          <a:prstGeom prst="line">
            <a:avLst/>
          </a:prstGeom>
          <a:noFill/>
          <a:ln w="19050">
            <a:solidFill>
              <a:srgbClr val="5A6B7B"/>
            </a:solidFill>
            <a:prstDash val="solid"/>
            <a:tailEnd type="triangle"/>
          </a:ln>
        </p:spPr>
      </p:sp>
      <p:sp>
        <p:nvSpPr>
          <p:cNvPr id="14" name="Shape 11"/>
          <p:cNvSpPr/>
          <p:nvPr/>
        </p:nvSpPr>
        <p:spPr>
          <a:xfrm>
            <a:off x="548640" y="3611880"/>
            <a:ext cx="3108960" cy="960120"/>
          </a:xfrm>
          <a:prstGeom prst="roundRect">
            <a:avLst>
              <a:gd name="adj" fmla="val 7619"/>
            </a:avLst>
          </a:prstGeom>
          <a:solidFill>
            <a:srgbClr val="157A7F"/>
          </a:solidFill>
          <a:ln/>
        </p:spPr>
      </p:sp>
      <p:sp>
        <p:nvSpPr>
          <p:cNvPr id="15" name="Text 12"/>
          <p:cNvSpPr txBox="1"/>
          <p:nvPr/>
        </p:nvSpPr>
        <p:spPr>
          <a:xfrm>
            <a:off x="731520" y="3721608"/>
            <a:ext cx="2743200"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3 vòng trong</a:t>
            </a:r>
            <a:endParaRPr lang="en-US" sz="1500" dirty="0"/>
          </a:p>
        </p:txBody>
      </p:sp>
      <p:sp>
        <p:nvSpPr>
          <p:cNvPr id="16" name="Text 13"/>
          <p:cNvSpPr txBox="1"/>
          <p:nvPr/>
        </p:nvSpPr>
        <p:spPr>
          <a:xfrm>
            <a:off x="731520" y="4050792"/>
            <a:ext cx="2834640" cy="475488"/>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chọn window, tham số, trọng số</a:t>
            </a:r>
            <a:endParaRPr lang="en-US" sz="1200" dirty="0"/>
          </a:p>
        </p:txBody>
      </p:sp>
      <p:sp>
        <p:nvSpPr>
          <p:cNvPr id="17" name="Shape 14"/>
          <p:cNvSpPr/>
          <p:nvPr/>
        </p:nvSpPr>
        <p:spPr>
          <a:xfrm>
            <a:off x="2103120" y="4590288"/>
            <a:ext cx="0" cy="237744"/>
          </a:xfrm>
          <a:prstGeom prst="line">
            <a:avLst/>
          </a:prstGeom>
          <a:noFill/>
          <a:ln w="19050">
            <a:solidFill>
              <a:srgbClr val="5A6B7B"/>
            </a:solidFill>
            <a:prstDash val="solid"/>
            <a:tailEnd type="triangle"/>
          </a:ln>
        </p:spPr>
      </p:sp>
      <p:sp>
        <p:nvSpPr>
          <p:cNvPr id="18" name="Shape 15"/>
          <p:cNvSpPr/>
          <p:nvPr/>
        </p:nvSpPr>
        <p:spPr>
          <a:xfrm>
            <a:off x="548640" y="4846320"/>
            <a:ext cx="3108960" cy="960120"/>
          </a:xfrm>
          <a:prstGeom prst="roundRect">
            <a:avLst>
              <a:gd name="adj" fmla="val 7619"/>
            </a:avLst>
          </a:prstGeom>
          <a:solidFill>
            <a:srgbClr val="C8701E"/>
          </a:solidFill>
          <a:ln/>
        </p:spPr>
      </p:sp>
      <p:sp>
        <p:nvSpPr>
          <p:cNvPr id="19" name="Text 16"/>
          <p:cNvSpPr txBox="1"/>
          <p:nvPr/>
        </p:nvSpPr>
        <p:spPr>
          <a:xfrm>
            <a:off x="731520" y="4956048"/>
            <a:ext cx="2743200"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So với baseline</a:t>
            </a:r>
            <a:endParaRPr lang="en-US" sz="1500" dirty="0"/>
          </a:p>
        </p:txBody>
      </p:sp>
      <p:sp>
        <p:nvSpPr>
          <p:cNvPr id="20" name="Text 17"/>
          <p:cNvSpPr txBox="1"/>
          <p:nvPr/>
        </p:nvSpPr>
        <p:spPr>
          <a:xfrm>
            <a:off x="731520" y="5285232"/>
            <a:ext cx="2834640" cy="475488"/>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ΔMAE RUL ≤ 30: +0,0054</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CI 95% [-0,0506; 0,0639]</a:t>
            </a:r>
            <a:endParaRPr lang="en-US" sz="1200" dirty="0"/>
          </a:p>
        </p:txBody>
      </p:sp>
      <p:sp>
        <p:nvSpPr>
          <p:cNvPr id="21" name="Text 18"/>
          <p:cNvSpPr txBox="1"/>
          <p:nvPr/>
        </p:nvSpPr>
        <p:spPr>
          <a:xfrm>
            <a:off x="4023360" y="1920240"/>
            <a:ext cx="758952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Vòng ngoài: đánh giá cả quy trình chọn</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23360" y="2286000"/>
          <a:ext cx="7616952" cy="914400"/>
        </p:xfrm>
        <a:graphic>
          <a:graphicData uri="http://schemas.openxmlformats.org/drawingml/2006/table">
            <a:tbl>
              <a:tblPr/>
              <a:tblGrid>
                <a:gridCol w="3410712"/>
                <a:gridCol w="2103120"/>
                <a:gridCol w="2103120"/>
              </a:tblGrid>
              <a:tr h="365760">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Chỉ số</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Baseline</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Quy trình chọn mới</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MAE toàn bộ (cycles)</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20,21</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20,25</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MAE khi RUL ≤ 30 (cycles)</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3,6676</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3,6730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Cảnh báo trễ hoặc bỏ lỡ</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49/100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53/100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4023360" y="3977640"/>
            <a:ext cx="758952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Inner CV trên toàn train: đánh đổi giữa các chỉ số</a:t>
            </a:r>
            <a:endParaRPr lang="en-US" sz="14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23360" y="4343400"/>
          <a:ext cx="7616952" cy="914400"/>
        </p:xfrm>
        <a:graphic>
          <a:graphicData uri="http://schemas.openxmlformats.org/drawingml/2006/table">
            <a:tbl>
              <a:tblPr/>
              <a:tblGrid>
                <a:gridCol w="2679192"/>
                <a:gridCol w="1645920"/>
                <a:gridCol w="1645920"/>
                <a:gridCol w="1645920"/>
              </a:tblGrid>
              <a:tr h="365760">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Ứng viên</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MAE toàn bộ</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MAE RUL ≤ 30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Trễ/bỏ lỡ</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Baseline</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20,36</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3,61</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50/100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hgb_08</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20,68</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3,26</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49/100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Trọng số RUL thấp cao</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20,41</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3,39</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47/100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25" name="Text 20"/>
          <p:cNvSpPr txBox="1"/>
          <p:nvPr/>
        </p:nvSpPr>
        <p:spPr>
          <a:xfrm>
            <a:off x="4023360" y="5897880"/>
            <a:ext cx="7616952" cy="320040"/>
          </a:xfrm>
          <a:prstGeom prst="rect">
            <a:avLst/>
          </a:prstGeom>
          <a:noFill/>
          <a:ln/>
        </p:spPr>
        <p:txBody>
          <a:bodyPr wrap="square" lIns="0" tIns="0" rIns="0" bIns="0" rtlCol="0" anchor="t"/>
          <a:lstStyle/>
          <a:p>
            <a:pPr indent="0" marL="0">
              <a:buNone/>
            </a:pPr>
            <a:r>
              <a:rPr lang="en-US" sz="1300" b="1" dirty="0">
                <a:solidFill>
                  <a:srgbClr val="C8701E"/>
                </a:solidFill>
                <a:latin typeface="Arial" pitchFamily="34" charset="0"/>
                <a:ea typeface="Arial" pitchFamily="34" charset="-122"/>
                <a:cs typeface="Arial" pitchFamily="34" charset="-120"/>
              </a:rPr>
              <a:t>hgb_08 giảm MAE RUL thấp khoảng 9,75% nhưng tăng MAE toàn bộ 0,32 cycles.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5 · MỞ RỘNG VÀ KẾT LUẬN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Model FD001 không chuyển trực tiếp sang FD002–FD004</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Cùng pipeline với window 10; MAE tăng 1,7–2,7 lần khi đổi điều kiện vận hành hoặc fault mode</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outputs/cross_dataset/matrix.json; outputs/diagnostics/error_diagnostics.json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18 / 20</a:t>
            </a:r>
            <a:endParaRPr lang="en-US" sz="1000" dirty="0"/>
          </a:p>
        </p:txBody>
      </p:sp>
      <p:graphicFrame>
        <p:nvGraphicFramePr>
          <p:cNvPr id="9" name="Chart 0" descr=""/>
          <p:cNvGraphicFramePr/>
          <p:nvPr/>
        </p:nvGraphicFramePr>
        <p:xfrm>
          <a:off x="548640" y="1828800"/>
          <a:ext cx="694944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863840" y="1965960"/>
            <a:ext cx="3776472" cy="731520"/>
          </a:xfrm>
          <a:prstGeom prst="roundRect">
            <a:avLst>
              <a:gd name="adj" fmla="val 10000"/>
            </a:avLst>
          </a:prstGeom>
          <a:solidFill>
            <a:srgbClr val="EEF3F6"/>
          </a:solidFill>
          <a:ln/>
        </p:spPr>
      </p:sp>
      <p:sp>
        <p:nvSpPr>
          <p:cNvPr id="11" name="Text 7"/>
          <p:cNvSpPr txBox="1"/>
          <p:nvPr/>
        </p:nvSpPr>
        <p:spPr>
          <a:xfrm>
            <a:off x="8046720" y="1965960"/>
            <a:ext cx="1005840" cy="731520"/>
          </a:xfrm>
          <a:prstGeom prst="rect">
            <a:avLst/>
          </a:prstGeom>
          <a:noFill/>
          <a:ln/>
        </p:spPr>
        <p:txBody>
          <a:bodyPr wrap="square" lIns="0" tIns="0" rIns="0" bIns="0" rtlCol="0" anchor="ctr"/>
          <a:lstStyle/>
          <a:p>
            <a:pPr indent="0" marL="0">
              <a:buNone/>
            </a:pPr>
            <a:r>
              <a:rPr lang="en-US" sz="1600" b="1" dirty="0">
                <a:solidFill>
                  <a:srgbClr val="0B2239"/>
                </a:solidFill>
                <a:latin typeface="Arial" pitchFamily="34" charset="0"/>
                <a:ea typeface="Arial" pitchFamily="34" charset="-122"/>
                <a:cs typeface="Arial" pitchFamily="34" charset="-120"/>
              </a:rPr>
              <a:t>FD002</a:t>
            </a:r>
            <a:endParaRPr lang="en-US" sz="1600" dirty="0"/>
          </a:p>
        </p:txBody>
      </p:sp>
      <p:sp>
        <p:nvSpPr>
          <p:cNvPr id="12" name="Text 8"/>
          <p:cNvSpPr txBox="1"/>
          <p:nvPr/>
        </p:nvSpPr>
        <p:spPr>
          <a:xfrm>
            <a:off x="9052560" y="2039112"/>
            <a:ext cx="2514600" cy="603504"/>
          </a:xfrm>
          <a:prstGeom prst="rect">
            <a:avLst/>
          </a:prstGeom>
          <a:noFill/>
          <a:ln/>
        </p:spPr>
        <p:txBody>
          <a:bodyPr wrap="square" lIns="0" tIns="0" rIns="0" bIns="0" rtlCol="0" anchor="ctr"/>
          <a:lstStyle/>
          <a:p>
            <a:pPr indent="0" marL="0">
              <a:buNone/>
            </a:pPr>
            <a:r>
              <a:rPr lang="en-US" sz="1150" dirty="0">
                <a:solidFill>
                  <a:srgbClr val="1B2733"/>
                </a:solidFill>
                <a:latin typeface="Arial" pitchFamily="34" charset="0"/>
                <a:ea typeface="Arial" pitchFamily="34" charset="-122"/>
                <a:cs typeface="Arial" pitchFamily="34" charset="-120"/>
              </a:rPr>
              <a:t>6 điều kiện · 15% trong miền FD001</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22,36 → 60,32 cycles (×2,7)</a:t>
            </a:r>
            <a:endParaRPr lang="en-US" sz="1150" dirty="0"/>
          </a:p>
        </p:txBody>
      </p:sp>
      <p:sp>
        <p:nvSpPr>
          <p:cNvPr id="13" name="Shape 9"/>
          <p:cNvSpPr/>
          <p:nvPr/>
        </p:nvSpPr>
        <p:spPr>
          <a:xfrm>
            <a:off x="7863840" y="2834640"/>
            <a:ext cx="3776472" cy="731520"/>
          </a:xfrm>
          <a:prstGeom prst="roundRect">
            <a:avLst>
              <a:gd name="adj" fmla="val 10000"/>
            </a:avLst>
          </a:prstGeom>
          <a:solidFill>
            <a:srgbClr val="EEF3F6"/>
          </a:solidFill>
          <a:ln/>
        </p:spPr>
      </p:sp>
      <p:sp>
        <p:nvSpPr>
          <p:cNvPr id="14" name="Text 10"/>
          <p:cNvSpPr txBox="1"/>
          <p:nvPr/>
        </p:nvSpPr>
        <p:spPr>
          <a:xfrm>
            <a:off x="8046720" y="2834640"/>
            <a:ext cx="1005840" cy="731520"/>
          </a:xfrm>
          <a:prstGeom prst="rect">
            <a:avLst/>
          </a:prstGeom>
          <a:noFill/>
          <a:ln/>
        </p:spPr>
        <p:txBody>
          <a:bodyPr wrap="square" lIns="0" tIns="0" rIns="0" bIns="0" rtlCol="0" anchor="ctr"/>
          <a:lstStyle/>
          <a:p>
            <a:pPr indent="0" marL="0">
              <a:buNone/>
            </a:pPr>
            <a:r>
              <a:rPr lang="en-US" sz="1600" b="1" dirty="0">
                <a:solidFill>
                  <a:srgbClr val="0B2239"/>
                </a:solidFill>
                <a:latin typeface="Arial" pitchFamily="34" charset="0"/>
                <a:ea typeface="Arial" pitchFamily="34" charset="-122"/>
                <a:cs typeface="Arial" pitchFamily="34" charset="-120"/>
              </a:rPr>
              <a:t>FD003</a:t>
            </a:r>
            <a:endParaRPr lang="en-US" sz="1600" dirty="0"/>
          </a:p>
        </p:txBody>
      </p:sp>
      <p:sp>
        <p:nvSpPr>
          <p:cNvPr id="15" name="Text 11"/>
          <p:cNvSpPr txBox="1"/>
          <p:nvPr/>
        </p:nvSpPr>
        <p:spPr>
          <a:xfrm>
            <a:off x="9052560" y="2907792"/>
            <a:ext cx="2514600" cy="603504"/>
          </a:xfrm>
          <a:prstGeom prst="rect">
            <a:avLst/>
          </a:prstGeom>
          <a:noFill/>
          <a:ln/>
        </p:spPr>
        <p:txBody>
          <a:bodyPr wrap="square" lIns="0" tIns="0" rIns="0" bIns="0" rtlCol="0" anchor="ctr"/>
          <a:lstStyle/>
          <a:p>
            <a:pPr indent="0" marL="0">
              <a:buNone/>
            </a:pPr>
            <a:r>
              <a:rPr lang="en-US" sz="1150" dirty="0">
                <a:solidFill>
                  <a:srgbClr val="1B2733"/>
                </a:solidFill>
                <a:latin typeface="Arial" pitchFamily="34" charset="0"/>
                <a:ea typeface="Arial" pitchFamily="34" charset="-122"/>
                <a:cs typeface="Arial" pitchFamily="34" charset="-120"/>
              </a:rPr>
              <a:t>fault Fan · 95% trong miền FD001</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28,33 → 47,39 cycles (×1,7)</a:t>
            </a:r>
            <a:endParaRPr lang="en-US" sz="1150" dirty="0"/>
          </a:p>
        </p:txBody>
      </p:sp>
      <p:sp>
        <p:nvSpPr>
          <p:cNvPr id="16" name="Shape 12"/>
          <p:cNvSpPr/>
          <p:nvPr/>
        </p:nvSpPr>
        <p:spPr>
          <a:xfrm>
            <a:off x="7863840" y="3703320"/>
            <a:ext cx="3776472" cy="731520"/>
          </a:xfrm>
          <a:prstGeom prst="roundRect">
            <a:avLst>
              <a:gd name="adj" fmla="val 10000"/>
            </a:avLst>
          </a:prstGeom>
          <a:solidFill>
            <a:srgbClr val="EEF3F6"/>
          </a:solidFill>
          <a:ln/>
        </p:spPr>
      </p:sp>
      <p:sp>
        <p:nvSpPr>
          <p:cNvPr id="17" name="Text 13"/>
          <p:cNvSpPr txBox="1"/>
          <p:nvPr/>
        </p:nvSpPr>
        <p:spPr>
          <a:xfrm>
            <a:off x="8046720" y="3703320"/>
            <a:ext cx="1005840" cy="731520"/>
          </a:xfrm>
          <a:prstGeom prst="rect">
            <a:avLst/>
          </a:prstGeom>
          <a:noFill/>
          <a:ln/>
        </p:spPr>
        <p:txBody>
          <a:bodyPr wrap="square" lIns="0" tIns="0" rIns="0" bIns="0" rtlCol="0" anchor="ctr"/>
          <a:lstStyle/>
          <a:p>
            <a:pPr indent="0" marL="0">
              <a:buNone/>
            </a:pPr>
            <a:r>
              <a:rPr lang="en-US" sz="1600" b="1" dirty="0">
                <a:solidFill>
                  <a:srgbClr val="0B2239"/>
                </a:solidFill>
                <a:latin typeface="Arial" pitchFamily="34" charset="0"/>
                <a:ea typeface="Arial" pitchFamily="34" charset="-122"/>
                <a:cs typeface="Arial" pitchFamily="34" charset="-120"/>
              </a:rPr>
              <a:t>FD004</a:t>
            </a:r>
            <a:endParaRPr lang="en-US" sz="1600" dirty="0"/>
          </a:p>
        </p:txBody>
      </p:sp>
      <p:sp>
        <p:nvSpPr>
          <p:cNvPr id="18" name="Text 14"/>
          <p:cNvSpPr txBox="1"/>
          <p:nvPr/>
        </p:nvSpPr>
        <p:spPr>
          <a:xfrm>
            <a:off x="9052560" y="3776472"/>
            <a:ext cx="2514600" cy="603504"/>
          </a:xfrm>
          <a:prstGeom prst="rect">
            <a:avLst/>
          </a:prstGeom>
          <a:noFill/>
          <a:ln/>
        </p:spPr>
        <p:txBody>
          <a:bodyPr wrap="square" lIns="0" tIns="0" rIns="0" bIns="0" rtlCol="0" anchor="ctr"/>
          <a:lstStyle/>
          <a:p>
            <a:pPr indent="0" marL="0">
              <a:buNone/>
            </a:pPr>
            <a:r>
              <a:rPr lang="en-US" sz="1150" dirty="0">
                <a:solidFill>
                  <a:srgbClr val="1B2733"/>
                </a:solidFill>
                <a:latin typeface="Arial" pitchFamily="34" charset="0"/>
                <a:ea typeface="Arial" pitchFamily="34" charset="-122"/>
                <a:cs typeface="Arial" pitchFamily="34" charset="-120"/>
              </a:rPr>
              <a:t>cả hai · 14% trong miền FD001</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27,22 → 58,57 cycles (×2,2)</a:t>
            </a:r>
            <a:endParaRPr lang="en-US" sz="1150" dirty="0"/>
          </a:p>
        </p:txBody>
      </p:sp>
      <p:sp>
        <p:nvSpPr>
          <p:cNvPr id="19" name="Shape 15"/>
          <p:cNvSpPr/>
          <p:nvPr/>
        </p:nvSpPr>
        <p:spPr>
          <a:xfrm>
            <a:off x="7863840" y="4663440"/>
            <a:ext cx="3776472" cy="1508760"/>
          </a:xfrm>
          <a:prstGeom prst="roundRect">
            <a:avLst>
              <a:gd name="adj" fmla="val 4848"/>
            </a:avLst>
          </a:prstGeom>
          <a:solidFill>
            <a:srgbClr val="0B2239"/>
          </a:solidFill>
          <a:ln/>
        </p:spPr>
      </p:sp>
      <p:sp>
        <p:nvSpPr>
          <p:cNvPr id="20" name="Text 16"/>
          <p:cNvSpPr txBox="1"/>
          <p:nvPr/>
        </p:nvSpPr>
        <p:spPr>
          <a:xfrm>
            <a:off x="8046720" y="4773168"/>
            <a:ext cx="3474720" cy="12801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Cần huấn luyện lại hoặc domain adaptation trước khi dùng model FD001 cho subset khác.</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5 · MỞ RỘNG VÀ KẾT LUẬN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Trả lời ba câu hỏi nghiên cứu</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Kết luận chỉ áp dụng cho protocol và dữ liệu mô phỏng đã nêu</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report/sections/conclusion.tex; các artifact đã dẫn ở slide 9–18</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19 / 20</a:t>
            </a:r>
            <a:endParaRPr lang="en-US" sz="1000" dirty="0"/>
          </a:p>
        </p:txBody>
      </p:sp>
      <p:sp>
        <p:nvSpPr>
          <p:cNvPr id="9" name="Shape 6"/>
          <p:cNvSpPr/>
          <p:nvPr/>
        </p:nvSpPr>
        <p:spPr>
          <a:xfrm>
            <a:off x="548640" y="1920240"/>
            <a:ext cx="3566160" cy="2788920"/>
          </a:xfrm>
          <a:prstGeom prst="roundRect">
            <a:avLst>
              <a:gd name="adj" fmla="val 2623"/>
            </a:avLst>
          </a:prstGeom>
          <a:solidFill>
            <a:srgbClr val="EEF3F6"/>
          </a:solidFill>
          <a:ln/>
        </p:spPr>
      </p:sp>
      <p:sp>
        <p:nvSpPr>
          <p:cNvPr id="10" name="Shape 7"/>
          <p:cNvSpPr/>
          <p:nvPr/>
        </p:nvSpPr>
        <p:spPr>
          <a:xfrm>
            <a:off x="777240" y="2103120"/>
            <a:ext cx="502920" cy="502920"/>
          </a:xfrm>
          <a:prstGeom prst="ellipse">
            <a:avLst/>
          </a:prstGeom>
          <a:solidFill>
            <a:srgbClr val="C8701E"/>
          </a:solidFill>
          <a:ln/>
        </p:spPr>
      </p:sp>
      <p:sp>
        <p:nvSpPr>
          <p:cNvPr id="11" name="Text 8"/>
          <p:cNvSpPr txBox="1"/>
          <p:nvPr/>
        </p:nvSpPr>
        <p:spPr>
          <a:xfrm>
            <a:off x="77724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Q1</a:t>
            </a:r>
            <a:endParaRPr lang="en-US" sz="1300" dirty="0"/>
          </a:p>
        </p:txBody>
      </p:sp>
      <p:sp>
        <p:nvSpPr>
          <p:cNvPr id="12" name="Text 9"/>
          <p:cNvSpPr txBox="1"/>
          <p:nvPr/>
        </p:nvSpPr>
        <p:spPr>
          <a:xfrm>
            <a:off x="1417320" y="2103120"/>
            <a:ext cx="2560320" cy="502920"/>
          </a:xfrm>
          <a:prstGeom prst="rect">
            <a:avLst/>
          </a:prstGeom>
          <a:noFill/>
          <a:ln/>
        </p:spPr>
        <p:txBody>
          <a:bodyPr wrap="square" lIns="0" tIns="0" rIns="0" bIns="0" rtlCol="0" anchor="ctr"/>
          <a:lstStyle/>
          <a:p>
            <a:pPr indent="0" marL="0">
              <a:buNone/>
            </a:pPr>
            <a:r>
              <a:rPr lang="en-US" sz="1500" b="1" dirty="0">
                <a:solidFill>
                  <a:srgbClr val="0B2239"/>
                </a:solidFill>
                <a:latin typeface="Arial" pitchFamily="34" charset="0"/>
                <a:ea typeface="Arial" pitchFamily="34" charset="-122"/>
                <a:cs typeface="Arial" pitchFamily="34" charset="-120"/>
              </a:rPr>
              <a:t>Xu hướng suy giảm</a:t>
            </a:r>
            <a:endParaRPr lang="en-US" sz="1500" dirty="0"/>
          </a:p>
        </p:txBody>
      </p:sp>
      <p:sp>
        <p:nvSpPr>
          <p:cNvPr id="13" name="Text 10"/>
          <p:cNvSpPr txBox="1"/>
          <p:nvPr/>
        </p:nvSpPr>
        <p:spPr>
          <a:xfrm>
            <a:off x="777240" y="2788920"/>
            <a:ext cx="3108960" cy="731520"/>
          </a:xfrm>
          <a:prstGeom prst="rect">
            <a:avLst/>
          </a:prstGeom>
          <a:noFill/>
          <a:ln/>
        </p:spPr>
        <p:txBody>
          <a:bodyPr wrap="square" lIns="0" tIns="0" rIns="0" bIns="0" rtlCol="0" anchor="t"/>
          <a:lstStyle/>
          <a:p>
            <a:pPr indent="0" marL="0">
              <a:buNone/>
            </a:pPr>
            <a:r>
              <a:rPr lang="en-US" sz="4000" b="1" dirty="0">
                <a:solidFill>
                  <a:srgbClr val="0B2239"/>
                </a:solidFill>
                <a:latin typeface="Arial" pitchFamily="34" charset="0"/>
                <a:ea typeface="Arial" pitchFamily="34" charset="-122"/>
                <a:cs typeface="Arial" pitchFamily="34" charset="-120"/>
              </a:rPr>
              <a:t>15/21</a:t>
            </a:r>
            <a:endParaRPr lang="en-US" sz="4000" dirty="0"/>
          </a:p>
        </p:txBody>
      </p:sp>
      <p:sp>
        <p:nvSpPr>
          <p:cNvPr id="14" name="Text 11"/>
          <p:cNvSpPr txBox="1"/>
          <p:nvPr/>
        </p:nvSpPr>
        <p:spPr>
          <a:xfrm>
            <a:off x="777240" y="3611880"/>
            <a:ext cx="3154680" cy="123444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sensor thay đổi đầu/cuối vòng đời; Health Index giảm rõ ở cuối vòng đời</a:t>
            </a:r>
            <a:endParaRPr lang="en-US" sz="1300" dirty="0"/>
          </a:p>
        </p:txBody>
      </p:sp>
      <p:sp>
        <p:nvSpPr>
          <p:cNvPr id="15" name="Shape 12"/>
          <p:cNvSpPr/>
          <p:nvPr/>
        </p:nvSpPr>
        <p:spPr>
          <a:xfrm>
            <a:off x="4297680" y="1920240"/>
            <a:ext cx="3566160" cy="2788920"/>
          </a:xfrm>
          <a:prstGeom prst="roundRect">
            <a:avLst>
              <a:gd name="adj" fmla="val 2623"/>
            </a:avLst>
          </a:prstGeom>
          <a:solidFill>
            <a:srgbClr val="EEF3F6"/>
          </a:solidFill>
          <a:ln/>
        </p:spPr>
      </p:sp>
      <p:sp>
        <p:nvSpPr>
          <p:cNvPr id="16" name="Shape 13"/>
          <p:cNvSpPr/>
          <p:nvPr/>
        </p:nvSpPr>
        <p:spPr>
          <a:xfrm>
            <a:off x="4526280" y="2103120"/>
            <a:ext cx="502920" cy="502920"/>
          </a:xfrm>
          <a:prstGeom prst="ellipse">
            <a:avLst/>
          </a:prstGeom>
          <a:solidFill>
            <a:srgbClr val="C8701E"/>
          </a:solidFill>
          <a:ln/>
        </p:spPr>
      </p:sp>
      <p:sp>
        <p:nvSpPr>
          <p:cNvPr id="17" name="Text 14"/>
          <p:cNvSpPr txBox="1"/>
          <p:nvPr/>
        </p:nvSpPr>
        <p:spPr>
          <a:xfrm>
            <a:off x="452628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Q2</a:t>
            </a:r>
            <a:endParaRPr lang="en-US" sz="1300" dirty="0"/>
          </a:p>
        </p:txBody>
      </p:sp>
      <p:sp>
        <p:nvSpPr>
          <p:cNvPr id="18" name="Text 15"/>
          <p:cNvSpPr txBox="1"/>
          <p:nvPr/>
        </p:nvSpPr>
        <p:spPr>
          <a:xfrm>
            <a:off x="5166360" y="2103120"/>
            <a:ext cx="2560320" cy="502920"/>
          </a:xfrm>
          <a:prstGeom prst="rect">
            <a:avLst/>
          </a:prstGeom>
          <a:noFill/>
          <a:ln/>
        </p:spPr>
        <p:txBody>
          <a:bodyPr wrap="square" lIns="0" tIns="0" rIns="0" bIns="0" rtlCol="0" anchor="ctr"/>
          <a:lstStyle/>
          <a:p>
            <a:pPr indent="0" marL="0">
              <a:buNone/>
            </a:pPr>
            <a:r>
              <a:rPr lang="en-US" sz="1500" b="1" dirty="0">
                <a:solidFill>
                  <a:srgbClr val="0B2239"/>
                </a:solidFill>
                <a:latin typeface="Arial" pitchFamily="34" charset="0"/>
                <a:ea typeface="Arial" pitchFamily="34" charset="-122"/>
                <a:cs typeface="Arial" pitchFamily="34" charset="-120"/>
              </a:rPr>
              <a:t>Dự đoán RUL</a:t>
            </a:r>
            <a:endParaRPr lang="en-US" sz="1500" dirty="0"/>
          </a:p>
        </p:txBody>
      </p:sp>
      <p:sp>
        <p:nvSpPr>
          <p:cNvPr id="19" name="Text 16"/>
          <p:cNvSpPr txBox="1"/>
          <p:nvPr/>
        </p:nvSpPr>
        <p:spPr>
          <a:xfrm>
            <a:off x="4526280" y="2788920"/>
            <a:ext cx="3108960" cy="731520"/>
          </a:xfrm>
          <a:prstGeom prst="rect">
            <a:avLst/>
          </a:prstGeom>
          <a:noFill/>
          <a:ln/>
        </p:spPr>
        <p:txBody>
          <a:bodyPr wrap="square" lIns="0" tIns="0" rIns="0" bIns="0" rtlCol="0" anchor="t"/>
          <a:lstStyle/>
          <a:p>
            <a:pPr indent="0" marL="0">
              <a:buNone/>
            </a:pPr>
            <a:r>
              <a:rPr lang="en-US" sz="4000" b="1" dirty="0">
                <a:solidFill>
                  <a:srgbClr val="0B2239"/>
                </a:solidFill>
                <a:latin typeface="Arial" pitchFamily="34" charset="0"/>
                <a:ea typeface="Arial" pitchFamily="34" charset="-122"/>
                <a:cs typeface="Arial" pitchFamily="34" charset="-120"/>
              </a:rPr>
              <a:t>15,35</a:t>
            </a:r>
            <a:endParaRPr lang="en-US" sz="4000" dirty="0"/>
          </a:p>
        </p:txBody>
      </p:sp>
      <p:sp>
        <p:nvSpPr>
          <p:cNvPr id="20" name="Text 17"/>
          <p:cNvSpPr txBox="1"/>
          <p:nvPr/>
        </p:nvSpPr>
        <p:spPr>
          <a:xfrm>
            <a:off x="4526280" y="3611880"/>
            <a:ext cx="3154680" cy="123444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cycles MAE trên 100 test engines; CI 95% [12,73; 18,09]</a:t>
            </a:r>
            <a:endParaRPr lang="en-US" sz="1300" dirty="0"/>
          </a:p>
        </p:txBody>
      </p:sp>
      <p:sp>
        <p:nvSpPr>
          <p:cNvPr id="21" name="Shape 18"/>
          <p:cNvSpPr/>
          <p:nvPr/>
        </p:nvSpPr>
        <p:spPr>
          <a:xfrm>
            <a:off x="8046720" y="1920240"/>
            <a:ext cx="3566160" cy="2788920"/>
          </a:xfrm>
          <a:prstGeom prst="roundRect">
            <a:avLst>
              <a:gd name="adj" fmla="val 2623"/>
            </a:avLst>
          </a:prstGeom>
          <a:solidFill>
            <a:srgbClr val="EEF3F6"/>
          </a:solidFill>
          <a:ln/>
        </p:spPr>
      </p:sp>
      <p:sp>
        <p:nvSpPr>
          <p:cNvPr id="22" name="Shape 19"/>
          <p:cNvSpPr/>
          <p:nvPr/>
        </p:nvSpPr>
        <p:spPr>
          <a:xfrm>
            <a:off x="8275320" y="2103120"/>
            <a:ext cx="502920" cy="502920"/>
          </a:xfrm>
          <a:prstGeom prst="ellipse">
            <a:avLst/>
          </a:prstGeom>
          <a:solidFill>
            <a:srgbClr val="C8701E"/>
          </a:solidFill>
          <a:ln/>
        </p:spPr>
      </p:sp>
      <p:sp>
        <p:nvSpPr>
          <p:cNvPr id="23" name="Text 20"/>
          <p:cNvSpPr txBox="1"/>
          <p:nvPr/>
        </p:nvSpPr>
        <p:spPr>
          <a:xfrm>
            <a:off x="827532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Q3</a:t>
            </a:r>
            <a:endParaRPr lang="en-US" sz="1300" dirty="0"/>
          </a:p>
        </p:txBody>
      </p:sp>
      <p:sp>
        <p:nvSpPr>
          <p:cNvPr id="24" name="Text 21"/>
          <p:cNvSpPr txBox="1"/>
          <p:nvPr/>
        </p:nvSpPr>
        <p:spPr>
          <a:xfrm>
            <a:off x="8915400" y="2103120"/>
            <a:ext cx="2560320" cy="502920"/>
          </a:xfrm>
          <a:prstGeom prst="rect">
            <a:avLst/>
          </a:prstGeom>
          <a:noFill/>
          <a:ln/>
        </p:spPr>
        <p:txBody>
          <a:bodyPr wrap="square" lIns="0" tIns="0" rIns="0" bIns="0" rtlCol="0" anchor="ctr"/>
          <a:lstStyle/>
          <a:p>
            <a:pPr indent="0" marL="0">
              <a:buNone/>
            </a:pPr>
            <a:r>
              <a:rPr lang="en-US" sz="1500" b="1" dirty="0">
                <a:solidFill>
                  <a:srgbClr val="0B2239"/>
                </a:solidFill>
                <a:latin typeface="Arial" pitchFamily="34" charset="0"/>
                <a:ea typeface="Arial" pitchFamily="34" charset="-122"/>
                <a:cs typeface="Arial" pitchFamily="34" charset="-120"/>
              </a:rPr>
              <a:t>Cảnh báo và chuyển miền</a:t>
            </a:r>
            <a:endParaRPr lang="en-US" sz="1500" dirty="0"/>
          </a:p>
        </p:txBody>
      </p:sp>
      <p:sp>
        <p:nvSpPr>
          <p:cNvPr id="25" name="Text 22"/>
          <p:cNvSpPr txBox="1"/>
          <p:nvPr/>
        </p:nvSpPr>
        <p:spPr>
          <a:xfrm>
            <a:off x="8275320" y="2788920"/>
            <a:ext cx="3108960" cy="731520"/>
          </a:xfrm>
          <a:prstGeom prst="rect">
            <a:avLst/>
          </a:prstGeom>
          <a:noFill/>
          <a:ln/>
        </p:spPr>
        <p:txBody>
          <a:bodyPr wrap="square" lIns="0" tIns="0" rIns="0" bIns="0" rtlCol="0" anchor="t"/>
          <a:lstStyle/>
          <a:p>
            <a:pPr indent="0" marL="0">
              <a:buNone/>
            </a:pPr>
            <a:r>
              <a:rPr lang="en-US" sz="4000" b="1" dirty="0">
                <a:solidFill>
                  <a:srgbClr val="0B2239"/>
                </a:solidFill>
                <a:latin typeface="Arial" pitchFamily="34" charset="0"/>
                <a:ea typeface="Arial" pitchFamily="34" charset="-122"/>
                <a:cs typeface="Arial" pitchFamily="34" charset="-120"/>
              </a:rPr>
              <a:t>30</a:t>
            </a:r>
            <a:endParaRPr lang="en-US" sz="4000" dirty="0"/>
          </a:p>
        </p:txBody>
      </p:sp>
      <p:sp>
        <p:nvSpPr>
          <p:cNvPr id="26" name="Text 23"/>
          <p:cNvSpPr txBox="1"/>
          <p:nvPr/>
        </p:nvSpPr>
        <p:spPr>
          <a:xfrm>
            <a:off x="8275320" y="3611880"/>
            <a:ext cx="3154680" cy="123444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cycles lead time trung vị (OOF); 49/100 cảnh báo sau ngưỡng; không chuyển trực tiếp sang FD002–FD004</a:t>
            </a:r>
            <a:endParaRPr lang="en-US" sz="1300" dirty="0"/>
          </a:p>
        </p:txBody>
      </p:sp>
      <p:sp>
        <p:nvSpPr>
          <p:cNvPr id="27" name="Shape 24"/>
          <p:cNvSpPr/>
          <p:nvPr/>
        </p:nvSpPr>
        <p:spPr>
          <a:xfrm>
            <a:off x="548640" y="4983480"/>
            <a:ext cx="11091672" cy="960120"/>
          </a:xfrm>
          <a:prstGeom prst="roundRect">
            <a:avLst>
              <a:gd name="adj" fmla="val 7619"/>
            </a:avLst>
          </a:prstGeom>
          <a:solidFill>
            <a:srgbClr val="0B2239"/>
          </a:solidFill>
          <a:ln/>
        </p:spPr>
      </p:sp>
      <p:sp>
        <p:nvSpPr>
          <p:cNvPr id="28" name="Text 25"/>
          <p:cNvSpPr txBox="1"/>
          <p:nvPr/>
        </p:nvSpPr>
        <p:spPr>
          <a:xfrm>
            <a:off x="777240" y="4983480"/>
            <a:ext cx="10698480" cy="9601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Đóng góp Big Data: </a:t>
            </a:r>
            <a:pPr indent="0" marL="0">
              <a:buNone/>
            </a:pPr>
            <a:r>
              <a:rPr lang="en-US" sz="1500" dirty="0">
                <a:solidFill>
                  <a:srgbClr val="BFD9E3"/>
                </a:solidFill>
                <a:latin typeface="Arial" pitchFamily="34" charset="0"/>
                <a:ea typeface="Arial" pitchFamily="34" charset="-122"/>
                <a:cs typeface="Arial" pitchFamily="34" charset="-120"/>
              </a:rPr>
              <a:t>batch ETL nhiều file, Parquet Silver/Gold, parity Pandas–PySpark và artifact có hash, run_info để tái lập.</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2239"/>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t"/>
          <a:lstStyle/>
          <a:p>
            <a:pPr indent="0" marL="0">
              <a:buNone/>
            </a:pPr>
            <a:r>
              <a:rPr lang="en-US" sz="1050" b="1" spc="100" kern="0" dirty="0">
                <a:solidFill>
                  <a:srgbClr val="BFD9E3"/>
                </a:solidFill>
                <a:latin typeface="Arial" pitchFamily="34" charset="0"/>
                <a:ea typeface="Arial" pitchFamily="34" charset="-122"/>
                <a:cs typeface="Arial" pitchFamily="34" charset="-120"/>
              </a:rPr>
              <a:t>PHẦN 5 · MỞ RỘNG VÀ KẾT LUẬN</a:t>
            </a:r>
            <a:endParaRPr lang="en-US" sz="1050" dirty="0"/>
          </a:p>
        </p:txBody>
      </p:sp>
      <p:sp>
        <p:nvSpPr>
          <p:cNvPr id="3" name="Text 1"/>
          <p:cNvSpPr txBox="1"/>
          <p:nvPr/>
        </p:nvSpPr>
        <p:spPr>
          <a:xfrm>
            <a:off x="548640" y="731520"/>
            <a:ext cx="10972800" cy="566928"/>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Giới hạn và hướng tiếp theo</a:t>
            </a:r>
            <a:endParaRPr lang="en-US" sz="2700" dirty="0"/>
          </a:p>
        </p:txBody>
      </p:sp>
      <p:sp>
        <p:nvSpPr>
          <p:cNvPr id="4" name="Text 2"/>
          <p:cNvSpPr txBox="1"/>
          <p:nvPr/>
        </p:nvSpPr>
        <p:spPr>
          <a:xfrm>
            <a:off x="548640" y="1600200"/>
            <a:ext cx="5303520" cy="365760"/>
          </a:xfrm>
          <a:prstGeom prst="rect">
            <a:avLst/>
          </a:prstGeom>
          <a:noFill/>
          <a:ln/>
        </p:spPr>
        <p:txBody>
          <a:bodyPr wrap="square" lIns="0" tIns="0" rIns="0" bIns="0" rtlCol="0" anchor="t"/>
          <a:lstStyle/>
          <a:p>
            <a:pPr indent="0" marL="0">
              <a:buNone/>
            </a:pPr>
            <a:r>
              <a:rPr lang="en-US" sz="1700" b="1" dirty="0">
                <a:solidFill>
                  <a:srgbClr val="F2B880"/>
                </a:solidFill>
                <a:latin typeface="Arial" pitchFamily="34" charset="0"/>
                <a:ea typeface="Arial" pitchFamily="34" charset="-122"/>
                <a:cs typeface="Arial" pitchFamily="34" charset="-120"/>
              </a:rPr>
              <a:t>Giới hạn đã biết</a:t>
            </a:r>
            <a:endParaRPr lang="en-US" sz="1700" dirty="0"/>
          </a:p>
        </p:txBody>
      </p:sp>
      <p:sp>
        <p:nvSpPr>
          <p:cNvPr id="5" name="Text 3"/>
          <p:cNvSpPr txBox="1"/>
          <p:nvPr/>
        </p:nvSpPr>
        <p:spPr>
          <a:xfrm>
            <a:off x="548640" y="2103120"/>
            <a:ext cx="521208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Dữ liệu mô phỏng; FD001 chỉ có một điều kiện vận hành và một fault mode.</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Mỗi test engine chỉ được đánh giá tại một điểm cắt.</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Không có chi phí, downtime, intervention records: chưa tối ưu được lịch bảo trì.</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PySpark chạy local để kiểm tra parity; benchmark chỉ đo Pandas.</a:t>
            </a:r>
            <a:endParaRPr lang="en-US" sz="1500" dirty="0"/>
          </a:p>
        </p:txBody>
      </p:sp>
      <p:sp>
        <p:nvSpPr>
          <p:cNvPr id="6" name="Text 4"/>
          <p:cNvSpPr txBox="1"/>
          <p:nvPr/>
        </p:nvSpPr>
        <p:spPr>
          <a:xfrm>
            <a:off x="6355080" y="1600200"/>
            <a:ext cx="5303520" cy="365760"/>
          </a:xfrm>
          <a:prstGeom prst="rect">
            <a:avLst/>
          </a:prstGeom>
          <a:noFill/>
          <a:ln/>
        </p:spPr>
        <p:txBody>
          <a:bodyPr wrap="square" lIns="0" tIns="0" rIns="0" bIns="0" rtlCol="0" anchor="t"/>
          <a:lstStyle/>
          <a:p>
            <a:pPr indent="0" marL="0">
              <a:buNone/>
            </a:pPr>
            <a:r>
              <a:rPr lang="en-US" sz="1700" b="1" dirty="0">
                <a:solidFill>
                  <a:srgbClr val="BFD9E3"/>
                </a:solidFill>
                <a:latin typeface="Arial" pitchFamily="34" charset="0"/>
                <a:ea typeface="Arial" pitchFamily="34" charset="-122"/>
                <a:cs typeface="Arial" pitchFamily="34" charset="-120"/>
              </a:rPr>
              <a:t>Hướng tiếp theo (đề xuất, chưa thực hiện)</a:t>
            </a:r>
            <a:endParaRPr lang="en-US" sz="1700" dirty="0"/>
          </a:p>
        </p:txBody>
      </p:sp>
      <p:sp>
        <p:nvSpPr>
          <p:cNvPr id="7" name="Text 5"/>
          <p:cNvSpPr txBox="1"/>
          <p:nvPr/>
        </p:nvSpPr>
        <p:spPr>
          <a:xfrm>
            <a:off x="6355080" y="2103120"/>
            <a:ext cx="521208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Cắt ngưỡng nhãn RUL, chọn ngưỡng trong vòng trong của nested CV.</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Chuẩn hóa sensor theo điều kiện vận hành cho FD002 và FD004.</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So sánh CNN 1D hoặc LSTM với HGB trên cùng fold và cùng cách xử lý nhãn.</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Chuyển bước tạo đặc trưng sang PySpark, đo cả pipeline gồm I/O.</a:t>
            </a:r>
            <a:endParaRPr lang="en-US" sz="1500" dirty="0"/>
          </a:p>
        </p:txBody>
      </p:sp>
      <p:sp>
        <p:nvSpPr>
          <p:cNvPr id="8" name="Text 6"/>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Xin cảm ơn thầy/cô. Xin nhận câu hỏi.</a:t>
            </a:r>
            <a:endParaRPr lang="en-US" sz="2600" dirty="0"/>
          </a:p>
        </p:txBody>
      </p:sp>
      <p:sp>
        <p:nvSpPr>
          <p:cNvPr id="9" name="Text 7"/>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Dashboard: uv run --extra dashboard streamlit run app.py · Kịch bản demo: handoff/DEMO_SCRIPT.md</a:t>
            </a:r>
            <a:endParaRPr lang="en-US" sz="1300" dirty="0"/>
          </a:p>
        </p:txBody>
      </p:sp>
      <p:sp>
        <p:nvSpPr>
          <p:cNvPr id="10" name="Text 8"/>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BFD9E3"/>
                </a:solidFill>
                <a:latin typeface="Arial" pitchFamily="34" charset="0"/>
                <a:ea typeface="Arial" pitchFamily="34" charset="-122"/>
                <a:cs typeface="Arial" pitchFamily="34" charset="-120"/>
              </a:rPr>
              <a:t>20 / 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Dự đoán RUL và cảnh báo sớm trên NASA C-MAPSS</dc:title>
  <dc:subject>PptxGenJS Presentation</dc:subject>
  <dc:creator>Phan Nguyễn Mai Phương</dc:creator>
  <cp:lastModifiedBy>Phan Nguyễn Mai Phương</cp:lastModifiedBy>
  <cp:revision>1</cp:revision>
  <dcterms:created xsi:type="dcterms:W3CDTF">2026-09-27T20:41:33Z</dcterms:created>
  <dcterms:modified xsi:type="dcterms:W3CDTF">2026-09-27T20:41:33Z</dcterms:modified>
</cp:coreProperties>
</file>