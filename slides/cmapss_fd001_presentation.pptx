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Thời gian pipeline gồm đọc, ghi (giây)</a:t>
            </a:r>
          </a:p>
        </c:rich>
      </c:tx>
      <c:layout/>
      <c:overlay val="0"/>
    </c:title>
    <c:autoTitleDeleted val="0"/>
    <c:plotArea>
      <c:barChart>
        <c:barDir val="col"/>
        <c:grouping val="clustered"/>
        <c:ser>
          <c:idx val="0"/>
          <c:order val="0"/>
          <c:tx>
            <c:strRef>
              <c:f>Sheet1!$B$1</c:f>
              <c:strCache>
                <c:ptCount val="1"/>
                <c:pt idx="0">
                  <c:v>Pandas</c:v>
                </c:pt>
              </c:strCache>
            </c:strRef>
          </c:tx>
          <c:spPr>
            <a:solidFill>
              <a:srgbClr val="21409A"/>
            </a:solidFill>
          </c:spPr>
          <c:cat>
            <c:strRef>
              <c:f>Sheet1!$A$2:$A$3</c:f>
              <c:strCache>
                <c:ptCount val="2"/>
                <c:pt idx="0">
                  <c:v>1× · 33.727 dòng</c:v>
                </c:pt>
                <c:pt idx="1">
                  <c:v>10× · 337.270 dòng</c:v>
                </c:pt>
              </c:strCache>
            </c:strRef>
          </c:cat>
          <c:val>
            <c:numRef>
              <c:f>Sheet1!$B$2:$B$3</c:f>
              <c:numCache>
                <c:formatCode>General</c:formatCode>
                <c:ptCount val="2"/>
                <c:pt idx="0">
                  <c:v>105</c:v>
                </c:pt>
                <c:pt idx="1">
                  <c:v>1117</c:v>
                </c:pt>
              </c:numCache>
            </c:numRef>
          </c:val>
        </c:ser>
        <c:ser>
          <c:idx val="1"/>
          <c:order val="1"/>
          <c:tx>
            <c:strRef>
              <c:f>Sheet1!$C$1</c:f>
              <c:strCache>
                <c:ptCount val="1"/>
                <c:pt idx="0">
                  <c:v>PySpark local[4]</c:v>
                </c:pt>
              </c:strCache>
            </c:strRef>
          </c:tx>
          <c:spPr>
            <a:solidFill>
              <a:srgbClr val="FCB525"/>
            </a:solidFill>
          </c:spPr>
          <c:cat>
            <c:strRef>
              <c:f>Sheet1!$A$2:$A$3</c:f>
              <c:strCache>
                <c:ptCount val="2"/>
                <c:pt idx="0">
                  <c:v>1× · 33.727 dòng</c:v>
                </c:pt>
                <c:pt idx="1">
                  <c:v>10× · 337.270 dòng</c:v>
                </c:pt>
              </c:strCache>
            </c:strRef>
          </c:cat>
          <c:val>
            <c:numRef>
              <c:f>Sheet1!$C$2:$C$3</c:f>
              <c:numCache>
                <c:formatCode>General</c:formatCode>
                <c:ptCount val="2"/>
                <c:pt idx="0">
                  <c:v>146</c:v>
                </c:pt>
                <c:pt idx="1">
                  <c:v>327</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MAE trên tập test (cycle)</a:t>
            </a:r>
          </a:p>
        </c:rich>
      </c:tx>
      <c:layout/>
      <c:overlay val="0"/>
    </c:title>
    <c:autoTitleDeleted val="0"/>
    <c:plotArea>
      <c:barChart>
        <c:barDir val="col"/>
        <c:grouping val="clustered"/>
        <c:ser>
          <c:idx val="0"/>
          <c:order val="0"/>
          <c:tx>
            <c:strRef>
              <c:f>Sheet1!$B$1</c:f>
              <c:strCache>
                <c:ptCount val="1"/>
                <c:pt idx="0">
                  <c:v>Huấn luyện trên chính subset đó</c:v>
                </c:pt>
              </c:strCache>
            </c:strRef>
          </c:tx>
          <c:spPr>
            <a:solidFill>
              <a:srgbClr val="21409A"/>
            </a:solidFill>
          </c:spPr>
          <c:cat>
            <c:strRef>
              <c:f>Sheet1!$A$2:$A$4</c:f>
              <c:strCache>
                <c:ptCount val="3"/>
                <c:pt idx="0">
                  <c:v>FD002</c:v>
                </c:pt>
                <c:pt idx="1">
                  <c:v>FD003</c:v>
                </c:pt>
                <c:pt idx="2">
                  <c:v>FD004</c:v>
                </c:pt>
              </c:strCache>
            </c:strRef>
          </c:cat>
          <c:val>
            <c:numRef>
              <c:f>Sheet1!$B$2:$B$4</c:f>
              <c:numCache>
                <c:formatCode>General</c:formatCode>
                <c:ptCount val="3"/>
                <c:pt idx="0">
                  <c:v>224</c:v>
                </c:pt>
                <c:pt idx="1">
                  <c:v>283</c:v>
                </c:pt>
                <c:pt idx="2">
                  <c:v>272</c:v>
                </c:pt>
              </c:numCache>
            </c:numRef>
          </c:val>
        </c:ser>
        <c:ser>
          <c:idx val="1"/>
          <c:order val="1"/>
          <c:tx>
            <c:strRef>
              <c:f>Sheet1!$C$1</c:f>
              <c:strCache>
                <c:ptCount val="1"/>
                <c:pt idx="0">
                  <c:v>Dùng lại mô hình FD001</c:v>
                </c:pt>
              </c:strCache>
            </c:strRef>
          </c:tx>
          <c:spPr>
            <a:solidFill>
              <a:srgbClr val="FCB525"/>
            </a:solidFill>
          </c:spPr>
          <c:cat>
            <c:strRef>
              <c:f>Sheet1!$A$2:$A$4</c:f>
              <c:strCache>
                <c:ptCount val="3"/>
                <c:pt idx="0">
                  <c:v>FD002</c:v>
                </c:pt>
                <c:pt idx="1">
                  <c:v>FD003</c:v>
                </c:pt>
                <c:pt idx="2">
                  <c:v>FD004</c:v>
                </c:pt>
              </c:strCache>
            </c:strRef>
          </c:cat>
          <c:val>
            <c:numRef>
              <c:f>Sheet1!$C$2:$C$4</c:f>
              <c:numCache>
                <c:formatCode>General</c:formatCode>
                <c:ptCount val="3"/>
                <c:pt idx="0">
                  <c:v>603</c:v>
                </c:pt>
                <c:pt idx="1">
                  <c:v>474</c:v>
                </c:pt>
                <c:pt idx="2">
                  <c:v>586</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ax val="720.0"/>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Kính chào quý thầy cô. Em là Phan Nguyễn Mai Phương, MSHV 25002711. Đề tài 8: phân tích dữ liệu cảm biến để phát hiện dấu hiệu bất thường và dự đoán thời điểm cần bảo trì, kèm biểu đồ cảnh báo sớm.</a:t>
            </a:r>
          </a:p>
          <a:p>
            <a:r>
              <a:t>Bốn con số là khung của bài: 100 động cơ train; làm mượt EWMA giảm khoảng 86% dao động ngắn hạn; bất thường được báo trước khi hỏng trung vị 121 cycle; sai số tuyệt đối trung bình (MAE) của RUL trên 100 động cơ test là 15,35 cycle.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Đọc nhanh sáu phần nội dung và phần demo. Thứ tự bám quy trình của môn học: thu thập, làm sạch, lưu trữ trước; rồi làm mượt tín hiệu, xu hướng và bất thường; sau cùng là dự đoán RUL và cảnh báo. Năm câu hỏi bên phải sẽ được trả lời lại ở slide 18. Demo dashboard khoảng 2,5 phút, ngay sau slide 19.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Remaining Useful Life (RUL, tuổi thọ còn lại) là số cycle vận hành còn lại trước khi hỏng. Ví dụ động cơ hỏng ở cycle 200 thì tại cycle 170 có RUL bằng 30. Đơn vị là cycle; dữ liệu không quy đổi ra giờ.</a:t>
            </a:r>
          </a:p>
          <a:p>
            <a:r>
              <a:t>Bảng bên phải đối chiếu từng yêu cầu của đề tài với slide trình bày: chuỗi thời gian ở slide 6, 9, 10; làm mượt ở slide 9; cửa sổ thời gian ở slide 10; xu hướng ở slide 11; bất thường ở slide 12; cảnh báo ở slide 15 và lịch bảo trì ở slide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Đề gợi ý hai bộ dữ liệu: Predictive Maintenance trên Kaggle và NASA Turbofan Engine. Em chọn NASA C-MAPSS vì mỗi động cơ có cả chuỗi cảm biến theo cycle cho tới khi hỏng, và tập test có nhãn RUL thật để chấm điểm. Bộ Kaggle là bảng phân loại lỗi, không có chuỗi chạy đến khi hỏng của từng máy.</a:t>
            </a:r>
          </a:p>
          <a:p>
            <a:r>
              <a:t>C-MAPSS có bốn tập con (subset). Mỗi subset có train (chạy đến khi hỏng), test (bị cắt trước khi hỏng) và file nhãn RUL test. FD001: 1 điều kiện vận hành, 1 dạng lỗi ở máy nén áp suất cao (HPC), 100 động cơ train và 100 động cơ test, 33.727 quan sát. Mỗi dòng có 26 trường: engine_id, cycle, 3 setting và 21 sensor.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Train: mỗi động cơ chạy đến khi hỏng nên RUL = cycle cuối − cycle hiện tại; FD001 có 20.631 nhãn train.</a:t>
            </a:r>
          </a:p>
          <a:p>
            <a:r>
              <a:t>Test: chuỗi bị cắt trước khi hỏng. Mô hình tạo đúng một dự đoán tại cycle cuối quan sát của mỗi động cơ test; sau khi ghi dự đoán ra file mới ghép RUL_FD001.txt để chấm điểm.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Bước 1–3 là phần chuẩn bị chung. Bước 1 tải dữ liệu từ cổng NASA và kiểm tra MD5, SHA-256. Bước 2 giữ nguyên file text gốc ở lớp Bronze. Bước 3 kiểm tra đủ 26 cột, đúng kiểu, không trùng khóa, cycle liên tục, rồi tính RUL cho train. Ô nét đứt là bước chạy lại trên Hadoop: MapReduce tính lại bảng tổng hợp động cơ, khớp 200/200 động cơ, không đi vào mô hình.</a:t>
            </a:r>
          </a:p>
          <a:p>
            <a:r>
              <a:t>Nhánh A dự đoán RUL: lưu bảng Silver và Gold dạng Parquet, SQLite; tạo 126 đặc trưng từ cửa sổ 30 cycle; huấn luyện HistGradientBoosting (HGB), chia 5 phần theo động cơ; lưu 100 dự đoán test rồi mới mở đáp án để chấm điểm. Pandas và PySpark cho cùng kết quả ở A1–A2.</a:t>
            </a:r>
          </a:p>
          <a:p>
            <a:r>
              <a:t>Nhánh B chỉ học trên train: khám phá dữ liệu, làm mượt bằng EWMA, gộp sensor thành chỉ số sức khỏe bằng PCA và phát hiện bất thường. Lịch bảo trì ghép RUL dự đoán với trạng thái bất thường của động cơ test.</a:t>
            </a:r>
          </a:p>
          <a:p>
            <a:r>
              <a:t>Hàng dưới cùng gắn năm bước của quy trình dữ liệu với sơ đồ: thu thập là bước 1; làm sạch là bước 3 và làm mượt B2; chuẩn hóa là thống nhất kiểu dữ liệu và StandardScaler ở slide 10; tích hợp là gộp train với test thành 33.727 dòng và ghép nhãn theo khóa; lưu trữ là Parquet, SQLite và HDFS.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Bảng trái: cùng đầu vào, Pandas và PySpark cho cùng schema, khóa, số dòng và giá trị ở ba bảng ETL và bảng đặc trưng cửa sổ; sai khác bằng 0. Hai dòng cuối là bảng engine_summary tính lại trên cụm Hadoop: một job MapReduce chạy trên YARN và một job Spark đọc dữ liệu từ HDFS; cả hai khớp 200/200 động cơ.</a:t>
            </a:r>
          </a:p>
          <a:p>
            <a:r>
              <a:t>Ô dưới: cụm Hadoop 3.4.3 một node trong Docker; HDFS ở trạng thái HEALTHY.</a:t>
            </a:r>
          </a:p>
          <a:p>
            <a:r>
              <a:t>Biểu đồ phải: trung vị ba lượt. Pandas tăng từ 10,5 lên 111,7 giây; Spark từ 14,6 lên 32,7 giây.</a:t>
            </a:r>
          </a:p>
          <a:p>
            <a:r>
              <a:t>Giới hạn: một máy, chưa phải cluster nhiều node.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Tuổi thọ train từ 128 đến 362 cycle, trung vị 199, lệch phải vì có vài động cơ chạy rất lâu.</a:t>
            </a:r>
          </a:p>
          <a:p>
            <a:r>
              <a:t>Bảy cột không đổi trong cả 100 động cơ: sensor 1, 5, 10, 16, 18, 19 và setting_3. Sensor_6 không đổi ở 38/100 động cơ nên cũng bị bỏ. Vì vậy bước làm mượt chỉ áp dụng cho 14 sensor có xu hướng. Không dùng EDA để chọn đặc trưng (feature selection), để tránh rò rỉ vào kiểm định chéo.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5 giây.</a:t>
            </a:r>
          </a:p>
          <a:p>
            <a:r>
              <a:t>Đây là bước xử lý nhiễu tín hiệu mà đề tài yêu cầu. Đường xám là tín hiệu gốc của động cơ train 1, nhảy mạnh giữa hai cycle liền kề. Đường xanh là sau EWMA span 10, tức mỗi giá trị nhớ khoảng 10 cycle gần nhất.</a:t>
            </a:r>
          </a:p>
          <a:p>
            <a:r>
              <a:t>Công thức: s_t = α·x_t + (1 − α)·s_{t−1}, α = 2/(span + 1) ≈ 0,18: giá trị mới chiếm 18%, phần còn lại là lịch sử đã làm mượt. Chỉ dùng quá khứ nên không rò rỉ tương lai.</a:t>
            </a:r>
          </a:p>
          <a:p>
            <a:r>
              <a:t>Đo bằng độ lệch chuẩn của bước nhảy giữa hai cycle liền kề. Ví dụ sensor_4: 5,70 xuống 0,78. Trên 14 sensor, mức giảm từ 83,6% đến 86,4%.</a:t>
            </a:r>
          </a:p>
          <a:p>
            <a:r>
              <a:t>Giới hạn: không có tín hiệu sạch để đối chiếu, nên đây là mức giảm dao động, chưa chứng minh đã loại đúng nhiễu đo. Span 10 cố định trước, không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Ví dụ tại cycle 170: cửa sổ gồm cycle 141–170; cycle 171 trở đi là tương lai nên không được dùng.</a:t>
            </a:r>
          </a:p>
          <a:p>
            <a:r>
              <a:t>Với mỗi sensor tính 6 thống kê: giá trị cuối (tại cycle t), trung bình, độ lệch chuẩn, nhỏ nhất, lớn nhất và độ dốc (hệ số góc hồi quy). 21 × 6 = 126 cột. 29 cycle đầu mỗi động cơ chưa đủ cửa sổ nên bị bỏ, không bù giá trị; FD001 có 17.731 cửa sổ train và 10.196 cửa sổ test.</a:t>
            </a:r>
          </a:p>
          <a:p>
            <a:r>
              <a:t>Về chuẩn hóa: StandardScaler đưa mỗi cột về trung bình 0, độ lệch chuẩn 1; nó chỉ học trên phần train của từng fold cho Ridge, và dùng trước PCA khi tạo Health Index. HGB giữ thang đo gốc vì cây quyết định không phụ thuộc thang đo.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Hai hình là quỹ đạo gốc của ba động cơ train dài 178, 199 và 229 cycle: sensor_4 tăng dần, sensor_7 giảm dần khi tiến gần lúc hỏng. Đây là biểu đồ xu hướng suy giảm theo thời gian.</a:t>
            </a:r>
          </a:p>
          <a:p>
            <a:r>
              <a:t>Kiểm định: mỗi động cơ lấy trung bình 30 cycle cuối trừ 30 cycle đầu; bootstrap 10.000 lần cho khoảng tin cậy; Wilcoxon cho p-value; hiệu chỉnh Benjamini–Hochberg (FDR, kiểm soát tỷ lệ phát hiện sai) với ngưỡng q = 0,05 trên 21 sensor.</a:t>
            </a:r>
          </a:p>
          <a:p>
            <a:r>
              <a:t>Kết quả: 15 sensor có thay đổi; 12 sensor thay đổi cùng chiều ở cả 100 động cơ, ví dụ sensor 4, 7, 11, 12, 20; 6 sensor không đổi nên không kiểm định được.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20 giây.</a:t>
            </a:r>
          </a:p>
          <a:p>
            <a:r>
              <a:t>Đây là phần phát hiện dấu hiệu bất thường của đề tài. Health Index (chỉ số sức khỏe) gộp 21 sensor bằng StandardScaler rồi PCA một thành phần: 14 sensor có xu hướng đã được làm mượt EWMA, 7 sensor gần như không đổi giữ nguyên. Chỉ số giảm khi động cơ suy giảm. Không dùng nhãn RUL.</a:t>
            </a:r>
          </a:p>
          <a:p>
            <a:r>
              <a:t>Quy tắc cố định trước: lấy trung bình và độ lệch chuẩn của 30 cycle đầu làm mức tham chiếu. Khi chỉ số giảm quá 3 độ lệch chuẩn và giữ 5 cycle liên tiếp thì báo. Yêu cầu liên tiếp để một gai đơn lẻ không gây báo động.</a:t>
            </a:r>
          </a:p>
          <a:p>
            <a:r>
              <a:t>Hình trái, động cơ 1: báo ở cycle 84, hỏng ở cycle 192, tức trước 108 cycle. Hình phải: trung vị 121, nhỏ nhất 67, lớn nhất 289 cycle.</a:t>
            </a:r>
          </a:p>
          <a:p>
            <a:r>
              <a:t>Cùng quy tắc trên tín hiệu gốc thì trung vị chỉ còn 72,5 cycle. Báo sớm hơn không tự động là tốt hơn: không có nhãn thời điểm bắt đầu hỏng nên chưa đo được báo động giả.</a:t>
            </a:r>
          </a:p>
          <a:p>
            <a:r>
              <a:t>Dải vàng phía dưới: em đã chạy lại quy tắc với 9 cấu hình, 2/3/4 sigma nhân 3/5/10 cycle. Cả 9 đều bắt đủ 100 động cơ, động cơ báo muộn nhất vẫn còn ít nhất 50 cycle. Chọn tham số chỉ là đánh đổi giữa báo sớm và báo quá sớm.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10 giây.</a:t>
            </a:r>
          </a:p>
          <a:p>
            <a:r>
              <a:t>Cách đánh giá: GroupKFold 5 fold theo động cơ, mọi cửa sổ của một động cơ nằm cùng một phía. Nếu chia ngẫu nhiên theo dòng, kết quả sẽ tốt hơn thực tế vì hai cửa sổ liền kề trùng 29/30 cycle. Mỗi động cơ có tổng trọng số bằng 1. Dự đoán trên phần động cơ mà mô hình chưa thấy khi huấn luyện gọi là dự đoán OOF (out-of-fold).</a:t>
            </a:r>
          </a:p>
          <a:p>
            <a:r>
              <a:t>Bảng trên: so sánh ba mô hình bằng GroupKFold. HGB có MAE 20,21 cycle, thấp hơn Ridge 3,78 cycle và chưa bằng một nửa MAE của baseline trung vị (46,95).</a:t>
            </a:r>
          </a:p>
          <a:p>
            <a:r>
              <a:t>Trên test: MAE 15,35 cycle, khoảng tin cậy 95% [12,73; 18,09], RMSE 20,54, NASA score 1.513.</a:t>
            </a:r>
          </a:p>
          <a:p>
            <a:r>
              <a:t>MAE test thấp hơn MAE kiểm định chéo vì test chỉ có một điểm cuối mỗi chuỗi, RUL thực tế từ 7 đến 145; kiểm định chéo tính cả đầu đời có RUL rất lớn.</a:t>
            </a:r>
          </a:p>
          <a:p>
            <a:r>
              <a:t>Đọc hình: điểm càng gần đường chéo càng đúng; vùng RUL thấp bám đường chéo tốt hơn.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Hình: sai số bằng RUL dự đoán trừ RUL thực tế, xếp theo RUL thực tế. MAE chỉ 4,38 cycle với 25 động cơ có RUL thực tế ≤ 30, tức đúng vùng cần cảnh báo; khoảng 21 cycle khi RUL trên 60.</a:t>
            </a:r>
          </a:p>
          <a:p>
            <a:r>
              <a:t>74 dự đoán cao hơn thực tế, 26 thấp hơn. Ví dụ động cơ 23: RUL thực tế 113, dự đoán 170,5, sai 57,5 cycle. 10 động cơ sai nhiều nhất đóng góp 75,5% tổng NASA score.</a:t>
            </a:r>
          </a:p>
          <a:p>
            <a:r>
              <a:t>Nguyên nhân: khi động cơ còn khỏe, tín hiệu cảm biến gần như đi ngang nên khó phân biệt còn 160 hay 300 cycle; trong dự đoán OOF, giá trị dự đoán hiếm khi vượt quá khoảng 145 cycle.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20 giây.</a:t>
            </a:r>
          </a:p>
          <a:p>
            <a:r>
              <a:t>Đây là biểu đồ xu hướng cảnh báo sớm, sản phẩm đặc thù của đề tài, minh họa trên động cơ train 1. Đường xanh là RUL thực tế, đường đỏ là RUL dự đoán OOF, đường cam là ngưỡng 30 cycle; động cơ 1 được cảnh báo ở cycle 162, hỏng ở 192. Cùng quy tắc này được áp dụng cho động cơ test ở slide 16.</a:t>
            </a:r>
          </a:p>
          <a:p>
            <a:r>
              <a:t>Bảng bên phải dùng dự đoán OOF trên 100 động cơ train. Ở ngưỡng 30: 44 động cơ được báo trước khi RUL thực tế chạm 30, 7 đúng lúc, 49 muộn nhưng vẫn trước khi hỏng; không bỏ sót động cơ nào. Thời gian báo trước (lead time) trung vị 30 cycle, ngắn nhất 19. Vì OOF cũng dùng để chọn mô hình, kết quả này hơi lạc quan.</a:t>
            </a:r>
          </a:p>
          <a:p>
            <a:r>
              <a:t>Cảnh báo muộn tập trung ở động cơ suy giảm nhanh. Ngưỡng 40 nâng tỷ lệ kịp thời từ 51% lên 94%, đổi lại tỷ lệ báo quá sớm tăng khoảng bốn lần, từ 1,3% lên 5,3%. Chọn ngưỡng thật cần chi phí bảo trì, dữ liệu không có.</a:t>
            </a:r>
          </a:p>
          <a:p>
            <a:r>
              <a:t>Ghép hai mức trên động cơ 1: cycle 84 bất thường, cycle 162 RUL dự đoán ≤ 30, cycle 192 hỏng.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sản phẩm đặc thù của đề tài: mỗi động cơ test có một dòng gồm cycle hiện tại, RUL dự đoán, cycle cần bảo trì (lúc RUL dự đoán chạm 30) và trạng thái. Bảng dưới trích 5 dòng. Ví dụ động cơ 90 ở cycle 146, RUL dự đoán 31,2, nên cần bảo trì ở cycle 147.</a:t>
            </a:r>
          </a:p>
          <a:p>
            <a:r>
              <a:t>Trạng thái: cần bảo trì nếu RUL dự đoán ≤ 30; theo dõi tăng cường nếu Health Index đã báo bất thường; còn lại bình thường.</a:t>
            </a:r>
          </a:p>
          <a:p>
            <a:r>
              <a:t>Hình trái: 100 động cơ test xếp theo RUL dự đoán. Hình phải: 21 cần bảo trì ngay, 59 theo dõi, 20 bình thường. Kế hoạch: thêm 14 động cơ đến hạn trong 25 cycle tới và 8 trong 26–50 cycle tới.</a:t>
            </a:r>
          </a:p>
          <a:p>
            <a:r>
              <a:t>Kiểm tra bằng nhãn test sau khi đã ghi lịch: 25 động cơ thật sự cần bảo trì; 21 được báo đúng; 4 động cơ còn lại có RUL dự đoán 31–38 nên đến hạn sau 1–8 cycle và vẫn ở mức theo dõi. Cả 20 động cơ bình thường có RUL thực tế trên 60.</a:t>
            </a:r>
          </a:p>
          <a:p>
            <a:r>
              <a:t>Giới hạn: mức theo dõi còn rộng, 41/59 động cơ có RUL thực tế trên 60. 12 động cơ còn xa mới hỏng (RUL thực tế từ 77) có lịch muộn hơn lúc hỏng 4–27 cycle, vì mô hình dự đoán cao hơn thực tế ở vùng RUL lớn.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Biểu đồ: cùng pipeline với cửa sổ 10 cycle vì FD004 có động cơ test ngắn nhất 19 cycle. Cột xanh là huấn luyện và test trên chính subset đó; cột vàng là dùng lại mô hình FD001 cho subset khác. MAE tăng khoảng 1,7–2,7 lần. Với FD002 và FD004 chỉ khoảng 15% giá trị sensor nằm trong miền FD001 nên dự đoán gần như hằng số; FD003 có thêm dạng lỗi ở quạt (Fan).</a:t>
            </a:r>
          </a:p>
          <a:p>
            <a:r>
              <a:t>Bên phải là ba thử nghiệm cải thiện, không cái nào thay mô hình chính: kiểm định chéo lồng nhau (nested CV) chọn lại đúng cấu hình gốc, cảnh báo muộn tăng từ 49 lên 53; thêm cột cycle và 42 đặc trưng lịch sử giảm MAE OOF từ 20,21 xuống 17,00 nhưng tỷ lệ cảnh báo kịp thời ở ngưỡng 30 giảm từ 51% xuống 45%; ARIMA dự báo Health Index với MAE 0,41, nhưng chỉ tốt hơn cách kéo thẳng xu hướng gần nhất (drift) ở 7/10 động cơ.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Q1: dữ liệu đạt mọi kiểm tra schema, khóa, cycle; Pandas và PySpark khớp tuyệt đối.</a:t>
            </a:r>
          </a:p>
          <a:p>
            <a:r>
              <a:t>Q2: EWMA giảm khoảng 86% dao động; cửa sổ 30 cycle tạo 126 đặc trưng.</a:t>
            </a:r>
          </a:p>
          <a:p>
            <a:r>
              <a:t>Q3: 15/21 sensor thay đổi; Health Index phát hiện bất thường ở 100/100 động cơ train, trung vị 121 cycle trước khi hỏng.</a:t>
            </a:r>
          </a:p>
          <a:p>
            <a:r>
              <a:t>Q4: MAE test 15,35 cycle, nhỏ nhất ở vùng gần hỏng.</a:t>
            </a:r>
          </a:p>
          <a:p>
            <a:r>
              <a:t>Q5: hai kết quả khác nhau. Trên lịch bảo trì của tập test: báo cần bảo trì 21 động cơ, đúng cả 21, bắt được 21/25 động cơ cần bảo trì. Trên dự đoán OOF của tập train: cảnh báo không bỏ sót động cơ nào, báo trước trung vị 30 cycle, nhưng 49% muộn; ngưỡng 40 giảm tỷ lệ muộn xuống 6%.</a:t>
            </a:r>
          </a:p>
          <a:p>
            <a:r>
              <a:t>Sản phẩm: lịch dự đoán thời điểm cần bảo trì kèm biểu đồ xu hướng cảnh báo sớm.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Một: dữ liệu không ghi lúc bắt đầu hỏng, nên so mỗi động cơ với chính nó lúc khỏe và nói rõ chưa đo được báo động giả.</a:t>
            </a:r>
          </a:p>
          <a:p>
            <a:r>
              <a:t>Hai: dữ liệu chuỗi thời gian dễ rò rỉ khi chia tập; phải chia theo từng động cơ, cửa sổ và EWMA chỉ dùng quá khứ.</a:t>
            </a:r>
          </a:p>
          <a:p>
            <a:r>
              <a:t>Ba: PySpark trên Windows thiếu winutils nên ghi qua Arrow, và luôn đối chiếu từng giá trị với Pandas. Hadoop trong Docker cần image có sẵn Python và hệ số nhân bản (replication) bằng 1 trên một node; kiểm tra lại bằng fsck.</a:t>
            </a:r>
          </a:p>
          <a:p>
            <a:r>
              <a:t>Bốn: dễ sa vào tối ưu mô hình; với bảo trì dự đoán, pipeline đúng và cảnh báo dễ hiểu quan trọng hơn vài cycle MAE.</a:t>
            </a:r>
          </a:p>
          <a:p>
            <a:r>
              <a:t>Giới hạn: dữ liệu mô phỏng; chưa có chi phí bảo trì; Hadoop và Spark đều chạy trên một máy; kết quả cảnh báo trên OOF train hơi lạc quan vì OOF cũng dùng để chọn mô hình.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10 giây.</a:t>
            </a:r>
          </a:p>
          <a:p>
            <a:r>
              <a:t>Demo dashboard (khoảng 2,5 phút) đã làm ngay sau slide 19, theo handoff/SPEECH_SCRIPT_VI.pdf. Cảm ơn quý thầy cô và mời đặt câu hỏi.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1800">
                <a:solidFill>
                  <a:srgbClr val="1B2733"/>
                </a:solidFill>
                <a:latin typeface="Arial"/>
              </a:rPr>
              <a:t>Phát hiện bất thường, dự đoán tuổi thọ còn lại (RUL) và cảnh báo sớm</a:t>
            </a:r>
            <a:br/>
            <a:r>
              <a:rPr sz="1800">
                <a:solidFill>
                  <a:srgbClr val="1B2733"/>
                </a:solidFill>
                <a:latin typeface="Arial"/>
              </a:rPr>
              <a:t>trên dữ liệu cảm biến NASA C-MAPSS</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Rounded Rectangle 4"/>
          <p:cNvSpPr/>
          <p:nvPr/>
        </p:nvSpPr>
        <p:spPr>
          <a:xfrm>
            <a:off x="109728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100</a:t>
            </a:r>
          </a:p>
        </p:txBody>
      </p:sp>
      <p:sp>
        <p:nvSpPr>
          <p:cNvPr id="7" name="TextBox 6"/>
          <p:cNvSpPr txBox="1"/>
          <p:nvPr/>
        </p:nvSpPr>
        <p:spPr>
          <a:xfrm>
            <a:off x="109728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động cơ train FD001</a:t>
            </a:r>
          </a:p>
        </p:txBody>
      </p:sp>
      <p:sp>
        <p:nvSpPr>
          <p:cNvPr id="8" name="Rounded Rectangle 7"/>
          <p:cNvSpPr/>
          <p:nvPr/>
        </p:nvSpPr>
        <p:spPr>
          <a:xfrm>
            <a:off x="365760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86%</a:t>
            </a:r>
          </a:p>
        </p:txBody>
      </p:sp>
      <p:sp>
        <p:nvSpPr>
          <p:cNvPr id="10" name="TextBox 9"/>
          <p:cNvSpPr txBox="1"/>
          <p:nvPr/>
        </p:nvSpPr>
        <p:spPr>
          <a:xfrm>
            <a:off x="365760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dao động giảm nhờ EWMA</a:t>
            </a:r>
          </a:p>
        </p:txBody>
      </p:sp>
      <p:sp>
        <p:nvSpPr>
          <p:cNvPr id="11" name="Rounded Rectangle 10"/>
          <p:cNvSpPr/>
          <p:nvPr/>
        </p:nvSpPr>
        <p:spPr>
          <a:xfrm>
            <a:off x="621792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121</a:t>
            </a:r>
          </a:p>
        </p:txBody>
      </p:sp>
      <p:sp>
        <p:nvSpPr>
          <p:cNvPr id="13" name="TextBox 12"/>
          <p:cNvSpPr txBox="1"/>
          <p:nvPr/>
        </p:nvSpPr>
        <p:spPr>
          <a:xfrm>
            <a:off x="621792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cycle báo trước khi hỏng (trung vị)</a:t>
            </a:r>
          </a:p>
        </p:txBody>
      </p:sp>
      <p:sp>
        <p:nvSpPr>
          <p:cNvPr id="14" name="Rounded Rectangle 13"/>
          <p:cNvSpPr/>
          <p:nvPr/>
        </p:nvSpPr>
        <p:spPr>
          <a:xfrm>
            <a:off x="8778239"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39"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15,35</a:t>
            </a:r>
          </a:p>
        </p:txBody>
      </p:sp>
      <p:sp>
        <p:nvSpPr>
          <p:cNvPr id="16" name="TextBox 15"/>
          <p:cNvSpPr txBox="1"/>
          <p:nvPr/>
        </p:nvSpPr>
        <p:spPr>
          <a:xfrm>
            <a:off x="8778239"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sai số MAE trên tập test (cycle)</a:t>
            </a:r>
          </a:p>
        </p:txBody>
      </p:sp>
      <p:sp>
        <p:nvSpPr>
          <p:cNvPr id="17" name="TextBox 16"/>
          <p:cNvSpPr txBox="1"/>
          <p:nvPr/>
        </p:nvSpPr>
        <p:spPr>
          <a:xfrm>
            <a:off x="841248" y="5440680"/>
            <a:ext cx="10515600" cy="365760"/>
          </a:xfrm>
          <a:prstGeom prst="rect">
            <a:avLst/>
          </a:prstGeom>
          <a:noFill/>
        </p:spPr>
        <p:txBody>
          <a:bodyPr wrap="square" lIns="0" rIns="0" tIns="0" bIns="0" anchor="t"/>
          <a:lstStyle/>
          <a:p>
            <a:pPr algn="ctr">
              <a:spcAft>
                <a:spcPts val="0"/>
              </a:spcAft>
            </a:pPr>
            <a:r>
              <a:rPr sz="1800" b="1">
                <a:solidFill>
                  <a:srgbClr val="21409A"/>
                </a:solidFill>
                <a:latin typeface="Arial"/>
              </a:rPr>
              <a:t>Phan Nguyễn Mai Phương · MSHV 25002711</a:t>
            </a:r>
          </a:p>
        </p:txBody>
      </p:sp>
      <p:sp>
        <p:nvSpPr>
          <p:cNvPr id="18" name="TextBox 17"/>
          <p:cNvSpPr txBox="1"/>
          <p:nvPr/>
        </p:nvSpPr>
        <p:spPr>
          <a:xfrm>
            <a:off x="841248" y="5806440"/>
            <a:ext cx="10515600" cy="320040"/>
          </a:xfrm>
          <a:prstGeom prst="rect">
            <a:avLst/>
          </a:prstGeom>
          <a:noFill/>
        </p:spPr>
        <p:txBody>
          <a:bodyPr wrap="square" lIns="0" rIns="0" tIns="0" bIns="0" anchor="t"/>
          <a:lstStyle/>
          <a:p>
            <a:pPr algn="ctr">
              <a:spcAft>
                <a:spcPts val="0"/>
              </a:spcAft>
            </a:pPr>
            <a:r>
              <a:rPr sz="1300" b="0">
                <a:solidFill>
                  <a:srgbClr val="1B2733"/>
                </a:solidFill>
                <a:latin typeface="Arial"/>
              </a:rPr>
              <a:t>Học viên cao học 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Cấu trúc bài trình bày</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Đi theo thứ tự pipeline: chuẩn bị dữ liệu → phân tích tín hiệu → dự đoán → cảnh báo</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report/main.pdf; handoff/SPEECH_SCRIPT_VI.pdf</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7" name="Oval 6"/>
          <p:cNvSpPr/>
          <p:nvPr/>
        </p:nvSpPr>
        <p:spPr>
          <a:xfrm>
            <a:off x="841248" y="228600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28600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1</a:t>
            </a:r>
          </a:p>
        </p:txBody>
      </p:sp>
      <p:sp>
        <p:nvSpPr>
          <p:cNvPr id="9" name="TextBox 8"/>
          <p:cNvSpPr txBox="1"/>
          <p:nvPr/>
        </p:nvSpPr>
        <p:spPr>
          <a:xfrm>
            <a:off x="1417320" y="226771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Bài toán và dữ liệu</a:t>
            </a:r>
          </a:p>
        </p:txBody>
      </p:sp>
      <p:sp>
        <p:nvSpPr>
          <p:cNvPr id="10" name="TextBox 9"/>
          <p:cNvSpPr txBox="1"/>
          <p:nvPr/>
        </p:nvSpPr>
        <p:spPr>
          <a:xfrm>
            <a:off x="1417320" y="252374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3–5</a:t>
            </a:r>
          </a:p>
        </p:txBody>
      </p:sp>
      <p:sp>
        <p:nvSpPr>
          <p:cNvPr id="11" name="Oval 10"/>
          <p:cNvSpPr/>
          <p:nvPr/>
        </p:nvSpPr>
        <p:spPr>
          <a:xfrm>
            <a:off x="841248" y="2816352"/>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2816352"/>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2</a:t>
            </a:r>
          </a:p>
        </p:txBody>
      </p:sp>
      <p:sp>
        <p:nvSpPr>
          <p:cNvPr id="13" name="TextBox 12"/>
          <p:cNvSpPr txBox="1"/>
          <p:nvPr/>
        </p:nvSpPr>
        <p:spPr>
          <a:xfrm>
            <a:off x="1417320" y="279806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Pipeline dữ liệu</a:t>
            </a:r>
          </a:p>
        </p:txBody>
      </p:sp>
      <p:sp>
        <p:nvSpPr>
          <p:cNvPr id="14" name="TextBox 13"/>
          <p:cNvSpPr txBox="1"/>
          <p:nvPr/>
        </p:nvSpPr>
        <p:spPr>
          <a:xfrm>
            <a:off x="1417320" y="3054096"/>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6–8</a:t>
            </a:r>
          </a:p>
        </p:txBody>
      </p:sp>
      <p:sp>
        <p:nvSpPr>
          <p:cNvPr id="15" name="Oval 14"/>
          <p:cNvSpPr/>
          <p:nvPr/>
        </p:nvSpPr>
        <p:spPr>
          <a:xfrm>
            <a:off x="841248" y="3346704"/>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3346704"/>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3</a:t>
            </a:r>
          </a:p>
        </p:txBody>
      </p:sp>
      <p:sp>
        <p:nvSpPr>
          <p:cNvPr id="17" name="TextBox 16"/>
          <p:cNvSpPr txBox="1"/>
          <p:nvPr/>
        </p:nvSpPr>
        <p:spPr>
          <a:xfrm>
            <a:off x="1417320" y="3328416"/>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Khử nhiễu và cửa sổ thời gian</a:t>
            </a:r>
          </a:p>
        </p:txBody>
      </p:sp>
      <p:sp>
        <p:nvSpPr>
          <p:cNvPr id="18" name="TextBox 17"/>
          <p:cNvSpPr txBox="1"/>
          <p:nvPr/>
        </p:nvSpPr>
        <p:spPr>
          <a:xfrm>
            <a:off x="1417320" y="3584448"/>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9–10</a:t>
            </a:r>
          </a:p>
        </p:txBody>
      </p:sp>
      <p:sp>
        <p:nvSpPr>
          <p:cNvPr id="19" name="Oval 18"/>
          <p:cNvSpPr/>
          <p:nvPr/>
        </p:nvSpPr>
        <p:spPr>
          <a:xfrm>
            <a:off x="841248" y="3877056"/>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877056"/>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4</a:t>
            </a:r>
          </a:p>
        </p:txBody>
      </p:sp>
      <p:sp>
        <p:nvSpPr>
          <p:cNvPr id="21" name="TextBox 20"/>
          <p:cNvSpPr txBox="1"/>
          <p:nvPr/>
        </p:nvSpPr>
        <p:spPr>
          <a:xfrm>
            <a:off x="1417320" y="3858768"/>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Xu hướng và bất thường</a:t>
            </a:r>
          </a:p>
        </p:txBody>
      </p:sp>
      <p:sp>
        <p:nvSpPr>
          <p:cNvPr id="22" name="TextBox 21"/>
          <p:cNvSpPr txBox="1"/>
          <p:nvPr/>
        </p:nvSpPr>
        <p:spPr>
          <a:xfrm>
            <a:off x="1417320" y="4114800"/>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11–12</a:t>
            </a:r>
          </a:p>
        </p:txBody>
      </p:sp>
      <p:sp>
        <p:nvSpPr>
          <p:cNvPr id="23" name="Oval 22"/>
          <p:cNvSpPr/>
          <p:nvPr/>
        </p:nvSpPr>
        <p:spPr>
          <a:xfrm>
            <a:off x="841248" y="4407408"/>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4407408"/>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5</a:t>
            </a:r>
          </a:p>
        </p:txBody>
      </p:sp>
      <p:sp>
        <p:nvSpPr>
          <p:cNvPr id="25" name="TextBox 24"/>
          <p:cNvSpPr txBox="1"/>
          <p:nvPr/>
        </p:nvSpPr>
        <p:spPr>
          <a:xfrm>
            <a:off x="1417320" y="4389120"/>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Dự đoán RUL, cảnh báo, lịch bảo trì</a:t>
            </a:r>
          </a:p>
        </p:txBody>
      </p:sp>
      <p:sp>
        <p:nvSpPr>
          <p:cNvPr id="26" name="TextBox 25"/>
          <p:cNvSpPr txBox="1"/>
          <p:nvPr/>
        </p:nvSpPr>
        <p:spPr>
          <a:xfrm>
            <a:off x="1417320" y="4645152"/>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13–16</a:t>
            </a:r>
          </a:p>
        </p:txBody>
      </p:sp>
      <p:sp>
        <p:nvSpPr>
          <p:cNvPr id="27" name="Oval 26"/>
          <p:cNvSpPr/>
          <p:nvPr/>
        </p:nvSpPr>
        <p:spPr>
          <a:xfrm>
            <a:off x="841248" y="493776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493776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6</a:t>
            </a:r>
          </a:p>
        </p:txBody>
      </p:sp>
      <p:sp>
        <p:nvSpPr>
          <p:cNvPr id="29" name="TextBox 28"/>
          <p:cNvSpPr txBox="1"/>
          <p:nvPr/>
        </p:nvSpPr>
        <p:spPr>
          <a:xfrm>
            <a:off x="1417320" y="491947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Mở rộng và kết luận</a:t>
            </a:r>
          </a:p>
        </p:txBody>
      </p:sp>
      <p:sp>
        <p:nvSpPr>
          <p:cNvPr id="30" name="TextBox 29"/>
          <p:cNvSpPr txBox="1"/>
          <p:nvPr/>
        </p:nvSpPr>
        <p:spPr>
          <a:xfrm>
            <a:off x="1417320" y="517550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17–19</a:t>
            </a:r>
          </a:p>
        </p:txBody>
      </p:sp>
      <p:sp>
        <p:nvSpPr>
          <p:cNvPr id="31" name="Oval 30"/>
          <p:cNvSpPr/>
          <p:nvPr/>
        </p:nvSpPr>
        <p:spPr>
          <a:xfrm>
            <a:off x="841248" y="5468112"/>
            <a:ext cx="402336" cy="402336"/>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 y="5468112"/>
            <a:ext cx="402336" cy="402336"/>
          </a:xfrm>
          <a:prstGeom prst="rect">
            <a:avLst/>
          </a:prstGeom>
          <a:noFill/>
        </p:spPr>
        <p:txBody>
          <a:bodyPr wrap="square" lIns="0" rIns="0" tIns="0" bIns="0" anchor="ctr"/>
          <a:lstStyle/>
          <a:p>
            <a:pPr algn="ctr">
              <a:spcAft>
                <a:spcPts val="0"/>
              </a:spcAft>
            </a:pPr>
            <a:r>
              <a:rPr sz="1200" b="1">
                <a:solidFill>
                  <a:srgbClr val="1B2733"/>
                </a:solidFill>
                <a:latin typeface="Arial"/>
              </a:rPr>
              <a:t>7</a:t>
            </a:r>
          </a:p>
        </p:txBody>
      </p:sp>
      <p:sp>
        <p:nvSpPr>
          <p:cNvPr id="33" name="TextBox 32"/>
          <p:cNvSpPr txBox="1"/>
          <p:nvPr/>
        </p:nvSpPr>
        <p:spPr>
          <a:xfrm>
            <a:off x="1417320" y="544982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Demo dashboard</a:t>
            </a:r>
          </a:p>
        </p:txBody>
      </p:sp>
      <p:sp>
        <p:nvSpPr>
          <p:cNvPr id="34" name="TextBox 33"/>
          <p:cNvSpPr txBox="1"/>
          <p:nvPr/>
        </p:nvSpPr>
        <p:spPr>
          <a:xfrm>
            <a:off x="1417320" y="5705855"/>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Khoảng 2,5 phút</a:t>
            </a:r>
          </a:p>
        </p:txBody>
      </p:sp>
      <p:sp>
        <p:nvSpPr>
          <p:cNvPr id="35" name="Rounded Rectangle 34"/>
          <p:cNvSpPr/>
          <p:nvPr/>
        </p:nvSpPr>
        <p:spPr>
          <a:xfrm>
            <a:off x="6172200" y="2286000"/>
            <a:ext cx="5184648" cy="3749039"/>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2450592"/>
            <a:ext cx="4663440" cy="365760"/>
          </a:xfrm>
          <a:prstGeom prst="rect">
            <a:avLst/>
          </a:prstGeom>
          <a:noFill/>
        </p:spPr>
        <p:txBody>
          <a:bodyPr wrap="square" lIns="0" rIns="0" tIns="0" bIns="0" anchor="t"/>
          <a:lstStyle/>
          <a:p>
            <a:pPr algn="l">
              <a:spcAft>
                <a:spcPts val="0"/>
              </a:spcAft>
            </a:pPr>
            <a:r>
              <a:rPr sz="1800" b="1">
                <a:solidFill>
                  <a:srgbClr val="21409A"/>
                </a:solidFill>
                <a:latin typeface="Arial"/>
              </a:rPr>
              <a:t>Câu hỏi nghiên cứu</a:t>
            </a:r>
          </a:p>
        </p:txBody>
      </p:sp>
      <p:sp>
        <p:nvSpPr>
          <p:cNvPr id="37" name="Oval 36"/>
          <p:cNvSpPr/>
          <p:nvPr/>
        </p:nvSpPr>
        <p:spPr>
          <a:xfrm>
            <a:off x="6446520" y="2944368"/>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2944368"/>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Q1</a:t>
            </a:r>
          </a:p>
        </p:txBody>
      </p:sp>
      <p:sp>
        <p:nvSpPr>
          <p:cNvPr id="39" name="TextBox 38"/>
          <p:cNvSpPr txBox="1"/>
          <p:nvPr/>
        </p:nvSpPr>
        <p:spPr>
          <a:xfrm>
            <a:off x="6995160" y="2907792"/>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Dữ liệu có đạt các kiểm tra chất lượng không; Pandas và PySpark có cho cùng kết quả không?</a:t>
            </a:r>
          </a:p>
        </p:txBody>
      </p:sp>
      <p:sp>
        <p:nvSpPr>
          <p:cNvPr id="40" name="Oval 39"/>
          <p:cNvSpPr/>
          <p:nvPr/>
        </p:nvSpPr>
        <p:spPr>
          <a:xfrm>
            <a:off x="6446520" y="3547872"/>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3547872"/>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Q2</a:t>
            </a:r>
          </a:p>
        </p:txBody>
      </p:sp>
      <p:sp>
        <p:nvSpPr>
          <p:cNvPr id="42" name="TextBox 41"/>
          <p:cNvSpPr txBox="1"/>
          <p:nvPr/>
        </p:nvSpPr>
        <p:spPr>
          <a:xfrm>
            <a:off x="6995160" y="3511296"/>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Làm mượt giảm được bao nhiêu nhiễu; dữ liệu được tổng hợp theo cửa sổ thời gian ra sao?</a:t>
            </a:r>
          </a:p>
        </p:txBody>
      </p:sp>
      <p:sp>
        <p:nvSpPr>
          <p:cNvPr id="43" name="Oval 42"/>
          <p:cNvSpPr/>
          <p:nvPr/>
        </p:nvSpPr>
        <p:spPr>
          <a:xfrm>
            <a:off x="6446520" y="4151376"/>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4151376"/>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Q3</a:t>
            </a:r>
          </a:p>
        </p:txBody>
      </p:sp>
      <p:sp>
        <p:nvSpPr>
          <p:cNvPr id="45" name="TextBox 44"/>
          <p:cNvSpPr txBox="1"/>
          <p:nvPr/>
        </p:nvSpPr>
        <p:spPr>
          <a:xfrm>
            <a:off x="6995160" y="4114800"/>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Tín hiệu thay đổi thế nào theo tuổi máy; có phát hiện được bất thường trước khi hỏng không?</a:t>
            </a:r>
          </a:p>
        </p:txBody>
      </p:sp>
      <p:sp>
        <p:nvSpPr>
          <p:cNvPr id="46" name="Oval 45"/>
          <p:cNvSpPr/>
          <p:nvPr/>
        </p:nvSpPr>
        <p:spPr>
          <a:xfrm>
            <a:off x="6446520" y="4754880"/>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754880"/>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Q4</a:t>
            </a:r>
          </a:p>
        </p:txBody>
      </p:sp>
      <p:sp>
        <p:nvSpPr>
          <p:cNvPr id="48" name="TextBox 47"/>
          <p:cNvSpPr txBox="1"/>
          <p:nvPr/>
        </p:nvSpPr>
        <p:spPr>
          <a:xfrm>
            <a:off x="6995160" y="4718304"/>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Dự đoán RUL chính xác đến đâu trên tập test độc lập?</a:t>
            </a:r>
          </a:p>
        </p:txBody>
      </p:sp>
      <p:sp>
        <p:nvSpPr>
          <p:cNvPr id="49" name="Oval 48"/>
          <p:cNvSpPr/>
          <p:nvPr/>
        </p:nvSpPr>
        <p:spPr>
          <a:xfrm>
            <a:off x="6446520" y="5358384"/>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46520" y="5358384"/>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Q5</a:t>
            </a:r>
          </a:p>
        </p:txBody>
      </p:sp>
      <p:sp>
        <p:nvSpPr>
          <p:cNvPr id="51" name="TextBox 50"/>
          <p:cNvSpPr txBox="1"/>
          <p:nvPr/>
        </p:nvSpPr>
        <p:spPr>
          <a:xfrm>
            <a:off x="6995160" y="5321808"/>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Cảnh báo sớm và lịch bảo trì hiệu quả đến đâu?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biểu bài toán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Phát hiện dấu hiệu suy giảm và dự đoán thời điểm bảo trì từ dữ liệu cảm biến; đối chiếu yêu cầu Đề tài 8</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references/context/assignment-brief.png; report/sections/problem-data.tex</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7" name="TextBox 6"/>
          <p:cNvSpPr txBox="1"/>
          <p:nvPr/>
        </p:nvSpPr>
        <p:spPr>
          <a:xfrm>
            <a:off x="841248" y="2286000"/>
            <a:ext cx="4846320" cy="292608"/>
          </a:xfrm>
          <a:prstGeom prst="rect">
            <a:avLst/>
          </a:prstGeom>
          <a:noFill/>
        </p:spPr>
        <p:txBody>
          <a:bodyPr wrap="square" lIns="0" rIns="0" tIns="0" bIns="0" anchor="t"/>
          <a:lstStyle/>
          <a:p>
            <a:pPr algn="l">
              <a:spcAft>
                <a:spcPts val="0"/>
              </a:spcAft>
            </a:pPr>
            <a:r>
              <a:rPr sz="1500" b="1">
                <a:solidFill>
                  <a:srgbClr val="21409A"/>
                </a:solidFill>
                <a:latin typeface="Arial"/>
              </a:rPr>
              <a:t>Định nghĩa RUL</a:t>
            </a:r>
          </a:p>
        </p:txBody>
      </p:sp>
      <p:sp>
        <p:nvSpPr>
          <p:cNvPr id="8" name="Rectangle 7"/>
          <p:cNvSpPr/>
          <p:nvPr/>
        </p:nvSpPr>
        <p:spPr>
          <a:xfrm>
            <a:off x="914400" y="3108960"/>
            <a:ext cx="4206240" cy="182880"/>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89703" y="3108960"/>
            <a:ext cx="630936" cy="18288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010912" y="3054096"/>
            <a:ext cx="292608" cy="292608"/>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01568"/>
            <a:ext cx="914400" cy="256032"/>
          </a:xfrm>
          <a:prstGeom prst="rect">
            <a:avLst/>
          </a:prstGeom>
          <a:noFill/>
        </p:spPr>
        <p:txBody>
          <a:bodyPr wrap="square" lIns="0" rIns="0" tIns="0" bIns="0" anchor="t"/>
          <a:lstStyle/>
          <a:p>
            <a:pPr algn="l">
              <a:spcAft>
                <a:spcPts val="0"/>
              </a:spcAft>
            </a:pPr>
            <a:r>
              <a:rPr sz="1100" b="0">
                <a:solidFill>
                  <a:srgbClr val="5A6B7B"/>
                </a:solidFill>
                <a:latin typeface="Arial"/>
              </a:rPr>
              <a:t>cycle 1</a:t>
            </a:r>
          </a:p>
        </p:txBody>
      </p:sp>
      <p:sp>
        <p:nvSpPr>
          <p:cNvPr id="12" name="TextBox 11"/>
          <p:cNvSpPr txBox="1"/>
          <p:nvPr/>
        </p:nvSpPr>
        <p:spPr>
          <a:xfrm>
            <a:off x="4032503" y="2724912"/>
            <a:ext cx="91440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13" name="TextBox 12"/>
          <p:cNvSpPr txBox="1"/>
          <p:nvPr/>
        </p:nvSpPr>
        <p:spPr>
          <a:xfrm>
            <a:off x="4572000" y="3401568"/>
            <a:ext cx="1097280" cy="457200"/>
          </a:xfrm>
          <a:prstGeom prst="rect">
            <a:avLst/>
          </a:prstGeom>
          <a:noFill/>
        </p:spPr>
        <p:txBody>
          <a:bodyPr wrap="square" lIns="0" rIns="0" tIns="0" bIns="0" anchor="t"/>
          <a:lstStyle/>
          <a:p>
            <a:pPr algn="ctr">
              <a:spcAft>
                <a:spcPts val="0"/>
              </a:spcAft>
            </a:pPr>
            <a:r>
              <a:rPr sz="1100" b="0">
                <a:solidFill>
                  <a:srgbClr val="B23A3A"/>
                </a:solidFill>
                <a:latin typeface="Arial"/>
              </a:rPr>
              <a:t>hỏng
cycle 200</a:t>
            </a:r>
          </a:p>
        </p:txBody>
      </p:sp>
      <p:sp>
        <p:nvSpPr>
          <p:cNvPr id="14" name="TextBox 13"/>
          <p:cNvSpPr txBox="1"/>
          <p:nvPr/>
        </p:nvSpPr>
        <p:spPr>
          <a:xfrm>
            <a:off x="841248" y="3977639"/>
            <a:ext cx="4937760" cy="411480"/>
          </a:xfrm>
          <a:prstGeom prst="rect">
            <a:avLst/>
          </a:prstGeom>
          <a:noFill/>
        </p:spPr>
        <p:txBody>
          <a:bodyPr wrap="square" lIns="0" rIns="0" tIns="0" bIns="0" anchor="t"/>
          <a:lstStyle/>
          <a:p>
            <a:pPr algn="l">
              <a:spcAft>
                <a:spcPts val="0"/>
              </a:spcAft>
            </a:pPr>
            <a:r>
              <a:rPr sz="2200" b="1">
                <a:solidFill>
                  <a:srgbClr val="21409A"/>
                </a:solidFill>
                <a:latin typeface="Arial"/>
              </a:rPr>
              <a:t>RUL(t) = T − t</a:t>
            </a:r>
          </a:p>
        </p:txBody>
      </p:sp>
      <p:sp>
        <p:nvSpPr>
          <p:cNvPr id="15" name="TextBox 14"/>
          <p:cNvSpPr txBox="1"/>
          <p:nvPr/>
        </p:nvSpPr>
        <p:spPr>
          <a:xfrm>
            <a:off x="841248" y="4434840"/>
            <a:ext cx="4937760" cy="365760"/>
          </a:xfrm>
          <a:prstGeom prst="rect">
            <a:avLst/>
          </a:prstGeom>
          <a:noFill/>
        </p:spPr>
        <p:txBody>
          <a:bodyPr wrap="square" lIns="0" rIns="0" tIns="0" bIns="0" anchor="t"/>
          <a:lstStyle/>
          <a:p>
            <a:pPr algn="l">
              <a:spcAft>
                <a:spcPts val="0"/>
              </a:spcAft>
            </a:pPr>
            <a:r>
              <a:rPr sz="1600" b="1">
                <a:solidFill>
                  <a:srgbClr val="B37800"/>
                </a:solidFill>
                <a:latin typeface="Arial"/>
              </a:rPr>
              <a:t>RUL(170) = 200 − 170 = 30 cycle</a:t>
            </a:r>
          </a:p>
        </p:txBody>
      </p:sp>
      <p:sp>
        <p:nvSpPr>
          <p:cNvPr id="16" name="TextBox 15"/>
          <p:cNvSpPr txBox="1"/>
          <p:nvPr/>
        </p:nvSpPr>
        <p:spPr>
          <a:xfrm>
            <a:off x="841248" y="4937760"/>
            <a:ext cx="4846320" cy="1005840"/>
          </a:xfrm>
          <a:prstGeom prst="rect">
            <a:avLst/>
          </a:prstGeom>
          <a:noFill/>
        </p:spPr>
        <p:txBody>
          <a:bodyPr wrap="square" lIns="0" rIns="0" tIns="0" bIns="0" anchor="t"/>
          <a:lstStyle/>
          <a:p>
            <a:pPr algn="l">
              <a:spcAft>
                <a:spcPts val="0"/>
              </a:spcAft>
            </a:pPr>
            <a:r>
              <a:rPr sz="1400" b="0">
                <a:solidFill>
                  <a:srgbClr val="1B2733"/>
                </a:solidFill>
                <a:latin typeface="Arial"/>
              </a:rPr>
              <a:t>T: cycle động cơ hỏng. Đầu vào: chuỗi 21 tín hiệu cảm biến theo cycle. Đầu ra: dấu hiệu bất thường, RUL dự đoán và mức cảnh báo.</a:t>
            </a:r>
          </a:p>
        </p:txBody>
      </p:sp>
      <p:graphicFrame>
        <p:nvGraphicFramePr>
          <p:cNvPr id="17" name="Table 16"/>
          <p:cNvGraphicFramePr>
            <a:graphicFrameLocks noGrp="1"/>
          </p:cNvGraphicFramePr>
          <p:nvPr/>
        </p:nvGraphicFramePr>
        <p:xfrm>
          <a:off x="5989320" y="2286000"/>
          <a:ext cx="5367528" cy="3712464"/>
        </p:xfrm>
        <a:graphic>
          <a:graphicData uri="http://schemas.openxmlformats.org/drawingml/2006/table">
            <a:tbl>
              <a:tblPr firstRow="1" bandRow="1">
                <a:tableStyleId>{5C22544A-7EE6-4342-B048-85BDC9FD1C3A}</a:tableStyleId>
              </a:tblPr>
              <a:tblGrid>
                <a:gridCol w="1965960"/>
                <a:gridCol w="2697480"/>
                <a:gridCol w="704088"/>
              </a:tblGrid>
              <a:tr h="530352">
                <a:tc>
                  <a:txBody>
                    <a:bodyPr wrap="square"/>
                    <a:lstStyle/>
                    <a:p>
                      <a:r>
                        <a:rPr sz="1150" b="1">
                          <a:solidFill>
                            <a:srgbClr val="FFFFFF"/>
                          </a:solidFill>
                          <a:latin typeface="Arial"/>
                        </a:rPr>
                        <a:t>Yêu cầu của đề tài</a:t>
                      </a:r>
                    </a:p>
                  </a:txBody>
                  <a:tcPr marL="73152" marR="73152" marT="27432" marB="27432" anchor="ctr">
                    <a:solidFill>
                      <a:srgbClr val="21409A"/>
                    </a:solidFill>
                  </a:tcPr>
                </a:tc>
                <a:tc>
                  <a:txBody>
                    <a:bodyPr wrap="square"/>
                    <a:lstStyle/>
                    <a:p>
                      <a:r>
                        <a:rPr sz="1150" b="1">
                          <a:solidFill>
                            <a:srgbClr val="FFFFFF"/>
                          </a:solidFill>
                          <a:latin typeface="Arial"/>
                        </a:rPr>
                        <a:t>Cách thực hiện</a:t>
                      </a:r>
                    </a:p>
                  </a:txBody>
                  <a:tcPr marL="73152" marR="73152" marT="27432" marB="27432" anchor="ctr">
                    <a:solidFill>
                      <a:srgbClr val="21409A"/>
                    </a:solidFill>
                  </a:tcPr>
                </a:tc>
                <a:tc>
                  <a:txBody>
                    <a:bodyPr wrap="square"/>
                    <a:lstStyle/>
                    <a:p>
                      <a:r>
                        <a:rPr sz="1150" b="1">
                          <a:solidFill>
                            <a:srgbClr val="FFFFFF"/>
                          </a:solidFill>
                          <a:latin typeface="Arial"/>
                        </a:rPr>
                        <a:t>Slide</a:t>
                      </a:r>
                    </a:p>
                  </a:txBody>
                  <a:tcPr marL="73152" marR="73152" marT="27432" marB="27432" anchor="ctr">
                    <a:solidFill>
                      <a:srgbClr val="21409A"/>
                    </a:solidFill>
                  </a:tcPr>
                </a:tc>
              </a:tr>
              <a:tr h="530352">
                <a:tc>
                  <a:txBody>
                    <a:bodyPr wrap="square"/>
                    <a:lstStyle/>
                    <a:p>
                      <a:r>
                        <a:rPr sz="1150" b="0">
                          <a:solidFill>
                            <a:srgbClr val="1B2733"/>
                          </a:solidFill>
                          <a:latin typeface="Arial"/>
                        </a:rPr>
                        <a:t>Xử lý chuỗi thời gian cảm biến</a:t>
                      </a:r>
                    </a:p>
                  </a:txBody>
                  <a:tcPr marL="73152" marR="73152" marT="27432" marB="27432" anchor="ctr">
                    <a:solidFill>
                      <a:srgbClr val="FFFFFF"/>
                    </a:solidFill>
                  </a:tcPr>
                </a:tc>
                <a:tc>
                  <a:txBody>
                    <a:bodyPr wrap="square"/>
                    <a:lstStyle/>
                    <a:p>
                      <a:r>
                        <a:rPr sz="1150" b="0">
                          <a:solidFill>
                            <a:srgbClr val="1B2733"/>
                          </a:solidFill>
                          <a:latin typeface="Arial"/>
                        </a:rPr>
                        <a:t>Kiểm tra khóa, cycle liên tục; sắp theo động cơ và cycle</a:t>
                      </a:r>
                    </a:p>
                  </a:txBody>
                  <a:tcPr marL="73152" marR="73152" marT="27432" marB="27432" anchor="ctr">
                    <a:solidFill>
                      <a:srgbClr val="FFFFFF"/>
                    </a:solidFill>
                  </a:tcPr>
                </a:tc>
                <a:tc>
                  <a:txBody>
                    <a:bodyPr wrap="square"/>
                    <a:lstStyle/>
                    <a:p>
                      <a:r>
                        <a:rPr sz="1150" b="0">
                          <a:solidFill>
                            <a:srgbClr val="1B2733"/>
                          </a:solidFill>
                          <a:latin typeface="Arial"/>
                        </a:rPr>
                        <a:t>6, 9, 10</a:t>
                      </a:r>
                    </a:p>
                  </a:txBody>
                  <a:tcPr marL="73152" marR="73152" marT="27432" marB="27432" anchor="ctr">
                    <a:solidFill>
                      <a:srgbClr val="FFFFFF"/>
                    </a:solidFill>
                  </a:tcPr>
                </a:tc>
              </a:tr>
              <a:tr h="530352">
                <a:tc>
                  <a:txBody>
                    <a:bodyPr wrap="square"/>
                    <a:lstStyle/>
                    <a:p>
                      <a:r>
                        <a:rPr sz="1150" b="0">
                          <a:solidFill>
                            <a:srgbClr val="1B2733"/>
                          </a:solidFill>
                          <a:latin typeface="Arial"/>
                        </a:rPr>
                        <a:t>Xử lý nhiễu tín hiệu</a:t>
                      </a:r>
                    </a:p>
                  </a:txBody>
                  <a:tcPr marL="73152" marR="73152" marT="27432" marB="27432" anchor="ctr">
                    <a:solidFill>
                      <a:srgbClr val="EAF0FA"/>
                    </a:solidFill>
                  </a:tcPr>
                </a:tc>
                <a:tc>
                  <a:txBody>
                    <a:bodyPr wrap="square"/>
                    <a:lstStyle/>
                    <a:p>
                      <a:r>
                        <a:rPr sz="1150" b="0">
                          <a:solidFill>
                            <a:srgbClr val="1B2733"/>
                          </a:solidFill>
                          <a:latin typeface="Arial"/>
                        </a:rPr>
                        <a:t>Làm mượt EWMA span 10 theo từng động cơ, chỉ dùng quá khứ</a:t>
                      </a:r>
                    </a:p>
                  </a:txBody>
                  <a:tcPr marL="73152" marR="73152" marT="27432" marB="27432" anchor="ctr">
                    <a:solidFill>
                      <a:srgbClr val="EAF0FA"/>
                    </a:solidFill>
                  </a:tcPr>
                </a:tc>
                <a:tc>
                  <a:txBody>
                    <a:bodyPr wrap="square"/>
                    <a:lstStyle/>
                    <a:p>
                      <a:r>
                        <a:rPr sz="1150" b="0">
                          <a:solidFill>
                            <a:srgbClr val="1B2733"/>
                          </a:solidFill>
                          <a:latin typeface="Arial"/>
                        </a:rPr>
                        <a:t>9</a:t>
                      </a:r>
                    </a:p>
                  </a:txBody>
                  <a:tcPr marL="73152" marR="73152" marT="27432" marB="27432" anchor="ctr">
                    <a:solidFill>
                      <a:srgbClr val="EAF0FA"/>
                    </a:solidFill>
                  </a:tcPr>
                </a:tc>
              </a:tr>
              <a:tr h="530352">
                <a:tc>
                  <a:txBody>
                    <a:bodyPr wrap="square"/>
                    <a:lstStyle/>
                    <a:p>
                      <a:r>
                        <a:rPr sz="1150" b="0">
                          <a:solidFill>
                            <a:srgbClr val="1B2733"/>
                          </a:solidFill>
                          <a:latin typeface="Arial"/>
                        </a:rPr>
                        <a:t>Chuẩn hóa, tổng hợp theo cửa sổ</a:t>
                      </a:r>
                    </a:p>
                  </a:txBody>
                  <a:tcPr marL="73152" marR="73152" marT="27432" marB="27432" anchor="ctr">
                    <a:solidFill>
                      <a:srgbClr val="FFFFFF"/>
                    </a:solidFill>
                  </a:tcPr>
                </a:tc>
                <a:tc>
                  <a:txBody>
                    <a:bodyPr wrap="square"/>
                    <a:lstStyle/>
                    <a:p>
                      <a:r>
                        <a:rPr sz="1150" b="0">
                          <a:solidFill>
                            <a:srgbClr val="1B2733"/>
                          </a:solidFill>
                          <a:latin typeface="Arial"/>
                        </a:rPr>
                        <a:t>StandardScaler; cửa sổ 30 cycle → 126 đặc trưng</a:t>
                      </a:r>
                    </a:p>
                  </a:txBody>
                  <a:tcPr marL="73152" marR="73152" marT="27432" marB="27432" anchor="ctr">
                    <a:solidFill>
                      <a:srgbClr val="FFFFFF"/>
                    </a:solidFill>
                  </a:tcPr>
                </a:tc>
                <a:tc>
                  <a:txBody>
                    <a:bodyPr wrap="square"/>
                    <a:lstStyle/>
                    <a:p>
                      <a:r>
                        <a:rPr sz="1150" b="0">
                          <a:solidFill>
                            <a:srgbClr val="1B2733"/>
                          </a:solidFill>
                          <a:latin typeface="Arial"/>
                        </a:rPr>
                        <a:t>10</a:t>
                      </a:r>
                    </a:p>
                  </a:txBody>
                  <a:tcPr marL="73152" marR="73152" marT="27432" marB="27432" anchor="ctr">
                    <a:solidFill>
                      <a:srgbClr val="FFFFFF"/>
                    </a:solidFill>
                  </a:tcPr>
                </a:tc>
              </a:tr>
              <a:tr h="530352">
                <a:tc>
                  <a:txBody>
                    <a:bodyPr wrap="square"/>
                    <a:lstStyle/>
                    <a:p>
                      <a:r>
                        <a:rPr sz="1150" b="0">
                          <a:solidFill>
                            <a:srgbClr val="1B2733"/>
                          </a:solidFill>
                          <a:latin typeface="Arial"/>
                        </a:rPr>
                        <a:t>Phát hiện dấu hiệu bất thường</a:t>
                      </a:r>
                    </a:p>
                  </a:txBody>
                  <a:tcPr marL="73152" marR="73152" marT="27432" marB="27432" anchor="ctr">
                    <a:solidFill>
                      <a:srgbClr val="EAF0FA"/>
                    </a:solidFill>
                  </a:tcPr>
                </a:tc>
                <a:tc>
                  <a:txBody>
                    <a:bodyPr wrap="square"/>
                    <a:lstStyle/>
                    <a:p>
                      <a:r>
                        <a:rPr sz="1150" b="0">
                          <a:solidFill>
                            <a:srgbClr val="1B2733"/>
                          </a:solidFill>
                          <a:latin typeface="Arial"/>
                        </a:rPr>
                        <a:t>Health Index (chỉ số sức khỏe) giảm quá 3σ so với 30 cycle đầu</a:t>
                      </a:r>
                    </a:p>
                  </a:txBody>
                  <a:tcPr marL="73152" marR="73152" marT="27432" marB="27432" anchor="ctr">
                    <a:solidFill>
                      <a:srgbClr val="EAF0FA"/>
                    </a:solidFill>
                  </a:tcPr>
                </a:tc>
                <a:tc>
                  <a:txBody>
                    <a:bodyPr wrap="square"/>
                    <a:lstStyle/>
                    <a:p>
                      <a:r>
                        <a:rPr sz="1150" b="0">
                          <a:solidFill>
                            <a:srgbClr val="1B2733"/>
                          </a:solidFill>
                          <a:latin typeface="Arial"/>
                        </a:rPr>
                        <a:t>12</a:t>
                      </a:r>
                    </a:p>
                  </a:txBody>
                  <a:tcPr marL="73152" marR="73152" marT="27432" marB="27432" anchor="ctr">
                    <a:solidFill>
                      <a:srgbClr val="EAF0FA"/>
                    </a:solidFill>
                  </a:tcPr>
                </a:tc>
              </a:tr>
              <a:tr h="530352">
                <a:tc>
                  <a:txBody>
                    <a:bodyPr wrap="square"/>
                    <a:lstStyle/>
                    <a:p>
                      <a:r>
                        <a:rPr sz="1150" b="0">
                          <a:solidFill>
                            <a:srgbClr val="1B2733"/>
                          </a:solidFill>
                          <a:latin typeface="Arial"/>
                        </a:rPr>
                        <a:t>Trực quan hóa xu hướng suy giảm</a:t>
                      </a:r>
                    </a:p>
                  </a:txBody>
                  <a:tcPr marL="73152" marR="73152" marT="27432" marB="27432" anchor="ctr">
                    <a:solidFill>
                      <a:srgbClr val="FFFFFF"/>
                    </a:solidFill>
                  </a:tcPr>
                </a:tc>
                <a:tc>
                  <a:txBody>
                    <a:bodyPr wrap="square"/>
                    <a:lstStyle/>
                    <a:p>
                      <a:r>
                        <a:rPr sz="1150" b="0">
                          <a:solidFill>
                            <a:srgbClr val="1B2733"/>
                          </a:solidFill>
                          <a:latin typeface="Arial"/>
                        </a:rPr>
                        <a:t>Quỹ đạo sensor, kiểm định đầu/cuối, Health Index</a:t>
                      </a:r>
                    </a:p>
                  </a:txBody>
                  <a:tcPr marL="73152" marR="73152" marT="27432" marB="27432" anchor="ctr">
                    <a:solidFill>
                      <a:srgbClr val="FFFFFF"/>
                    </a:solidFill>
                  </a:tcPr>
                </a:tc>
                <a:tc>
                  <a:txBody>
                    <a:bodyPr wrap="square"/>
                    <a:lstStyle/>
                    <a:p>
                      <a:r>
                        <a:rPr sz="1150" b="0">
                          <a:solidFill>
                            <a:srgbClr val="1B2733"/>
                          </a:solidFill>
                          <a:latin typeface="Arial"/>
                        </a:rPr>
                        <a:t>11, 12</a:t>
                      </a:r>
                    </a:p>
                  </a:txBody>
                  <a:tcPr marL="73152" marR="73152" marT="27432" marB="27432" anchor="ctr">
                    <a:solidFill>
                      <a:srgbClr val="FFFFFF"/>
                    </a:solidFill>
                  </a:tcPr>
                </a:tc>
              </a:tr>
              <a:tr h="530352">
                <a:tc>
                  <a:txBody>
                    <a:bodyPr wrap="square"/>
                    <a:lstStyle/>
                    <a:p>
                      <a:r>
                        <a:rPr sz="1150" b="0">
                          <a:solidFill>
                            <a:srgbClr val="1B2733"/>
                          </a:solidFill>
                          <a:latin typeface="Arial"/>
                        </a:rPr>
                        <a:t>Dự đoán thời điểm bảo trì, cảnh báo sớm</a:t>
                      </a:r>
                    </a:p>
                  </a:txBody>
                  <a:tcPr marL="73152" marR="73152" marT="27432" marB="27432" anchor="ctr">
                    <a:solidFill>
                      <a:srgbClr val="EAF0FA"/>
                    </a:solidFill>
                  </a:tcPr>
                </a:tc>
                <a:tc>
                  <a:txBody>
                    <a:bodyPr wrap="square"/>
                    <a:lstStyle/>
                    <a:p>
                      <a:r>
                        <a:rPr sz="1150" b="0">
                          <a:solidFill>
                            <a:srgbClr val="1B2733"/>
                          </a:solidFill>
                          <a:latin typeface="Arial"/>
                        </a:rPr>
                        <a:t>Lịch bảo trì cho 100 động cơ test; hai mức cảnh báo</a:t>
                      </a:r>
                    </a:p>
                  </a:txBody>
                  <a:tcPr marL="73152" marR="73152" marT="27432" marB="27432" anchor="ctr">
                    <a:solidFill>
                      <a:srgbClr val="EAF0FA"/>
                    </a:solidFill>
                  </a:tcPr>
                </a:tc>
                <a:tc>
                  <a:txBody>
                    <a:bodyPr wrap="square"/>
                    <a:lstStyle/>
                    <a:p>
                      <a:r>
                        <a:rPr sz="1150" b="0">
                          <a:solidFill>
                            <a:srgbClr val="1B2733"/>
                          </a:solidFill>
                          <a:latin typeface="Arial"/>
                        </a:rPr>
                        <a:t>15, 16</a:t>
                      </a:r>
                    </a:p>
                  </a:txBody>
                  <a:tcPr marL="73152" marR="73152" marT="27432" marB="27432" anchor="ctr">
                    <a:solidFill>
                      <a:srgbClr val="EAF0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Bộ dữ liệu NASA C-MAPSS</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Chọn NASA Turbofan (C-MAPSS) trong gợi ý của đề vì có chuỗi cảm biến chạy đến khi hỏng của từng động cơ</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data/raw/readme.txt; outputs/cross_dataset/FD00x/etl/run_info.json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sp>
        <p:nvSpPr>
          <p:cNvPr id="7" name="Rounded Rectangle 6"/>
          <p:cNvSpPr/>
          <p:nvPr/>
        </p:nvSpPr>
        <p:spPr>
          <a:xfrm>
            <a:off x="841248" y="2286000"/>
            <a:ext cx="2487168" cy="2240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395728"/>
            <a:ext cx="2103120" cy="457200"/>
          </a:xfrm>
          <a:prstGeom prst="rect">
            <a:avLst/>
          </a:prstGeom>
          <a:noFill/>
        </p:spPr>
        <p:txBody>
          <a:bodyPr wrap="square" lIns="0" rIns="0" tIns="0" bIns="0" anchor="t"/>
          <a:lstStyle/>
          <a:p>
            <a:pPr algn="l">
              <a:spcAft>
                <a:spcPts val="0"/>
              </a:spcAft>
            </a:pPr>
            <a:r>
              <a:rPr sz="2400" b="1">
                <a:solidFill>
                  <a:srgbClr val="FFFFFF"/>
                </a:solidFill>
                <a:latin typeface="Arial"/>
              </a:rPr>
              <a:t>FD001</a:t>
            </a:r>
          </a:p>
        </p:txBody>
      </p:sp>
      <p:sp>
        <p:nvSpPr>
          <p:cNvPr id="9" name="TextBox 8"/>
          <p:cNvSpPr txBox="1"/>
          <p:nvPr/>
        </p:nvSpPr>
        <p:spPr>
          <a:xfrm>
            <a:off x="1042416" y="2852928"/>
            <a:ext cx="2103120" cy="274320"/>
          </a:xfrm>
          <a:prstGeom prst="rect">
            <a:avLst/>
          </a:prstGeom>
          <a:noFill/>
        </p:spPr>
        <p:txBody>
          <a:bodyPr wrap="square" lIns="0" rIns="0" tIns="0" bIns="0" anchor="t"/>
          <a:lstStyle/>
          <a:p>
            <a:pPr algn="l">
              <a:spcAft>
                <a:spcPts val="0"/>
              </a:spcAft>
            </a:pPr>
            <a:r>
              <a:rPr sz="1150" b="1">
                <a:solidFill>
                  <a:srgbClr val="FCB525"/>
                </a:solidFill>
                <a:latin typeface="Arial"/>
              </a:rPr>
              <a:t>Phân tích chính</a:t>
            </a:r>
          </a:p>
        </p:txBody>
      </p:sp>
      <p:sp>
        <p:nvSpPr>
          <p:cNvPr id="10" name="TextBox 9"/>
          <p:cNvSpPr txBox="1"/>
          <p:nvPr/>
        </p:nvSpPr>
        <p:spPr>
          <a:xfrm>
            <a:off x="1042416" y="3200400"/>
            <a:ext cx="2194560" cy="566928"/>
          </a:xfrm>
          <a:prstGeom prst="rect">
            <a:avLst/>
          </a:prstGeom>
          <a:noFill/>
        </p:spPr>
        <p:txBody>
          <a:bodyPr wrap="square" lIns="0" rIns="0" tIns="0" bIns="0" anchor="t"/>
          <a:lstStyle/>
          <a:p>
            <a:pPr algn="l">
              <a:spcAft>
                <a:spcPts val="0"/>
              </a:spcAft>
            </a:pPr>
            <a:r>
              <a:rPr sz="1300" b="0">
                <a:solidFill>
                  <a:srgbClr val="FFFFFF"/>
                </a:solidFill>
                <a:latin typeface="Arial"/>
              </a:rPr>
              <a:t>1 điều kiện vận hành
1 dạng lỗi (HPC)</a:t>
            </a:r>
          </a:p>
        </p:txBody>
      </p:sp>
      <p:sp>
        <p:nvSpPr>
          <p:cNvPr id="11" name="TextBox 10"/>
          <p:cNvSpPr txBox="1"/>
          <p:nvPr/>
        </p:nvSpPr>
        <p:spPr>
          <a:xfrm>
            <a:off x="1042416" y="3840480"/>
            <a:ext cx="2194560" cy="566928"/>
          </a:xfrm>
          <a:prstGeom prst="rect">
            <a:avLst/>
          </a:prstGeom>
          <a:noFill/>
        </p:spPr>
        <p:txBody>
          <a:bodyPr wrap="square" lIns="0" rIns="0" tIns="0" bIns="0" anchor="t"/>
          <a:lstStyle/>
          <a:p>
            <a:pPr algn="l">
              <a:spcAft>
                <a:spcPts val="0"/>
              </a:spcAft>
            </a:pPr>
            <a:r>
              <a:rPr sz="1300" b="0">
                <a:solidFill>
                  <a:srgbClr val="C9D6F0"/>
                </a:solidFill>
                <a:latin typeface="Arial"/>
              </a:rPr>
              <a:t>100 train / 100 test
33.727 quan sát</a:t>
            </a:r>
          </a:p>
        </p:txBody>
      </p:sp>
      <p:sp>
        <p:nvSpPr>
          <p:cNvPr id="12" name="Rounded Rectangle 11"/>
          <p:cNvSpPr/>
          <p:nvPr/>
        </p:nvSpPr>
        <p:spPr>
          <a:xfrm>
            <a:off x="349300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9417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FD002</a:t>
            </a:r>
          </a:p>
        </p:txBody>
      </p:sp>
      <p:sp>
        <p:nvSpPr>
          <p:cNvPr id="14" name="TextBox 13"/>
          <p:cNvSpPr txBox="1"/>
          <p:nvPr/>
        </p:nvSpPr>
        <p:spPr>
          <a:xfrm>
            <a:off x="369417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15" name="TextBox 14"/>
          <p:cNvSpPr txBox="1"/>
          <p:nvPr/>
        </p:nvSpPr>
        <p:spPr>
          <a:xfrm>
            <a:off x="369417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1 dạng lỗi (HPC)</a:t>
            </a:r>
          </a:p>
        </p:txBody>
      </p:sp>
      <p:sp>
        <p:nvSpPr>
          <p:cNvPr id="16" name="TextBox 15"/>
          <p:cNvSpPr txBox="1"/>
          <p:nvPr/>
        </p:nvSpPr>
        <p:spPr>
          <a:xfrm>
            <a:off x="369417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260 train / 259 test
87.750 quan sát</a:t>
            </a:r>
          </a:p>
        </p:txBody>
      </p:sp>
      <p:sp>
        <p:nvSpPr>
          <p:cNvPr id="17" name="Rounded Rectangle 16"/>
          <p:cNvSpPr/>
          <p:nvPr/>
        </p:nvSpPr>
        <p:spPr>
          <a:xfrm>
            <a:off x="614476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FD003</a:t>
            </a:r>
          </a:p>
        </p:txBody>
      </p:sp>
      <p:sp>
        <p:nvSpPr>
          <p:cNvPr id="19" name="TextBox 18"/>
          <p:cNvSpPr txBox="1"/>
          <p:nvPr/>
        </p:nvSpPr>
        <p:spPr>
          <a:xfrm>
            <a:off x="634593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0" name="TextBox 19"/>
          <p:cNvSpPr txBox="1"/>
          <p:nvPr/>
        </p:nvSpPr>
        <p:spPr>
          <a:xfrm>
            <a:off x="634593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1 điều kiện vận hành
2 dạng lỗi (HPC, Fan)</a:t>
            </a:r>
          </a:p>
        </p:txBody>
      </p:sp>
      <p:sp>
        <p:nvSpPr>
          <p:cNvPr id="21" name="TextBox 20"/>
          <p:cNvSpPr txBox="1"/>
          <p:nvPr/>
        </p:nvSpPr>
        <p:spPr>
          <a:xfrm>
            <a:off x="634593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100 train / 100 test
41.316 quan sát</a:t>
            </a:r>
          </a:p>
        </p:txBody>
      </p:sp>
      <p:sp>
        <p:nvSpPr>
          <p:cNvPr id="22" name="Rounded Rectangle 21"/>
          <p:cNvSpPr/>
          <p:nvPr/>
        </p:nvSpPr>
        <p:spPr>
          <a:xfrm>
            <a:off x="879652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769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FD004</a:t>
            </a:r>
          </a:p>
        </p:txBody>
      </p:sp>
      <p:sp>
        <p:nvSpPr>
          <p:cNvPr id="24" name="TextBox 23"/>
          <p:cNvSpPr txBox="1"/>
          <p:nvPr/>
        </p:nvSpPr>
        <p:spPr>
          <a:xfrm>
            <a:off x="899769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5" name="TextBox 24"/>
          <p:cNvSpPr txBox="1"/>
          <p:nvPr/>
        </p:nvSpPr>
        <p:spPr>
          <a:xfrm>
            <a:off x="899769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2 dạng lỗi (HPC, Fan)</a:t>
            </a:r>
          </a:p>
        </p:txBody>
      </p:sp>
      <p:sp>
        <p:nvSpPr>
          <p:cNvPr id="26" name="TextBox 25"/>
          <p:cNvSpPr txBox="1"/>
          <p:nvPr/>
        </p:nvSpPr>
        <p:spPr>
          <a:xfrm>
            <a:off x="899769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249 train / 248 test
102.463 quan sát</a:t>
            </a:r>
          </a:p>
        </p:txBody>
      </p:sp>
      <p:sp>
        <p:nvSpPr>
          <p:cNvPr id="27" name="TextBox 26"/>
          <p:cNvSpPr txBox="1"/>
          <p:nvPr/>
        </p:nvSpPr>
        <p:spPr>
          <a:xfrm>
            <a:off x="841248" y="4754880"/>
            <a:ext cx="7315200" cy="310896"/>
          </a:xfrm>
          <a:prstGeom prst="rect">
            <a:avLst/>
          </a:prstGeom>
          <a:noFill/>
        </p:spPr>
        <p:txBody>
          <a:bodyPr wrap="square" lIns="0" rIns="0" tIns="0" bIns="0" anchor="t"/>
          <a:lstStyle/>
          <a:p>
            <a:pPr algn="l">
              <a:spcAft>
                <a:spcPts val="0"/>
              </a:spcAft>
            </a:pPr>
            <a:r>
              <a:rPr sz="1500" b="1">
                <a:solidFill>
                  <a:srgbClr val="21409A"/>
                </a:solidFill>
                <a:latin typeface="Arial"/>
              </a:rPr>
              <a:t>Cấu trúc một bản ghi quan sát (26 trường)</a:t>
            </a:r>
          </a:p>
        </p:txBody>
      </p:sp>
      <p:sp>
        <p:nvSpPr>
          <p:cNvPr id="28" name="Rounded Rectangle 27"/>
          <p:cNvSpPr/>
          <p:nvPr/>
        </p:nvSpPr>
        <p:spPr>
          <a:xfrm>
            <a:off x="841248" y="5120640"/>
            <a:ext cx="123444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5120640"/>
            <a:ext cx="1234440" cy="438912"/>
          </a:xfrm>
          <a:prstGeom prst="rect">
            <a:avLst/>
          </a:prstGeom>
          <a:noFill/>
        </p:spPr>
        <p:txBody>
          <a:bodyPr wrap="square" lIns="0" rIns="0" tIns="0" bIns="0" anchor="ctr"/>
          <a:lstStyle/>
          <a:p>
            <a:pPr algn="ctr">
              <a:spcAft>
                <a:spcPts val="0"/>
              </a:spcAft>
            </a:pPr>
            <a:r>
              <a:rPr sz="1300" b="1">
                <a:solidFill>
                  <a:srgbClr val="FFFFFF"/>
                </a:solidFill>
                <a:latin typeface="Arial"/>
              </a:rPr>
              <a:t>engine_id</a:t>
            </a:r>
          </a:p>
        </p:txBody>
      </p:sp>
      <p:sp>
        <p:nvSpPr>
          <p:cNvPr id="30" name="Rounded Rectangle 29"/>
          <p:cNvSpPr/>
          <p:nvPr/>
        </p:nvSpPr>
        <p:spPr>
          <a:xfrm>
            <a:off x="2148840" y="5120640"/>
            <a:ext cx="91440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5120640"/>
            <a:ext cx="914400" cy="438912"/>
          </a:xfrm>
          <a:prstGeom prst="rect">
            <a:avLst/>
          </a:prstGeom>
          <a:noFill/>
        </p:spPr>
        <p:txBody>
          <a:bodyPr wrap="square" lIns="0" rIns="0" tIns="0" bIns="0" anchor="ctr"/>
          <a:lstStyle/>
          <a:p>
            <a:pPr algn="ctr">
              <a:spcAft>
                <a:spcPts val="0"/>
              </a:spcAft>
            </a:pPr>
            <a:r>
              <a:rPr sz="1300" b="1">
                <a:solidFill>
                  <a:srgbClr val="FFFFFF"/>
                </a:solidFill>
                <a:latin typeface="Arial"/>
              </a:rPr>
              <a:t>cycle</a:t>
            </a:r>
          </a:p>
        </p:txBody>
      </p:sp>
      <p:sp>
        <p:nvSpPr>
          <p:cNvPr id="32" name="Rounded Rectangle 31"/>
          <p:cNvSpPr/>
          <p:nvPr/>
        </p:nvSpPr>
        <p:spPr>
          <a:xfrm>
            <a:off x="3136392" y="5120640"/>
            <a:ext cx="2331720" cy="438912"/>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36392" y="5120640"/>
            <a:ext cx="2331720" cy="438912"/>
          </a:xfrm>
          <a:prstGeom prst="rect">
            <a:avLst/>
          </a:prstGeom>
          <a:noFill/>
        </p:spPr>
        <p:txBody>
          <a:bodyPr wrap="square" lIns="0" rIns="0" tIns="0" bIns="0" anchor="ctr"/>
          <a:lstStyle/>
          <a:p>
            <a:pPr algn="ctr">
              <a:spcAft>
                <a:spcPts val="0"/>
              </a:spcAft>
            </a:pPr>
            <a:r>
              <a:rPr sz="1300" b="1">
                <a:solidFill>
                  <a:srgbClr val="FFFFFF"/>
                </a:solidFill>
                <a:latin typeface="Arial"/>
              </a:rPr>
              <a:t>setting_1 … setting_3</a:t>
            </a:r>
          </a:p>
        </p:txBody>
      </p:sp>
      <p:sp>
        <p:nvSpPr>
          <p:cNvPr id="34" name="Rounded Rectangle 33"/>
          <p:cNvSpPr/>
          <p:nvPr/>
        </p:nvSpPr>
        <p:spPr>
          <a:xfrm>
            <a:off x="5541264" y="5120640"/>
            <a:ext cx="5815584" cy="43891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541264" y="5120640"/>
            <a:ext cx="5815584" cy="438912"/>
          </a:xfrm>
          <a:prstGeom prst="rect">
            <a:avLst/>
          </a:prstGeom>
          <a:noFill/>
        </p:spPr>
        <p:txBody>
          <a:bodyPr wrap="square" lIns="0" rIns="0" tIns="0" bIns="0" anchor="ctr"/>
          <a:lstStyle/>
          <a:p>
            <a:pPr algn="ctr">
              <a:spcAft>
                <a:spcPts val="0"/>
              </a:spcAft>
            </a:pPr>
            <a:r>
              <a:rPr sz="1300" b="1">
                <a:solidFill>
                  <a:srgbClr val="1B2733"/>
                </a:solidFill>
                <a:latin typeface="Arial"/>
              </a:rPr>
              <a:t>sensor_1 … sensor_21</a:t>
            </a:r>
          </a:p>
        </p:txBody>
      </p:sp>
      <p:sp>
        <p:nvSpPr>
          <p:cNvPr id="36" name="TextBox 35"/>
          <p:cNvSpPr txBox="1"/>
          <p:nvPr/>
        </p:nvSpPr>
        <p:spPr>
          <a:xfrm>
            <a:off x="841248" y="5669280"/>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Khóa chính gồm split (train hoặc test, thêm khi ETL), engine_id và cycle. Không có giá trị thiếu. HPC: máy nén áp suất cao.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Xây dựng nhãn RUL và ranh giới tập test</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Nhãn tập test chỉ được dùng sau khi đã lưu kết quả dự đoán, để tránh rò rỉ dữ liệu (data leakage)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data/CONTRACTS.md; outputs/modeling/run_info.json; outputs/modeling/tables/final_metrics.json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sp>
        <p:nvSpPr>
          <p:cNvPr id="7" name="TextBox 6"/>
          <p:cNvSpPr txBox="1"/>
          <p:nvPr/>
        </p:nvSpPr>
        <p:spPr>
          <a:xfrm>
            <a:off x="841248" y="233172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Train</a:t>
            </a:r>
          </a:p>
        </p:txBody>
      </p:sp>
      <p:sp>
        <p:nvSpPr>
          <p:cNvPr id="8" name="TextBox 7"/>
          <p:cNvSpPr txBox="1"/>
          <p:nvPr/>
        </p:nvSpPr>
        <p:spPr>
          <a:xfrm>
            <a:off x="841248" y="2660903"/>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chạy đến khi hỏng</a:t>
            </a:r>
          </a:p>
        </p:txBody>
      </p:sp>
      <p:sp>
        <p:nvSpPr>
          <p:cNvPr id="9" name="Rectangle 8"/>
          <p:cNvSpPr/>
          <p:nvPr/>
        </p:nvSpPr>
        <p:spPr>
          <a:xfrm>
            <a:off x="2514600" y="2441448"/>
            <a:ext cx="480060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78040" y="2395727"/>
            <a:ext cx="329184" cy="329184"/>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2788920"/>
            <a:ext cx="914400" cy="256032"/>
          </a:xfrm>
          <a:prstGeom prst="rect">
            <a:avLst/>
          </a:prstGeom>
          <a:noFill/>
        </p:spPr>
        <p:txBody>
          <a:bodyPr wrap="square" lIns="0" rIns="0" tIns="0" bIns="0" anchor="t"/>
          <a:lstStyle/>
          <a:p>
            <a:pPr algn="ctr">
              <a:spcAft>
                <a:spcPts val="0"/>
              </a:spcAft>
            </a:pPr>
            <a:r>
              <a:rPr sz="1150" b="0">
                <a:solidFill>
                  <a:srgbClr val="B23A3A"/>
                </a:solidFill>
                <a:latin typeface="Arial"/>
              </a:rPr>
              <a:t>hỏng</a:t>
            </a:r>
          </a:p>
        </p:txBody>
      </p:sp>
      <p:sp>
        <p:nvSpPr>
          <p:cNvPr id="12" name="TextBox 11"/>
          <p:cNvSpPr txBox="1"/>
          <p:nvPr/>
        </p:nvSpPr>
        <p:spPr>
          <a:xfrm>
            <a:off x="841248" y="352044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Test</a:t>
            </a:r>
          </a:p>
        </p:txBody>
      </p:sp>
      <p:sp>
        <p:nvSpPr>
          <p:cNvPr id="13" name="TextBox 12"/>
          <p:cNvSpPr txBox="1"/>
          <p:nvPr/>
        </p:nvSpPr>
        <p:spPr>
          <a:xfrm>
            <a:off x="841248" y="3849624"/>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Chuỗi của 100 động cơ bị cắt trước khi hỏng</a:t>
            </a:r>
          </a:p>
        </p:txBody>
      </p:sp>
      <p:sp>
        <p:nvSpPr>
          <p:cNvPr id="14" name="Rectangle 13"/>
          <p:cNvSpPr/>
          <p:nvPr/>
        </p:nvSpPr>
        <p:spPr>
          <a:xfrm>
            <a:off x="2514600" y="3630168"/>
            <a:ext cx="315468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5669280" y="3749039"/>
            <a:ext cx="1645920" cy="0"/>
          </a:xfrm>
          <a:prstGeom prst="line">
            <a:avLst/>
          </a:prstGeom>
          <a:ln>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50408" y="3611880"/>
            <a:ext cx="274320" cy="274320"/>
          </a:xfrm>
          <a:prstGeom prst="ellipse">
            <a:avLst/>
          </a:prstGeom>
          <a:solidFill>
            <a:srgbClr val="FCB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977639"/>
            <a:ext cx="1645920" cy="256032"/>
          </a:xfrm>
          <a:prstGeom prst="rect">
            <a:avLst/>
          </a:prstGeom>
          <a:noFill/>
        </p:spPr>
        <p:txBody>
          <a:bodyPr wrap="square" lIns="0" rIns="0" tIns="0" bIns="0" anchor="t"/>
          <a:lstStyle/>
          <a:p>
            <a:pPr algn="r">
              <a:spcAft>
                <a:spcPts val="0"/>
              </a:spcAft>
            </a:pPr>
            <a:r>
              <a:rPr sz="1150" b="0">
                <a:solidFill>
                  <a:srgbClr val="B37800"/>
                </a:solidFill>
                <a:latin typeface="Arial"/>
              </a:rPr>
              <a:t>cycle cuối quan sát</a:t>
            </a:r>
          </a:p>
        </p:txBody>
      </p:sp>
      <p:sp>
        <p:nvSpPr>
          <p:cNvPr id="18" name="TextBox 17"/>
          <p:cNvSpPr txBox="1"/>
          <p:nvPr/>
        </p:nvSpPr>
        <p:spPr>
          <a:xfrm>
            <a:off x="5943600" y="3977639"/>
            <a:ext cx="1463040" cy="256032"/>
          </a:xfrm>
          <a:prstGeom prst="rect">
            <a:avLst/>
          </a:prstGeom>
          <a:noFill/>
        </p:spPr>
        <p:txBody>
          <a:bodyPr wrap="square" lIns="0" rIns="0" tIns="0" bIns="0" anchor="t"/>
          <a:lstStyle/>
          <a:p>
            <a:pPr algn="r">
              <a:spcAft>
                <a:spcPts val="0"/>
              </a:spcAft>
            </a:pPr>
            <a:r>
              <a:rPr sz="1150" b="0">
                <a:solidFill>
                  <a:srgbClr val="5A6B7B"/>
                </a:solidFill>
                <a:latin typeface="Arial"/>
              </a:rPr>
              <a:t>chưa biết lúc hỏng</a:t>
            </a:r>
          </a:p>
        </p:txBody>
      </p:sp>
      <p:sp>
        <p:nvSpPr>
          <p:cNvPr id="19" name="Rounded Rectangle 18"/>
          <p:cNvSpPr/>
          <p:nvPr/>
        </p:nvSpPr>
        <p:spPr>
          <a:xfrm>
            <a:off x="841248" y="4663440"/>
            <a:ext cx="676656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800600"/>
            <a:ext cx="6400800" cy="1097280"/>
          </a:xfrm>
          <a:prstGeom prst="rect">
            <a:avLst/>
          </a:prstGeom>
          <a:noFill/>
        </p:spPr>
        <p:txBody>
          <a:bodyPr wrap="square" lIns="0" rIns="0" tIns="0" bIns="0" anchor="t"/>
          <a:lstStyle/>
          <a:p>
            <a:pPr algn="l">
              <a:spcAft>
                <a:spcPts val="800"/>
              </a:spcAft>
            </a:pPr>
            <a:r>
              <a:rPr sz="1450" b="1">
                <a:solidFill>
                  <a:srgbClr val="21409A"/>
                </a:solidFill>
                <a:latin typeface="Arial"/>
              </a:rPr>
              <a:t>Train: </a:t>
            </a:r>
            <a:r>
              <a:rPr sz="1450" b="0">
                <a:solidFill>
                  <a:srgbClr val="1B2733"/>
                </a:solidFill>
                <a:latin typeface="Arial"/>
              </a:rPr>
              <a:t>RUL(t) = cycle cuối − t; tổng cộng 20.631 nhãn</a:t>
            </a:r>
          </a:p>
          <a:p>
            <a:pPr algn="l">
              <a:spcAft>
                <a:spcPts val="800"/>
              </a:spcAft>
            </a:pPr>
            <a:r>
              <a:rPr sz="1450" b="1">
                <a:solidFill>
                  <a:srgbClr val="21409A"/>
                </a:solidFill>
                <a:latin typeface="Arial"/>
              </a:rPr>
              <a:t>Test: </a:t>
            </a:r>
            <a:r>
              <a:rPr sz="1450" b="0">
                <a:solidFill>
                  <a:srgbClr val="1B2733"/>
                </a:solidFill>
                <a:latin typeface="Arial"/>
              </a:rPr>
              <a:t>một dự đoán tại cycle cuối của mỗi động cơ; ghép RUL_FD001.txt sau khi đã lưu dự đoán</a:t>
            </a:r>
          </a:p>
        </p:txBody>
      </p:sp>
      <p:sp>
        <p:nvSpPr>
          <p:cNvPr id="21" name="Rounded Rectangle 20"/>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2450592"/>
            <a:ext cx="3017520" cy="320040"/>
          </a:xfrm>
          <a:prstGeom prst="rect">
            <a:avLst/>
          </a:prstGeom>
          <a:noFill/>
        </p:spPr>
        <p:txBody>
          <a:bodyPr wrap="square" lIns="0" rIns="0" tIns="0" bIns="0" anchor="t"/>
          <a:lstStyle/>
          <a:p>
            <a:pPr algn="l">
              <a:spcAft>
                <a:spcPts val="0"/>
              </a:spcAft>
            </a:pPr>
            <a:r>
              <a:rPr sz="1600" b="1">
                <a:solidFill>
                  <a:srgbClr val="FFFFFF"/>
                </a:solidFill>
                <a:latin typeface="Arial"/>
              </a:rPr>
              <a:t>Kiểm soát nhãn tập test</a:t>
            </a:r>
          </a:p>
        </p:txBody>
      </p:sp>
      <p:sp>
        <p:nvSpPr>
          <p:cNvPr id="23" name="TextBox 22"/>
          <p:cNvSpPr txBox="1"/>
          <p:nvPr/>
        </p:nvSpPr>
        <p:spPr>
          <a:xfrm>
            <a:off x="8183879" y="292608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Không dùng sớm</a:t>
            </a:r>
          </a:p>
        </p:txBody>
      </p:sp>
      <p:sp>
        <p:nvSpPr>
          <p:cNvPr id="24" name="TextBox 23"/>
          <p:cNvSpPr txBox="1"/>
          <p:nvPr/>
        </p:nvSpPr>
        <p:spPr>
          <a:xfrm>
            <a:off x="8183879" y="331012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test không dùng trong EDA, tạo đặc trưng hay chọn mô hình</a:t>
            </a:r>
          </a:p>
        </p:txBody>
      </p:sp>
      <p:sp>
        <p:nvSpPr>
          <p:cNvPr id="25" name="TextBox 24"/>
          <p:cNvSpPr txBox="1"/>
          <p:nvPr/>
        </p:nvSpPr>
        <p:spPr>
          <a:xfrm>
            <a:off x="8183879" y="393192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Ghép sau dự đoán</a:t>
            </a:r>
          </a:p>
        </p:txBody>
      </p:sp>
      <p:sp>
        <p:nvSpPr>
          <p:cNvPr id="26" name="TextBox 25"/>
          <p:cNvSpPr txBox="1"/>
          <p:nvPr/>
        </p:nvSpPr>
        <p:spPr>
          <a:xfrm>
            <a:off x="8183879" y="431596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chỉ được ghép khi dự đoán đã được lưu</a:t>
            </a:r>
          </a:p>
        </p:txBody>
      </p:sp>
      <p:sp>
        <p:nvSpPr>
          <p:cNvPr id="27" name="TextBox 26"/>
          <p:cNvSpPr txBox="1"/>
          <p:nvPr/>
        </p:nvSpPr>
        <p:spPr>
          <a:xfrm>
            <a:off x="8183879" y="493776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Truy vết được</a:t>
            </a:r>
          </a:p>
        </p:txBody>
      </p:sp>
      <p:sp>
        <p:nvSpPr>
          <p:cNvPr id="28" name="TextBox 27"/>
          <p:cNvSpPr txBox="1"/>
          <p:nvPr/>
        </p:nvSpPr>
        <p:spPr>
          <a:xfrm>
            <a:off x="8183879" y="532180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metadata ghi trạng thái ghép nhãn và mã băm SHA-256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Kiến trúc pipeline dữ liệu Bronze–Silver–Gold</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Ba bước chuẩn bị chung, rồi tách hai nhánh: dự đoán RUL và theo dõi tín hiệu</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report/figures/pipeline.pdf; handoff/DATA_WALKTHROUGH.md; outputs/*/run_info.json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sp>
        <p:nvSpPr>
          <p:cNvPr id="7" name="Rounded Rectangle 6"/>
          <p:cNvSpPr/>
          <p:nvPr/>
        </p:nvSpPr>
        <p:spPr>
          <a:xfrm>
            <a:off x="841248" y="2240280"/>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313432"/>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1. Tải dữ liệu từ NASA</a:t>
            </a:r>
          </a:p>
        </p:txBody>
      </p:sp>
      <p:sp>
        <p:nvSpPr>
          <p:cNvPr id="9" name="TextBox 8"/>
          <p:cNvSpPr txBox="1"/>
          <p:nvPr/>
        </p:nvSpPr>
        <p:spPr>
          <a:xfrm>
            <a:off x="932688" y="260604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Kiểm tra MD5, SHA-256</a:t>
            </a:r>
          </a:p>
        </p:txBody>
      </p:sp>
      <p:sp>
        <p:nvSpPr>
          <p:cNvPr id="10" name="Rounded Rectangle 9"/>
          <p:cNvSpPr/>
          <p:nvPr/>
        </p:nvSpPr>
        <p:spPr>
          <a:xfrm>
            <a:off x="841248" y="3191256"/>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3264408"/>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2. Dữ liệu gốc (Bronze)</a:t>
            </a:r>
          </a:p>
        </p:txBody>
      </p:sp>
      <p:sp>
        <p:nvSpPr>
          <p:cNvPr id="12" name="TextBox 11"/>
          <p:cNvSpPr txBox="1"/>
          <p:nvPr/>
        </p:nvSpPr>
        <p:spPr>
          <a:xfrm>
            <a:off x="932688" y="3557016"/>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File text, giữ nguyên</a:t>
            </a:r>
          </a:p>
        </p:txBody>
      </p:sp>
      <p:sp>
        <p:nvSpPr>
          <p:cNvPr id="13" name="Rounded Rectangle 12"/>
          <p:cNvSpPr/>
          <p:nvPr/>
        </p:nvSpPr>
        <p:spPr>
          <a:xfrm>
            <a:off x="841248" y="4137660"/>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210812"/>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3. Đọc và kiểm tra</a:t>
            </a:r>
          </a:p>
        </p:txBody>
      </p:sp>
      <p:sp>
        <p:nvSpPr>
          <p:cNvPr id="15" name="TextBox 14"/>
          <p:cNvSpPr txBox="1"/>
          <p:nvPr/>
        </p:nvSpPr>
        <p:spPr>
          <a:xfrm>
            <a:off x="932688" y="450342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26 cột, khóa, cycle liên tục;
tính RUL cho train</a:t>
            </a:r>
          </a:p>
        </p:txBody>
      </p:sp>
      <p:sp>
        <p:nvSpPr>
          <p:cNvPr id="16" name="Rounded Rectangle 15"/>
          <p:cNvSpPr/>
          <p:nvPr/>
        </p:nvSpPr>
        <p:spPr>
          <a:xfrm>
            <a:off x="841248" y="5120640"/>
            <a:ext cx="2148840" cy="731520"/>
          </a:xfrm>
          <a:prstGeom prst="roundRect">
            <a:avLst>
              <a:gd name="adj" fmla="val 8000"/>
            </a:avLst>
          </a:prstGeom>
          <a:solidFill>
            <a:srgbClr val="FFFFFF"/>
          </a:solidFill>
          <a:ln w="15875">
            <a:solidFill>
              <a:srgbClr val="5A6B7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5193792"/>
            <a:ext cx="1965960" cy="274320"/>
          </a:xfrm>
          <a:prstGeom prst="rect">
            <a:avLst/>
          </a:prstGeom>
          <a:noFill/>
        </p:spPr>
        <p:txBody>
          <a:bodyPr wrap="square" lIns="0" rIns="0" tIns="0" bIns="0" anchor="t"/>
          <a:lstStyle/>
          <a:p>
            <a:pPr algn="l">
              <a:spcAft>
                <a:spcPts val="0"/>
              </a:spcAft>
            </a:pPr>
            <a:r>
              <a:rPr sz="1250" b="1">
                <a:solidFill>
                  <a:srgbClr val="5A6B7B"/>
                </a:solidFill>
                <a:latin typeface="Arial"/>
              </a:rPr>
              <a:t>Chạy lại trên Hadoop</a:t>
            </a:r>
          </a:p>
        </p:txBody>
      </p:sp>
      <p:sp>
        <p:nvSpPr>
          <p:cNvPr id="18" name="TextBox 17"/>
          <p:cNvSpPr txBox="1"/>
          <p:nvPr/>
        </p:nvSpPr>
        <p:spPr>
          <a:xfrm>
            <a:off x="932688" y="548640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MapReduce khớp
200/200 động cơ</a:t>
            </a:r>
          </a:p>
        </p:txBody>
      </p:sp>
      <p:cxnSp>
        <p:nvCxnSpPr>
          <p:cNvPr id="19" name="Connector 18"/>
          <p:cNvCxnSpPr/>
          <p:nvPr/>
        </p:nvCxnSpPr>
        <p:spPr>
          <a:xfrm>
            <a:off x="1915668" y="2971800"/>
            <a:ext cx="0" cy="219456"/>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915668" y="3922776"/>
            <a:ext cx="0" cy="214884"/>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85800" y="3557016"/>
            <a:ext cx="155448" cy="0"/>
          </a:xfrm>
          <a:prstGeom prst="line">
            <a:avLst/>
          </a:prstGeom>
          <a:ln w="19050">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 y="3557016"/>
            <a:ext cx="0" cy="1929384"/>
          </a:xfrm>
          <a:prstGeom prst="line">
            <a:avLst/>
          </a:prstGeom>
          <a:ln w="19050">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5800" y="5486400"/>
            <a:ext cx="155448" cy="0"/>
          </a:xfrm>
          <a:prstGeom prst="line">
            <a:avLst/>
          </a:prstGeom>
          <a:ln w="19050">
            <a:solidFill>
              <a:srgbClr val="5A6B7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91840" y="2240280"/>
            <a:ext cx="5486400" cy="274320"/>
          </a:xfrm>
          <a:prstGeom prst="rect">
            <a:avLst/>
          </a:prstGeom>
          <a:noFill/>
        </p:spPr>
        <p:txBody>
          <a:bodyPr wrap="square" lIns="0" rIns="0" tIns="0" bIns="0" anchor="t"/>
          <a:lstStyle/>
          <a:p>
            <a:pPr algn="l">
              <a:spcAft>
                <a:spcPts val="0"/>
              </a:spcAft>
            </a:pPr>
            <a:r>
              <a:rPr sz="1250" b="1">
                <a:solidFill>
                  <a:srgbClr val="21409A"/>
                </a:solidFill>
                <a:latin typeface="Arial"/>
              </a:rPr>
              <a:t>A. Dự đoán RUL</a:t>
            </a:r>
          </a:p>
        </p:txBody>
      </p:sp>
      <p:sp>
        <p:nvSpPr>
          <p:cNvPr id="25" name="TextBox 24"/>
          <p:cNvSpPr txBox="1"/>
          <p:nvPr/>
        </p:nvSpPr>
        <p:spPr>
          <a:xfrm>
            <a:off x="3291840" y="3703320"/>
            <a:ext cx="5486400" cy="274320"/>
          </a:xfrm>
          <a:prstGeom prst="rect">
            <a:avLst/>
          </a:prstGeom>
          <a:noFill/>
        </p:spPr>
        <p:txBody>
          <a:bodyPr wrap="square" lIns="0" rIns="0" tIns="0" bIns="0" anchor="t"/>
          <a:lstStyle/>
          <a:p>
            <a:pPr algn="l">
              <a:spcAft>
                <a:spcPts val="0"/>
              </a:spcAft>
            </a:pPr>
            <a:r>
              <a:rPr sz="1250" b="1">
                <a:solidFill>
                  <a:srgbClr val="21409A"/>
                </a:solidFill>
                <a:latin typeface="Arial"/>
              </a:rPr>
              <a:t>B. Theo dõi tín hiệu (chỉ học trên train)</a:t>
            </a:r>
          </a:p>
        </p:txBody>
      </p:sp>
      <p:sp>
        <p:nvSpPr>
          <p:cNvPr id="26" name="Rounded Rectangle 25"/>
          <p:cNvSpPr/>
          <p:nvPr/>
        </p:nvSpPr>
        <p:spPr>
          <a:xfrm>
            <a:off x="3291840"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3280"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A1. Lưu bảng</a:t>
            </a:r>
          </a:p>
        </p:txBody>
      </p:sp>
      <p:sp>
        <p:nvSpPr>
          <p:cNvPr id="28" name="TextBox 27"/>
          <p:cNvSpPr txBox="1"/>
          <p:nvPr/>
        </p:nvSpPr>
        <p:spPr>
          <a:xfrm>
            <a:off x="3383280"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Gộp train + test;
Silver, Gold</a:t>
            </a:r>
          </a:p>
        </p:txBody>
      </p:sp>
      <p:sp>
        <p:nvSpPr>
          <p:cNvPr id="29" name="Rounded Rectangle 28"/>
          <p:cNvSpPr/>
          <p:nvPr/>
        </p:nvSpPr>
        <p:spPr>
          <a:xfrm>
            <a:off x="4928616"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A2. Đặc trưng</a:t>
            </a:r>
          </a:p>
        </p:txBody>
      </p:sp>
      <p:sp>
        <p:nvSpPr>
          <p:cNvPr id="31" name="TextBox 30"/>
          <p:cNvSpPr txBox="1"/>
          <p:nvPr/>
        </p:nvSpPr>
        <p:spPr>
          <a:xfrm>
            <a:off x="5020056"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Cửa sổ 30 cycle
126 đặc trưng</a:t>
            </a:r>
          </a:p>
        </p:txBody>
      </p:sp>
      <p:cxnSp>
        <p:nvCxnSpPr>
          <p:cNvPr id="32" name="Connector 31"/>
          <p:cNvCxnSpPr/>
          <p:nvPr/>
        </p:nvCxnSpPr>
        <p:spPr>
          <a:xfrm>
            <a:off x="4791456"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65392"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56831"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A3. Huấn luyện</a:t>
            </a:r>
          </a:p>
        </p:txBody>
      </p:sp>
      <p:sp>
        <p:nvSpPr>
          <p:cNvPr id="35" name="TextBox 34"/>
          <p:cNvSpPr txBox="1"/>
          <p:nvPr/>
        </p:nvSpPr>
        <p:spPr>
          <a:xfrm>
            <a:off x="6656831"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HGB, chia 5 phần
theo động cơ</a:t>
            </a:r>
          </a:p>
        </p:txBody>
      </p:sp>
      <p:cxnSp>
        <p:nvCxnSpPr>
          <p:cNvPr id="36" name="Connector 35"/>
          <p:cNvCxnSpPr/>
          <p:nvPr/>
        </p:nvCxnSpPr>
        <p:spPr>
          <a:xfrm>
            <a:off x="6428232"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8202168" y="2560320"/>
            <a:ext cx="1481328" cy="9601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93608" y="2633472"/>
            <a:ext cx="1298448" cy="274320"/>
          </a:xfrm>
          <a:prstGeom prst="rect">
            <a:avLst/>
          </a:prstGeom>
          <a:noFill/>
        </p:spPr>
        <p:txBody>
          <a:bodyPr wrap="square" lIns="0" rIns="0" tIns="0" bIns="0" anchor="t"/>
          <a:lstStyle/>
          <a:p>
            <a:pPr algn="l">
              <a:spcAft>
                <a:spcPts val="0"/>
              </a:spcAft>
            </a:pPr>
            <a:r>
              <a:rPr sz="1250" b="1">
                <a:solidFill>
                  <a:srgbClr val="FFFFFF"/>
                </a:solidFill>
                <a:latin typeface="Arial"/>
              </a:rPr>
              <a:t>A4. Dự đoán test</a:t>
            </a:r>
          </a:p>
        </p:txBody>
      </p:sp>
      <p:sp>
        <p:nvSpPr>
          <p:cNvPr id="39" name="TextBox 38"/>
          <p:cNvSpPr txBox="1"/>
          <p:nvPr/>
        </p:nvSpPr>
        <p:spPr>
          <a:xfrm>
            <a:off x="8293608" y="2926079"/>
            <a:ext cx="1298448" cy="548640"/>
          </a:xfrm>
          <a:prstGeom prst="rect">
            <a:avLst/>
          </a:prstGeom>
          <a:noFill/>
        </p:spPr>
        <p:txBody>
          <a:bodyPr wrap="square" lIns="0" rIns="0" tIns="0" bIns="0" anchor="t"/>
          <a:lstStyle/>
          <a:p>
            <a:pPr algn="l">
              <a:spcAft>
                <a:spcPts val="0"/>
              </a:spcAft>
            </a:pPr>
            <a:r>
              <a:rPr sz="1050" b="0">
                <a:solidFill>
                  <a:srgbClr val="FFFFFF"/>
                </a:solidFill>
                <a:latin typeface="Arial"/>
              </a:rPr>
              <a:t>100 động cơ, lưu
trước khi mở đáp án</a:t>
            </a:r>
          </a:p>
        </p:txBody>
      </p:sp>
      <p:cxnSp>
        <p:nvCxnSpPr>
          <p:cNvPr id="40" name="Connector 39"/>
          <p:cNvCxnSpPr/>
          <p:nvPr/>
        </p:nvCxnSpPr>
        <p:spPr>
          <a:xfrm>
            <a:off x="8065008"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838944"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30384"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A5. Chấm điểm</a:t>
            </a:r>
          </a:p>
        </p:txBody>
      </p:sp>
      <p:sp>
        <p:nvSpPr>
          <p:cNvPr id="43" name="TextBox 42"/>
          <p:cNvSpPr txBox="1"/>
          <p:nvPr/>
        </p:nvSpPr>
        <p:spPr>
          <a:xfrm>
            <a:off x="9930384"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MAE, RMSE,
NASA score</a:t>
            </a:r>
          </a:p>
        </p:txBody>
      </p:sp>
      <p:cxnSp>
        <p:nvCxnSpPr>
          <p:cNvPr id="44" name="Connector 43"/>
          <p:cNvCxnSpPr/>
          <p:nvPr/>
        </p:nvCxnSpPr>
        <p:spPr>
          <a:xfrm>
            <a:off x="9701784"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3291840"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83280"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B1. Khám phá</a:t>
            </a:r>
          </a:p>
        </p:txBody>
      </p:sp>
      <p:sp>
        <p:nvSpPr>
          <p:cNvPr id="47" name="TextBox 46"/>
          <p:cNvSpPr txBox="1"/>
          <p:nvPr/>
        </p:nvSpPr>
        <p:spPr>
          <a:xfrm>
            <a:off x="3383280"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EDA: sensor đổi
theo tuổi máy</a:t>
            </a:r>
          </a:p>
        </p:txBody>
      </p:sp>
      <p:sp>
        <p:nvSpPr>
          <p:cNvPr id="48" name="Rounded Rectangle 47"/>
          <p:cNvSpPr/>
          <p:nvPr/>
        </p:nvSpPr>
        <p:spPr>
          <a:xfrm>
            <a:off x="4928616"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0056"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B2. Làm mượt</a:t>
            </a:r>
          </a:p>
        </p:txBody>
      </p:sp>
      <p:sp>
        <p:nvSpPr>
          <p:cNvPr id="50" name="TextBox 49"/>
          <p:cNvSpPr txBox="1"/>
          <p:nvPr/>
        </p:nvSpPr>
        <p:spPr>
          <a:xfrm>
            <a:off x="5020056"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EWMA, 14 sensor,
span 10</a:t>
            </a:r>
          </a:p>
        </p:txBody>
      </p:sp>
      <p:cxnSp>
        <p:nvCxnSpPr>
          <p:cNvPr id="51" name="Connector 50"/>
          <p:cNvCxnSpPr/>
          <p:nvPr/>
        </p:nvCxnSpPr>
        <p:spPr>
          <a:xfrm>
            <a:off x="4791456"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565392"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56831"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B3. Health Index</a:t>
            </a:r>
          </a:p>
        </p:txBody>
      </p:sp>
      <p:sp>
        <p:nvSpPr>
          <p:cNvPr id="54" name="TextBox 53"/>
          <p:cNvSpPr txBox="1"/>
          <p:nvPr/>
        </p:nvSpPr>
        <p:spPr>
          <a:xfrm>
            <a:off x="6656831"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Gộp 21 sensor
bằng PCA</a:t>
            </a:r>
          </a:p>
        </p:txBody>
      </p:sp>
      <p:cxnSp>
        <p:nvCxnSpPr>
          <p:cNvPr id="55" name="Connector 54"/>
          <p:cNvCxnSpPr/>
          <p:nvPr/>
        </p:nvCxnSpPr>
        <p:spPr>
          <a:xfrm>
            <a:off x="6428232"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8202168"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93608"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B4. Bất thường</a:t>
            </a:r>
          </a:p>
        </p:txBody>
      </p:sp>
      <p:sp>
        <p:nvSpPr>
          <p:cNvPr id="58" name="TextBox 57"/>
          <p:cNvSpPr txBox="1"/>
          <p:nvPr/>
        </p:nvSpPr>
        <p:spPr>
          <a:xfrm>
            <a:off x="8293608"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Giảm quá 3σ, 5 cycle
→ cảnh báo mức 1</a:t>
            </a:r>
          </a:p>
        </p:txBody>
      </p:sp>
      <p:cxnSp>
        <p:nvCxnSpPr>
          <p:cNvPr id="59" name="Connector 58"/>
          <p:cNvCxnSpPr/>
          <p:nvPr/>
        </p:nvCxnSpPr>
        <p:spPr>
          <a:xfrm>
            <a:off x="8065008"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9838944" y="4023360"/>
            <a:ext cx="1481328" cy="9601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30384" y="4096512"/>
            <a:ext cx="1298448" cy="274320"/>
          </a:xfrm>
          <a:prstGeom prst="rect">
            <a:avLst/>
          </a:prstGeom>
          <a:noFill/>
        </p:spPr>
        <p:txBody>
          <a:bodyPr wrap="square" lIns="0" rIns="0" tIns="0" bIns="0" anchor="t"/>
          <a:lstStyle/>
          <a:p>
            <a:pPr algn="l">
              <a:spcAft>
                <a:spcPts val="0"/>
              </a:spcAft>
            </a:pPr>
            <a:r>
              <a:rPr sz="1250" b="1">
                <a:solidFill>
                  <a:srgbClr val="FFFFFF"/>
                </a:solidFill>
                <a:latin typeface="Arial"/>
              </a:rPr>
              <a:t>Lịch bảo trì</a:t>
            </a:r>
          </a:p>
        </p:txBody>
      </p:sp>
      <p:sp>
        <p:nvSpPr>
          <p:cNvPr id="62" name="TextBox 61"/>
          <p:cNvSpPr txBox="1"/>
          <p:nvPr/>
        </p:nvSpPr>
        <p:spPr>
          <a:xfrm>
            <a:off x="9930384" y="4389120"/>
            <a:ext cx="1298448" cy="548640"/>
          </a:xfrm>
          <a:prstGeom prst="rect">
            <a:avLst/>
          </a:prstGeom>
          <a:noFill/>
        </p:spPr>
        <p:txBody>
          <a:bodyPr wrap="square" lIns="0" rIns="0" tIns="0" bIns="0" anchor="t"/>
          <a:lstStyle/>
          <a:p>
            <a:pPr algn="l">
              <a:spcAft>
                <a:spcPts val="0"/>
              </a:spcAft>
            </a:pPr>
            <a:r>
              <a:rPr sz="1050" b="0">
                <a:solidFill>
                  <a:srgbClr val="FFFFFF"/>
                </a:solidFill>
                <a:latin typeface="Arial"/>
              </a:rPr>
              <a:t>RUL ≤ 30: bảo trì
Bất thường: theo dõi</a:t>
            </a:r>
          </a:p>
        </p:txBody>
      </p:sp>
      <p:cxnSp>
        <p:nvCxnSpPr>
          <p:cNvPr id="63" name="Connector 62"/>
          <p:cNvCxnSpPr/>
          <p:nvPr/>
        </p:nvCxnSpPr>
        <p:spPr>
          <a:xfrm>
            <a:off x="9701784"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990088" y="4503420"/>
            <a:ext cx="146304" cy="0"/>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3136392" y="3040379"/>
            <a:ext cx="0" cy="1463041"/>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136392" y="3040379"/>
            <a:ext cx="13716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136392" y="4503420"/>
            <a:ext cx="13716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942832" y="3520439"/>
            <a:ext cx="0" cy="320041"/>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942832" y="3840480"/>
            <a:ext cx="1261872" cy="0"/>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0204704" y="3840480"/>
            <a:ext cx="0" cy="164592"/>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71" name="Rounded Rectangle 70"/>
          <p:cNvSpPr/>
          <p:nvPr/>
        </p:nvSpPr>
        <p:spPr>
          <a:xfrm>
            <a:off x="3291840"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364992"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Thu thập</a:t>
            </a:r>
          </a:p>
        </p:txBody>
      </p:sp>
      <p:sp>
        <p:nvSpPr>
          <p:cNvPr id="73" name="TextBox 72"/>
          <p:cNvSpPr txBox="1"/>
          <p:nvPr/>
        </p:nvSpPr>
        <p:spPr>
          <a:xfrm>
            <a:off x="3364992"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bước 1</a:t>
            </a:r>
          </a:p>
        </p:txBody>
      </p:sp>
      <p:sp>
        <p:nvSpPr>
          <p:cNvPr id="74" name="Rounded Rectangle 73"/>
          <p:cNvSpPr/>
          <p:nvPr/>
        </p:nvSpPr>
        <p:spPr>
          <a:xfrm>
            <a:off x="4915814"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988966"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Làm sạch</a:t>
            </a:r>
          </a:p>
        </p:txBody>
      </p:sp>
      <p:sp>
        <p:nvSpPr>
          <p:cNvPr id="76" name="TextBox 75"/>
          <p:cNvSpPr txBox="1"/>
          <p:nvPr/>
        </p:nvSpPr>
        <p:spPr>
          <a:xfrm>
            <a:off x="4988966"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bước 3; B2 làm mượt</a:t>
            </a:r>
          </a:p>
        </p:txBody>
      </p:sp>
      <p:sp>
        <p:nvSpPr>
          <p:cNvPr id="77" name="Rounded Rectangle 76"/>
          <p:cNvSpPr/>
          <p:nvPr/>
        </p:nvSpPr>
        <p:spPr>
          <a:xfrm>
            <a:off x="6539788"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612940"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Chuẩn hóa</a:t>
            </a:r>
          </a:p>
        </p:txBody>
      </p:sp>
      <p:sp>
        <p:nvSpPr>
          <p:cNvPr id="79" name="TextBox 78"/>
          <p:cNvSpPr txBox="1"/>
          <p:nvPr/>
        </p:nvSpPr>
        <p:spPr>
          <a:xfrm>
            <a:off x="6612940"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kiểu dữ liệu; slide 10</a:t>
            </a:r>
          </a:p>
        </p:txBody>
      </p:sp>
      <p:sp>
        <p:nvSpPr>
          <p:cNvPr id="80" name="Rounded Rectangle 79"/>
          <p:cNvSpPr/>
          <p:nvPr/>
        </p:nvSpPr>
        <p:spPr>
          <a:xfrm>
            <a:off x="8163763"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236915"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Tích hợp</a:t>
            </a:r>
          </a:p>
        </p:txBody>
      </p:sp>
      <p:sp>
        <p:nvSpPr>
          <p:cNvPr id="82" name="TextBox 81"/>
          <p:cNvSpPr txBox="1"/>
          <p:nvPr/>
        </p:nvSpPr>
        <p:spPr>
          <a:xfrm>
            <a:off x="8236915"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gộp train + test</a:t>
            </a:r>
          </a:p>
        </p:txBody>
      </p:sp>
      <p:sp>
        <p:nvSpPr>
          <p:cNvPr id="83" name="Rounded Rectangle 82"/>
          <p:cNvSpPr/>
          <p:nvPr/>
        </p:nvSpPr>
        <p:spPr>
          <a:xfrm>
            <a:off x="9787737"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860889"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Lưu trữ</a:t>
            </a:r>
          </a:p>
        </p:txBody>
      </p:sp>
      <p:sp>
        <p:nvSpPr>
          <p:cNvPr id="85" name="TextBox 84"/>
          <p:cNvSpPr txBox="1"/>
          <p:nvPr/>
        </p:nvSpPr>
        <p:spPr>
          <a:xfrm>
            <a:off x="9860889"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Parquet, SQLite, HDFS</a:t>
            </a:r>
          </a:p>
        </p:txBody>
      </p:sp>
      <p:sp>
        <p:nvSpPr>
          <p:cNvPr id="86" name="TextBox 85"/>
          <p:cNvSpPr txBox="1"/>
          <p:nvPr/>
        </p:nvSpPr>
        <p:spPr>
          <a:xfrm>
            <a:off x="3291840" y="5742432"/>
            <a:ext cx="8046720" cy="256032"/>
          </a:xfrm>
          <a:prstGeom prst="rect">
            <a:avLst/>
          </a:prstGeom>
          <a:noFill/>
        </p:spPr>
        <p:txBody>
          <a:bodyPr wrap="square" lIns="0" rIns="0" tIns="0" bIns="0" anchor="t"/>
          <a:lstStyle/>
          <a:p>
            <a:pPr algn="l">
              <a:spcAft>
                <a:spcPts val="0"/>
              </a:spcAft>
            </a:pPr>
            <a:r>
              <a:rPr sz="1100" b="0">
                <a:solidFill>
                  <a:srgbClr val="5A6B7B"/>
                </a:solidFill>
                <a:latin typeface="Arial"/>
              </a:rPr>
              <a:t>Ô nét đứt là kiểm tra phụ, không đi vào mô hình. Pandas và PySpark cho cùng kết quả ở A1–A2.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Đối chiếu Pandas, PySpark và Hadoop</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Pandas, PySpark và Hadoop cho cùng kết quả; với dữ liệu gấp 10 lần, PySpark nhanh hơn Pandas khoảng 3,4 lần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outputs/etl/parity.json; outputs/hdfs/summary.json; outputs/benchmarks/20260929/measurements.csv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graphicFrame>
        <p:nvGraphicFramePr>
          <p:cNvPr id="7" name="Table 6"/>
          <p:cNvGraphicFramePr>
            <a:graphicFrameLocks noGrp="1"/>
          </p:cNvGraphicFramePr>
          <p:nvPr/>
        </p:nvGraphicFramePr>
        <p:xfrm>
          <a:off x="841248" y="2240280"/>
          <a:ext cx="5577840" cy="2368296"/>
        </p:xfrm>
        <a:graphic>
          <a:graphicData uri="http://schemas.openxmlformats.org/drawingml/2006/table">
            <a:tbl>
              <a:tblPr firstRow="1" bandRow="1">
                <a:tableStyleId>{5C22544A-7EE6-4342-B048-85BDC9FD1C3A}</a:tableStyleId>
              </a:tblPr>
              <a:tblGrid>
                <a:gridCol w="2514600"/>
                <a:gridCol w="960120"/>
                <a:gridCol w="1188720"/>
                <a:gridCol w="914400"/>
              </a:tblGrid>
              <a:tr h="338328">
                <a:tc>
                  <a:txBody>
                    <a:bodyPr wrap="square"/>
                    <a:lstStyle/>
                    <a:p>
                      <a:r>
                        <a:rPr sz="1150" b="1">
                          <a:solidFill>
                            <a:srgbClr val="FFFFFF"/>
                          </a:solidFill>
                          <a:latin typeface="Arial"/>
                        </a:rPr>
                        <a:t>Bảng (so với Pandas)</a:t>
                      </a:r>
                    </a:p>
                  </a:txBody>
                  <a:tcPr marL="73152" marR="73152" marT="27432" marB="27432" anchor="ctr">
                    <a:solidFill>
                      <a:srgbClr val="21409A"/>
                    </a:solidFill>
                  </a:tcPr>
                </a:tc>
                <a:tc>
                  <a:txBody>
                    <a:bodyPr wrap="square"/>
                    <a:lstStyle/>
                    <a:p>
                      <a:r>
                        <a:rPr sz="1150" b="1">
                          <a:solidFill>
                            <a:srgbClr val="FFFFFF"/>
                          </a:solidFill>
                          <a:latin typeface="Arial"/>
                        </a:rPr>
                        <a:t>Số dòng</a:t>
                      </a:r>
                    </a:p>
                  </a:txBody>
                  <a:tcPr marL="73152" marR="73152" marT="27432" marB="27432" anchor="ctr">
                    <a:solidFill>
                      <a:srgbClr val="21409A"/>
                    </a:solidFill>
                  </a:tcPr>
                </a:tc>
                <a:tc>
                  <a:txBody>
                    <a:bodyPr wrap="square"/>
                    <a:lstStyle/>
                    <a:p>
                      <a:r>
                        <a:rPr sz="1150" b="1">
                          <a:solidFill>
                            <a:srgbClr val="FFFFFF"/>
                          </a:solidFill>
                          <a:latin typeface="Arial"/>
                        </a:rPr>
                        <a:t>Sai khác</a:t>
                      </a:r>
                    </a:p>
                  </a:txBody>
                  <a:tcPr marL="73152" marR="73152" marT="27432" marB="27432" anchor="ctr">
                    <a:solidFill>
                      <a:srgbClr val="21409A"/>
                    </a:solidFill>
                  </a:tcPr>
                </a:tc>
                <a:tc>
                  <a:txBody>
                    <a:bodyPr wrap="square"/>
                    <a:lstStyle/>
                    <a:p>
                      <a:r>
                        <a:rPr sz="1150" b="1">
                          <a:solidFill>
                            <a:srgbClr val="FFFFFF"/>
                          </a:solidFill>
                          <a:latin typeface="Arial"/>
                        </a:rPr>
                        <a:t>Kết quả</a:t>
                      </a:r>
                    </a:p>
                  </a:txBody>
                  <a:tcPr marL="73152" marR="73152" marT="27432" marB="27432" anchor="ctr">
                    <a:solidFill>
                      <a:srgbClr val="21409A"/>
                    </a:solidFill>
                  </a:tcPr>
                </a:tc>
              </a:tr>
              <a:tr h="338328">
                <a:tc>
                  <a:txBody>
                    <a:bodyPr wrap="square"/>
                    <a:lstStyle/>
                    <a:p>
                      <a:r>
                        <a:rPr sz="1150" b="0">
                          <a:solidFill>
                            <a:srgbClr val="1B2733"/>
                          </a:solidFill>
                          <a:latin typeface="Arial"/>
                        </a:rPr>
                        <a:t>Silver observations</a:t>
                      </a:r>
                    </a:p>
                  </a:txBody>
                  <a:tcPr marL="73152" marR="73152" marT="27432" marB="27432" anchor="ctr">
                    <a:solidFill>
                      <a:srgbClr val="FFFFFF"/>
                    </a:solidFill>
                  </a:tcPr>
                </a:tc>
                <a:tc>
                  <a:txBody>
                    <a:bodyPr wrap="square"/>
                    <a:lstStyle/>
                    <a:p>
                      <a:r>
                        <a:rPr sz="1150" b="0">
                          <a:solidFill>
                            <a:srgbClr val="1B2733"/>
                          </a:solidFill>
                          <a:latin typeface="Arial"/>
                        </a:rPr>
                        <a:t>33.727</a:t>
                      </a:r>
                    </a:p>
                  </a:txBody>
                  <a:tcPr marL="73152" marR="73152" marT="27432" marB="27432" anchor="ctr">
                    <a:solidFill>
                      <a:srgbClr val="FFFFFF"/>
                    </a:solidFill>
                  </a:tcPr>
                </a:tc>
                <a:tc>
                  <a:txBody>
                    <a:bodyPr wrap="square"/>
                    <a:lstStyle/>
                    <a:p>
                      <a:r>
                        <a:rPr sz="1150" b="0">
                          <a:solidFill>
                            <a:srgbClr val="1B2733"/>
                          </a:solidFill>
                          <a:latin typeface="Arial"/>
                        </a:rPr>
                        <a:t>0</a:t>
                      </a:r>
                    </a:p>
                  </a:txBody>
                  <a:tcPr marL="73152" marR="73152" marT="27432" marB="27432" anchor="ctr">
                    <a:solidFill>
                      <a:srgbClr val="FFFFFF"/>
                    </a:solidFill>
                  </a:tcPr>
                </a:tc>
                <a:tc>
                  <a:txBody>
                    <a:bodyPr wrap="square"/>
                    <a:lstStyle/>
                    <a:p>
                      <a:r>
                        <a:rPr sz="1150" b="0">
                          <a:solidFill>
                            <a:srgbClr val="1B2733"/>
                          </a:solidFill>
                          <a:latin typeface="Arial"/>
                        </a:rPr>
                        <a:t>Khớp</a:t>
                      </a:r>
                    </a:p>
                  </a:txBody>
                  <a:tcPr marL="73152" marR="73152" marT="27432" marB="27432" anchor="ctr">
                    <a:solidFill>
                      <a:srgbClr val="FFFFFF"/>
                    </a:solidFill>
                  </a:tcPr>
                </a:tc>
              </a:tr>
              <a:tr h="338328">
                <a:tc>
                  <a:txBody>
                    <a:bodyPr wrap="square"/>
                    <a:lstStyle/>
                    <a:p>
                      <a:r>
                        <a:rPr sz="1150" b="0">
                          <a:solidFill>
                            <a:srgbClr val="1B2733"/>
                          </a:solidFill>
                          <a:latin typeface="Arial"/>
                        </a:rPr>
                        <a:t>Silver train_targets</a:t>
                      </a:r>
                    </a:p>
                  </a:txBody>
                  <a:tcPr marL="73152" marR="73152" marT="27432" marB="27432" anchor="ctr">
                    <a:solidFill>
                      <a:srgbClr val="EAF0FA"/>
                    </a:solidFill>
                  </a:tcPr>
                </a:tc>
                <a:tc>
                  <a:txBody>
                    <a:bodyPr wrap="square"/>
                    <a:lstStyle/>
                    <a:p>
                      <a:r>
                        <a:rPr sz="1150" b="0">
                          <a:solidFill>
                            <a:srgbClr val="1B2733"/>
                          </a:solidFill>
                          <a:latin typeface="Arial"/>
                        </a:rPr>
                        <a:t>20.631</a:t>
                      </a:r>
                    </a:p>
                  </a:txBody>
                  <a:tcPr marL="73152" marR="73152" marT="27432" marB="27432" anchor="ctr">
                    <a:solidFill>
                      <a:srgbClr val="EAF0FA"/>
                    </a:solidFill>
                  </a:tcPr>
                </a:tc>
                <a:tc>
                  <a:txBody>
                    <a:bodyPr wrap="square"/>
                    <a:lstStyle/>
                    <a:p>
                      <a:r>
                        <a:rPr sz="1150" b="0">
                          <a:solidFill>
                            <a:srgbClr val="1B2733"/>
                          </a:solidFill>
                          <a:latin typeface="Arial"/>
                        </a:rPr>
                        <a:t>0</a:t>
                      </a:r>
                    </a:p>
                  </a:txBody>
                  <a:tcPr marL="73152" marR="73152" marT="27432" marB="27432" anchor="ctr">
                    <a:solidFill>
                      <a:srgbClr val="EAF0FA"/>
                    </a:solidFill>
                  </a:tcPr>
                </a:tc>
                <a:tc>
                  <a:txBody>
                    <a:bodyPr wrap="square"/>
                    <a:lstStyle/>
                    <a:p>
                      <a:r>
                        <a:rPr sz="1150" b="0">
                          <a:solidFill>
                            <a:srgbClr val="1B2733"/>
                          </a:solidFill>
                          <a:latin typeface="Arial"/>
                        </a:rPr>
                        <a:t>Khớp</a:t>
                      </a:r>
                    </a:p>
                  </a:txBody>
                  <a:tcPr marL="73152" marR="73152" marT="27432" marB="27432" anchor="ctr">
                    <a:solidFill>
                      <a:srgbClr val="EAF0FA"/>
                    </a:solidFill>
                  </a:tcPr>
                </a:tc>
              </a:tr>
              <a:tr h="338328">
                <a:tc>
                  <a:txBody>
                    <a:bodyPr wrap="square"/>
                    <a:lstStyle/>
                    <a:p>
                      <a:r>
                        <a:rPr sz="1150" b="0">
                          <a:solidFill>
                            <a:srgbClr val="1B2733"/>
                          </a:solidFill>
                          <a:latin typeface="Arial"/>
                        </a:rPr>
                        <a:t>Gold engine_summary</a:t>
                      </a:r>
                    </a:p>
                  </a:txBody>
                  <a:tcPr marL="73152" marR="73152" marT="27432" marB="27432" anchor="ctr">
                    <a:solidFill>
                      <a:srgbClr val="FFFFFF"/>
                    </a:solidFill>
                  </a:tcPr>
                </a:tc>
                <a:tc>
                  <a:txBody>
                    <a:bodyPr wrap="square"/>
                    <a:lstStyle/>
                    <a:p>
                      <a:r>
                        <a:rPr sz="1150" b="0">
                          <a:solidFill>
                            <a:srgbClr val="1B2733"/>
                          </a:solidFill>
                          <a:latin typeface="Arial"/>
                        </a:rPr>
                        <a:t>200</a:t>
                      </a:r>
                    </a:p>
                  </a:txBody>
                  <a:tcPr marL="73152" marR="73152" marT="27432" marB="27432" anchor="ctr">
                    <a:solidFill>
                      <a:srgbClr val="FFFFFF"/>
                    </a:solidFill>
                  </a:tcPr>
                </a:tc>
                <a:tc>
                  <a:txBody>
                    <a:bodyPr wrap="square"/>
                    <a:lstStyle/>
                    <a:p>
                      <a:r>
                        <a:rPr sz="1150" b="0">
                          <a:solidFill>
                            <a:srgbClr val="1B2733"/>
                          </a:solidFill>
                          <a:latin typeface="Arial"/>
                        </a:rPr>
                        <a:t>0</a:t>
                      </a:r>
                    </a:p>
                  </a:txBody>
                  <a:tcPr marL="73152" marR="73152" marT="27432" marB="27432" anchor="ctr">
                    <a:solidFill>
                      <a:srgbClr val="FFFFFF"/>
                    </a:solidFill>
                  </a:tcPr>
                </a:tc>
                <a:tc>
                  <a:txBody>
                    <a:bodyPr wrap="square"/>
                    <a:lstStyle/>
                    <a:p>
                      <a:r>
                        <a:rPr sz="1150" b="0">
                          <a:solidFill>
                            <a:srgbClr val="1B2733"/>
                          </a:solidFill>
                          <a:latin typeface="Arial"/>
                        </a:rPr>
                        <a:t>Khớp</a:t>
                      </a:r>
                    </a:p>
                  </a:txBody>
                  <a:tcPr marL="73152" marR="73152" marT="27432" marB="27432" anchor="ctr">
                    <a:solidFill>
                      <a:srgbClr val="FFFFFF"/>
                    </a:solidFill>
                  </a:tcPr>
                </a:tc>
              </a:tr>
              <a:tr h="338328">
                <a:tc>
                  <a:txBody>
                    <a:bodyPr wrap="square"/>
                    <a:lstStyle/>
                    <a:p>
                      <a:r>
                        <a:rPr sz="1150" b="0">
                          <a:solidFill>
                            <a:srgbClr val="1B2733"/>
                          </a:solidFill>
                          <a:latin typeface="Arial"/>
                        </a:rPr>
                        <a:t>Gold rolling_features</a:t>
                      </a:r>
                    </a:p>
                  </a:txBody>
                  <a:tcPr marL="73152" marR="73152" marT="27432" marB="27432" anchor="ctr">
                    <a:solidFill>
                      <a:srgbClr val="EAF0FA"/>
                    </a:solidFill>
                  </a:tcPr>
                </a:tc>
                <a:tc>
                  <a:txBody>
                    <a:bodyPr wrap="square"/>
                    <a:lstStyle/>
                    <a:p>
                      <a:r>
                        <a:rPr sz="1150" b="0">
                          <a:solidFill>
                            <a:srgbClr val="1B2733"/>
                          </a:solidFill>
                          <a:latin typeface="Arial"/>
                        </a:rPr>
                        <a:t>27.927</a:t>
                      </a:r>
                    </a:p>
                  </a:txBody>
                  <a:tcPr marL="73152" marR="73152" marT="27432" marB="27432" anchor="ctr">
                    <a:solidFill>
                      <a:srgbClr val="EAF0FA"/>
                    </a:solidFill>
                  </a:tcPr>
                </a:tc>
                <a:tc>
                  <a:txBody>
                    <a:bodyPr wrap="square"/>
                    <a:lstStyle/>
                    <a:p>
                      <a:r>
                        <a:rPr sz="1150" b="0">
                          <a:solidFill>
                            <a:srgbClr val="1B2733"/>
                          </a:solidFill>
                          <a:latin typeface="Arial"/>
                        </a:rPr>
                        <a:t>0</a:t>
                      </a:r>
                    </a:p>
                  </a:txBody>
                  <a:tcPr marL="73152" marR="73152" marT="27432" marB="27432" anchor="ctr">
                    <a:solidFill>
                      <a:srgbClr val="EAF0FA"/>
                    </a:solidFill>
                  </a:tcPr>
                </a:tc>
                <a:tc>
                  <a:txBody>
                    <a:bodyPr wrap="square"/>
                    <a:lstStyle/>
                    <a:p>
                      <a:r>
                        <a:rPr sz="1150" b="0">
                          <a:solidFill>
                            <a:srgbClr val="1B2733"/>
                          </a:solidFill>
                          <a:latin typeface="Arial"/>
                        </a:rPr>
                        <a:t>Khớp</a:t>
                      </a:r>
                    </a:p>
                  </a:txBody>
                  <a:tcPr marL="73152" marR="73152" marT="27432" marB="27432" anchor="ctr">
                    <a:solidFill>
                      <a:srgbClr val="EAF0FA"/>
                    </a:solidFill>
                  </a:tcPr>
                </a:tc>
              </a:tr>
              <a:tr h="338328">
                <a:tc>
                  <a:txBody>
                    <a:bodyPr wrap="square"/>
                    <a:lstStyle/>
                    <a:p>
                      <a:r>
                        <a:rPr sz="1150" b="0">
                          <a:solidFill>
                            <a:srgbClr val="1B2733"/>
                          </a:solidFill>
                          <a:latin typeface="Arial"/>
                        </a:rPr>
                        <a:t>Gold · MapReduce trên HDFS</a:t>
                      </a:r>
                    </a:p>
                  </a:txBody>
                  <a:tcPr marL="73152" marR="73152" marT="27432" marB="27432" anchor="ctr">
                    <a:solidFill>
                      <a:srgbClr val="FFFFFF"/>
                    </a:solidFill>
                  </a:tcPr>
                </a:tc>
                <a:tc>
                  <a:txBody>
                    <a:bodyPr wrap="square"/>
                    <a:lstStyle/>
                    <a:p>
                      <a:r>
                        <a:rPr sz="1150" b="0">
                          <a:solidFill>
                            <a:srgbClr val="1B2733"/>
                          </a:solidFill>
                          <a:latin typeface="Arial"/>
                        </a:rPr>
                        <a:t>200</a:t>
                      </a:r>
                    </a:p>
                  </a:txBody>
                  <a:tcPr marL="73152" marR="73152" marT="27432" marB="27432" anchor="ctr">
                    <a:solidFill>
                      <a:srgbClr val="FFFFFF"/>
                    </a:solidFill>
                  </a:tcPr>
                </a:tc>
                <a:tc>
                  <a:txBody>
                    <a:bodyPr wrap="square"/>
                    <a:lstStyle/>
                    <a:p>
                      <a:r>
                        <a:rPr sz="1150" b="0">
                          <a:solidFill>
                            <a:srgbClr val="1B2733"/>
                          </a:solidFill>
                          <a:latin typeface="Arial"/>
                        </a:rPr>
                        <a:t>0</a:t>
                      </a:r>
                    </a:p>
                  </a:txBody>
                  <a:tcPr marL="73152" marR="73152" marT="27432" marB="27432" anchor="ctr">
                    <a:solidFill>
                      <a:srgbClr val="FFFFFF"/>
                    </a:solidFill>
                  </a:tcPr>
                </a:tc>
                <a:tc>
                  <a:txBody>
                    <a:bodyPr wrap="square"/>
                    <a:lstStyle/>
                    <a:p>
                      <a:r>
                        <a:rPr sz="1150" b="0">
                          <a:solidFill>
                            <a:srgbClr val="1B2733"/>
                          </a:solidFill>
                          <a:latin typeface="Arial"/>
                        </a:rPr>
                        <a:t>Khớp</a:t>
                      </a:r>
                    </a:p>
                  </a:txBody>
                  <a:tcPr marL="73152" marR="73152" marT="27432" marB="27432" anchor="ctr">
                    <a:solidFill>
                      <a:srgbClr val="FFFFFF"/>
                    </a:solidFill>
                  </a:tcPr>
                </a:tc>
              </a:tr>
              <a:tr h="338328">
                <a:tc>
                  <a:txBody>
                    <a:bodyPr wrap="square"/>
                    <a:lstStyle/>
                    <a:p>
                      <a:r>
                        <a:rPr sz="1150" b="0">
                          <a:solidFill>
                            <a:srgbClr val="1B2733"/>
                          </a:solidFill>
                          <a:latin typeface="Arial"/>
                        </a:rPr>
                        <a:t>Gold · Spark trên HDFS</a:t>
                      </a:r>
                    </a:p>
                  </a:txBody>
                  <a:tcPr marL="73152" marR="73152" marT="27432" marB="27432" anchor="ctr">
                    <a:solidFill>
                      <a:srgbClr val="EAF0FA"/>
                    </a:solidFill>
                  </a:tcPr>
                </a:tc>
                <a:tc>
                  <a:txBody>
                    <a:bodyPr wrap="square"/>
                    <a:lstStyle/>
                    <a:p>
                      <a:r>
                        <a:rPr sz="1150" b="0">
                          <a:solidFill>
                            <a:srgbClr val="1B2733"/>
                          </a:solidFill>
                          <a:latin typeface="Arial"/>
                        </a:rPr>
                        <a:t>200</a:t>
                      </a:r>
                    </a:p>
                  </a:txBody>
                  <a:tcPr marL="73152" marR="73152" marT="27432" marB="27432" anchor="ctr">
                    <a:solidFill>
                      <a:srgbClr val="EAF0FA"/>
                    </a:solidFill>
                  </a:tcPr>
                </a:tc>
                <a:tc>
                  <a:txBody>
                    <a:bodyPr wrap="square"/>
                    <a:lstStyle/>
                    <a:p>
                      <a:r>
                        <a:rPr sz="1150" b="0">
                          <a:solidFill>
                            <a:srgbClr val="1B2733"/>
                          </a:solidFill>
                          <a:latin typeface="Arial"/>
                        </a:rPr>
                        <a:t>0</a:t>
                      </a:r>
                    </a:p>
                  </a:txBody>
                  <a:tcPr marL="73152" marR="73152" marT="27432" marB="27432" anchor="ctr">
                    <a:solidFill>
                      <a:srgbClr val="EAF0FA"/>
                    </a:solidFill>
                  </a:tcPr>
                </a:tc>
                <a:tc>
                  <a:txBody>
                    <a:bodyPr wrap="square"/>
                    <a:lstStyle/>
                    <a:p>
                      <a:r>
                        <a:rPr sz="1150" b="0">
                          <a:solidFill>
                            <a:srgbClr val="1B2733"/>
                          </a:solidFill>
                          <a:latin typeface="Arial"/>
                        </a:rPr>
                        <a:t>Khớp</a:t>
                      </a:r>
                    </a:p>
                  </a:txBody>
                  <a:tcPr marL="73152" marR="73152" marT="27432" marB="27432" anchor="ctr">
                    <a:solidFill>
                      <a:srgbClr val="EAF0FA"/>
                    </a:solidFill>
                  </a:tcPr>
                </a:tc>
              </a:tr>
            </a:tbl>
          </a:graphicData>
        </a:graphic>
      </p:graphicFrame>
      <p:sp>
        <p:nvSpPr>
          <p:cNvPr id="8" name="Rounded Rectangle 7"/>
          <p:cNvSpPr/>
          <p:nvPr/>
        </p:nvSpPr>
        <p:spPr>
          <a:xfrm>
            <a:off x="841248" y="4663440"/>
            <a:ext cx="557784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754880"/>
            <a:ext cx="5212080" cy="310896"/>
          </a:xfrm>
          <a:prstGeom prst="rect">
            <a:avLst/>
          </a:prstGeom>
          <a:noFill/>
        </p:spPr>
        <p:txBody>
          <a:bodyPr wrap="square" lIns="0" rIns="0" tIns="0" bIns="0" anchor="t"/>
          <a:lstStyle/>
          <a:p>
            <a:pPr algn="l">
              <a:spcAft>
                <a:spcPts val="0"/>
              </a:spcAft>
            </a:pPr>
            <a:r>
              <a:rPr sz="1400" b="1">
                <a:solidFill>
                  <a:srgbClr val="21409A"/>
                </a:solidFill>
                <a:latin typeface="Arial"/>
              </a:rPr>
              <a:t>Cụm Hadoop 3.4.3 một node trong Docker</a:t>
            </a:r>
          </a:p>
        </p:txBody>
      </p:sp>
      <p:sp>
        <p:nvSpPr>
          <p:cNvPr id="10" name="TextBox 9"/>
          <p:cNvSpPr txBox="1"/>
          <p:nvPr/>
        </p:nvSpPr>
        <p:spPr>
          <a:xfrm>
            <a:off x="1051560" y="5102352"/>
            <a:ext cx="5212080" cy="868680"/>
          </a:xfrm>
          <a:prstGeom prst="rect">
            <a:avLst/>
          </a:prstGeom>
          <a:noFill/>
        </p:spPr>
        <p:txBody>
          <a:bodyPr wrap="square" lIns="0" rIns="0" tIns="0" bIns="0" anchor="t"/>
          <a:lstStyle/>
          <a:p>
            <a:pPr algn="l">
              <a:spcAft>
                <a:spcPts val="0"/>
              </a:spcAft>
            </a:pPr>
            <a:r>
              <a:rPr sz="1250" b="0">
                <a:solidFill>
                  <a:srgbClr val="1B2733"/>
                </a:solidFill>
                <a:latin typeface="Arial"/>
              </a:rPr>
              <a:t>Raw lên HDFS; MapReduce trên YARN: 3 map, 1 reduce; Spark ghi Silver Parquet 33.727 dòng lên HDFS; fsck: HEALTHY.</a:t>
            </a:r>
          </a:p>
        </p:txBody>
      </p:sp>
      <p:graphicFrame>
        <p:nvGraphicFramePr>
          <p:cNvPr id="11" name="Chart 10"/>
          <p:cNvGraphicFramePr>
            <a:graphicFrameLocks noGrp="1"/>
          </p:cNvGraphicFramePr>
          <p:nvPr/>
        </p:nvGraphicFramePr>
        <p:xfrm>
          <a:off x="6675120" y="2240280"/>
          <a:ext cx="4681728" cy="3291840"/>
        </p:xfrm>
        <a:graphic>
          <a:graphicData uri="http://schemas.openxmlformats.org/drawingml/2006/chart">
            <c:chart xmlns:c="http://schemas.openxmlformats.org/drawingml/2006/chart" r:id="rId3"/>
          </a:graphicData>
        </a:graphic>
      </p:graphicFrame>
      <p:sp>
        <p:nvSpPr>
          <p:cNvPr id="12" name="TextBox 11"/>
          <p:cNvSpPr txBox="1"/>
          <p:nvPr/>
        </p:nvSpPr>
        <p:spPr>
          <a:xfrm>
            <a:off x="6675120" y="5596128"/>
            <a:ext cx="4681728" cy="411480"/>
          </a:xfrm>
          <a:prstGeom prst="rect">
            <a:avLst/>
          </a:prstGeom>
          <a:noFill/>
        </p:spPr>
        <p:txBody>
          <a:bodyPr wrap="square" lIns="0" rIns="0" tIns="0" bIns="0" anchor="t"/>
          <a:lstStyle/>
          <a:p>
            <a:pPr algn="l">
              <a:spcAft>
                <a:spcPts val="0"/>
              </a:spcAft>
            </a:pPr>
            <a:r>
              <a:rPr sz="1100" b="0">
                <a:solidFill>
                  <a:srgbClr val="5A6B7B"/>
                </a:solidFill>
                <a:latin typeface="Arial"/>
              </a:rPr>
              <a:t>Trung vị ba lượt; không gồm thời gian khởi động Spark; đo trên một máy, chưa phải cluster.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khám phá dữ liệu</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Tuổi thọ động cơ từ 128 đến 362 cycle; bảy cột không đổi trên toàn bộ tập train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data/raw/train_FD001.txt; outputs/eda/tables/constant_engine_counts.csv; slides/slide_figures.py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pic>
        <p:nvPicPr>
          <p:cNvPr id="7" name="Picture 6" descr="image.png"/>
          <p:cNvPicPr>
            <a:picLocks noChangeAspect="1"/>
          </p:cNvPicPr>
          <p:nvPr/>
        </p:nvPicPr>
        <p:blipFill>
          <a:blip r:embed="rId3"/>
          <a:stretch>
            <a:fillRect/>
          </a:stretch>
        </p:blipFill>
        <p:spPr>
          <a:xfrm>
            <a:off x="841248" y="2286000"/>
            <a:ext cx="6766559" cy="2331720"/>
          </a:xfrm>
          <a:prstGeom prst="rect">
            <a:avLst/>
          </a:prstGeom>
        </p:spPr>
      </p:pic>
      <p:sp>
        <p:nvSpPr>
          <p:cNvPr id="8" name="TextBox 7"/>
          <p:cNvSpPr txBox="1"/>
          <p:nvPr/>
        </p:nvSpPr>
        <p:spPr>
          <a:xfrm>
            <a:off x="84124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128</a:t>
            </a:r>
          </a:p>
        </p:txBody>
      </p:sp>
      <p:sp>
        <p:nvSpPr>
          <p:cNvPr id="9" name="TextBox 8"/>
          <p:cNvSpPr txBox="1"/>
          <p:nvPr/>
        </p:nvSpPr>
        <p:spPr>
          <a:xfrm>
            <a:off x="84124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Ngắn nhất (cycle)</a:t>
            </a:r>
          </a:p>
        </p:txBody>
      </p:sp>
      <p:sp>
        <p:nvSpPr>
          <p:cNvPr id="10" name="TextBox 9"/>
          <p:cNvSpPr txBox="1"/>
          <p:nvPr/>
        </p:nvSpPr>
        <p:spPr>
          <a:xfrm>
            <a:off x="253288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199</a:t>
            </a:r>
          </a:p>
        </p:txBody>
      </p:sp>
      <p:sp>
        <p:nvSpPr>
          <p:cNvPr id="11" name="TextBox 10"/>
          <p:cNvSpPr txBox="1"/>
          <p:nvPr/>
        </p:nvSpPr>
        <p:spPr>
          <a:xfrm>
            <a:off x="253288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vị (cycle)</a:t>
            </a:r>
          </a:p>
        </p:txBody>
      </p:sp>
      <p:sp>
        <p:nvSpPr>
          <p:cNvPr id="12" name="TextBox 11"/>
          <p:cNvSpPr txBox="1"/>
          <p:nvPr/>
        </p:nvSpPr>
        <p:spPr>
          <a:xfrm>
            <a:off x="422452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206,31</a:t>
            </a:r>
          </a:p>
        </p:txBody>
      </p:sp>
      <p:sp>
        <p:nvSpPr>
          <p:cNvPr id="13" name="TextBox 12"/>
          <p:cNvSpPr txBox="1"/>
          <p:nvPr/>
        </p:nvSpPr>
        <p:spPr>
          <a:xfrm>
            <a:off x="422452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bình (cycle)</a:t>
            </a:r>
          </a:p>
        </p:txBody>
      </p:sp>
      <p:sp>
        <p:nvSpPr>
          <p:cNvPr id="14" name="TextBox 13"/>
          <p:cNvSpPr txBox="1"/>
          <p:nvPr/>
        </p:nvSpPr>
        <p:spPr>
          <a:xfrm>
            <a:off x="591616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362</a:t>
            </a:r>
          </a:p>
        </p:txBody>
      </p:sp>
      <p:sp>
        <p:nvSpPr>
          <p:cNvPr id="15" name="TextBox 14"/>
          <p:cNvSpPr txBox="1"/>
          <p:nvPr/>
        </p:nvSpPr>
        <p:spPr>
          <a:xfrm>
            <a:off x="591616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Dài nhất (cycle)</a:t>
            </a:r>
          </a:p>
        </p:txBody>
      </p:sp>
      <p:sp>
        <p:nvSpPr>
          <p:cNvPr id="16" name="Rounded Rectangle 15"/>
          <p:cNvSpPr/>
          <p:nvPr/>
        </p:nvSpPr>
        <p:spPr>
          <a:xfrm>
            <a:off x="7955279" y="2286000"/>
            <a:ext cx="3401568" cy="3703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2432304"/>
            <a:ext cx="3017520" cy="320040"/>
          </a:xfrm>
          <a:prstGeom prst="rect">
            <a:avLst/>
          </a:prstGeom>
          <a:noFill/>
        </p:spPr>
        <p:txBody>
          <a:bodyPr wrap="square" lIns="0" rIns="0" tIns="0" bIns="0" anchor="t"/>
          <a:lstStyle/>
          <a:p>
            <a:pPr algn="l">
              <a:spcAft>
                <a:spcPts val="0"/>
              </a:spcAft>
            </a:pPr>
            <a:r>
              <a:rPr sz="1450" b="1">
                <a:solidFill>
                  <a:srgbClr val="21409A"/>
                </a:solidFill>
                <a:latin typeface="Arial"/>
              </a:rPr>
              <a:t>Cột không đổi ở 100/100 động cơ</a:t>
            </a:r>
          </a:p>
        </p:txBody>
      </p:sp>
      <p:sp>
        <p:nvSpPr>
          <p:cNvPr id="18" name="Rounded Rectangle 17"/>
          <p:cNvSpPr/>
          <p:nvPr/>
        </p:nvSpPr>
        <p:spPr>
          <a:xfrm>
            <a:off x="815644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a:t>
            </a:r>
          </a:p>
        </p:txBody>
      </p:sp>
      <p:sp>
        <p:nvSpPr>
          <p:cNvPr id="20" name="Rounded Rectangle 19"/>
          <p:cNvSpPr/>
          <p:nvPr/>
        </p:nvSpPr>
        <p:spPr>
          <a:xfrm>
            <a:off x="971092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1092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sensor_5</a:t>
            </a:r>
          </a:p>
        </p:txBody>
      </p:sp>
      <p:sp>
        <p:nvSpPr>
          <p:cNvPr id="22" name="Rounded Rectangle 21"/>
          <p:cNvSpPr/>
          <p:nvPr/>
        </p:nvSpPr>
        <p:spPr>
          <a:xfrm>
            <a:off x="815644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sensor_10</a:t>
            </a:r>
          </a:p>
        </p:txBody>
      </p:sp>
      <p:sp>
        <p:nvSpPr>
          <p:cNvPr id="24" name="Rounded Rectangle 23"/>
          <p:cNvSpPr/>
          <p:nvPr/>
        </p:nvSpPr>
        <p:spPr>
          <a:xfrm>
            <a:off x="971092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1092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sensor_16</a:t>
            </a:r>
          </a:p>
        </p:txBody>
      </p:sp>
      <p:sp>
        <p:nvSpPr>
          <p:cNvPr id="26" name="Rounded Rectangle 25"/>
          <p:cNvSpPr/>
          <p:nvPr/>
        </p:nvSpPr>
        <p:spPr>
          <a:xfrm>
            <a:off x="815644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5644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sensor_18</a:t>
            </a:r>
          </a:p>
        </p:txBody>
      </p:sp>
      <p:sp>
        <p:nvSpPr>
          <p:cNvPr id="28" name="Rounded Rectangle 27"/>
          <p:cNvSpPr/>
          <p:nvPr/>
        </p:nvSpPr>
        <p:spPr>
          <a:xfrm>
            <a:off x="971092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sensor_19</a:t>
            </a:r>
          </a:p>
        </p:txBody>
      </p:sp>
      <p:sp>
        <p:nvSpPr>
          <p:cNvPr id="30" name="Rounded Rectangle 29"/>
          <p:cNvSpPr/>
          <p:nvPr/>
        </p:nvSpPr>
        <p:spPr>
          <a:xfrm>
            <a:off x="8156448" y="4306824"/>
            <a:ext cx="1463040" cy="384048"/>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306824"/>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setting_3</a:t>
            </a:r>
          </a:p>
        </p:txBody>
      </p:sp>
      <p:sp>
        <p:nvSpPr>
          <p:cNvPr id="32" name="TextBox 31"/>
          <p:cNvSpPr txBox="1"/>
          <p:nvPr/>
        </p:nvSpPr>
        <p:spPr>
          <a:xfrm>
            <a:off x="8156448" y="4846320"/>
            <a:ext cx="3017520" cy="365760"/>
          </a:xfrm>
          <a:prstGeom prst="rect">
            <a:avLst/>
          </a:prstGeom>
          <a:noFill/>
        </p:spPr>
        <p:txBody>
          <a:bodyPr wrap="square" lIns="0" rIns="0" tIns="0" bIns="0" anchor="t"/>
          <a:lstStyle/>
          <a:p>
            <a:pPr algn="l">
              <a:spcAft>
                <a:spcPts val="0"/>
              </a:spcAft>
            </a:pPr>
            <a:r>
              <a:rPr sz="1250" b="0">
                <a:solidFill>
                  <a:srgbClr val="1B2733"/>
                </a:solidFill>
                <a:latin typeface="Arial"/>
              </a:rPr>
              <a:t>sensor_6 không đổi ở 38/100 động cơ.</a:t>
            </a:r>
          </a:p>
        </p:txBody>
      </p:sp>
      <p:sp>
        <p:nvSpPr>
          <p:cNvPr id="33" name="TextBox 32"/>
          <p:cNvSpPr txBox="1"/>
          <p:nvPr/>
        </p:nvSpPr>
        <p:spPr>
          <a:xfrm>
            <a:off x="8156448" y="5257800"/>
            <a:ext cx="3017520" cy="640080"/>
          </a:xfrm>
          <a:prstGeom prst="rect">
            <a:avLst/>
          </a:prstGeom>
          <a:noFill/>
        </p:spPr>
        <p:txBody>
          <a:bodyPr wrap="square" lIns="0" rIns="0" tIns="0" bIns="0" anchor="t"/>
          <a:lstStyle/>
          <a:p>
            <a:pPr algn="l">
              <a:spcAft>
                <a:spcPts val="0"/>
              </a:spcAft>
            </a:pPr>
            <a:r>
              <a:rPr sz="1200" b="0">
                <a:solidFill>
                  <a:srgbClr val="5A6B7B"/>
                </a:solidFill>
                <a:latin typeface="Arial"/>
              </a:rPr>
              <a:t>Làm mượt áp dụng cho 14 sensor có xu hướng: bỏ 6 sensor trên và sensor_6.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Khử nhiễu tín hiệu bằng EWMA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Độ dao động ngắn hạn giảm khoảng 86% (trung vị trên 14 sensor); xu hướng suy giảm được bảo toàn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outputs/degradation/tables/signals.parquet; outputs/degradation/tables/noise_summary.csv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pic>
        <p:nvPicPr>
          <p:cNvPr id="7" name="Picture 6" descr="image.png"/>
          <p:cNvPicPr>
            <a:picLocks noChangeAspect="1"/>
          </p:cNvPicPr>
          <p:nvPr/>
        </p:nvPicPr>
        <p:blipFill>
          <a:blip r:embed="rId3"/>
          <a:stretch>
            <a:fillRect/>
          </a:stretch>
        </p:blipFill>
        <p:spPr>
          <a:xfrm>
            <a:off x="841248" y="2240280"/>
            <a:ext cx="7178040" cy="2606039"/>
          </a:xfrm>
          <a:prstGeom prst="rect">
            <a:avLst/>
          </a:prstGeom>
        </p:spPr>
      </p:pic>
      <p:graphicFrame>
        <p:nvGraphicFramePr>
          <p:cNvPr id="8" name="Table 7"/>
          <p:cNvGraphicFramePr>
            <a:graphicFrameLocks noGrp="1"/>
          </p:cNvGraphicFramePr>
          <p:nvPr/>
        </p:nvGraphicFramePr>
        <p:xfrm>
          <a:off x="8183879" y="2286000"/>
          <a:ext cx="3200400" cy="2194560"/>
        </p:xfrm>
        <a:graphic>
          <a:graphicData uri="http://schemas.openxmlformats.org/drawingml/2006/table">
            <a:tbl>
              <a:tblPr firstRow="1" bandRow="1">
                <a:tableStyleId>{5C22544A-7EE6-4342-B048-85BDC9FD1C3A}</a:tableStyleId>
              </a:tblPr>
              <a:tblGrid>
                <a:gridCol w="1005840"/>
                <a:gridCol w="658368"/>
                <a:gridCol w="896112"/>
                <a:gridCol w="640080"/>
              </a:tblGrid>
              <a:tr h="365760">
                <a:tc>
                  <a:txBody>
                    <a:bodyPr wrap="square"/>
                    <a:lstStyle/>
                    <a:p>
                      <a:r>
                        <a:rPr sz="1100" b="1">
                          <a:solidFill>
                            <a:srgbClr val="FFFFFF"/>
                          </a:solidFill>
                          <a:latin typeface="Arial"/>
                        </a:rPr>
                        <a:t>Sensor</a:t>
                      </a:r>
                    </a:p>
                  </a:txBody>
                  <a:tcPr marL="73152" marR="73152" marT="27432" marB="27432" anchor="ctr">
                    <a:solidFill>
                      <a:srgbClr val="21409A"/>
                    </a:solidFill>
                  </a:tcPr>
                </a:tc>
                <a:tc>
                  <a:txBody>
                    <a:bodyPr wrap="square"/>
                    <a:lstStyle/>
                    <a:p>
                      <a:r>
                        <a:rPr sz="1100" b="1">
                          <a:solidFill>
                            <a:srgbClr val="FFFFFF"/>
                          </a:solidFill>
                          <a:latin typeface="Arial"/>
                        </a:rPr>
                        <a:t>Gốc</a:t>
                      </a:r>
                    </a:p>
                  </a:txBody>
                  <a:tcPr marL="73152" marR="73152" marT="27432" marB="27432" anchor="ctr">
                    <a:solidFill>
                      <a:srgbClr val="21409A"/>
                    </a:solidFill>
                  </a:tcPr>
                </a:tc>
                <a:tc>
                  <a:txBody>
                    <a:bodyPr wrap="square"/>
                    <a:lstStyle/>
                    <a:p>
                      <a:r>
                        <a:rPr sz="1100" b="1">
                          <a:solidFill>
                            <a:srgbClr val="FFFFFF"/>
                          </a:solidFill>
                          <a:latin typeface="Arial"/>
                        </a:rPr>
                        <a:t>EWMA</a:t>
                      </a:r>
                    </a:p>
                  </a:txBody>
                  <a:tcPr marL="73152" marR="73152" marT="27432" marB="27432" anchor="ctr">
                    <a:solidFill>
                      <a:srgbClr val="21409A"/>
                    </a:solidFill>
                  </a:tcPr>
                </a:tc>
                <a:tc>
                  <a:txBody>
                    <a:bodyPr wrap="square"/>
                    <a:lstStyle/>
                    <a:p>
                      <a:r>
                        <a:rPr sz="1100" b="1">
                          <a:solidFill>
                            <a:srgbClr val="FFFFFF"/>
                          </a:solidFill>
                          <a:latin typeface="Arial"/>
                        </a:rPr>
                        <a:t>Giảm</a:t>
                      </a:r>
                    </a:p>
                  </a:txBody>
                  <a:tcPr marL="73152" marR="73152" marT="27432" marB="27432" anchor="ctr">
                    <a:solidFill>
                      <a:srgbClr val="21409A"/>
                    </a:solidFill>
                  </a:tcPr>
                </a:tc>
              </a:tr>
              <a:tr h="365760">
                <a:tc>
                  <a:txBody>
                    <a:bodyPr wrap="square"/>
                    <a:lstStyle/>
                    <a:p>
                      <a:r>
                        <a:rPr sz="1100" b="0">
                          <a:solidFill>
                            <a:srgbClr val="1B2733"/>
                          </a:solidFill>
                          <a:latin typeface="Arial"/>
                        </a:rPr>
                        <a:t>sensor_4</a:t>
                      </a:r>
                    </a:p>
                  </a:txBody>
                  <a:tcPr marL="73152" marR="73152" marT="27432" marB="27432" anchor="ctr">
                    <a:solidFill>
                      <a:srgbClr val="FFFFFF"/>
                    </a:solidFill>
                  </a:tcPr>
                </a:tc>
                <a:tc>
                  <a:txBody>
                    <a:bodyPr wrap="square"/>
                    <a:lstStyle/>
                    <a:p>
                      <a:pPr algn="r"/>
                      <a:r>
                        <a:rPr sz="1100" b="0">
                          <a:solidFill>
                            <a:srgbClr val="1B2733"/>
                          </a:solidFill>
                          <a:latin typeface="Arial"/>
                        </a:rPr>
                        <a:t>5,70</a:t>
                      </a:r>
                    </a:p>
                  </a:txBody>
                  <a:tcPr marL="73152" marR="73152" marT="27432" marB="27432" anchor="ctr">
                    <a:solidFill>
                      <a:srgbClr val="FFFFFF"/>
                    </a:solidFill>
                  </a:tcPr>
                </a:tc>
                <a:tc>
                  <a:txBody>
                    <a:bodyPr wrap="square"/>
                    <a:lstStyle/>
                    <a:p>
                      <a:pPr algn="r"/>
                      <a:r>
                        <a:rPr sz="1100" b="0">
                          <a:solidFill>
                            <a:srgbClr val="1B2733"/>
                          </a:solidFill>
                          <a:latin typeface="Arial"/>
                        </a:rPr>
                        <a:t>0,783</a:t>
                      </a:r>
                    </a:p>
                  </a:txBody>
                  <a:tcPr marL="73152" marR="73152" marT="27432" marB="27432" anchor="ctr">
                    <a:solidFill>
                      <a:srgbClr val="FFFFFF"/>
                    </a:solidFill>
                  </a:tcPr>
                </a:tc>
                <a:tc>
                  <a:txBody>
                    <a:bodyPr wrap="square"/>
                    <a:lstStyle/>
                    <a:p>
                      <a:pPr algn="r"/>
                      <a:r>
                        <a:rPr sz="1100" b="0">
                          <a:solidFill>
                            <a:srgbClr val="1B2733"/>
                          </a:solidFill>
                          <a:latin typeface="Arial"/>
                        </a:rPr>
                        <a:t>86,3%</a:t>
                      </a:r>
                    </a:p>
                  </a:txBody>
                  <a:tcPr marL="73152" marR="73152" marT="27432" marB="27432" anchor="ctr">
                    <a:solidFill>
                      <a:srgbClr val="FFFFFF"/>
                    </a:solidFill>
                  </a:tcPr>
                </a:tc>
              </a:tr>
              <a:tr h="365760">
                <a:tc>
                  <a:txBody>
                    <a:bodyPr wrap="square"/>
                    <a:lstStyle/>
                    <a:p>
                      <a:r>
                        <a:rPr sz="1100" b="0">
                          <a:solidFill>
                            <a:srgbClr val="1B2733"/>
                          </a:solidFill>
                          <a:latin typeface="Arial"/>
                        </a:rPr>
                        <a:t>sensor_9</a:t>
                      </a:r>
                    </a:p>
                  </a:txBody>
                  <a:tcPr marL="73152" marR="73152" marT="27432" marB="27432" anchor="ctr">
                    <a:solidFill>
                      <a:srgbClr val="EAF0FA"/>
                    </a:solidFill>
                  </a:tcPr>
                </a:tc>
                <a:tc>
                  <a:txBody>
                    <a:bodyPr wrap="square"/>
                    <a:lstStyle/>
                    <a:p>
                      <a:pPr algn="r"/>
                      <a:r>
                        <a:rPr sz="1100" b="0">
                          <a:solidFill>
                            <a:srgbClr val="1B2733"/>
                          </a:solidFill>
                          <a:latin typeface="Arial"/>
                        </a:rPr>
                        <a:t>5,90</a:t>
                      </a:r>
                    </a:p>
                  </a:txBody>
                  <a:tcPr marL="73152" marR="73152" marT="27432" marB="27432" anchor="ctr">
                    <a:solidFill>
                      <a:srgbClr val="EAF0FA"/>
                    </a:solidFill>
                  </a:tcPr>
                </a:tc>
                <a:tc>
                  <a:txBody>
                    <a:bodyPr wrap="square"/>
                    <a:lstStyle/>
                    <a:p>
                      <a:pPr algn="r"/>
                      <a:r>
                        <a:rPr sz="1100" b="0">
                          <a:solidFill>
                            <a:srgbClr val="1B2733"/>
                          </a:solidFill>
                          <a:latin typeface="Arial"/>
                        </a:rPr>
                        <a:t>0,924</a:t>
                      </a:r>
                    </a:p>
                  </a:txBody>
                  <a:tcPr marL="73152" marR="73152" marT="27432" marB="27432" anchor="ctr">
                    <a:solidFill>
                      <a:srgbClr val="EAF0FA"/>
                    </a:solidFill>
                  </a:tcPr>
                </a:tc>
                <a:tc>
                  <a:txBody>
                    <a:bodyPr wrap="square"/>
                    <a:lstStyle/>
                    <a:p>
                      <a:pPr algn="r"/>
                      <a:r>
                        <a:rPr sz="1100" b="0">
                          <a:solidFill>
                            <a:srgbClr val="1B2733"/>
                          </a:solidFill>
                          <a:latin typeface="Arial"/>
                        </a:rPr>
                        <a:t>84,3%</a:t>
                      </a:r>
                    </a:p>
                  </a:txBody>
                  <a:tcPr marL="73152" marR="73152" marT="27432" marB="27432" anchor="ctr">
                    <a:solidFill>
                      <a:srgbClr val="EAF0FA"/>
                    </a:solidFill>
                  </a:tcPr>
                </a:tc>
              </a:tr>
              <a:tr h="365760">
                <a:tc>
                  <a:txBody>
                    <a:bodyPr wrap="square"/>
                    <a:lstStyle/>
                    <a:p>
                      <a:r>
                        <a:rPr sz="1100" b="0">
                          <a:solidFill>
                            <a:srgbClr val="1B2733"/>
                          </a:solidFill>
                          <a:latin typeface="Arial"/>
                        </a:rPr>
                        <a:t>sensor_11</a:t>
                      </a:r>
                    </a:p>
                  </a:txBody>
                  <a:tcPr marL="73152" marR="73152" marT="27432" marB="27432" anchor="ctr">
                    <a:solidFill>
                      <a:srgbClr val="FFFFFF"/>
                    </a:solidFill>
                  </a:tcPr>
                </a:tc>
                <a:tc>
                  <a:txBody>
                    <a:bodyPr wrap="square"/>
                    <a:lstStyle/>
                    <a:p>
                      <a:pPr algn="r"/>
                      <a:r>
                        <a:rPr sz="1100" b="0">
                          <a:solidFill>
                            <a:srgbClr val="1B2733"/>
                          </a:solidFill>
                          <a:latin typeface="Arial"/>
                        </a:rPr>
                        <a:t>0,144</a:t>
                      </a:r>
                    </a:p>
                  </a:txBody>
                  <a:tcPr marL="73152" marR="73152" marT="27432" marB="27432" anchor="ctr">
                    <a:solidFill>
                      <a:srgbClr val="FFFFFF"/>
                    </a:solidFill>
                  </a:tcPr>
                </a:tc>
                <a:tc>
                  <a:txBody>
                    <a:bodyPr wrap="square"/>
                    <a:lstStyle/>
                    <a:p>
                      <a:pPr algn="r"/>
                      <a:r>
                        <a:rPr sz="1100" b="0">
                          <a:solidFill>
                            <a:srgbClr val="1B2733"/>
                          </a:solidFill>
                          <a:latin typeface="Arial"/>
                        </a:rPr>
                        <a:t>0,020</a:t>
                      </a:r>
                    </a:p>
                  </a:txBody>
                  <a:tcPr marL="73152" marR="73152" marT="27432" marB="27432" anchor="ctr">
                    <a:solidFill>
                      <a:srgbClr val="FFFFFF"/>
                    </a:solidFill>
                  </a:tcPr>
                </a:tc>
                <a:tc>
                  <a:txBody>
                    <a:bodyPr wrap="square"/>
                    <a:lstStyle/>
                    <a:p>
                      <a:pPr algn="r"/>
                      <a:r>
                        <a:rPr sz="1100" b="0">
                          <a:solidFill>
                            <a:srgbClr val="1B2733"/>
                          </a:solidFill>
                          <a:latin typeface="Arial"/>
                        </a:rPr>
                        <a:t>86,2%</a:t>
                      </a:r>
                    </a:p>
                  </a:txBody>
                  <a:tcPr marL="73152" marR="73152" marT="27432" marB="27432" anchor="ctr">
                    <a:solidFill>
                      <a:srgbClr val="FFFFFF"/>
                    </a:solidFill>
                  </a:tcPr>
                </a:tc>
              </a:tr>
              <a:tr h="365760">
                <a:tc>
                  <a:txBody>
                    <a:bodyPr wrap="square"/>
                    <a:lstStyle/>
                    <a:p>
                      <a:r>
                        <a:rPr sz="1100" b="0">
                          <a:solidFill>
                            <a:srgbClr val="1B2733"/>
                          </a:solidFill>
                          <a:latin typeface="Arial"/>
                        </a:rPr>
                        <a:t>sensor_12</a:t>
                      </a:r>
                    </a:p>
                  </a:txBody>
                  <a:tcPr marL="73152" marR="73152" marT="27432" marB="27432" anchor="ctr">
                    <a:solidFill>
                      <a:srgbClr val="EAF0FA"/>
                    </a:solidFill>
                  </a:tcPr>
                </a:tc>
                <a:tc>
                  <a:txBody>
                    <a:bodyPr wrap="square"/>
                    <a:lstStyle/>
                    <a:p>
                      <a:pPr algn="r"/>
                      <a:r>
                        <a:rPr sz="1100" b="0">
                          <a:solidFill>
                            <a:srgbClr val="1B2733"/>
                          </a:solidFill>
                          <a:latin typeface="Arial"/>
                        </a:rPr>
                        <a:t>0,425</a:t>
                      </a:r>
                    </a:p>
                  </a:txBody>
                  <a:tcPr marL="73152" marR="73152" marT="27432" marB="27432" anchor="ctr">
                    <a:solidFill>
                      <a:srgbClr val="EAF0FA"/>
                    </a:solidFill>
                  </a:tcPr>
                </a:tc>
                <a:tc>
                  <a:txBody>
                    <a:bodyPr wrap="square"/>
                    <a:lstStyle/>
                    <a:p>
                      <a:pPr algn="r"/>
                      <a:r>
                        <a:rPr sz="1100" b="0">
                          <a:solidFill>
                            <a:srgbClr val="1B2733"/>
                          </a:solidFill>
                          <a:latin typeface="Arial"/>
                        </a:rPr>
                        <a:t>0,059</a:t>
                      </a:r>
                    </a:p>
                  </a:txBody>
                  <a:tcPr marL="73152" marR="73152" marT="27432" marB="27432" anchor="ctr">
                    <a:solidFill>
                      <a:srgbClr val="EAF0FA"/>
                    </a:solidFill>
                  </a:tcPr>
                </a:tc>
                <a:tc>
                  <a:txBody>
                    <a:bodyPr wrap="square"/>
                    <a:lstStyle/>
                    <a:p>
                      <a:pPr algn="r"/>
                      <a:r>
                        <a:rPr sz="1100" b="0">
                          <a:solidFill>
                            <a:srgbClr val="1B2733"/>
                          </a:solidFill>
                          <a:latin typeface="Arial"/>
                        </a:rPr>
                        <a:t>86,2%</a:t>
                      </a:r>
                    </a:p>
                  </a:txBody>
                  <a:tcPr marL="73152" marR="73152" marT="27432" marB="27432" anchor="ctr">
                    <a:solidFill>
                      <a:srgbClr val="EAF0FA"/>
                    </a:solidFill>
                  </a:tcPr>
                </a:tc>
              </a:tr>
              <a:tr h="365760">
                <a:tc>
                  <a:txBody>
                    <a:bodyPr wrap="square"/>
                    <a:lstStyle/>
                    <a:p>
                      <a:r>
                        <a:rPr sz="1100" b="0">
                          <a:solidFill>
                            <a:srgbClr val="1B2733"/>
                          </a:solidFill>
                          <a:latin typeface="Arial"/>
                        </a:rPr>
                        <a:t>sensor_14</a:t>
                      </a:r>
                    </a:p>
                  </a:txBody>
                  <a:tcPr marL="73152" marR="73152" marT="27432" marB="27432" anchor="ctr">
                    <a:solidFill>
                      <a:srgbClr val="FFFFFF"/>
                    </a:solidFill>
                  </a:tcPr>
                </a:tc>
                <a:tc>
                  <a:txBody>
                    <a:bodyPr wrap="square"/>
                    <a:lstStyle/>
                    <a:p>
                      <a:pPr algn="r"/>
                      <a:r>
                        <a:rPr sz="1100" b="0">
                          <a:solidFill>
                            <a:srgbClr val="1B2733"/>
                          </a:solidFill>
                          <a:latin typeface="Arial"/>
                        </a:rPr>
                        <a:t>4,45</a:t>
                      </a:r>
                    </a:p>
                  </a:txBody>
                  <a:tcPr marL="73152" marR="73152" marT="27432" marB="27432" anchor="ctr">
                    <a:solidFill>
                      <a:srgbClr val="FFFFFF"/>
                    </a:solidFill>
                  </a:tcPr>
                </a:tc>
                <a:tc>
                  <a:txBody>
                    <a:bodyPr wrap="square"/>
                    <a:lstStyle/>
                    <a:p>
                      <a:pPr algn="r"/>
                      <a:r>
                        <a:rPr sz="1100" b="0">
                          <a:solidFill>
                            <a:srgbClr val="1B2733"/>
                          </a:solidFill>
                          <a:latin typeface="Arial"/>
                        </a:rPr>
                        <a:t>0,729</a:t>
                      </a:r>
                    </a:p>
                  </a:txBody>
                  <a:tcPr marL="73152" marR="73152" marT="27432" marB="27432" anchor="ctr">
                    <a:solidFill>
                      <a:srgbClr val="FFFFFF"/>
                    </a:solidFill>
                  </a:tcPr>
                </a:tc>
                <a:tc>
                  <a:txBody>
                    <a:bodyPr wrap="square"/>
                    <a:lstStyle/>
                    <a:p>
                      <a:pPr algn="r"/>
                      <a:r>
                        <a:rPr sz="1100" b="0">
                          <a:solidFill>
                            <a:srgbClr val="1B2733"/>
                          </a:solidFill>
                          <a:latin typeface="Arial"/>
                        </a:rPr>
                        <a:t>83,6%</a:t>
                      </a:r>
                    </a:p>
                  </a:txBody>
                  <a:tcPr marL="73152" marR="73152" marT="27432" marB="27432" anchor="ctr">
                    <a:solidFill>
                      <a:srgbClr val="FFFFFF"/>
                    </a:solidFill>
                  </a:tcPr>
                </a:tc>
              </a:tr>
            </a:tbl>
          </a:graphicData>
        </a:graphic>
      </p:graphicFrame>
      <p:sp>
        <p:nvSpPr>
          <p:cNvPr id="9" name="TextBox 8"/>
          <p:cNvSpPr txBox="1"/>
          <p:nvPr/>
        </p:nvSpPr>
        <p:spPr>
          <a:xfrm>
            <a:off x="8183879" y="4553712"/>
            <a:ext cx="3127248" cy="411480"/>
          </a:xfrm>
          <a:prstGeom prst="rect">
            <a:avLst/>
          </a:prstGeom>
          <a:noFill/>
        </p:spPr>
        <p:txBody>
          <a:bodyPr wrap="square" lIns="0" rIns="0" tIns="0" bIns="0" anchor="t"/>
          <a:lstStyle/>
          <a:p>
            <a:pPr algn="l">
              <a:spcAft>
                <a:spcPts val="0"/>
              </a:spcAft>
            </a:pPr>
            <a:r>
              <a:rPr sz="1050" b="0">
                <a:solidFill>
                  <a:srgbClr val="5A6B7B"/>
                </a:solidFill>
                <a:latin typeface="Arial"/>
              </a:rPr>
              <a:t>Cách đo: độ lệch chuẩn của chênh lệch giữa hai cycle liền kề, tính riêng từng động cơ.</a:t>
            </a:r>
          </a:p>
        </p:txBody>
      </p:sp>
      <p:sp>
        <p:nvSpPr>
          <p:cNvPr id="10" name="Rounded Rectangle 9"/>
          <p:cNvSpPr/>
          <p:nvPr/>
        </p:nvSpPr>
        <p:spPr>
          <a:xfrm>
            <a:off x="841248" y="5029200"/>
            <a:ext cx="10515600"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120640"/>
            <a:ext cx="10058400" cy="822960"/>
          </a:xfrm>
          <a:prstGeom prst="rect">
            <a:avLst/>
          </a:prstGeom>
          <a:noFill/>
        </p:spPr>
        <p:txBody>
          <a:bodyPr wrap="square" lIns="0" rIns="0" tIns="0" bIns="0" anchor="t"/>
          <a:lstStyle/>
          <a:p>
            <a:pPr algn="l">
              <a:spcAft>
                <a:spcPts val="400"/>
              </a:spcAft>
            </a:pPr>
            <a:r>
              <a:rPr sz="1350" b="1">
                <a:solidFill>
                  <a:srgbClr val="21409A"/>
                </a:solidFill>
                <a:latin typeface="Arial"/>
              </a:rPr>
              <a:t>Công thức: </a:t>
            </a:r>
            <a:r>
              <a:rPr sz="1350" b="0">
                <a:solidFill>
                  <a:srgbClr val="1B2733"/>
                </a:solidFill>
                <a:latin typeface="Arial"/>
              </a:rPr>
              <a:t>sₜ = α·xₜ + (1 − α)·sₜ₋₁, với α = 2 / (span + 1) ≈ 0,18 khi span = 10</a:t>
            </a:r>
          </a:p>
          <a:p>
            <a:pPr algn="l">
              <a:spcAft>
                <a:spcPts val="400"/>
              </a:spcAft>
            </a:pPr>
            <a:r>
              <a:rPr sz="1350" b="1">
                <a:solidFill>
                  <a:srgbClr val="21409A"/>
                </a:solidFill>
                <a:latin typeface="Arial"/>
              </a:rPr>
              <a:t>Vai trò: </a:t>
            </a:r>
            <a:r>
              <a:rPr sz="1350" b="0">
                <a:solidFill>
                  <a:srgbClr val="1B2733"/>
                </a:solidFill>
                <a:latin typeface="Arial"/>
              </a:rPr>
              <a:t>tín hiệu đã làm mượt là đầu vào của Health Index và phát hiện bất thường (slide 12); mô hình RUL dùng đặc trưng cửa sổ trên tín hiệu gốc.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Tổng hợp đặc trưng theo cửa sổ thời gian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Cửa sổ trượt 30 cycle, chỉ dùng quá khứ; 21 sensor × 6 thống kê = 126 đặc trưng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outputs/features/run_info.json; src/cmapss/features/rolling.py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sp>
        <p:nvSpPr>
          <p:cNvPr id="7" name="Rectangle 6"/>
          <p:cNvSpPr/>
          <p:nvPr/>
        </p:nvSpPr>
        <p:spPr>
          <a:xfrm>
            <a:off x="841248"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20"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62456"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36192"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099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574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0487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7860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5234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92608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9981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7355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4728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2102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9476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6849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4223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1596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970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6344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3717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1091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18464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35838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3212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70585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7959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533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270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745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48272" y="2606040"/>
            <a:ext cx="146304" cy="384048"/>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922008"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95744"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69480"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443216"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16952"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23659" y="2295144"/>
            <a:ext cx="82296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48" name="TextBox 47"/>
          <p:cNvSpPr txBox="1"/>
          <p:nvPr/>
        </p:nvSpPr>
        <p:spPr>
          <a:xfrm>
            <a:off x="1709928" y="3063240"/>
            <a:ext cx="5212080" cy="274320"/>
          </a:xfrm>
          <a:prstGeom prst="rect">
            <a:avLst/>
          </a:prstGeom>
          <a:noFill/>
        </p:spPr>
        <p:txBody>
          <a:bodyPr wrap="square" lIns="0" rIns="0" tIns="0" bIns="0" anchor="t"/>
          <a:lstStyle/>
          <a:p>
            <a:pPr algn="ctr">
              <a:spcAft>
                <a:spcPts val="0"/>
              </a:spcAft>
            </a:pPr>
            <a:r>
              <a:rPr sz="1250" b="1">
                <a:solidFill>
                  <a:srgbClr val="21409A"/>
                </a:solidFill>
                <a:latin typeface="Arial"/>
              </a:rPr>
              <a:t>cửa sổ: cycle 141–170</a:t>
            </a:r>
          </a:p>
        </p:txBody>
      </p:sp>
      <p:sp>
        <p:nvSpPr>
          <p:cNvPr id="49" name="TextBox 48"/>
          <p:cNvSpPr txBox="1"/>
          <p:nvPr/>
        </p:nvSpPr>
        <p:spPr>
          <a:xfrm>
            <a:off x="6099048" y="3063240"/>
            <a:ext cx="1691640" cy="274320"/>
          </a:xfrm>
          <a:prstGeom prst="rect">
            <a:avLst/>
          </a:prstGeom>
          <a:noFill/>
        </p:spPr>
        <p:txBody>
          <a:bodyPr wrap="square" lIns="0" rIns="0" tIns="0" bIns="0" anchor="t"/>
          <a:lstStyle/>
          <a:p>
            <a:pPr algn="r">
              <a:spcAft>
                <a:spcPts val="0"/>
              </a:spcAft>
            </a:pPr>
            <a:r>
              <a:rPr sz="1150" b="0">
                <a:solidFill>
                  <a:srgbClr val="5A6B7B"/>
                </a:solidFill>
                <a:latin typeface="Arial"/>
              </a:rPr>
              <a:t>từ 171: không dùng</a:t>
            </a:r>
          </a:p>
        </p:txBody>
      </p:sp>
      <p:sp>
        <p:nvSpPr>
          <p:cNvPr id="50" name="TextBox 49"/>
          <p:cNvSpPr txBox="1"/>
          <p:nvPr/>
        </p:nvSpPr>
        <p:spPr>
          <a:xfrm>
            <a:off x="841248" y="3474720"/>
            <a:ext cx="6858000" cy="365760"/>
          </a:xfrm>
          <a:prstGeom prst="rect">
            <a:avLst/>
          </a:prstGeom>
          <a:noFill/>
        </p:spPr>
        <p:txBody>
          <a:bodyPr wrap="square" lIns="0" rIns="0" tIns="0" bIns="0" anchor="t"/>
          <a:lstStyle/>
          <a:p>
            <a:pPr algn="l">
              <a:spcAft>
                <a:spcPts val="0"/>
              </a:spcAft>
            </a:pPr>
            <a:r>
              <a:rPr sz="1800" b="1">
                <a:solidFill>
                  <a:srgbClr val="21409A"/>
                </a:solidFill>
                <a:latin typeface="Arial"/>
              </a:rPr>
              <a:t>21 sensor × 6 thống kê = 126 đặc trưng</a:t>
            </a:r>
          </a:p>
        </p:txBody>
      </p:sp>
      <p:sp>
        <p:nvSpPr>
          <p:cNvPr id="51" name="Rounded Rectangle 50"/>
          <p:cNvSpPr/>
          <p:nvPr/>
        </p:nvSpPr>
        <p:spPr>
          <a:xfrm>
            <a:off x="841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78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last</a:t>
            </a:r>
          </a:p>
        </p:txBody>
      </p:sp>
      <p:sp>
        <p:nvSpPr>
          <p:cNvPr id="53" name="TextBox 52"/>
          <p:cNvSpPr txBox="1"/>
          <p:nvPr/>
        </p:nvSpPr>
        <p:spPr>
          <a:xfrm>
            <a:off x="978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cuối, tại cycle t</a:t>
            </a:r>
          </a:p>
        </p:txBody>
      </p:sp>
      <p:sp>
        <p:nvSpPr>
          <p:cNvPr id="54" name="Rounded Rectangle 53"/>
          <p:cNvSpPr/>
          <p:nvPr/>
        </p:nvSpPr>
        <p:spPr>
          <a:xfrm>
            <a:off x="3127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64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mean</a:t>
            </a:r>
          </a:p>
        </p:txBody>
      </p:sp>
      <p:sp>
        <p:nvSpPr>
          <p:cNvPr id="56" name="TextBox 55"/>
          <p:cNvSpPr txBox="1"/>
          <p:nvPr/>
        </p:nvSpPr>
        <p:spPr>
          <a:xfrm>
            <a:off x="3264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trung bình</a:t>
            </a:r>
          </a:p>
        </p:txBody>
      </p:sp>
      <p:sp>
        <p:nvSpPr>
          <p:cNvPr id="57" name="Rounded Rectangle 56"/>
          <p:cNvSpPr/>
          <p:nvPr/>
        </p:nvSpPr>
        <p:spPr>
          <a:xfrm>
            <a:off x="5413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50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std</a:t>
            </a:r>
          </a:p>
        </p:txBody>
      </p:sp>
      <p:sp>
        <p:nvSpPr>
          <p:cNvPr id="59" name="TextBox 58"/>
          <p:cNvSpPr txBox="1"/>
          <p:nvPr/>
        </p:nvSpPr>
        <p:spPr>
          <a:xfrm>
            <a:off x="5550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lệch chuẩn mẫu</a:t>
            </a:r>
          </a:p>
        </p:txBody>
      </p:sp>
      <p:sp>
        <p:nvSpPr>
          <p:cNvPr id="60" name="Rounded Rectangle 59"/>
          <p:cNvSpPr/>
          <p:nvPr/>
        </p:nvSpPr>
        <p:spPr>
          <a:xfrm>
            <a:off x="841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78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min</a:t>
            </a:r>
          </a:p>
        </p:txBody>
      </p:sp>
      <p:sp>
        <p:nvSpPr>
          <p:cNvPr id="62" name="TextBox 61"/>
          <p:cNvSpPr txBox="1"/>
          <p:nvPr/>
        </p:nvSpPr>
        <p:spPr>
          <a:xfrm>
            <a:off x="978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nhỏ nhất</a:t>
            </a:r>
          </a:p>
        </p:txBody>
      </p:sp>
      <p:sp>
        <p:nvSpPr>
          <p:cNvPr id="63" name="Rounded Rectangle 62"/>
          <p:cNvSpPr/>
          <p:nvPr/>
        </p:nvSpPr>
        <p:spPr>
          <a:xfrm>
            <a:off x="3127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64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max</a:t>
            </a:r>
          </a:p>
        </p:txBody>
      </p:sp>
      <p:sp>
        <p:nvSpPr>
          <p:cNvPr id="65" name="TextBox 64"/>
          <p:cNvSpPr txBox="1"/>
          <p:nvPr/>
        </p:nvSpPr>
        <p:spPr>
          <a:xfrm>
            <a:off x="3264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lớn nhất</a:t>
            </a:r>
          </a:p>
        </p:txBody>
      </p:sp>
      <p:sp>
        <p:nvSpPr>
          <p:cNvPr id="66" name="Rounded Rectangle 65"/>
          <p:cNvSpPr/>
          <p:nvPr/>
        </p:nvSpPr>
        <p:spPr>
          <a:xfrm>
            <a:off x="5413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550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slope</a:t>
            </a:r>
          </a:p>
        </p:txBody>
      </p:sp>
      <p:sp>
        <p:nvSpPr>
          <p:cNvPr id="68" name="TextBox 67"/>
          <p:cNvSpPr txBox="1"/>
          <p:nvPr/>
        </p:nvSpPr>
        <p:spPr>
          <a:xfrm>
            <a:off x="5550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dốc (hệ số góc hồi quy)</a:t>
            </a:r>
          </a:p>
        </p:txBody>
      </p:sp>
      <p:sp>
        <p:nvSpPr>
          <p:cNvPr id="69" name="TextBox 68"/>
          <p:cNvSpPr txBox="1"/>
          <p:nvPr/>
        </p:nvSpPr>
        <p:spPr>
          <a:xfrm>
            <a:off x="841248" y="5623560"/>
            <a:ext cx="6858000" cy="365760"/>
          </a:xfrm>
          <a:prstGeom prst="rect">
            <a:avLst/>
          </a:prstGeom>
          <a:noFill/>
        </p:spPr>
        <p:txBody>
          <a:bodyPr wrap="square" lIns="0" rIns="0" tIns="0" bIns="0" anchor="t"/>
          <a:lstStyle/>
          <a:p>
            <a:pPr algn="l">
              <a:spcAft>
                <a:spcPts val="0"/>
              </a:spcAft>
            </a:pPr>
            <a:r>
              <a:rPr sz="1250" b="0">
                <a:solidFill>
                  <a:srgbClr val="5A6B7B"/>
                </a:solidFill>
                <a:latin typeface="Arial"/>
              </a:rPr>
              <a:t>17.731 cửa sổ train · 10.196 cửa sổ test · 29 cycle đầu bị bỏ, không bù giá trị</a:t>
            </a:r>
          </a:p>
        </p:txBody>
      </p:sp>
      <p:sp>
        <p:nvSpPr>
          <p:cNvPr id="70" name="Rounded Rectangle 69"/>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183879" y="2450592"/>
            <a:ext cx="3017520" cy="329184"/>
          </a:xfrm>
          <a:prstGeom prst="rect">
            <a:avLst/>
          </a:prstGeom>
          <a:noFill/>
        </p:spPr>
        <p:txBody>
          <a:bodyPr wrap="square" lIns="0" rIns="0" tIns="0" bIns="0" anchor="t"/>
          <a:lstStyle/>
          <a:p>
            <a:pPr algn="l">
              <a:spcAft>
                <a:spcPts val="0"/>
              </a:spcAft>
            </a:pPr>
            <a:r>
              <a:rPr sz="1600" b="1">
                <a:solidFill>
                  <a:srgbClr val="FFFFFF"/>
                </a:solidFill>
                <a:latin typeface="Arial"/>
              </a:rPr>
              <a:t>Chuẩn hóa</a:t>
            </a:r>
          </a:p>
        </p:txBody>
      </p:sp>
      <p:sp>
        <p:nvSpPr>
          <p:cNvPr id="72" name="TextBox 71"/>
          <p:cNvSpPr txBox="1"/>
          <p:nvPr/>
        </p:nvSpPr>
        <p:spPr>
          <a:xfrm>
            <a:off x="8183879" y="2880360"/>
            <a:ext cx="2971800" cy="3017520"/>
          </a:xfrm>
          <a:prstGeom prst="rect">
            <a:avLst/>
          </a:prstGeom>
          <a:noFill/>
        </p:spPr>
        <p:txBody>
          <a:bodyPr wrap="square" lIns="0" rIns="0" tIns="0" bIns="0" anchor="t"/>
          <a:lstStyle/>
          <a:p>
            <a:pPr algn="l">
              <a:spcAft>
                <a:spcPts val="800"/>
              </a:spcAft>
            </a:pPr>
            <a:r>
              <a:rPr sz="1300" b="1">
                <a:solidFill>
                  <a:srgbClr val="FCB525"/>
                </a:solidFill>
                <a:latin typeface="Arial"/>
              </a:rPr>
              <a:t>ETL: </a:t>
            </a:r>
            <a:r>
              <a:rPr sz="1300" b="0">
                <a:solidFill>
                  <a:srgbClr val="FFFFFF"/>
                </a:solidFill>
                <a:latin typeface="Arial"/>
              </a:rPr>
              <a:t>thống nhất schema và kiểu dữ liệu.</a:t>
            </a:r>
          </a:p>
          <a:p>
            <a:pPr algn="l">
              <a:spcAft>
                <a:spcPts val="800"/>
              </a:spcAft>
            </a:pPr>
            <a:r>
              <a:rPr sz="1300" b="1">
                <a:solidFill>
                  <a:srgbClr val="FCB525"/>
                </a:solidFill>
                <a:latin typeface="Arial"/>
              </a:rPr>
              <a:t>StandardScaler: </a:t>
            </a:r>
            <a:r>
              <a:rPr sz="1300" b="0">
                <a:solidFill>
                  <a:srgbClr val="FFFFFF"/>
                </a:solidFill>
                <a:latin typeface="Arial"/>
              </a:rPr>
              <a:t>đưa về trung bình 0, độ lệch chuẩn 1; chỉ học trên phần train của từng fold.</a:t>
            </a:r>
          </a:p>
          <a:p>
            <a:pPr algn="l">
              <a:spcAft>
                <a:spcPts val="800"/>
              </a:spcAft>
            </a:pPr>
            <a:r>
              <a:rPr sz="1300" b="1">
                <a:solidFill>
                  <a:srgbClr val="FCB525"/>
                </a:solidFill>
                <a:latin typeface="Arial"/>
              </a:rPr>
              <a:t>Dùng cho: </a:t>
            </a:r>
            <a:r>
              <a:rPr sz="1300" b="0">
                <a:solidFill>
                  <a:srgbClr val="FFFFFF"/>
                </a:solidFill>
                <a:latin typeface="Arial"/>
              </a:rPr>
              <a:t>Ridge và PCA khi tạo Health Index.</a:t>
            </a:r>
          </a:p>
          <a:p>
            <a:pPr algn="l">
              <a:spcAft>
                <a:spcPts val="800"/>
              </a:spcAft>
            </a:pPr>
            <a:r>
              <a:rPr sz="1300" b="1">
                <a:solidFill>
                  <a:srgbClr val="FCB525"/>
                </a:solidFill>
                <a:latin typeface="Arial"/>
              </a:rPr>
              <a:t>HGB: </a:t>
            </a:r>
            <a:r>
              <a:rPr sz="1300" b="0">
                <a:solidFill>
                  <a:srgbClr val="FFFFFF"/>
                </a:solidFill>
                <a:latin typeface="Arial"/>
              </a:rPr>
              <a:t>giữ thang đo gốc vì cây quyết định không phụ thuộc thang đo.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Xu hướng suy giảm của tín hiệu cảm biến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15/21 sensor thay đổi có ý nghĩa thống kê giữa 30 cycle đầu và 30 cycle cuối của mỗi động cơ</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data/raw/train_FD001.txt; outputs/statistics/tables/sensor_inference.csv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pic>
        <p:nvPicPr>
          <p:cNvPr id="7" name="Picture 6" descr="image.png"/>
          <p:cNvPicPr>
            <a:picLocks noChangeAspect="1"/>
          </p:cNvPicPr>
          <p:nvPr/>
        </p:nvPicPr>
        <p:blipFill>
          <a:blip r:embed="rId3"/>
          <a:stretch>
            <a:fillRect/>
          </a:stretch>
        </p:blipFill>
        <p:spPr>
          <a:xfrm>
            <a:off x="841248" y="2240280"/>
            <a:ext cx="3886200" cy="3657600"/>
          </a:xfrm>
          <a:prstGeom prst="rect">
            <a:avLst/>
          </a:prstGeom>
        </p:spPr>
      </p:pic>
      <p:sp>
        <p:nvSpPr>
          <p:cNvPr id="8" name="Oval 7"/>
          <p:cNvSpPr/>
          <p:nvPr/>
        </p:nvSpPr>
        <p:spPr>
          <a:xfrm>
            <a:off x="4937760" y="233172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0" y="233172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1</a:t>
            </a:r>
          </a:p>
        </p:txBody>
      </p:sp>
      <p:sp>
        <p:nvSpPr>
          <p:cNvPr id="10" name="TextBox 9"/>
          <p:cNvSpPr txBox="1"/>
          <p:nvPr/>
        </p:nvSpPr>
        <p:spPr>
          <a:xfrm>
            <a:off x="5532120" y="230428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Ghép cặp trong động cơ</a:t>
            </a:r>
          </a:p>
        </p:txBody>
      </p:sp>
      <p:sp>
        <p:nvSpPr>
          <p:cNvPr id="11" name="TextBox 10"/>
          <p:cNvSpPr txBox="1"/>
          <p:nvPr/>
        </p:nvSpPr>
        <p:spPr>
          <a:xfrm>
            <a:off x="5532120" y="260603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Δ = trung bình 30 cycle cuối − 30 cycle đầu</a:t>
            </a:r>
          </a:p>
        </p:txBody>
      </p:sp>
      <p:sp>
        <p:nvSpPr>
          <p:cNvPr id="12" name="Oval 11"/>
          <p:cNvSpPr/>
          <p:nvPr/>
        </p:nvSpPr>
        <p:spPr>
          <a:xfrm>
            <a:off x="4937760" y="310896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37760" y="310896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2</a:t>
            </a:r>
          </a:p>
        </p:txBody>
      </p:sp>
      <p:sp>
        <p:nvSpPr>
          <p:cNvPr id="14" name="TextBox 13"/>
          <p:cNvSpPr txBox="1"/>
          <p:nvPr/>
        </p:nvSpPr>
        <p:spPr>
          <a:xfrm>
            <a:off x="5532120" y="308152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Bootstrap và Wilcoxon</a:t>
            </a:r>
          </a:p>
        </p:txBody>
      </p:sp>
      <p:sp>
        <p:nvSpPr>
          <p:cNvPr id="15" name="TextBox 14"/>
          <p:cNvSpPr txBox="1"/>
          <p:nvPr/>
        </p:nvSpPr>
        <p:spPr>
          <a:xfrm>
            <a:off x="5532120" y="338327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Lấy mẫu lại động cơ 10.000 lần</a:t>
            </a:r>
          </a:p>
        </p:txBody>
      </p:sp>
      <p:sp>
        <p:nvSpPr>
          <p:cNvPr id="16" name="Oval 15"/>
          <p:cNvSpPr/>
          <p:nvPr/>
        </p:nvSpPr>
        <p:spPr>
          <a:xfrm>
            <a:off x="4937760" y="388620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388620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3</a:t>
            </a:r>
          </a:p>
        </p:txBody>
      </p:sp>
      <p:sp>
        <p:nvSpPr>
          <p:cNvPr id="18" name="TextBox 17"/>
          <p:cNvSpPr txBox="1"/>
          <p:nvPr/>
        </p:nvSpPr>
        <p:spPr>
          <a:xfrm>
            <a:off x="5532120" y="385876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Hiệu chỉnh kiểm định bội</a:t>
            </a:r>
          </a:p>
        </p:txBody>
      </p:sp>
      <p:sp>
        <p:nvSpPr>
          <p:cNvPr id="19" name="TextBox 18"/>
          <p:cNvSpPr txBox="1"/>
          <p:nvPr/>
        </p:nvSpPr>
        <p:spPr>
          <a:xfrm>
            <a:off x="5532120" y="4160520"/>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Benjamini–Hochberg (FDR) trên 21 sensor, q = 0,05</a:t>
            </a:r>
          </a:p>
        </p:txBody>
      </p:sp>
      <p:sp>
        <p:nvSpPr>
          <p:cNvPr id="20" name="Rounded Rectangle 19"/>
          <p:cNvSpPr/>
          <p:nvPr/>
        </p:nvSpPr>
        <p:spPr>
          <a:xfrm>
            <a:off x="4937760" y="4709160"/>
            <a:ext cx="2926080" cy="12801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8928" y="4754880"/>
            <a:ext cx="2651760" cy="640080"/>
          </a:xfrm>
          <a:prstGeom prst="rect">
            <a:avLst/>
          </a:prstGeom>
          <a:noFill/>
        </p:spPr>
        <p:txBody>
          <a:bodyPr wrap="square" lIns="0" rIns="0" tIns="0" bIns="0" anchor="t"/>
          <a:lstStyle/>
          <a:p>
            <a:pPr algn="l">
              <a:spcAft>
                <a:spcPts val="0"/>
              </a:spcAft>
            </a:pPr>
            <a:r>
              <a:rPr sz="3800" b="1">
                <a:solidFill>
                  <a:srgbClr val="FFFFFF"/>
                </a:solidFill>
                <a:latin typeface="Arial"/>
              </a:rPr>
              <a:t>15/21</a:t>
            </a:r>
          </a:p>
        </p:txBody>
      </p:sp>
      <p:sp>
        <p:nvSpPr>
          <p:cNvPr id="22" name="TextBox 21"/>
          <p:cNvSpPr txBox="1"/>
          <p:nvPr/>
        </p:nvSpPr>
        <p:spPr>
          <a:xfrm>
            <a:off x="5138928" y="5394960"/>
            <a:ext cx="2651760" cy="548640"/>
          </a:xfrm>
          <a:prstGeom prst="rect">
            <a:avLst/>
          </a:prstGeom>
          <a:noFill/>
        </p:spPr>
        <p:txBody>
          <a:bodyPr wrap="square" lIns="0" rIns="0" tIns="0" bIns="0" anchor="t"/>
          <a:lstStyle/>
          <a:p>
            <a:pPr algn="l">
              <a:spcAft>
                <a:spcPts val="0"/>
              </a:spcAft>
            </a:pPr>
            <a:r>
              <a:rPr sz="1200" b="0">
                <a:solidFill>
                  <a:srgbClr val="C9D6F0"/>
                </a:solidFill>
                <a:latin typeface="Arial"/>
              </a:rPr>
              <a:t>sensor thay đổi có ý nghĩa thống kê</a:t>
            </a:r>
          </a:p>
        </p:txBody>
      </p:sp>
      <p:sp>
        <p:nvSpPr>
          <p:cNvPr id="23" name="Rounded Rectangle 22"/>
          <p:cNvSpPr/>
          <p:nvPr/>
        </p:nvSpPr>
        <p:spPr>
          <a:xfrm>
            <a:off x="8046720" y="4709160"/>
            <a:ext cx="3310128" cy="12801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800600"/>
            <a:ext cx="2971800" cy="1143000"/>
          </a:xfrm>
          <a:prstGeom prst="rect">
            <a:avLst/>
          </a:prstGeom>
          <a:noFill/>
        </p:spPr>
        <p:txBody>
          <a:bodyPr wrap="square" lIns="0" rIns="0" tIns="0" bIns="0" anchor="ctr"/>
          <a:lstStyle/>
          <a:p>
            <a:pPr algn="l">
              <a:spcAft>
                <a:spcPts val="0"/>
              </a:spcAft>
            </a:pPr>
            <a:r>
              <a:rPr sz="1200" b="0">
                <a:solidFill>
                  <a:srgbClr val="1B2733"/>
                </a:solidFill>
                <a:latin typeface="Arial"/>
              </a:rPr>
              <a:t>12 sensor thay đổi cùng chiều ở 100/100 động cơ, ví dụ sensor 4, 7, 11, 12, 20; 6 sensor không đổi nên không kiểm định được.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hiện dấu hiệu bất thường dựa trên Health Index</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3σ so với 30 cycle đầu, duy trì 5 cycle: phát hiện 100/100 động cơ train, trung vị 121 cycle trước khi hỏng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outputs/degradation/tables/anomaly_events.csv; outputs/degradation/summary.json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pic>
        <p:nvPicPr>
          <p:cNvPr id="7" name="Picture 6" descr="image.png"/>
          <p:cNvPicPr>
            <a:picLocks noChangeAspect="1"/>
          </p:cNvPicPr>
          <p:nvPr/>
        </p:nvPicPr>
        <p:blipFill>
          <a:blip r:embed="rId3"/>
          <a:stretch>
            <a:fillRect/>
          </a:stretch>
        </p:blipFill>
        <p:spPr>
          <a:xfrm>
            <a:off x="841248" y="2240280"/>
            <a:ext cx="7452360" cy="2834639"/>
          </a:xfrm>
          <a:prstGeom prst="rect">
            <a:avLst/>
          </a:prstGeom>
        </p:spPr>
      </p:pic>
      <p:sp>
        <p:nvSpPr>
          <p:cNvPr id="8" name="Rounded Rectangle 7"/>
          <p:cNvSpPr/>
          <p:nvPr/>
        </p:nvSpPr>
        <p:spPr>
          <a:xfrm>
            <a:off x="8503920" y="2286000"/>
            <a:ext cx="2852928" cy="85039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0" y="2340864"/>
            <a:ext cx="2560320" cy="438912"/>
          </a:xfrm>
          <a:prstGeom prst="rect">
            <a:avLst/>
          </a:prstGeom>
          <a:noFill/>
        </p:spPr>
        <p:txBody>
          <a:bodyPr wrap="square" lIns="0" rIns="0" tIns="0" bIns="0" anchor="t"/>
          <a:lstStyle/>
          <a:p>
            <a:pPr algn="l">
              <a:spcAft>
                <a:spcPts val="0"/>
              </a:spcAft>
            </a:pPr>
            <a:r>
              <a:rPr sz="2400" b="1">
                <a:solidFill>
                  <a:srgbClr val="FFFFFF"/>
                </a:solidFill>
                <a:latin typeface="Arial"/>
              </a:rPr>
              <a:t>100/100</a:t>
            </a:r>
          </a:p>
        </p:txBody>
      </p:sp>
      <p:sp>
        <p:nvSpPr>
          <p:cNvPr id="10" name="TextBox 9"/>
          <p:cNvSpPr txBox="1"/>
          <p:nvPr/>
        </p:nvSpPr>
        <p:spPr>
          <a:xfrm>
            <a:off x="8686800" y="2770632"/>
            <a:ext cx="2606040" cy="347472"/>
          </a:xfrm>
          <a:prstGeom prst="rect">
            <a:avLst/>
          </a:prstGeom>
          <a:noFill/>
        </p:spPr>
        <p:txBody>
          <a:bodyPr wrap="square" lIns="0" rIns="0" tIns="0" bIns="0" anchor="t"/>
          <a:lstStyle/>
          <a:p>
            <a:pPr algn="l">
              <a:spcAft>
                <a:spcPts val="0"/>
              </a:spcAft>
            </a:pPr>
            <a:r>
              <a:rPr sz="1050" b="0">
                <a:solidFill>
                  <a:srgbClr val="C9D6F0"/>
                </a:solidFill>
                <a:latin typeface="Arial"/>
              </a:rPr>
              <a:t>động cơ train được phát hiện trước khi hỏng</a:t>
            </a:r>
          </a:p>
        </p:txBody>
      </p:sp>
      <p:sp>
        <p:nvSpPr>
          <p:cNvPr id="11" name="Rounded Rectangle 10"/>
          <p:cNvSpPr/>
          <p:nvPr/>
        </p:nvSpPr>
        <p:spPr>
          <a:xfrm>
            <a:off x="8503920" y="3227832"/>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0" y="3282696"/>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121</a:t>
            </a:r>
          </a:p>
        </p:txBody>
      </p:sp>
      <p:sp>
        <p:nvSpPr>
          <p:cNvPr id="13" name="TextBox 12"/>
          <p:cNvSpPr txBox="1"/>
          <p:nvPr/>
        </p:nvSpPr>
        <p:spPr>
          <a:xfrm>
            <a:off x="8686800" y="3712464"/>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cycle báo trước khi hỏng (trung vị); tứ phân vị 101–149</a:t>
            </a:r>
          </a:p>
        </p:txBody>
      </p:sp>
      <p:sp>
        <p:nvSpPr>
          <p:cNvPr id="14" name="Rounded Rectangle 13"/>
          <p:cNvSpPr/>
          <p:nvPr/>
        </p:nvSpPr>
        <p:spPr>
          <a:xfrm>
            <a:off x="8503920" y="4169664"/>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4224528"/>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39%</a:t>
            </a:r>
          </a:p>
        </p:txBody>
      </p:sp>
      <p:sp>
        <p:nvSpPr>
          <p:cNvPr id="16" name="TextBox 15"/>
          <p:cNvSpPr txBox="1"/>
          <p:nvPr/>
        </p:nvSpPr>
        <p:spPr>
          <a:xfrm>
            <a:off x="8686800" y="4654296"/>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vòng đời đã qua khi phát hiện (trung vị)</a:t>
            </a:r>
          </a:p>
        </p:txBody>
      </p:sp>
      <p:sp>
        <p:nvSpPr>
          <p:cNvPr id="17" name="Rounded Rectangle 16"/>
          <p:cNvSpPr/>
          <p:nvPr/>
        </p:nvSpPr>
        <p:spPr>
          <a:xfrm>
            <a:off x="841248" y="5212080"/>
            <a:ext cx="10515600" cy="7772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248656"/>
            <a:ext cx="10104120" cy="713232"/>
          </a:xfrm>
          <a:prstGeom prst="rect">
            <a:avLst/>
          </a:prstGeom>
          <a:noFill/>
        </p:spPr>
        <p:txBody>
          <a:bodyPr wrap="square" lIns="0" rIns="0" tIns="0" bIns="0" anchor="ctr"/>
          <a:lstStyle/>
          <a:p>
            <a:pPr algn="l">
              <a:spcAft>
                <a:spcPts val="0"/>
              </a:spcAft>
            </a:pPr>
            <a:r>
              <a:rPr sz="1200" b="0">
                <a:solidFill>
                  <a:srgbClr val="1B2733"/>
                </a:solidFill>
                <a:latin typeface="Arial"/>
              </a:rPr>
              <a:t>Thử 9 cấu hình (2/3/4σ × 3/5/10 cycle): đều phát hiện 100/100 động cơ, báo trước ít nhất 50 cycle. Nếu không làm mượt: trung vị chỉ còn 72,5 cycle.</a:t>
            </a:r>
          </a:p>
          <a:p>
            <a:pPr algn="l">
              <a:spcAft>
                <a:spcPts val="0"/>
              </a:spcAft>
            </a:pPr>
            <a:r>
              <a:rPr sz="1200" b="0">
                <a:solidFill>
                  <a:srgbClr val="1B2733"/>
                </a:solidFill>
                <a:latin typeface="Arial"/>
              </a:rPr>
              <a:t>Giới hạn: chưa đo được báo động giả vì dữ liệu không ghi thời điểm bắt đầu suy giảm.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Mô hình dự đoán RUL</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HistGradientBoosting (HGB), chọn bằng kiểm định chéo 5 fold chia theo động cơ (GroupKFold); MAE tập test 15,35 cycle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outputs/modeling/tables/model_metrics.csv; outputs/modeling/tables/final_metrics.json; outputs/modeling/predictions/final_evaluation.parquet</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graphicFrame>
        <p:nvGraphicFramePr>
          <p:cNvPr id="7" name="Table 6"/>
          <p:cNvGraphicFramePr>
            <a:graphicFrameLocks noGrp="1"/>
          </p:cNvGraphicFramePr>
          <p:nvPr/>
        </p:nvGraphicFramePr>
        <p:xfrm>
          <a:off x="841248" y="2286000"/>
          <a:ext cx="5212080" cy="1536192"/>
        </p:xfrm>
        <a:graphic>
          <a:graphicData uri="http://schemas.openxmlformats.org/drawingml/2006/table">
            <a:tbl>
              <a:tblPr firstRow="1" bandRow="1">
                <a:tableStyleId>{5C22544A-7EE6-4342-B048-85BDC9FD1C3A}</a:tableStyleId>
              </a:tblPr>
              <a:tblGrid>
                <a:gridCol w="2468880"/>
                <a:gridCol w="914400"/>
                <a:gridCol w="1828800"/>
              </a:tblGrid>
              <a:tr h="384048">
                <a:tc>
                  <a:txBody>
                    <a:bodyPr wrap="square"/>
                    <a:lstStyle/>
                    <a:p>
                      <a:r>
                        <a:rPr sz="1250" b="1">
                          <a:solidFill>
                            <a:srgbClr val="FFFFFF"/>
                          </a:solidFill>
                          <a:latin typeface="Arial"/>
                        </a:rPr>
                        <a:t>Mô hình (GroupKFold 5 fold)</a:t>
                      </a:r>
                    </a:p>
                  </a:txBody>
                  <a:tcPr marL="73152" marR="73152" marT="27432" marB="27432" anchor="ctr">
                    <a:solidFill>
                      <a:srgbClr val="21409A"/>
                    </a:solidFill>
                  </a:tcPr>
                </a:tc>
                <a:tc>
                  <a:txBody>
                    <a:bodyPr wrap="square"/>
                    <a:lstStyle/>
                    <a:p>
                      <a:r>
                        <a:rPr sz="1250" b="1">
                          <a:solidFill>
                            <a:srgbClr val="FFFFFF"/>
                          </a:solidFill>
                          <a:latin typeface="Arial"/>
                        </a:rPr>
                        <a:t>MAE</a:t>
                      </a:r>
                    </a:p>
                  </a:txBody>
                  <a:tcPr marL="73152" marR="73152" marT="27432" marB="27432" anchor="ctr">
                    <a:solidFill>
                      <a:srgbClr val="21409A"/>
                    </a:solidFill>
                  </a:tcPr>
                </a:tc>
                <a:tc>
                  <a:txBody>
                    <a:bodyPr wrap="square"/>
                    <a:lstStyle/>
                    <a:p>
                      <a:r>
                        <a:rPr sz="1250" b="1">
                          <a:solidFill>
                            <a:srgbClr val="FFFFFF"/>
                          </a:solidFill>
                          <a:latin typeface="Arial"/>
                        </a:rPr>
                        <a:t>Độ lệch chuẩn (5 fold)</a:t>
                      </a:r>
                    </a:p>
                  </a:txBody>
                  <a:tcPr marL="73152" marR="73152" marT="27432" marB="27432" anchor="ctr">
                    <a:solidFill>
                      <a:srgbClr val="21409A"/>
                    </a:solidFill>
                  </a:tcPr>
                </a:tc>
              </a:tr>
              <a:tr h="384048">
                <a:tc>
                  <a:txBody>
                    <a:bodyPr wrap="square"/>
                    <a:lstStyle/>
                    <a:p>
                      <a:r>
                        <a:rPr sz="1250" b="0">
                          <a:solidFill>
                            <a:srgbClr val="1B2733"/>
                          </a:solidFill>
                          <a:latin typeface="Arial"/>
                        </a:rPr>
                        <a:t>Baseline trung vị</a:t>
                      </a:r>
                    </a:p>
                  </a:txBody>
                  <a:tcPr marL="73152" marR="73152" marT="27432" marB="27432" anchor="ctr">
                    <a:solidFill>
                      <a:srgbClr val="FFFFFF"/>
                    </a:solidFill>
                  </a:tcPr>
                </a:tc>
                <a:tc>
                  <a:txBody>
                    <a:bodyPr wrap="square"/>
                    <a:lstStyle/>
                    <a:p>
                      <a:pPr algn="r"/>
                      <a:r>
                        <a:rPr sz="1250" b="0">
                          <a:solidFill>
                            <a:srgbClr val="1B2733"/>
                          </a:solidFill>
                          <a:latin typeface="Arial"/>
                        </a:rPr>
                        <a:t>46,95</a:t>
                      </a:r>
                    </a:p>
                  </a:txBody>
                  <a:tcPr marL="73152" marR="73152" marT="27432" marB="27432" anchor="ctr">
                    <a:solidFill>
                      <a:srgbClr val="FFFFFF"/>
                    </a:solidFill>
                  </a:tcPr>
                </a:tc>
                <a:tc>
                  <a:txBody>
                    <a:bodyPr wrap="square"/>
                    <a:lstStyle/>
                    <a:p>
                      <a:pPr algn="r"/>
                      <a:r>
                        <a:rPr sz="1250" b="0">
                          <a:solidFill>
                            <a:srgbClr val="1B2733"/>
                          </a:solidFill>
                          <a:latin typeface="Arial"/>
                        </a:rPr>
                        <a:t>0,12</a:t>
                      </a:r>
                    </a:p>
                  </a:txBody>
                  <a:tcPr marL="73152" marR="73152" marT="27432" marB="27432" anchor="ctr">
                    <a:solidFill>
                      <a:srgbClr val="FFFFFF"/>
                    </a:solidFill>
                  </a:tcPr>
                </a:tc>
              </a:tr>
              <a:tr h="384048">
                <a:tc>
                  <a:txBody>
                    <a:bodyPr wrap="square"/>
                    <a:lstStyle/>
                    <a:p>
                      <a:r>
                        <a:rPr sz="1250" b="0">
                          <a:solidFill>
                            <a:srgbClr val="1B2733"/>
                          </a:solidFill>
                          <a:latin typeface="Arial"/>
                        </a:rPr>
                        <a:t>Ridge (α = 1)</a:t>
                      </a:r>
                    </a:p>
                  </a:txBody>
                  <a:tcPr marL="73152" marR="73152" marT="27432" marB="27432" anchor="ctr">
                    <a:solidFill>
                      <a:srgbClr val="EAF0FA"/>
                    </a:solidFill>
                  </a:tcPr>
                </a:tc>
                <a:tc>
                  <a:txBody>
                    <a:bodyPr wrap="square"/>
                    <a:lstStyle/>
                    <a:p>
                      <a:pPr algn="r"/>
                      <a:r>
                        <a:rPr sz="1250" b="0">
                          <a:solidFill>
                            <a:srgbClr val="1B2733"/>
                          </a:solidFill>
                          <a:latin typeface="Arial"/>
                        </a:rPr>
                        <a:t>23,99</a:t>
                      </a:r>
                    </a:p>
                  </a:txBody>
                  <a:tcPr marL="73152" marR="73152" marT="27432" marB="27432" anchor="ctr">
                    <a:solidFill>
                      <a:srgbClr val="EAF0FA"/>
                    </a:solidFill>
                  </a:tcPr>
                </a:tc>
                <a:tc>
                  <a:txBody>
                    <a:bodyPr wrap="square"/>
                    <a:lstStyle/>
                    <a:p>
                      <a:pPr algn="r"/>
                      <a:r>
                        <a:rPr sz="1250" b="0">
                          <a:solidFill>
                            <a:srgbClr val="1B2733"/>
                          </a:solidFill>
                          <a:latin typeface="Arial"/>
                        </a:rPr>
                        <a:t>0,95</a:t>
                      </a:r>
                    </a:p>
                  </a:txBody>
                  <a:tcPr marL="73152" marR="73152" marT="27432" marB="27432" anchor="ctr">
                    <a:solidFill>
                      <a:srgbClr val="EAF0FA"/>
                    </a:solidFill>
                  </a:tcPr>
                </a:tc>
              </a:tr>
              <a:tr h="384048">
                <a:tc>
                  <a:txBody>
                    <a:bodyPr wrap="square"/>
                    <a:lstStyle/>
                    <a:p>
                      <a:r>
                        <a:rPr sz="1250" b="1">
                          <a:solidFill>
                            <a:srgbClr val="1B2733"/>
                          </a:solidFill>
                          <a:latin typeface="Arial"/>
                        </a:rPr>
                        <a:t>HistGradientBoosting</a:t>
                      </a:r>
                    </a:p>
                  </a:txBody>
                  <a:tcPr marL="73152" marR="73152" marT="27432" marB="27432" anchor="ctr">
                    <a:solidFill>
                      <a:srgbClr val="FFF4DA"/>
                    </a:solidFill>
                  </a:tcPr>
                </a:tc>
                <a:tc>
                  <a:txBody>
                    <a:bodyPr wrap="square"/>
                    <a:lstStyle/>
                    <a:p>
                      <a:pPr algn="r"/>
                      <a:r>
                        <a:rPr sz="1250" b="1">
                          <a:solidFill>
                            <a:srgbClr val="1B2733"/>
                          </a:solidFill>
                          <a:latin typeface="Arial"/>
                        </a:rPr>
                        <a:t>20,21</a:t>
                      </a:r>
                    </a:p>
                  </a:txBody>
                  <a:tcPr marL="73152" marR="73152" marT="27432" marB="27432" anchor="ctr">
                    <a:solidFill>
                      <a:srgbClr val="FFF4DA"/>
                    </a:solidFill>
                  </a:tcPr>
                </a:tc>
                <a:tc>
                  <a:txBody>
                    <a:bodyPr wrap="square"/>
                    <a:lstStyle/>
                    <a:p>
                      <a:pPr algn="r"/>
                      <a:r>
                        <a:rPr sz="1250" b="1">
                          <a:solidFill>
                            <a:srgbClr val="1B2733"/>
                          </a:solidFill>
                          <a:latin typeface="Arial"/>
                        </a:rPr>
                        <a:t>0,98</a:t>
                      </a:r>
                    </a:p>
                  </a:txBody>
                  <a:tcPr marL="73152" marR="73152" marT="27432" marB="27432" anchor="ctr">
                    <a:solidFill>
                      <a:srgbClr val="FFF4DA"/>
                    </a:solidFill>
                  </a:tcPr>
                </a:tc>
              </a:tr>
            </a:tbl>
          </a:graphicData>
        </a:graphic>
      </p:graphicFrame>
      <p:sp>
        <p:nvSpPr>
          <p:cNvPr id="8" name="Rounded Rectangle 7"/>
          <p:cNvSpPr/>
          <p:nvPr/>
        </p:nvSpPr>
        <p:spPr>
          <a:xfrm>
            <a:off x="841248" y="4069080"/>
            <a:ext cx="1673352" cy="192024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160520"/>
            <a:ext cx="1463040" cy="548640"/>
          </a:xfrm>
          <a:prstGeom prst="rect">
            <a:avLst/>
          </a:prstGeom>
          <a:noFill/>
        </p:spPr>
        <p:txBody>
          <a:bodyPr wrap="square" lIns="0" rIns="0" tIns="0" bIns="0" anchor="t"/>
          <a:lstStyle/>
          <a:p>
            <a:pPr algn="l">
              <a:spcAft>
                <a:spcPts val="0"/>
              </a:spcAft>
            </a:pPr>
            <a:r>
              <a:rPr sz="2400" b="1">
                <a:solidFill>
                  <a:srgbClr val="FFFFFF"/>
                </a:solidFill>
                <a:latin typeface="Arial"/>
              </a:rPr>
              <a:t>15,35</a:t>
            </a:r>
          </a:p>
        </p:txBody>
      </p:sp>
      <p:sp>
        <p:nvSpPr>
          <p:cNvPr id="10" name="TextBox 9"/>
          <p:cNvSpPr txBox="1"/>
          <p:nvPr/>
        </p:nvSpPr>
        <p:spPr>
          <a:xfrm>
            <a:off x="978408" y="4754880"/>
            <a:ext cx="1463040" cy="320040"/>
          </a:xfrm>
          <a:prstGeom prst="rect">
            <a:avLst/>
          </a:prstGeom>
          <a:noFill/>
        </p:spPr>
        <p:txBody>
          <a:bodyPr wrap="square" lIns="0" rIns="0" tIns="0" bIns="0" anchor="t"/>
          <a:lstStyle/>
          <a:p>
            <a:pPr algn="l">
              <a:spcAft>
                <a:spcPts val="0"/>
              </a:spcAft>
            </a:pPr>
            <a:r>
              <a:rPr sz="1250" b="1">
                <a:solidFill>
                  <a:srgbClr val="FFFFFF"/>
                </a:solidFill>
                <a:latin typeface="Arial"/>
              </a:rPr>
              <a:t>MAE test (cycle)</a:t>
            </a:r>
          </a:p>
        </p:txBody>
      </p:sp>
      <p:sp>
        <p:nvSpPr>
          <p:cNvPr id="11" name="TextBox 10"/>
          <p:cNvSpPr txBox="1"/>
          <p:nvPr/>
        </p:nvSpPr>
        <p:spPr>
          <a:xfrm>
            <a:off x="978408" y="5120640"/>
            <a:ext cx="1463040" cy="777240"/>
          </a:xfrm>
          <a:prstGeom prst="rect">
            <a:avLst/>
          </a:prstGeom>
          <a:noFill/>
        </p:spPr>
        <p:txBody>
          <a:bodyPr wrap="square" lIns="0" rIns="0" tIns="0" bIns="0" anchor="t"/>
          <a:lstStyle/>
          <a:p>
            <a:pPr algn="l">
              <a:spcAft>
                <a:spcPts val="0"/>
              </a:spcAft>
            </a:pPr>
            <a:r>
              <a:rPr sz="1100" b="0">
                <a:solidFill>
                  <a:srgbClr val="C9D6F0"/>
                </a:solidFill>
                <a:latin typeface="Arial"/>
              </a:rPr>
              <a:t>khoảng tin cậy 95%: 12,73–18,09</a:t>
            </a:r>
          </a:p>
        </p:txBody>
      </p:sp>
      <p:sp>
        <p:nvSpPr>
          <p:cNvPr id="12" name="Rounded Rectangle 11"/>
          <p:cNvSpPr/>
          <p:nvPr/>
        </p:nvSpPr>
        <p:spPr>
          <a:xfrm>
            <a:off x="262432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148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20,54</a:t>
            </a:r>
          </a:p>
        </p:txBody>
      </p:sp>
      <p:sp>
        <p:nvSpPr>
          <p:cNvPr id="14" name="TextBox 13"/>
          <p:cNvSpPr txBox="1"/>
          <p:nvPr/>
        </p:nvSpPr>
        <p:spPr>
          <a:xfrm>
            <a:off x="276148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RMSE (cycle)</a:t>
            </a:r>
          </a:p>
        </p:txBody>
      </p:sp>
      <p:sp>
        <p:nvSpPr>
          <p:cNvPr id="15" name="TextBox 14"/>
          <p:cNvSpPr txBox="1"/>
          <p:nvPr/>
        </p:nvSpPr>
        <p:spPr>
          <a:xfrm>
            <a:off x="276148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nhạy với sai số lớn</a:t>
            </a:r>
          </a:p>
        </p:txBody>
      </p:sp>
      <p:sp>
        <p:nvSpPr>
          <p:cNvPr id="16" name="Rounded Rectangle 15"/>
          <p:cNvSpPr/>
          <p:nvPr/>
        </p:nvSpPr>
        <p:spPr>
          <a:xfrm>
            <a:off x="440740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1.513</a:t>
            </a:r>
          </a:p>
        </p:txBody>
      </p:sp>
      <p:sp>
        <p:nvSpPr>
          <p:cNvPr id="18" name="TextBox 17"/>
          <p:cNvSpPr txBox="1"/>
          <p:nvPr/>
        </p:nvSpPr>
        <p:spPr>
          <a:xfrm>
            <a:off x="454456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NASA score</a:t>
            </a:r>
          </a:p>
        </p:txBody>
      </p:sp>
      <p:sp>
        <p:nvSpPr>
          <p:cNvPr id="19" name="TextBox 18"/>
          <p:cNvSpPr txBox="1"/>
          <p:nvPr/>
        </p:nvSpPr>
        <p:spPr>
          <a:xfrm>
            <a:off x="454456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phạt nặng hơn khi dự đoán cao hơn thực tế</a:t>
            </a:r>
          </a:p>
        </p:txBody>
      </p:sp>
      <p:pic>
        <p:nvPicPr>
          <p:cNvPr id="20" name="Picture 19" descr="image.png"/>
          <p:cNvPicPr>
            <a:picLocks noChangeAspect="1"/>
          </p:cNvPicPr>
          <p:nvPr/>
        </p:nvPicPr>
        <p:blipFill>
          <a:blip r:embed="rId3"/>
          <a:stretch>
            <a:fillRect/>
          </a:stretch>
        </p:blipFill>
        <p:spPr>
          <a:xfrm>
            <a:off x="6355080" y="2241735"/>
            <a:ext cx="5001768" cy="374612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sai số dự đoán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Sai số nhỏ hơn khi RUL thực tế nhỏ; mô hình hay dự đoán cao hơn thực tế, nên dễ cảnh báo muộn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outputs/modeling/predictions/final_evaluation.parquet; outputs/diagnostics/error_diagnostics.json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14 / 20</a:t>
            </a:r>
          </a:p>
        </p:txBody>
      </p:sp>
      <p:pic>
        <p:nvPicPr>
          <p:cNvPr id="7" name="Picture 6" descr="image.png"/>
          <p:cNvPicPr>
            <a:picLocks noChangeAspect="1"/>
          </p:cNvPicPr>
          <p:nvPr/>
        </p:nvPicPr>
        <p:blipFill>
          <a:blip r:embed="rId3"/>
          <a:stretch>
            <a:fillRect/>
          </a:stretch>
        </p:blipFill>
        <p:spPr>
          <a:xfrm>
            <a:off x="841248" y="2240280"/>
            <a:ext cx="5394960" cy="3744883"/>
          </a:xfrm>
          <a:prstGeom prst="rect">
            <a:avLst/>
          </a:prstGeom>
        </p:spPr>
      </p:pic>
      <p:sp>
        <p:nvSpPr>
          <p:cNvPr id="8" name="TextBox 7"/>
          <p:cNvSpPr txBox="1"/>
          <p:nvPr/>
        </p:nvSpPr>
        <p:spPr>
          <a:xfrm>
            <a:off x="6675120" y="2286000"/>
            <a:ext cx="4663440" cy="310896"/>
          </a:xfrm>
          <a:prstGeom prst="rect">
            <a:avLst/>
          </a:prstGeom>
          <a:noFill/>
        </p:spPr>
        <p:txBody>
          <a:bodyPr wrap="square" lIns="0" rIns="0" tIns="0" bIns="0" anchor="t"/>
          <a:lstStyle/>
          <a:p>
            <a:pPr algn="l">
              <a:spcAft>
                <a:spcPts val="0"/>
              </a:spcAft>
            </a:pPr>
            <a:r>
              <a:rPr sz="1500" b="1">
                <a:solidFill>
                  <a:srgbClr val="21409A"/>
                </a:solidFill>
                <a:latin typeface="Arial"/>
              </a:rPr>
              <a:t>Chiều của sai số (100 động cơ test)</a:t>
            </a:r>
          </a:p>
        </p:txBody>
      </p:sp>
      <p:sp>
        <p:nvSpPr>
          <p:cNvPr id="9" name="Rectangle 8"/>
          <p:cNvSpPr/>
          <p:nvPr/>
        </p:nvSpPr>
        <p:spPr>
          <a:xfrm>
            <a:off x="6675120" y="2697480"/>
            <a:ext cx="3450945" cy="50292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126065" y="2697480"/>
            <a:ext cx="1212494" cy="502920"/>
          </a:xfrm>
          <a:prstGeom prst="rect">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84848" y="2697480"/>
            <a:ext cx="3108960" cy="502920"/>
          </a:xfrm>
          <a:prstGeom prst="rect">
            <a:avLst/>
          </a:prstGeom>
          <a:noFill/>
        </p:spPr>
        <p:txBody>
          <a:bodyPr wrap="square" lIns="0" rIns="0" tIns="0" bIns="0" anchor="ctr"/>
          <a:lstStyle/>
          <a:p>
            <a:pPr algn="l">
              <a:spcAft>
                <a:spcPts val="0"/>
              </a:spcAft>
            </a:pPr>
            <a:r>
              <a:rPr sz="1300" b="1">
                <a:solidFill>
                  <a:srgbClr val="1B2733"/>
                </a:solidFill>
                <a:latin typeface="Arial"/>
              </a:rPr>
              <a:t>74 dự đoán cao hơn thực tế</a:t>
            </a:r>
          </a:p>
        </p:txBody>
      </p:sp>
      <p:sp>
        <p:nvSpPr>
          <p:cNvPr id="12" name="TextBox 11"/>
          <p:cNvSpPr txBox="1"/>
          <p:nvPr/>
        </p:nvSpPr>
        <p:spPr>
          <a:xfrm>
            <a:off x="10126065" y="2697480"/>
            <a:ext cx="1212494" cy="502920"/>
          </a:xfrm>
          <a:prstGeom prst="rect">
            <a:avLst/>
          </a:prstGeom>
          <a:noFill/>
        </p:spPr>
        <p:txBody>
          <a:bodyPr wrap="square" lIns="0" rIns="0" tIns="0" bIns="0" anchor="ctr"/>
          <a:lstStyle/>
          <a:p>
            <a:pPr algn="ctr">
              <a:spcAft>
                <a:spcPts val="0"/>
              </a:spcAft>
            </a:pPr>
            <a:r>
              <a:rPr sz="1200" b="1">
                <a:solidFill>
                  <a:srgbClr val="FFFFFF"/>
                </a:solidFill>
                <a:latin typeface="Arial"/>
              </a:rPr>
              <a:t>26 thấp hơn</a:t>
            </a:r>
          </a:p>
        </p:txBody>
      </p:sp>
      <p:sp>
        <p:nvSpPr>
          <p:cNvPr id="13" name="Rounded Rectangle 12"/>
          <p:cNvSpPr/>
          <p:nvPr/>
        </p:nvSpPr>
        <p:spPr>
          <a:xfrm>
            <a:off x="6675120" y="3429000"/>
            <a:ext cx="4681728"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3547872"/>
            <a:ext cx="4297680" cy="310896"/>
          </a:xfrm>
          <a:prstGeom prst="rect">
            <a:avLst/>
          </a:prstGeom>
          <a:noFill/>
        </p:spPr>
        <p:txBody>
          <a:bodyPr wrap="square" lIns="0" rIns="0" tIns="0" bIns="0" anchor="t"/>
          <a:lstStyle/>
          <a:p>
            <a:pPr algn="l">
              <a:spcAft>
                <a:spcPts val="0"/>
              </a:spcAft>
            </a:pPr>
            <a:r>
              <a:rPr sz="1400" b="1">
                <a:solidFill>
                  <a:srgbClr val="21409A"/>
                </a:solidFill>
                <a:latin typeface="Arial"/>
              </a:rPr>
              <a:t>Sai số lớn nhất: động cơ 23</a:t>
            </a:r>
          </a:p>
        </p:txBody>
      </p:sp>
      <p:sp>
        <p:nvSpPr>
          <p:cNvPr id="15" name="TextBox 14"/>
          <p:cNvSpPr txBox="1"/>
          <p:nvPr/>
        </p:nvSpPr>
        <p:spPr>
          <a:xfrm>
            <a:off x="6876288"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113</a:t>
            </a:r>
          </a:p>
        </p:txBody>
      </p:sp>
      <p:sp>
        <p:nvSpPr>
          <p:cNvPr id="16" name="TextBox 15"/>
          <p:cNvSpPr txBox="1"/>
          <p:nvPr/>
        </p:nvSpPr>
        <p:spPr>
          <a:xfrm>
            <a:off x="6876288"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RUL thực tế (cycle)</a:t>
            </a:r>
          </a:p>
        </p:txBody>
      </p:sp>
      <p:sp>
        <p:nvSpPr>
          <p:cNvPr id="17" name="TextBox 16"/>
          <p:cNvSpPr txBox="1"/>
          <p:nvPr/>
        </p:nvSpPr>
        <p:spPr>
          <a:xfrm>
            <a:off x="8339327"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170,5</a:t>
            </a:r>
          </a:p>
        </p:txBody>
      </p:sp>
      <p:sp>
        <p:nvSpPr>
          <p:cNvPr id="18" name="TextBox 17"/>
          <p:cNvSpPr txBox="1"/>
          <p:nvPr/>
        </p:nvSpPr>
        <p:spPr>
          <a:xfrm>
            <a:off x="833932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Dự đoán (cycle)</a:t>
            </a:r>
          </a:p>
        </p:txBody>
      </p:sp>
      <p:sp>
        <p:nvSpPr>
          <p:cNvPr id="19" name="TextBox 18"/>
          <p:cNvSpPr txBox="1"/>
          <p:nvPr/>
        </p:nvSpPr>
        <p:spPr>
          <a:xfrm>
            <a:off x="9802367" y="3931920"/>
            <a:ext cx="1417320" cy="548640"/>
          </a:xfrm>
          <a:prstGeom prst="rect">
            <a:avLst/>
          </a:prstGeom>
          <a:noFill/>
        </p:spPr>
        <p:txBody>
          <a:bodyPr wrap="square" lIns="0" rIns="0" tIns="0" bIns="0" anchor="t"/>
          <a:lstStyle/>
          <a:p>
            <a:pPr algn="l">
              <a:spcAft>
                <a:spcPts val="0"/>
              </a:spcAft>
            </a:pPr>
            <a:r>
              <a:rPr sz="2400" b="1">
                <a:solidFill>
                  <a:srgbClr val="B37800"/>
                </a:solidFill>
                <a:latin typeface="Arial"/>
              </a:rPr>
              <a:t>57,5</a:t>
            </a:r>
          </a:p>
        </p:txBody>
      </p:sp>
      <p:sp>
        <p:nvSpPr>
          <p:cNvPr id="20" name="TextBox 19"/>
          <p:cNvSpPr txBox="1"/>
          <p:nvPr/>
        </p:nvSpPr>
        <p:spPr>
          <a:xfrm>
            <a:off x="980236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Sai số (cycle)</a:t>
            </a:r>
          </a:p>
        </p:txBody>
      </p:sp>
      <p:sp>
        <p:nvSpPr>
          <p:cNvPr id="21" name="TextBox 20"/>
          <p:cNvSpPr txBox="1"/>
          <p:nvPr/>
        </p:nvSpPr>
        <p:spPr>
          <a:xfrm>
            <a:off x="6675120" y="5257800"/>
            <a:ext cx="4681728" cy="731520"/>
          </a:xfrm>
          <a:prstGeom prst="rect">
            <a:avLst/>
          </a:prstGeom>
          <a:noFill/>
        </p:spPr>
        <p:txBody>
          <a:bodyPr wrap="square" lIns="0" rIns="0" tIns="0" bIns="0" anchor="t"/>
          <a:lstStyle/>
          <a:p>
            <a:pPr algn="l">
              <a:spcAft>
                <a:spcPts val="0"/>
              </a:spcAft>
            </a:pPr>
            <a:r>
              <a:rPr sz="1250" b="0">
                <a:solidFill>
                  <a:srgbClr val="5A6B7B"/>
                </a:solidFill>
                <a:latin typeface="Arial"/>
              </a:rPr>
              <a:t>MAE chỉ 4,38 cycle khi RUL thực tế ≤ 30. 10 động cơ sai nhiều nhất đóng góp 75,5% tổng NASA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Cơ chế cảnh báo sớm hai mức</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RUL dự đoán ≤ 30: không bỏ sót động cơ, báo trước trung vị 30 cycle, nhưng 49% báo muộn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outputs/modeling/tables/warning_events.csv; outputs/course_alignment/20261007/warning_fixed_policies.csv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pic>
        <p:nvPicPr>
          <p:cNvPr id="7" name="Picture 6" descr="image.png"/>
          <p:cNvPicPr>
            <a:picLocks noChangeAspect="1"/>
          </p:cNvPicPr>
          <p:nvPr/>
        </p:nvPicPr>
        <p:blipFill>
          <a:blip r:embed="rId3"/>
          <a:stretch>
            <a:fillRect/>
          </a:stretch>
        </p:blipFill>
        <p:spPr>
          <a:xfrm>
            <a:off x="841248" y="2240280"/>
            <a:ext cx="5806440" cy="3291839"/>
          </a:xfrm>
          <a:prstGeom prst="rect">
            <a:avLst/>
          </a:prstGeom>
        </p:spPr>
      </p:pic>
      <p:sp>
        <p:nvSpPr>
          <p:cNvPr id="8" name="TextBox 7"/>
          <p:cNvSpPr txBox="1"/>
          <p:nvPr/>
        </p:nvSpPr>
        <p:spPr>
          <a:xfrm>
            <a:off x="841248" y="5586983"/>
            <a:ext cx="5806440" cy="274320"/>
          </a:xfrm>
          <a:prstGeom prst="rect">
            <a:avLst/>
          </a:prstGeom>
          <a:noFill/>
        </p:spPr>
        <p:txBody>
          <a:bodyPr wrap="square" lIns="0" rIns="0" tIns="0" bIns="0" anchor="t"/>
          <a:lstStyle/>
          <a:p>
            <a:pPr algn="l">
              <a:spcAft>
                <a:spcPts val="0"/>
              </a:spcAft>
            </a:pPr>
            <a:r>
              <a:rPr sz="1100" b="0">
                <a:solidFill>
                  <a:srgbClr val="5A6B7B"/>
                </a:solidFill>
                <a:latin typeface="Arial"/>
              </a:rPr>
              <a:t>Minh họa trên động cơ train 1: cảnh báo mức 2 tại cycle 162; hỏng tại cycle 192.</a:t>
            </a:r>
          </a:p>
        </p:txBody>
      </p:sp>
      <p:sp>
        <p:nvSpPr>
          <p:cNvPr id="9" name="TextBox 8"/>
          <p:cNvSpPr txBox="1"/>
          <p:nvPr/>
        </p:nvSpPr>
        <p:spPr>
          <a:xfrm>
            <a:off x="6949440" y="2240280"/>
            <a:ext cx="4407408" cy="274320"/>
          </a:xfrm>
          <a:prstGeom prst="rect">
            <a:avLst/>
          </a:prstGeom>
          <a:noFill/>
        </p:spPr>
        <p:txBody>
          <a:bodyPr wrap="square" lIns="0" rIns="0" tIns="0" bIns="0" anchor="t"/>
          <a:lstStyle/>
          <a:p>
            <a:pPr algn="l">
              <a:spcAft>
                <a:spcPts val="0"/>
              </a:spcAft>
            </a:pPr>
            <a:r>
              <a:rPr sz="1300" b="1">
                <a:solidFill>
                  <a:srgbClr val="21409A"/>
                </a:solidFill>
                <a:latin typeface="Arial"/>
              </a:rPr>
              <a:t>Dự đoán OOF trên 100 động cơ train</a:t>
            </a:r>
          </a:p>
        </p:txBody>
      </p:sp>
      <p:graphicFrame>
        <p:nvGraphicFramePr>
          <p:cNvPr id="10" name="Table 9"/>
          <p:cNvGraphicFramePr>
            <a:graphicFrameLocks noGrp="1"/>
          </p:cNvGraphicFramePr>
          <p:nvPr/>
        </p:nvGraphicFramePr>
        <p:xfrm>
          <a:off x="6949440" y="2560320"/>
          <a:ext cx="4407408" cy="1097280"/>
        </p:xfrm>
        <a:graphic>
          <a:graphicData uri="http://schemas.openxmlformats.org/drawingml/2006/table">
            <a:tbl>
              <a:tblPr firstRow="1" bandRow="1">
                <a:tableStyleId>{5C22544A-7EE6-4342-B048-85BDC9FD1C3A}</a:tableStyleId>
              </a:tblPr>
              <a:tblGrid>
                <a:gridCol w="1188720"/>
                <a:gridCol w="914400"/>
                <a:gridCol w="822960"/>
                <a:gridCol w="1481328"/>
              </a:tblGrid>
              <a:tr h="365760">
                <a:tc>
                  <a:txBody>
                    <a:bodyPr wrap="square"/>
                    <a:lstStyle/>
                    <a:p>
                      <a:r>
                        <a:rPr sz="1250" b="1">
                          <a:solidFill>
                            <a:srgbClr val="FFFFFF"/>
                          </a:solidFill>
                          <a:latin typeface="Arial"/>
                        </a:rPr>
                        <a:t>Ngưỡng RUL</a:t>
                      </a:r>
                    </a:p>
                  </a:txBody>
                  <a:tcPr marL="73152" marR="73152" marT="27432" marB="27432" anchor="ctr">
                    <a:solidFill>
                      <a:srgbClr val="21409A"/>
                    </a:solidFill>
                  </a:tcPr>
                </a:tc>
                <a:tc>
                  <a:txBody>
                    <a:bodyPr wrap="square"/>
                    <a:lstStyle/>
                    <a:p>
                      <a:r>
                        <a:rPr sz="1250" b="1">
                          <a:solidFill>
                            <a:srgbClr val="FFFFFF"/>
                          </a:solidFill>
                          <a:latin typeface="Arial"/>
                        </a:rPr>
                        <a:t>Kịp thời</a:t>
                      </a:r>
                    </a:p>
                  </a:txBody>
                  <a:tcPr marL="73152" marR="73152" marT="27432" marB="27432" anchor="ctr">
                    <a:solidFill>
                      <a:srgbClr val="21409A"/>
                    </a:solidFill>
                  </a:tcPr>
                </a:tc>
                <a:tc>
                  <a:txBody>
                    <a:bodyPr wrap="square"/>
                    <a:lstStyle/>
                    <a:p>
                      <a:r>
                        <a:rPr sz="1250" b="1">
                          <a:solidFill>
                            <a:srgbClr val="FFFFFF"/>
                          </a:solidFill>
                          <a:latin typeface="Arial"/>
                        </a:rPr>
                        <a:t>Muộn</a:t>
                      </a:r>
                    </a:p>
                  </a:txBody>
                  <a:tcPr marL="73152" marR="73152" marT="27432" marB="27432" anchor="ctr">
                    <a:solidFill>
                      <a:srgbClr val="21409A"/>
                    </a:solidFill>
                  </a:tcPr>
                </a:tc>
                <a:tc>
                  <a:txBody>
                    <a:bodyPr wrap="square"/>
                    <a:lstStyle/>
                    <a:p>
                      <a:r>
                        <a:rPr sz="1250" b="1">
                          <a:solidFill>
                            <a:srgbClr val="FFFFFF"/>
                          </a:solidFill>
                          <a:latin typeface="Arial"/>
                        </a:rPr>
                        <a:t>Báo quá sớm</a:t>
                      </a:r>
                    </a:p>
                  </a:txBody>
                  <a:tcPr marL="73152" marR="73152" marT="27432" marB="27432" anchor="ctr">
                    <a:solidFill>
                      <a:srgbClr val="21409A"/>
                    </a:solidFill>
                  </a:tcPr>
                </a:tc>
              </a:tr>
              <a:tr h="365760">
                <a:tc>
                  <a:txBody>
                    <a:bodyPr wrap="square"/>
                    <a:lstStyle/>
                    <a:p>
                      <a:r>
                        <a:rPr sz="1250" b="1">
                          <a:solidFill>
                            <a:srgbClr val="1B2733"/>
                          </a:solidFill>
                          <a:latin typeface="Arial"/>
                        </a:rPr>
                        <a:t>≤ 30 cycle</a:t>
                      </a:r>
                    </a:p>
                  </a:txBody>
                  <a:tcPr marL="73152" marR="73152" marT="27432" marB="27432" anchor="ctr">
                    <a:solidFill>
                      <a:srgbClr val="FFF4DA"/>
                    </a:solidFill>
                  </a:tcPr>
                </a:tc>
                <a:tc>
                  <a:txBody>
                    <a:bodyPr wrap="square"/>
                    <a:lstStyle/>
                    <a:p>
                      <a:pPr algn="r"/>
                      <a:r>
                        <a:rPr sz="1250" b="1">
                          <a:solidFill>
                            <a:srgbClr val="1B2733"/>
                          </a:solidFill>
                          <a:latin typeface="Arial"/>
                        </a:rPr>
                        <a:t>51%</a:t>
                      </a:r>
                    </a:p>
                  </a:txBody>
                  <a:tcPr marL="73152" marR="73152" marT="27432" marB="27432" anchor="ctr">
                    <a:solidFill>
                      <a:srgbClr val="FFF4DA"/>
                    </a:solidFill>
                  </a:tcPr>
                </a:tc>
                <a:tc>
                  <a:txBody>
                    <a:bodyPr wrap="square"/>
                    <a:lstStyle/>
                    <a:p>
                      <a:pPr algn="r"/>
                      <a:r>
                        <a:rPr sz="1250" b="1">
                          <a:solidFill>
                            <a:srgbClr val="1B2733"/>
                          </a:solidFill>
                          <a:latin typeface="Arial"/>
                        </a:rPr>
                        <a:t>49%</a:t>
                      </a:r>
                    </a:p>
                  </a:txBody>
                  <a:tcPr marL="73152" marR="73152" marT="27432" marB="27432" anchor="ctr">
                    <a:solidFill>
                      <a:srgbClr val="FFF4DA"/>
                    </a:solidFill>
                  </a:tcPr>
                </a:tc>
                <a:tc>
                  <a:txBody>
                    <a:bodyPr wrap="square"/>
                    <a:lstStyle/>
                    <a:p>
                      <a:pPr algn="r"/>
                      <a:r>
                        <a:rPr sz="1250" b="1">
                          <a:solidFill>
                            <a:srgbClr val="1B2733"/>
                          </a:solidFill>
                          <a:latin typeface="Arial"/>
                        </a:rPr>
                        <a:t>1,3%</a:t>
                      </a:r>
                    </a:p>
                  </a:txBody>
                  <a:tcPr marL="73152" marR="73152" marT="27432" marB="27432" anchor="ctr">
                    <a:solidFill>
                      <a:srgbClr val="FFF4DA"/>
                    </a:solidFill>
                  </a:tcPr>
                </a:tc>
              </a:tr>
              <a:tr h="365760">
                <a:tc>
                  <a:txBody>
                    <a:bodyPr wrap="square"/>
                    <a:lstStyle/>
                    <a:p>
                      <a:r>
                        <a:rPr sz="1250" b="0">
                          <a:solidFill>
                            <a:srgbClr val="1B2733"/>
                          </a:solidFill>
                          <a:latin typeface="Arial"/>
                        </a:rPr>
                        <a:t>≤ 40 cycle</a:t>
                      </a:r>
                    </a:p>
                  </a:txBody>
                  <a:tcPr marL="73152" marR="73152" marT="27432" marB="27432" anchor="ctr">
                    <a:solidFill>
                      <a:srgbClr val="EAF0FA"/>
                    </a:solidFill>
                  </a:tcPr>
                </a:tc>
                <a:tc>
                  <a:txBody>
                    <a:bodyPr wrap="square"/>
                    <a:lstStyle/>
                    <a:p>
                      <a:pPr algn="r"/>
                      <a:r>
                        <a:rPr sz="1250" b="0">
                          <a:solidFill>
                            <a:srgbClr val="1B2733"/>
                          </a:solidFill>
                          <a:latin typeface="Arial"/>
                        </a:rPr>
                        <a:t>94%</a:t>
                      </a:r>
                    </a:p>
                  </a:txBody>
                  <a:tcPr marL="73152" marR="73152" marT="27432" marB="27432" anchor="ctr">
                    <a:solidFill>
                      <a:srgbClr val="EAF0FA"/>
                    </a:solidFill>
                  </a:tcPr>
                </a:tc>
                <a:tc>
                  <a:txBody>
                    <a:bodyPr wrap="square"/>
                    <a:lstStyle/>
                    <a:p>
                      <a:pPr algn="r"/>
                      <a:r>
                        <a:rPr sz="1250" b="0">
                          <a:solidFill>
                            <a:srgbClr val="1B2733"/>
                          </a:solidFill>
                          <a:latin typeface="Arial"/>
                        </a:rPr>
                        <a:t>6%</a:t>
                      </a:r>
                    </a:p>
                  </a:txBody>
                  <a:tcPr marL="73152" marR="73152" marT="27432" marB="27432" anchor="ctr">
                    <a:solidFill>
                      <a:srgbClr val="EAF0FA"/>
                    </a:solidFill>
                  </a:tcPr>
                </a:tc>
                <a:tc>
                  <a:txBody>
                    <a:bodyPr wrap="square"/>
                    <a:lstStyle/>
                    <a:p>
                      <a:pPr algn="r"/>
                      <a:r>
                        <a:rPr sz="1250" b="0">
                          <a:solidFill>
                            <a:srgbClr val="1B2733"/>
                          </a:solidFill>
                          <a:latin typeface="Arial"/>
                        </a:rPr>
                        <a:t>5,3%</a:t>
                      </a:r>
                    </a:p>
                  </a:txBody>
                  <a:tcPr marL="73152" marR="73152" marT="27432" marB="27432" anchor="ctr">
                    <a:solidFill>
                      <a:srgbClr val="EAF0FA"/>
                    </a:solidFill>
                  </a:tcPr>
                </a:tc>
              </a:tr>
            </a:tbl>
          </a:graphicData>
        </a:graphic>
      </p:graphicFrame>
      <p:sp>
        <p:nvSpPr>
          <p:cNvPr id="11" name="TextBox 10"/>
          <p:cNvSpPr txBox="1"/>
          <p:nvPr/>
        </p:nvSpPr>
        <p:spPr>
          <a:xfrm>
            <a:off x="6949440" y="3694176"/>
            <a:ext cx="4407408" cy="457200"/>
          </a:xfrm>
          <a:prstGeom prst="rect">
            <a:avLst/>
          </a:prstGeom>
          <a:noFill/>
        </p:spPr>
        <p:txBody>
          <a:bodyPr wrap="square" lIns="0" rIns="0" tIns="0" bIns="0" anchor="t"/>
          <a:lstStyle/>
          <a:p>
            <a:pPr algn="l">
              <a:spcAft>
                <a:spcPts val="0"/>
              </a:spcAft>
            </a:pPr>
            <a:r>
              <a:rPr sz="1000" b="0">
                <a:solidFill>
                  <a:srgbClr val="5A6B7B"/>
                </a:solidFill>
                <a:latin typeface="Arial"/>
              </a:rPr>
              <a:t>Kịp thời: báo trước ít nhất 30 cycle. Báo quá sớm: tỷ lệ cycle có cảnh báo khi RUL thực tế còn trên 30. OOF: dự đoán trên động cơ mô hình chưa thấy khi huấn luyện.</a:t>
            </a:r>
          </a:p>
        </p:txBody>
      </p:sp>
      <p:sp>
        <p:nvSpPr>
          <p:cNvPr id="12" name="Rounded Rectangle 11"/>
          <p:cNvSpPr/>
          <p:nvPr/>
        </p:nvSpPr>
        <p:spPr>
          <a:xfrm>
            <a:off x="6949440" y="4224528"/>
            <a:ext cx="4407408" cy="17647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50608" y="4297680"/>
            <a:ext cx="4023360" cy="292608"/>
          </a:xfrm>
          <a:prstGeom prst="rect">
            <a:avLst/>
          </a:prstGeom>
          <a:noFill/>
        </p:spPr>
        <p:txBody>
          <a:bodyPr wrap="square" lIns="0" rIns="0" tIns="0" bIns="0" anchor="t"/>
          <a:lstStyle/>
          <a:p>
            <a:pPr algn="l">
              <a:spcAft>
                <a:spcPts val="0"/>
              </a:spcAft>
            </a:pPr>
            <a:r>
              <a:rPr sz="1400" b="1">
                <a:solidFill>
                  <a:srgbClr val="21409A"/>
                </a:solidFill>
                <a:latin typeface="Arial"/>
              </a:rPr>
              <a:t>Hai mức cảnh báo trên động cơ 1</a:t>
            </a:r>
          </a:p>
        </p:txBody>
      </p:sp>
      <p:sp>
        <p:nvSpPr>
          <p:cNvPr id="14" name="Rounded Rectangle 13"/>
          <p:cNvSpPr/>
          <p:nvPr/>
        </p:nvSpPr>
        <p:spPr>
          <a:xfrm>
            <a:off x="7150608" y="4681728"/>
            <a:ext cx="868680" cy="34747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50608" y="4681728"/>
            <a:ext cx="868680" cy="347472"/>
          </a:xfrm>
          <a:prstGeom prst="rect">
            <a:avLst/>
          </a:prstGeom>
          <a:noFill/>
        </p:spPr>
        <p:txBody>
          <a:bodyPr wrap="square" lIns="0" rIns="0" tIns="0" bIns="0" anchor="ctr"/>
          <a:lstStyle/>
          <a:p>
            <a:pPr algn="ctr">
              <a:spcAft>
                <a:spcPts val="0"/>
              </a:spcAft>
            </a:pPr>
            <a:r>
              <a:rPr sz="1100" b="1">
                <a:solidFill>
                  <a:srgbClr val="1B2733"/>
                </a:solidFill>
                <a:latin typeface="Arial"/>
              </a:rPr>
              <a:t>cycle 84</a:t>
            </a:r>
          </a:p>
        </p:txBody>
      </p:sp>
      <p:sp>
        <p:nvSpPr>
          <p:cNvPr id="16" name="TextBox 15"/>
          <p:cNvSpPr txBox="1"/>
          <p:nvPr/>
        </p:nvSpPr>
        <p:spPr>
          <a:xfrm>
            <a:off x="8138160" y="4681728"/>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1 · Health Index bất thường</a:t>
            </a:r>
          </a:p>
        </p:txBody>
      </p:sp>
      <p:sp>
        <p:nvSpPr>
          <p:cNvPr id="17" name="Rounded Rectangle 16"/>
          <p:cNvSpPr/>
          <p:nvPr/>
        </p:nvSpPr>
        <p:spPr>
          <a:xfrm>
            <a:off x="7150608" y="5111496"/>
            <a:ext cx="868680" cy="34747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50608" y="5111496"/>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162</a:t>
            </a:r>
          </a:p>
        </p:txBody>
      </p:sp>
      <p:sp>
        <p:nvSpPr>
          <p:cNvPr id="19" name="TextBox 18"/>
          <p:cNvSpPr txBox="1"/>
          <p:nvPr/>
        </p:nvSpPr>
        <p:spPr>
          <a:xfrm>
            <a:off x="8138160" y="5111496"/>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2 · RUL dự đoán ≤ 30</a:t>
            </a:r>
          </a:p>
        </p:txBody>
      </p:sp>
      <p:sp>
        <p:nvSpPr>
          <p:cNvPr id="20" name="Rounded Rectangle 19"/>
          <p:cNvSpPr/>
          <p:nvPr/>
        </p:nvSpPr>
        <p:spPr>
          <a:xfrm>
            <a:off x="7150608" y="5541264"/>
            <a:ext cx="868680" cy="347472"/>
          </a:xfrm>
          <a:prstGeom prst="roundRect">
            <a:avLst>
              <a:gd name="adj" fmla="val 8000"/>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50608" y="5541264"/>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192</a:t>
            </a:r>
          </a:p>
        </p:txBody>
      </p:sp>
      <p:sp>
        <p:nvSpPr>
          <p:cNvPr id="22" name="TextBox 21"/>
          <p:cNvSpPr txBox="1"/>
          <p:nvPr/>
        </p:nvSpPr>
        <p:spPr>
          <a:xfrm>
            <a:off x="8138160" y="5541264"/>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Hỏng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Báo cáo dự đoán thời điểm bảo trì</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21/21 động cơ được xếp cần bảo trì đều có RUL thực tế ≤ 30, không báo nhầm; bắt được 21/25 động cơ cần bảo trì</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outputs/maintenance/tables/maintenance_schedule.csv; outputs/maintenance/summary.json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pic>
        <p:nvPicPr>
          <p:cNvPr id="7" name="Picture 6" descr="image.png"/>
          <p:cNvPicPr>
            <a:picLocks noChangeAspect="1"/>
          </p:cNvPicPr>
          <p:nvPr/>
        </p:nvPicPr>
        <p:blipFill>
          <a:blip r:embed="rId3"/>
          <a:stretch>
            <a:fillRect/>
          </a:stretch>
        </p:blipFill>
        <p:spPr>
          <a:xfrm>
            <a:off x="841248" y="2240280"/>
            <a:ext cx="6812279" cy="1965960"/>
          </a:xfrm>
          <a:prstGeom prst="rect">
            <a:avLst/>
          </a:prstGeom>
        </p:spPr>
      </p:pic>
      <p:graphicFrame>
        <p:nvGraphicFramePr>
          <p:cNvPr id="8" name="Table 7"/>
          <p:cNvGraphicFramePr>
            <a:graphicFrameLocks noGrp="1"/>
          </p:cNvGraphicFramePr>
          <p:nvPr/>
        </p:nvGraphicFramePr>
        <p:xfrm>
          <a:off x="841248" y="4315968"/>
          <a:ext cx="6812280" cy="1645920"/>
        </p:xfrm>
        <a:graphic>
          <a:graphicData uri="http://schemas.openxmlformats.org/drawingml/2006/table">
            <a:tbl>
              <a:tblPr firstRow="1" bandRow="1">
                <a:tableStyleId>{5C22544A-7EE6-4342-B048-85BDC9FD1C3A}</a:tableStyleId>
              </a:tblPr>
              <a:tblGrid>
                <a:gridCol w="868680"/>
                <a:gridCol w="1965960"/>
                <a:gridCol w="1234440"/>
                <a:gridCol w="1188720"/>
                <a:gridCol w="1554480"/>
              </a:tblGrid>
              <a:tr h="274320">
                <a:tc>
                  <a:txBody>
                    <a:bodyPr wrap="square"/>
                    <a:lstStyle/>
                    <a:p>
                      <a:r>
                        <a:rPr sz="1050" b="1">
                          <a:solidFill>
                            <a:srgbClr val="FFFFFF"/>
                          </a:solidFill>
                          <a:latin typeface="Arial"/>
                        </a:rPr>
                        <a:t>Động cơ</a:t>
                      </a:r>
                    </a:p>
                  </a:txBody>
                  <a:tcPr marL="73152" marR="73152" marT="27432" marB="27432" anchor="ctr">
                    <a:solidFill>
                      <a:srgbClr val="21409A"/>
                    </a:solidFill>
                  </a:tcPr>
                </a:tc>
                <a:tc>
                  <a:txBody>
                    <a:bodyPr wrap="square"/>
                    <a:lstStyle/>
                    <a:p>
                      <a:r>
                        <a:rPr sz="1050" b="1">
                          <a:solidFill>
                            <a:srgbClr val="FFFFFF"/>
                          </a:solidFill>
                          <a:latin typeface="Arial"/>
                        </a:rPr>
                        <a:t>Trạng thái</a:t>
                      </a:r>
                    </a:p>
                  </a:txBody>
                  <a:tcPr marL="73152" marR="73152" marT="27432" marB="27432" anchor="ctr">
                    <a:solidFill>
                      <a:srgbClr val="21409A"/>
                    </a:solidFill>
                  </a:tcPr>
                </a:tc>
                <a:tc>
                  <a:txBody>
                    <a:bodyPr wrap="square"/>
                    <a:lstStyle/>
                    <a:p>
                      <a:r>
                        <a:rPr sz="1050" b="1">
                          <a:solidFill>
                            <a:srgbClr val="FFFFFF"/>
                          </a:solidFill>
                          <a:latin typeface="Arial"/>
                        </a:rPr>
                        <a:t>Cycle hiện tại</a:t>
                      </a:r>
                    </a:p>
                  </a:txBody>
                  <a:tcPr marL="73152" marR="73152" marT="27432" marB="27432" anchor="ctr">
                    <a:solidFill>
                      <a:srgbClr val="21409A"/>
                    </a:solidFill>
                  </a:tcPr>
                </a:tc>
                <a:tc>
                  <a:txBody>
                    <a:bodyPr wrap="square"/>
                    <a:lstStyle/>
                    <a:p>
                      <a:r>
                        <a:rPr sz="1050" b="1">
                          <a:solidFill>
                            <a:srgbClr val="FFFFFF"/>
                          </a:solidFill>
                          <a:latin typeface="Arial"/>
                        </a:rPr>
                        <a:t>RUL dự đoán</a:t>
                      </a:r>
                    </a:p>
                  </a:txBody>
                  <a:tcPr marL="73152" marR="73152" marT="27432" marB="27432" anchor="ctr">
                    <a:solidFill>
                      <a:srgbClr val="21409A"/>
                    </a:solidFill>
                  </a:tcPr>
                </a:tc>
                <a:tc>
                  <a:txBody>
                    <a:bodyPr wrap="square"/>
                    <a:lstStyle/>
                    <a:p>
                      <a:r>
                        <a:rPr sz="1050" b="1">
                          <a:solidFill>
                            <a:srgbClr val="FFFFFF"/>
                          </a:solidFill>
                          <a:latin typeface="Arial"/>
                        </a:rPr>
                        <a:t>Cycle cần bảo trì</a:t>
                      </a:r>
                    </a:p>
                  </a:txBody>
                  <a:tcPr marL="73152" marR="73152" marT="27432" marB="27432" anchor="ctr">
                    <a:solidFill>
                      <a:srgbClr val="21409A"/>
                    </a:solidFill>
                  </a:tcPr>
                </a:tc>
              </a:tr>
              <a:tr h="274320">
                <a:tc>
                  <a:txBody>
                    <a:bodyPr wrap="square"/>
                    <a:lstStyle/>
                    <a:p>
                      <a:r>
                        <a:rPr sz="1050" b="0">
                          <a:solidFill>
                            <a:srgbClr val="1B2733"/>
                          </a:solidFill>
                          <a:latin typeface="Arial"/>
                        </a:rPr>
                        <a:t>34</a:t>
                      </a:r>
                    </a:p>
                  </a:txBody>
                  <a:tcPr marL="73152" marR="73152" marT="27432" marB="27432" anchor="ctr">
                    <a:solidFill>
                      <a:srgbClr val="FFFFFF"/>
                    </a:solidFill>
                  </a:tcPr>
                </a:tc>
                <a:tc>
                  <a:txBody>
                    <a:bodyPr wrap="square"/>
                    <a:lstStyle/>
                    <a:p>
                      <a:r>
                        <a:rPr sz="1050" b="0">
                          <a:solidFill>
                            <a:srgbClr val="1B2733"/>
                          </a:solidFill>
                          <a:latin typeface="Arial"/>
                        </a:rPr>
                        <a:t>Cần bảo trì</a:t>
                      </a:r>
                    </a:p>
                  </a:txBody>
                  <a:tcPr marL="73152" marR="73152" marT="27432" marB="27432" anchor="ctr">
                    <a:solidFill>
                      <a:srgbClr val="FFFFFF"/>
                    </a:solidFill>
                  </a:tcPr>
                </a:tc>
                <a:tc>
                  <a:txBody>
                    <a:bodyPr wrap="square"/>
                    <a:lstStyle/>
                    <a:p>
                      <a:pPr algn="r"/>
                      <a:r>
                        <a:rPr sz="1050" b="0">
                          <a:solidFill>
                            <a:srgbClr val="1B2733"/>
                          </a:solidFill>
                          <a:latin typeface="Arial"/>
                        </a:rPr>
                        <a:t>203</a:t>
                      </a:r>
                    </a:p>
                  </a:txBody>
                  <a:tcPr marL="73152" marR="73152" marT="27432" marB="27432" anchor="ctr">
                    <a:solidFill>
                      <a:srgbClr val="FFFFFF"/>
                    </a:solidFill>
                  </a:tcPr>
                </a:tc>
                <a:tc>
                  <a:txBody>
                    <a:bodyPr wrap="square"/>
                    <a:lstStyle/>
                    <a:p>
                      <a:pPr algn="r"/>
                      <a:r>
                        <a:rPr sz="1050" b="0">
                          <a:solidFill>
                            <a:srgbClr val="1B2733"/>
                          </a:solidFill>
                          <a:latin typeface="Arial"/>
                        </a:rPr>
                        <a:t>6,2</a:t>
                      </a:r>
                    </a:p>
                  </a:txBody>
                  <a:tcPr marL="73152" marR="73152" marT="27432" marB="27432" anchor="ctr">
                    <a:solidFill>
                      <a:srgbClr val="FFFFFF"/>
                    </a:solidFill>
                  </a:tcPr>
                </a:tc>
                <a:tc>
                  <a:txBody>
                    <a:bodyPr wrap="square"/>
                    <a:lstStyle/>
                    <a:p>
                      <a:pPr algn="r"/>
                      <a:r>
                        <a:rPr sz="1050" b="0">
                          <a:solidFill>
                            <a:srgbClr val="1B2733"/>
                          </a:solidFill>
                          <a:latin typeface="Arial"/>
                        </a:rPr>
                        <a:t>203</a:t>
                      </a:r>
                    </a:p>
                  </a:txBody>
                  <a:tcPr marL="73152" marR="73152" marT="27432" marB="27432" anchor="ctr">
                    <a:solidFill>
                      <a:srgbClr val="FFFFFF"/>
                    </a:solidFill>
                  </a:tcPr>
                </a:tc>
              </a:tr>
              <a:tr h="274320">
                <a:tc>
                  <a:txBody>
                    <a:bodyPr wrap="square"/>
                    <a:lstStyle/>
                    <a:p>
                      <a:r>
                        <a:rPr sz="1050" b="0">
                          <a:solidFill>
                            <a:srgbClr val="1B2733"/>
                          </a:solidFill>
                          <a:latin typeface="Arial"/>
                        </a:rPr>
                        <a:t>41</a:t>
                      </a:r>
                    </a:p>
                  </a:txBody>
                  <a:tcPr marL="73152" marR="73152" marT="27432" marB="27432" anchor="ctr">
                    <a:solidFill>
                      <a:srgbClr val="EAF0FA"/>
                    </a:solidFill>
                  </a:tcPr>
                </a:tc>
                <a:tc>
                  <a:txBody>
                    <a:bodyPr wrap="square"/>
                    <a:lstStyle/>
                    <a:p>
                      <a:r>
                        <a:rPr sz="1050" b="0">
                          <a:solidFill>
                            <a:srgbClr val="1B2733"/>
                          </a:solidFill>
                          <a:latin typeface="Arial"/>
                        </a:rPr>
                        <a:t>Cần bảo trì</a:t>
                      </a:r>
                    </a:p>
                  </a:txBody>
                  <a:tcPr marL="73152" marR="73152" marT="27432" marB="27432" anchor="ctr">
                    <a:solidFill>
                      <a:srgbClr val="EAF0FA"/>
                    </a:solidFill>
                  </a:tcPr>
                </a:tc>
                <a:tc>
                  <a:txBody>
                    <a:bodyPr wrap="square"/>
                    <a:lstStyle/>
                    <a:p>
                      <a:pPr algn="r"/>
                      <a:r>
                        <a:rPr sz="1050" b="0">
                          <a:solidFill>
                            <a:srgbClr val="1B2733"/>
                          </a:solidFill>
                          <a:latin typeface="Arial"/>
                        </a:rPr>
                        <a:t>123</a:t>
                      </a:r>
                    </a:p>
                  </a:txBody>
                  <a:tcPr marL="73152" marR="73152" marT="27432" marB="27432" anchor="ctr">
                    <a:solidFill>
                      <a:srgbClr val="EAF0FA"/>
                    </a:solidFill>
                  </a:tcPr>
                </a:tc>
                <a:tc>
                  <a:txBody>
                    <a:bodyPr wrap="square"/>
                    <a:lstStyle/>
                    <a:p>
                      <a:pPr algn="r"/>
                      <a:r>
                        <a:rPr sz="1050" b="0">
                          <a:solidFill>
                            <a:srgbClr val="1B2733"/>
                          </a:solidFill>
                          <a:latin typeface="Arial"/>
                        </a:rPr>
                        <a:t>29,6</a:t>
                      </a:r>
                    </a:p>
                  </a:txBody>
                  <a:tcPr marL="73152" marR="73152" marT="27432" marB="27432" anchor="ctr">
                    <a:solidFill>
                      <a:srgbClr val="EAF0FA"/>
                    </a:solidFill>
                  </a:tcPr>
                </a:tc>
                <a:tc>
                  <a:txBody>
                    <a:bodyPr wrap="square"/>
                    <a:lstStyle/>
                    <a:p>
                      <a:pPr algn="r"/>
                      <a:r>
                        <a:rPr sz="1050" b="0">
                          <a:solidFill>
                            <a:srgbClr val="1B2733"/>
                          </a:solidFill>
                          <a:latin typeface="Arial"/>
                        </a:rPr>
                        <a:t>123</a:t>
                      </a:r>
                    </a:p>
                  </a:txBody>
                  <a:tcPr marL="73152" marR="73152" marT="27432" marB="27432" anchor="ctr">
                    <a:solidFill>
                      <a:srgbClr val="EAF0FA"/>
                    </a:solidFill>
                  </a:tcPr>
                </a:tc>
              </a:tr>
              <a:tr h="274320">
                <a:tc>
                  <a:txBody>
                    <a:bodyPr wrap="square"/>
                    <a:lstStyle/>
                    <a:p>
                      <a:r>
                        <a:rPr sz="1050" b="0">
                          <a:solidFill>
                            <a:srgbClr val="1B2733"/>
                          </a:solidFill>
                          <a:latin typeface="Arial"/>
                        </a:rPr>
                        <a:t>90</a:t>
                      </a:r>
                    </a:p>
                  </a:txBody>
                  <a:tcPr marL="73152" marR="73152" marT="27432" marB="27432" anchor="ctr">
                    <a:solidFill>
                      <a:srgbClr val="FFFFFF"/>
                    </a:solidFill>
                  </a:tcPr>
                </a:tc>
                <a:tc>
                  <a:txBody>
                    <a:bodyPr wrap="square"/>
                    <a:lstStyle/>
                    <a:p>
                      <a:r>
                        <a:rPr sz="1050" b="0">
                          <a:solidFill>
                            <a:srgbClr val="1B2733"/>
                          </a:solidFill>
                          <a:latin typeface="Arial"/>
                        </a:rPr>
                        <a:t>Theo dõi tăng cường</a:t>
                      </a:r>
                    </a:p>
                  </a:txBody>
                  <a:tcPr marL="73152" marR="73152" marT="27432" marB="27432" anchor="ctr">
                    <a:solidFill>
                      <a:srgbClr val="FFFFFF"/>
                    </a:solidFill>
                  </a:tcPr>
                </a:tc>
                <a:tc>
                  <a:txBody>
                    <a:bodyPr wrap="square"/>
                    <a:lstStyle/>
                    <a:p>
                      <a:pPr algn="r"/>
                      <a:r>
                        <a:rPr sz="1050" b="0">
                          <a:solidFill>
                            <a:srgbClr val="1B2733"/>
                          </a:solidFill>
                          <a:latin typeface="Arial"/>
                        </a:rPr>
                        <a:t>146</a:t>
                      </a:r>
                    </a:p>
                  </a:txBody>
                  <a:tcPr marL="73152" marR="73152" marT="27432" marB="27432" anchor="ctr">
                    <a:solidFill>
                      <a:srgbClr val="FFFFFF"/>
                    </a:solidFill>
                  </a:tcPr>
                </a:tc>
                <a:tc>
                  <a:txBody>
                    <a:bodyPr wrap="square"/>
                    <a:lstStyle/>
                    <a:p>
                      <a:pPr algn="r"/>
                      <a:r>
                        <a:rPr sz="1050" b="0">
                          <a:solidFill>
                            <a:srgbClr val="1B2733"/>
                          </a:solidFill>
                          <a:latin typeface="Arial"/>
                        </a:rPr>
                        <a:t>31,2</a:t>
                      </a:r>
                    </a:p>
                  </a:txBody>
                  <a:tcPr marL="73152" marR="73152" marT="27432" marB="27432" anchor="ctr">
                    <a:solidFill>
                      <a:srgbClr val="FFFFFF"/>
                    </a:solidFill>
                  </a:tcPr>
                </a:tc>
                <a:tc>
                  <a:txBody>
                    <a:bodyPr wrap="square"/>
                    <a:lstStyle/>
                    <a:p>
                      <a:pPr algn="r"/>
                      <a:r>
                        <a:rPr sz="1050" b="0">
                          <a:solidFill>
                            <a:srgbClr val="1B2733"/>
                          </a:solidFill>
                          <a:latin typeface="Arial"/>
                        </a:rPr>
                        <a:t>147</a:t>
                      </a:r>
                    </a:p>
                  </a:txBody>
                  <a:tcPr marL="73152" marR="73152" marT="27432" marB="27432" anchor="ctr">
                    <a:solidFill>
                      <a:srgbClr val="FFFFFF"/>
                    </a:solidFill>
                  </a:tcPr>
                </a:tc>
              </a:tr>
              <a:tr h="274320">
                <a:tc>
                  <a:txBody>
                    <a:bodyPr wrap="square"/>
                    <a:lstStyle/>
                    <a:p>
                      <a:r>
                        <a:rPr sz="1050" b="0">
                          <a:solidFill>
                            <a:srgbClr val="1B2733"/>
                          </a:solidFill>
                          <a:latin typeface="Arial"/>
                        </a:rPr>
                        <a:t>91</a:t>
                      </a:r>
                    </a:p>
                  </a:txBody>
                  <a:tcPr marL="73152" marR="73152" marT="27432" marB="27432" anchor="ctr">
                    <a:solidFill>
                      <a:srgbClr val="EAF0FA"/>
                    </a:solidFill>
                  </a:tcPr>
                </a:tc>
                <a:tc>
                  <a:txBody>
                    <a:bodyPr wrap="square"/>
                    <a:lstStyle/>
                    <a:p>
                      <a:r>
                        <a:rPr sz="105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050" b="0">
                          <a:solidFill>
                            <a:srgbClr val="1B2733"/>
                          </a:solidFill>
                          <a:latin typeface="Arial"/>
                        </a:rPr>
                        <a:t>234</a:t>
                      </a:r>
                    </a:p>
                  </a:txBody>
                  <a:tcPr marL="73152" marR="73152" marT="27432" marB="27432" anchor="ctr">
                    <a:solidFill>
                      <a:srgbClr val="EAF0FA"/>
                    </a:solidFill>
                  </a:tcPr>
                </a:tc>
                <a:tc>
                  <a:txBody>
                    <a:bodyPr wrap="square"/>
                    <a:lstStyle/>
                    <a:p>
                      <a:pPr algn="r"/>
                      <a:r>
                        <a:rPr sz="1050" b="0">
                          <a:solidFill>
                            <a:srgbClr val="1B2733"/>
                          </a:solidFill>
                          <a:latin typeface="Arial"/>
                        </a:rPr>
                        <a:t>33,4</a:t>
                      </a:r>
                    </a:p>
                  </a:txBody>
                  <a:tcPr marL="73152" marR="73152" marT="27432" marB="27432" anchor="ctr">
                    <a:solidFill>
                      <a:srgbClr val="EAF0FA"/>
                    </a:solidFill>
                  </a:tcPr>
                </a:tc>
                <a:tc>
                  <a:txBody>
                    <a:bodyPr wrap="square"/>
                    <a:lstStyle/>
                    <a:p>
                      <a:pPr algn="r"/>
                      <a:r>
                        <a:rPr sz="1050" b="0">
                          <a:solidFill>
                            <a:srgbClr val="1B2733"/>
                          </a:solidFill>
                          <a:latin typeface="Arial"/>
                        </a:rPr>
                        <a:t>237</a:t>
                      </a:r>
                    </a:p>
                  </a:txBody>
                  <a:tcPr marL="73152" marR="73152" marT="27432" marB="27432" anchor="ctr">
                    <a:solidFill>
                      <a:srgbClr val="EAF0FA"/>
                    </a:solidFill>
                  </a:tcPr>
                </a:tc>
              </a:tr>
              <a:tr h="274320">
                <a:tc>
                  <a:txBody>
                    <a:bodyPr wrap="square"/>
                    <a:lstStyle/>
                    <a:p>
                      <a:r>
                        <a:rPr sz="1050" b="0">
                          <a:solidFill>
                            <a:srgbClr val="1B2733"/>
                          </a:solidFill>
                          <a:latin typeface="Arial"/>
                        </a:rPr>
                        <a:t>11</a:t>
                      </a:r>
                    </a:p>
                  </a:txBody>
                  <a:tcPr marL="73152" marR="73152" marT="27432" marB="27432" anchor="ctr">
                    <a:solidFill>
                      <a:srgbClr val="FFFFFF"/>
                    </a:solidFill>
                  </a:tcPr>
                </a:tc>
                <a:tc>
                  <a:txBody>
                    <a:bodyPr wrap="square"/>
                    <a:lstStyle/>
                    <a:p>
                      <a:r>
                        <a:rPr sz="1050" b="0">
                          <a:solidFill>
                            <a:srgbClr val="1B2733"/>
                          </a:solidFill>
                          <a:latin typeface="Arial"/>
                        </a:rPr>
                        <a:t>Bình thường</a:t>
                      </a:r>
                    </a:p>
                  </a:txBody>
                  <a:tcPr marL="73152" marR="73152" marT="27432" marB="27432" anchor="ctr">
                    <a:solidFill>
                      <a:srgbClr val="FFFFFF"/>
                    </a:solidFill>
                  </a:tcPr>
                </a:tc>
                <a:tc>
                  <a:txBody>
                    <a:bodyPr wrap="square"/>
                    <a:lstStyle/>
                    <a:p>
                      <a:pPr algn="r"/>
                      <a:r>
                        <a:rPr sz="1050" b="0">
                          <a:solidFill>
                            <a:srgbClr val="1B2733"/>
                          </a:solidFill>
                          <a:latin typeface="Arial"/>
                        </a:rPr>
                        <a:t>83</a:t>
                      </a:r>
                    </a:p>
                  </a:txBody>
                  <a:tcPr marL="73152" marR="73152" marT="27432" marB="27432" anchor="ctr">
                    <a:solidFill>
                      <a:srgbClr val="FFFFFF"/>
                    </a:solidFill>
                  </a:tcPr>
                </a:tc>
                <a:tc>
                  <a:txBody>
                    <a:bodyPr wrap="square"/>
                    <a:lstStyle/>
                    <a:p>
                      <a:pPr algn="r"/>
                      <a:r>
                        <a:rPr sz="1050" b="0">
                          <a:solidFill>
                            <a:srgbClr val="1B2733"/>
                          </a:solidFill>
                          <a:latin typeface="Arial"/>
                        </a:rPr>
                        <a:t>114,2</a:t>
                      </a:r>
                    </a:p>
                  </a:txBody>
                  <a:tcPr marL="73152" marR="73152" marT="27432" marB="27432" anchor="ctr">
                    <a:solidFill>
                      <a:srgbClr val="FFFFFF"/>
                    </a:solidFill>
                  </a:tcPr>
                </a:tc>
                <a:tc>
                  <a:txBody>
                    <a:bodyPr wrap="square"/>
                    <a:lstStyle/>
                    <a:p>
                      <a:pPr algn="r"/>
                      <a:r>
                        <a:rPr sz="1050" b="0">
                          <a:solidFill>
                            <a:srgbClr val="1B2733"/>
                          </a:solidFill>
                          <a:latin typeface="Arial"/>
                        </a:rPr>
                        <a:t>167</a:t>
                      </a:r>
                    </a:p>
                  </a:txBody>
                  <a:tcPr marL="73152" marR="73152" marT="27432" marB="27432" anchor="ctr">
                    <a:solidFill>
                      <a:srgbClr val="FFFFFF"/>
                    </a:solidFill>
                  </a:tcPr>
                </a:tc>
              </a:tr>
            </a:tbl>
          </a:graphicData>
        </a:graphic>
      </p:graphicFrame>
      <p:sp>
        <p:nvSpPr>
          <p:cNvPr id="9" name="TextBox 8"/>
          <p:cNvSpPr txBox="1"/>
          <p:nvPr/>
        </p:nvSpPr>
        <p:spPr>
          <a:xfrm>
            <a:off x="7909560" y="2286000"/>
            <a:ext cx="3447288" cy="310896"/>
          </a:xfrm>
          <a:prstGeom prst="rect">
            <a:avLst/>
          </a:prstGeom>
          <a:noFill/>
        </p:spPr>
        <p:txBody>
          <a:bodyPr wrap="square" lIns="0" rIns="0" tIns="0" bIns="0" anchor="t"/>
          <a:lstStyle/>
          <a:p>
            <a:pPr algn="l">
              <a:spcAft>
                <a:spcPts val="0"/>
              </a:spcAft>
            </a:pPr>
            <a:r>
              <a:rPr sz="1400" b="1">
                <a:solidFill>
                  <a:srgbClr val="21409A"/>
                </a:solidFill>
                <a:latin typeface="Arial"/>
              </a:rPr>
              <a:t>Đối chiếu với RUL thực tế</a:t>
            </a:r>
          </a:p>
        </p:txBody>
      </p:sp>
      <p:graphicFrame>
        <p:nvGraphicFramePr>
          <p:cNvPr id="10" name="Table 9"/>
          <p:cNvGraphicFramePr>
            <a:graphicFrameLocks noGrp="1"/>
          </p:cNvGraphicFramePr>
          <p:nvPr/>
        </p:nvGraphicFramePr>
        <p:xfrm>
          <a:off x="7909560" y="2670048"/>
          <a:ext cx="3447288" cy="1536192"/>
        </p:xfrm>
        <a:graphic>
          <a:graphicData uri="http://schemas.openxmlformats.org/drawingml/2006/table">
            <a:tbl>
              <a:tblPr firstRow="1" bandRow="1">
                <a:tableStyleId>{5C22544A-7EE6-4342-B048-85BDC9FD1C3A}</a:tableStyleId>
              </a:tblPr>
              <a:tblGrid>
                <a:gridCol w="1481328"/>
                <a:gridCol w="658368"/>
                <a:gridCol w="658368"/>
                <a:gridCol w="649224"/>
              </a:tblGrid>
              <a:tr h="384048">
                <a:tc>
                  <a:txBody>
                    <a:bodyPr wrap="square"/>
                    <a:lstStyle/>
                    <a:p>
                      <a:r>
                        <a:rPr sz="1100" b="1">
                          <a:solidFill>
                            <a:srgbClr val="FFFFFF"/>
                          </a:solidFill>
                          <a:latin typeface="Arial"/>
                        </a:rPr>
                        <a:t>Trạng thái</a:t>
                      </a:r>
                    </a:p>
                  </a:txBody>
                  <a:tcPr marL="73152" marR="73152" marT="27432" marB="27432" anchor="ctr">
                    <a:solidFill>
                      <a:srgbClr val="21409A"/>
                    </a:solidFill>
                  </a:tcPr>
                </a:tc>
                <a:tc>
                  <a:txBody>
                    <a:bodyPr wrap="square"/>
                    <a:lstStyle/>
                    <a:p>
                      <a:r>
                        <a:rPr sz="1100" b="1">
                          <a:solidFill>
                            <a:srgbClr val="FFFFFF"/>
                          </a:solidFill>
                          <a:latin typeface="Arial"/>
                        </a:rPr>
                        <a:t>≤ 30</a:t>
                      </a:r>
                    </a:p>
                  </a:txBody>
                  <a:tcPr marL="73152" marR="73152" marT="27432" marB="27432" anchor="ctr">
                    <a:solidFill>
                      <a:srgbClr val="21409A"/>
                    </a:solidFill>
                  </a:tcPr>
                </a:tc>
                <a:tc>
                  <a:txBody>
                    <a:bodyPr wrap="square"/>
                    <a:lstStyle/>
                    <a:p>
                      <a:r>
                        <a:rPr sz="1100" b="1">
                          <a:solidFill>
                            <a:srgbClr val="FFFFFF"/>
                          </a:solidFill>
                          <a:latin typeface="Arial"/>
                        </a:rPr>
                        <a:t>31–60</a:t>
                      </a:r>
                    </a:p>
                  </a:txBody>
                  <a:tcPr marL="73152" marR="73152" marT="27432" marB="27432" anchor="ctr">
                    <a:solidFill>
                      <a:srgbClr val="21409A"/>
                    </a:solidFill>
                  </a:tcPr>
                </a:tc>
                <a:tc>
                  <a:txBody>
                    <a:bodyPr wrap="square"/>
                    <a:lstStyle/>
                    <a:p>
                      <a:r>
                        <a:rPr sz="1100" b="1">
                          <a:solidFill>
                            <a:srgbClr val="FFFFFF"/>
                          </a:solidFill>
                          <a:latin typeface="Arial"/>
                        </a:rPr>
                        <a:t>&gt; 60</a:t>
                      </a:r>
                    </a:p>
                  </a:txBody>
                  <a:tcPr marL="73152" marR="73152" marT="27432" marB="27432" anchor="ctr">
                    <a:solidFill>
                      <a:srgbClr val="21409A"/>
                    </a:solidFill>
                  </a:tcPr>
                </a:tc>
              </a:tr>
              <a:tr h="384048">
                <a:tc>
                  <a:txBody>
                    <a:bodyPr wrap="square"/>
                    <a:lstStyle/>
                    <a:p>
                      <a:r>
                        <a:rPr sz="1100" b="1">
                          <a:solidFill>
                            <a:srgbClr val="1B2733"/>
                          </a:solidFill>
                          <a:latin typeface="Arial"/>
                        </a:rPr>
                        <a:t>Cần bảo trì</a:t>
                      </a:r>
                    </a:p>
                  </a:txBody>
                  <a:tcPr marL="73152" marR="73152" marT="27432" marB="27432" anchor="ctr">
                    <a:solidFill>
                      <a:srgbClr val="FFF4DA"/>
                    </a:solidFill>
                  </a:tcPr>
                </a:tc>
                <a:tc>
                  <a:txBody>
                    <a:bodyPr wrap="square"/>
                    <a:lstStyle/>
                    <a:p>
                      <a:pPr algn="r"/>
                      <a:r>
                        <a:rPr sz="1100" b="1">
                          <a:solidFill>
                            <a:srgbClr val="1B2733"/>
                          </a:solidFill>
                          <a:latin typeface="Arial"/>
                        </a:rPr>
                        <a:t>21</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r>
              <a:tr h="384048">
                <a:tc>
                  <a:txBody>
                    <a:bodyPr wrap="square"/>
                    <a:lstStyle/>
                    <a:p>
                      <a:r>
                        <a:rPr sz="110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100" b="0">
                          <a:solidFill>
                            <a:srgbClr val="1B2733"/>
                          </a:solidFill>
                          <a:latin typeface="Arial"/>
                        </a:rPr>
                        <a:t>4</a:t>
                      </a:r>
                    </a:p>
                  </a:txBody>
                  <a:tcPr marL="73152" marR="73152" marT="27432" marB="27432" anchor="ctr">
                    <a:solidFill>
                      <a:srgbClr val="EAF0FA"/>
                    </a:solidFill>
                  </a:tcPr>
                </a:tc>
                <a:tc>
                  <a:txBody>
                    <a:bodyPr wrap="square"/>
                    <a:lstStyle/>
                    <a:p>
                      <a:pPr algn="r"/>
                      <a:r>
                        <a:rPr sz="1100" b="0">
                          <a:solidFill>
                            <a:srgbClr val="1B2733"/>
                          </a:solidFill>
                          <a:latin typeface="Arial"/>
                        </a:rPr>
                        <a:t>14</a:t>
                      </a:r>
                    </a:p>
                  </a:txBody>
                  <a:tcPr marL="73152" marR="73152" marT="27432" marB="27432" anchor="ctr">
                    <a:solidFill>
                      <a:srgbClr val="EAF0FA"/>
                    </a:solidFill>
                  </a:tcPr>
                </a:tc>
                <a:tc>
                  <a:txBody>
                    <a:bodyPr wrap="square"/>
                    <a:lstStyle/>
                    <a:p>
                      <a:pPr algn="r"/>
                      <a:r>
                        <a:rPr sz="1100" b="0">
                          <a:solidFill>
                            <a:srgbClr val="1B2733"/>
                          </a:solidFill>
                          <a:latin typeface="Arial"/>
                        </a:rPr>
                        <a:t>41</a:t>
                      </a:r>
                    </a:p>
                  </a:txBody>
                  <a:tcPr marL="73152" marR="73152" marT="27432" marB="27432" anchor="ctr">
                    <a:solidFill>
                      <a:srgbClr val="EAF0FA"/>
                    </a:solidFill>
                  </a:tcPr>
                </a:tc>
              </a:tr>
              <a:tr h="384048">
                <a:tc>
                  <a:txBody>
                    <a:bodyPr wrap="square"/>
                    <a:lstStyle/>
                    <a:p>
                      <a:r>
                        <a:rPr sz="1100" b="0">
                          <a:solidFill>
                            <a:srgbClr val="1B2733"/>
                          </a:solidFill>
                          <a:latin typeface="Arial"/>
                        </a:rPr>
                        <a:t>Bình thường</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20</a:t>
                      </a:r>
                    </a:p>
                  </a:txBody>
                  <a:tcPr marL="73152" marR="73152" marT="27432" marB="27432" anchor="ctr">
                    <a:solidFill>
                      <a:srgbClr val="FFFFFF"/>
                    </a:solidFill>
                  </a:tcPr>
                </a:tc>
              </a:tr>
            </a:tbl>
          </a:graphicData>
        </a:graphic>
      </p:graphicFrame>
      <p:sp>
        <p:nvSpPr>
          <p:cNvPr id="11" name="Rounded Rectangle 10"/>
          <p:cNvSpPr/>
          <p:nvPr/>
        </p:nvSpPr>
        <p:spPr>
          <a:xfrm>
            <a:off x="7909560" y="4315968"/>
            <a:ext cx="3447288" cy="167335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4389120"/>
            <a:ext cx="3108960" cy="1554480"/>
          </a:xfrm>
          <a:prstGeom prst="rect">
            <a:avLst/>
          </a:prstGeom>
          <a:noFill/>
        </p:spPr>
        <p:txBody>
          <a:bodyPr wrap="square" lIns="0" rIns="0" tIns="0" bIns="0" anchor="t"/>
          <a:lstStyle/>
          <a:p>
            <a:pPr algn="l">
              <a:spcAft>
                <a:spcPts val="600"/>
              </a:spcAft>
            </a:pPr>
            <a:r>
              <a:rPr sz="2000" b="1">
                <a:solidFill>
                  <a:srgbClr val="FCB525"/>
                </a:solidFill>
                <a:latin typeface="Arial"/>
              </a:rPr>
              <a:t>21/25</a:t>
            </a:r>
            <a:r>
              <a:rPr sz="1100" b="0">
                <a:solidFill>
                  <a:srgbClr val="FFFFFF"/>
                </a:solidFill>
                <a:latin typeface="Arial"/>
              </a:rPr>
              <a:t> động cơ có RUL thực tế ≤ 30 được xếp cần bảo trì; 4 động cơ còn lại đến hạn sau 1–8 cycle.</a:t>
            </a:r>
          </a:p>
          <a:p>
            <a:pPr algn="l">
              <a:spcAft>
                <a:spcPts val="600"/>
              </a:spcAft>
            </a:pPr>
            <a:r>
              <a:rPr sz="1100" b="1">
                <a:solidFill>
                  <a:srgbClr val="FCB525"/>
                </a:solidFill>
                <a:latin typeface="Arial"/>
              </a:rPr>
              <a:t>Giới hạn: </a:t>
            </a:r>
            <a:r>
              <a:rPr sz="1100" b="0">
                <a:solidFill>
                  <a:srgbClr val="C9D6F0"/>
                </a:solidFill>
                <a:latin typeface="Arial"/>
              </a:rPr>
              <a:t>12 động cơ còn xa mới hỏng có lịch muộn hơn lúc hỏng 4–27 cycle.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Các thử nghiệm mở rộng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Mô hình FD001 không dùng tốt được cho FD002–FD004 (cửa sổ 10 cycle); ba hướng cải tiến không thay mô hình chính</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outputs/cross_dataset/matrix.json; outputs/experiments/; outputs/course_alignment/20261007/summary.json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graphicFrame>
        <p:nvGraphicFramePr>
          <p:cNvPr id="7" name="Chart 6"/>
          <p:cNvGraphicFramePr>
            <a:graphicFrameLocks noGrp="1"/>
          </p:cNvGraphicFramePr>
          <p:nvPr/>
        </p:nvGraphicFramePr>
        <p:xfrm>
          <a:off x="841248" y="2240280"/>
          <a:ext cx="5943600" cy="3749039"/>
        </p:xfrm>
        <a:graphic>
          <a:graphicData uri="http://schemas.openxmlformats.org/drawingml/2006/chart">
            <c:chart xmlns:c="http://schemas.openxmlformats.org/drawingml/2006/chart" r:id="rId3"/>
          </a:graphicData>
        </a:graphic>
      </p:graphicFrame>
      <p:sp>
        <p:nvSpPr>
          <p:cNvPr id="8" name="Rounded Rectangle 7"/>
          <p:cNvSpPr/>
          <p:nvPr/>
        </p:nvSpPr>
        <p:spPr>
          <a:xfrm>
            <a:off x="7086600" y="2286000"/>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2377440"/>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Nested CV: cửa sổ, siêu tham số, trọng số</a:t>
            </a:r>
          </a:p>
        </p:txBody>
      </p:sp>
      <p:sp>
        <p:nvSpPr>
          <p:cNvPr id="10" name="TextBox 9"/>
          <p:cNvSpPr txBox="1"/>
          <p:nvPr/>
        </p:nvSpPr>
        <p:spPr>
          <a:xfrm>
            <a:off x="7269480" y="2743200"/>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Chọn lại đúng cấu hình gốc; số cảnh báo muộn tăng từ 49 lên 53/100.</a:t>
            </a:r>
          </a:p>
        </p:txBody>
      </p:sp>
      <p:sp>
        <p:nvSpPr>
          <p:cNvPr id="11" name="Rounded Rectangle 10"/>
          <p:cNvSpPr/>
          <p:nvPr/>
        </p:nvSpPr>
        <p:spPr>
          <a:xfrm>
            <a:off x="7086600" y="3538728"/>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3630168"/>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Thêm cột cycle và 42 đặc trưng lịch sử</a:t>
            </a:r>
          </a:p>
        </p:txBody>
      </p:sp>
      <p:sp>
        <p:nvSpPr>
          <p:cNvPr id="13" name="TextBox 12"/>
          <p:cNvSpPr txBox="1"/>
          <p:nvPr/>
        </p:nvSpPr>
        <p:spPr>
          <a:xfrm>
            <a:off x="7269480" y="3995928"/>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169 đặc trưng: MAE OOF 20,21 → 17,00; tỷ lệ cảnh báo kịp thời (ngưỡng 30) giảm từ 51% xuống 45%.</a:t>
            </a:r>
          </a:p>
        </p:txBody>
      </p:sp>
      <p:sp>
        <p:nvSpPr>
          <p:cNvPr id="14" name="Rounded Rectangle 13"/>
          <p:cNvSpPr/>
          <p:nvPr/>
        </p:nvSpPr>
        <p:spPr>
          <a:xfrm>
            <a:off x="7086600" y="4791456"/>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4882896"/>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ARIMA dự báo Health Index</a:t>
            </a:r>
          </a:p>
        </p:txBody>
      </p:sp>
      <p:sp>
        <p:nvSpPr>
          <p:cNvPr id="16" name="TextBox 15"/>
          <p:cNvSpPr txBox="1"/>
          <p:nvPr/>
        </p:nvSpPr>
        <p:spPr>
          <a:xfrm>
            <a:off x="7269480" y="5248656"/>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0,41 so với 0,75 của cách kéo thẳng xu hướng (drift); tốt hơn ở 7/10 động cơ.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Kết luận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Trả lời năm câu hỏi nghiên cứu; kết luận chỉ áp dụng cho dữ liệu mô phỏng C-MAPSS FD001</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report/sections/conclusion.tex; các artifact đã dẫn ở slide 6–16</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sp>
        <p:nvSpPr>
          <p:cNvPr id="7" name="Rounded Rectangle 6"/>
          <p:cNvSpPr/>
          <p:nvPr/>
        </p:nvSpPr>
        <p:spPr>
          <a:xfrm>
            <a:off x="84124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Q1</a:t>
            </a:r>
          </a:p>
        </p:txBody>
      </p:sp>
      <p:sp>
        <p:nvSpPr>
          <p:cNvPr id="10" name="TextBox 9"/>
          <p:cNvSpPr txBox="1"/>
          <p:nvPr/>
        </p:nvSpPr>
        <p:spPr>
          <a:xfrm>
            <a:off x="157276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Pipeline dữ liệu</a:t>
            </a:r>
          </a:p>
        </p:txBody>
      </p:sp>
      <p:sp>
        <p:nvSpPr>
          <p:cNvPr id="11" name="TextBox 10"/>
          <p:cNvSpPr txBox="1"/>
          <p:nvPr/>
        </p:nvSpPr>
        <p:spPr>
          <a:xfrm>
            <a:off x="102412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0 sai khác</a:t>
            </a:r>
          </a:p>
        </p:txBody>
      </p:sp>
      <p:sp>
        <p:nvSpPr>
          <p:cNvPr id="12" name="TextBox 11"/>
          <p:cNvSpPr txBox="1"/>
          <p:nvPr/>
        </p:nvSpPr>
        <p:spPr>
          <a:xfrm>
            <a:off x="102412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đạt mọi kiểm tra; Pandas và PySpark khớp; PySpark nhanh hơn khoảng 3,4 lần khi dữ liệu gấp 10</a:t>
            </a:r>
          </a:p>
        </p:txBody>
      </p:sp>
      <p:sp>
        <p:nvSpPr>
          <p:cNvPr id="13" name="Rounded Rectangle 12"/>
          <p:cNvSpPr/>
          <p:nvPr/>
        </p:nvSpPr>
        <p:spPr>
          <a:xfrm>
            <a:off x="440740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9028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028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Q2</a:t>
            </a:r>
          </a:p>
        </p:txBody>
      </p:sp>
      <p:sp>
        <p:nvSpPr>
          <p:cNvPr id="16" name="TextBox 15"/>
          <p:cNvSpPr txBox="1"/>
          <p:nvPr/>
        </p:nvSpPr>
        <p:spPr>
          <a:xfrm>
            <a:off x="513892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Làm mượt, cửa sổ</a:t>
            </a:r>
          </a:p>
        </p:txBody>
      </p:sp>
      <p:sp>
        <p:nvSpPr>
          <p:cNvPr id="17" name="TextBox 16"/>
          <p:cNvSpPr txBox="1"/>
          <p:nvPr/>
        </p:nvSpPr>
        <p:spPr>
          <a:xfrm>
            <a:off x="459028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−86%</a:t>
            </a:r>
          </a:p>
        </p:txBody>
      </p:sp>
      <p:sp>
        <p:nvSpPr>
          <p:cNvPr id="18" name="TextBox 17"/>
          <p:cNvSpPr txBox="1"/>
          <p:nvPr/>
        </p:nvSpPr>
        <p:spPr>
          <a:xfrm>
            <a:off x="459028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dao động sau EWMA; 126 đặc trưng từ cửa sổ 30 cycle</a:t>
            </a:r>
          </a:p>
        </p:txBody>
      </p:sp>
      <p:sp>
        <p:nvSpPr>
          <p:cNvPr id="19" name="Rounded Rectangle 18"/>
          <p:cNvSpPr/>
          <p:nvPr/>
        </p:nvSpPr>
        <p:spPr>
          <a:xfrm>
            <a:off x="797356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Q3</a:t>
            </a:r>
          </a:p>
        </p:txBody>
      </p:sp>
      <p:sp>
        <p:nvSpPr>
          <p:cNvPr id="22" name="TextBox 21"/>
          <p:cNvSpPr txBox="1"/>
          <p:nvPr/>
        </p:nvSpPr>
        <p:spPr>
          <a:xfrm>
            <a:off x="870508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Xu hướng, bất thường</a:t>
            </a:r>
          </a:p>
        </p:txBody>
      </p:sp>
      <p:sp>
        <p:nvSpPr>
          <p:cNvPr id="23" name="TextBox 22"/>
          <p:cNvSpPr txBox="1"/>
          <p:nvPr/>
        </p:nvSpPr>
        <p:spPr>
          <a:xfrm>
            <a:off x="815644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100/100</a:t>
            </a:r>
          </a:p>
        </p:txBody>
      </p:sp>
      <p:sp>
        <p:nvSpPr>
          <p:cNvPr id="24" name="TextBox 23"/>
          <p:cNvSpPr txBox="1"/>
          <p:nvPr/>
        </p:nvSpPr>
        <p:spPr>
          <a:xfrm>
            <a:off x="815644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động cơ train được phát hiện, trung vị 121 cycle trước khi hỏng</a:t>
            </a:r>
          </a:p>
        </p:txBody>
      </p:sp>
      <p:sp>
        <p:nvSpPr>
          <p:cNvPr id="25" name="Rounded Rectangle 24"/>
          <p:cNvSpPr/>
          <p:nvPr/>
        </p:nvSpPr>
        <p:spPr>
          <a:xfrm>
            <a:off x="84124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Q4</a:t>
            </a:r>
          </a:p>
        </p:txBody>
      </p:sp>
      <p:sp>
        <p:nvSpPr>
          <p:cNvPr id="28" name="TextBox 27"/>
          <p:cNvSpPr txBox="1"/>
          <p:nvPr/>
        </p:nvSpPr>
        <p:spPr>
          <a:xfrm>
            <a:off x="157276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Dự đoán RUL</a:t>
            </a:r>
          </a:p>
        </p:txBody>
      </p:sp>
      <p:sp>
        <p:nvSpPr>
          <p:cNvPr id="29" name="TextBox 28"/>
          <p:cNvSpPr txBox="1"/>
          <p:nvPr/>
        </p:nvSpPr>
        <p:spPr>
          <a:xfrm>
            <a:off x="102412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15,35</a:t>
            </a:r>
          </a:p>
        </p:txBody>
      </p:sp>
      <p:sp>
        <p:nvSpPr>
          <p:cNvPr id="30" name="TextBox 29"/>
          <p:cNvSpPr txBox="1"/>
          <p:nvPr/>
        </p:nvSpPr>
        <p:spPr>
          <a:xfrm>
            <a:off x="1024128" y="5394959"/>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MAE tập test (cycle); chỉ 4,38 khi RUL ≤ 30</a:t>
            </a:r>
          </a:p>
        </p:txBody>
      </p:sp>
      <p:sp>
        <p:nvSpPr>
          <p:cNvPr id="31" name="Rounded Rectangle 30"/>
          <p:cNvSpPr/>
          <p:nvPr/>
        </p:nvSpPr>
        <p:spPr>
          <a:xfrm>
            <a:off x="440740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9028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028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Q5</a:t>
            </a:r>
          </a:p>
        </p:txBody>
      </p:sp>
      <p:sp>
        <p:nvSpPr>
          <p:cNvPr id="34" name="TextBox 33"/>
          <p:cNvSpPr txBox="1"/>
          <p:nvPr/>
        </p:nvSpPr>
        <p:spPr>
          <a:xfrm>
            <a:off x="513892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Cảnh báo, lịch bảo trì</a:t>
            </a:r>
          </a:p>
        </p:txBody>
      </p:sp>
      <p:sp>
        <p:nvSpPr>
          <p:cNvPr id="35" name="TextBox 34"/>
          <p:cNvSpPr txBox="1"/>
          <p:nvPr/>
        </p:nvSpPr>
        <p:spPr>
          <a:xfrm>
            <a:off x="459028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21/21</a:t>
            </a:r>
          </a:p>
        </p:txBody>
      </p:sp>
      <p:sp>
        <p:nvSpPr>
          <p:cNvPr id="36" name="TextBox 35"/>
          <p:cNvSpPr txBox="1"/>
          <p:nvPr/>
        </p:nvSpPr>
        <p:spPr>
          <a:xfrm>
            <a:off x="4590288" y="5394959"/>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báo cần bảo trì trên test đều đúng, bắt 21/25; OOF train: không bỏ sót, 49% muộn</a:t>
            </a:r>
          </a:p>
        </p:txBody>
      </p:sp>
      <p:sp>
        <p:nvSpPr>
          <p:cNvPr id="37" name="Rounded Rectangle 36"/>
          <p:cNvSpPr/>
          <p:nvPr/>
        </p:nvSpPr>
        <p:spPr>
          <a:xfrm>
            <a:off x="7973568" y="4206240"/>
            <a:ext cx="3383280" cy="17830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56448" y="4343400"/>
            <a:ext cx="3017520" cy="329184"/>
          </a:xfrm>
          <a:prstGeom prst="rect">
            <a:avLst/>
          </a:prstGeom>
          <a:noFill/>
        </p:spPr>
        <p:txBody>
          <a:bodyPr wrap="square" lIns="0" rIns="0" tIns="0" bIns="0" anchor="t"/>
          <a:lstStyle/>
          <a:p>
            <a:pPr algn="l">
              <a:spcAft>
                <a:spcPts val="0"/>
              </a:spcAft>
            </a:pPr>
            <a:r>
              <a:rPr sz="1400" b="1">
                <a:solidFill>
                  <a:srgbClr val="FCB525"/>
                </a:solidFill>
                <a:latin typeface="Arial"/>
              </a:rPr>
              <a:t>Sản phẩm đặc thù</a:t>
            </a:r>
          </a:p>
        </p:txBody>
      </p:sp>
      <p:sp>
        <p:nvSpPr>
          <p:cNvPr id="39" name="TextBox 38"/>
          <p:cNvSpPr txBox="1"/>
          <p:nvPr/>
        </p:nvSpPr>
        <p:spPr>
          <a:xfrm>
            <a:off x="8156448" y="4709160"/>
            <a:ext cx="3017520" cy="1188720"/>
          </a:xfrm>
          <a:prstGeom prst="rect">
            <a:avLst/>
          </a:prstGeom>
          <a:noFill/>
        </p:spPr>
        <p:txBody>
          <a:bodyPr wrap="square" lIns="0" rIns="0" tIns="0" bIns="0" anchor="t"/>
          <a:lstStyle/>
          <a:p>
            <a:pPr algn="l">
              <a:spcAft>
                <a:spcPts val="0"/>
              </a:spcAft>
            </a:pPr>
            <a:r>
              <a:rPr sz="1300" b="0">
                <a:solidFill>
                  <a:srgbClr val="FFFFFF"/>
                </a:solidFill>
                <a:latin typeface="Arial"/>
              </a:rPr>
              <a:t>Lịch dự đoán thời điểm cần bảo trì cho 100 động cơ test (slide 16), kèm biểu đồ xu hướng cảnh báo sớm (slide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Khó khăn, bài học và giới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Các vấn đề phát sinh trong quá trình thực hiện, cách xử lý và bài học rút ra</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report/sections/discussion.tex (Mục Khó khăn và bài học rút ra)</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graphicFrame>
        <p:nvGraphicFramePr>
          <p:cNvPr id="7" name="Table 6"/>
          <p:cNvGraphicFramePr>
            <a:graphicFrameLocks noGrp="1"/>
          </p:cNvGraphicFramePr>
          <p:nvPr/>
        </p:nvGraphicFramePr>
        <p:xfrm>
          <a:off x="841248" y="2286000"/>
          <a:ext cx="10515600" cy="2834640"/>
        </p:xfrm>
        <a:graphic>
          <a:graphicData uri="http://schemas.openxmlformats.org/drawingml/2006/table">
            <a:tbl>
              <a:tblPr firstRow="1" bandRow="1">
                <a:tableStyleId>{5C22544A-7EE6-4342-B048-85BDC9FD1C3A}</a:tableStyleId>
              </a:tblPr>
              <a:tblGrid>
                <a:gridCol w="2468880"/>
                <a:gridCol w="3931920"/>
                <a:gridCol w="4114800"/>
              </a:tblGrid>
              <a:tr h="566928">
                <a:tc>
                  <a:txBody>
                    <a:bodyPr wrap="square"/>
                    <a:lstStyle/>
                    <a:p>
                      <a:r>
                        <a:rPr sz="1200" b="1">
                          <a:solidFill>
                            <a:srgbClr val="FFFFFF"/>
                          </a:solidFill>
                          <a:latin typeface="Arial"/>
                        </a:rPr>
                        <a:t>Khó khăn</a:t>
                      </a:r>
                    </a:p>
                  </a:txBody>
                  <a:tcPr marL="73152" marR="73152" marT="27432" marB="27432" anchor="ctr">
                    <a:solidFill>
                      <a:srgbClr val="21409A"/>
                    </a:solidFill>
                  </a:tcPr>
                </a:tc>
                <a:tc>
                  <a:txBody>
                    <a:bodyPr wrap="square"/>
                    <a:lstStyle/>
                    <a:p>
                      <a:r>
                        <a:rPr sz="1200" b="1">
                          <a:solidFill>
                            <a:srgbClr val="FFFFFF"/>
                          </a:solidFill>
                          <a:latin typeface="Arial"/>
                        </a:rPr>
                        <a:t>Cách xử lý</a:t>
                      </a:r>
                    </a:p>
                  </a:txBody>
                  <a:tcPr marL="73152" marR="73152" marT="27432" marB="27432" anchor="ctr">
                    <a:solidFill>
                      <a:srgbClr val="21409A"/>
                    </a:solidFill>
                  </a:tcPr>
                </a:tc>
                <a:tc>
                  <a:txBody>
                    <a:bodyPr wrap="square"/>
                    <a:lstStyle/>
                    <a:p>
                      <a:r>
                        <a:rPr sz="1200" b="1">
                          <a:solidFill>
                            <a:srgbClr val="FFFFFF"/>
                          </a:solidFill>
                          <a:latin typeface="Arial"/>
                        </a:rPr>
                        <a:t>Bài học</a:t>
                      </a:r>
                    </a:p>
                  </a:txBody>
                  <a:tcPr marL="73152" marR="73152" marT="27432" marB="27432" anchor="ctr">
                    <a:solidFill>
                      <a:srgbClr val="21409A"/>
                    </a:solidFill>
                  </a:tcPr>
                </a:tc>
              </a:tr>
              <a:tr h="566928">
                <a:tc>
                  <a:txBody>
                    <a:bodyPr wrap="square"/>
                    <a:lstStyle/>
                    <a:p>
                      <a:r>
                        <a:rPr sz="1200" b="0">
                          <a:solidFill>
                            <a:srgbClr val="1B2733"/>
                          </a:solidFill>
                          <a:latin typeface="Arial"/>
                        </a:rPr>
                        <a:t>Thiếu nhãn thời điểm bất thường</a:t>
                      </a:r>
                    </a:p>
                  </a:txBody>
                  <a:tcPr marL="73152" marR="73152" marT="27432" marB="27432" anchor="ctr">
                    <a:solidFill>
                      <a:srgbClr val="FFFFFF"/>
                    </a:solidFill>
                  </a:tcPr>
                </a:tc>
                <a:tc>
                  <a:txBody>
                    <a:bodyPr wrap="square"/>
                    <a:lstStyle/>
                    <a:p>
                      <a:r>
                        <a:rPr sz="1200" b="0">
                          <a:solidFill>
                            <a:srgbClr val="1B2733"/>
                          </a:solidFill>
                          <a:latin typeface="Arial"/>
                        </a:rPr>
                        <a:t>Lấy 30 cycle đầu của từng động cơ làm mức tham chiếu</a:t>
                      </a:r>
                    </a:p>
                  </a:txBody>
                  <a:tcPr marL="73152" marR="73152" marT="27432" marB="27432" anchor="ctr">
                    <a:solidFill>
                      <a:srgbClr val="FFFFFF"/>
                    </a:solidFill>
                  </a:tcPr>
                </a:tc>
                <a:tc>
                  <a:txBody>
                    <a:bodyPr wrap="square"/>
                    <a:lstStyle/>
                    <a:p>
                      <a:r>
                        <a:rPr sz="1200" b="0">
                          <a:solidFill>
                            <a:srgbClr val="1B2733"/>
                          </a:solidFill>
                          <a:latin typeface="Arial"/>
                        </a:rPr>
                        <a:t>Nói rõ mức tham chiếu và phần chưa kiểm chứng được</a:t>
                      </a:r>
                    </a:p>
                  </a:txBody>
                  <a:tcPr marL="73152" marR="73152" marT="27432" marB="27432" anchor="ctr">
                    <a:solidFill>
                      <a:srgbClr val="FFFFFF"/>
                    </a:solidFill>
                  </a:tcPr>
                </a:tc>
              </a:tr>
              <a:tr h="566928">
                <a:tc>
                  <a:txBody>
                    <a:bodyPr wrap="square"/>
                    <a:lstStyle/>
                    <a:p>
                      <a:r>
                        <a:rPr sz="1200" b="0">
                          <a:solidFill>
                            <a:srgbClr val="1B2733"/>
                          </a:solidFill>
                          <a:latin typeface="Arial"/>
                        </a:rPr>
                        <a:t>Rò rỉ dữ liệu khi chia tập</a:t>
                      </a:r>
                    </a:p>
                  </a:txBody>
                  <a:tcPr marL="73152" marR="73152" marT="27432" marB="27432" anchor="ctr">
                    <a:solidFill>
                      <a:srgbClr val="EAF0FA"/>
                    </a:solidFill>
                  </a:tcPr>
                </a:tc>
                <a:tc>
                  <a:txBody>
                    <a:bodyPr wrap="square"/>
                    <a:lstStyle/>
                    <a:p>
                      <a:r>
                        <a:rPr sz="1200" b="0">
                          <a:solidFill>
                            <a:srgbClr val="1B2733"/>
                          </a:solidFill>
                          <a:latin typeface="Arial"/>
                        </a:rPr>
                        <a:t>GroupKFold theo động cơ; cửa sổ và EWMA chỉ dùng quá khứ</a:t>
                      </a:r>
                    </a:p>
                  </a:txBody>
                  <a:tcPr marL="73152" marR="73152" marT="27432" marB="27432" anchor="ctr">
                    <a:solidFill>
                      <a:srgbClr val="EAF0FA"/>
                    </a:solidFill>
                  </a:tcPr>
                </a:tc>
                <a:tc>
                  <a:txBody>
                    <a:bodyPr wrap="square"/>
                    <a:lstStyle/>
                    <a:p>
                      <a:r>
                        <a:rPr sz="1200" b="0">
                          <a:solidFill>
                            <a:srgbClr val="1B2733"/>
                          </a:solidFill>
                          <a:latin typeface="Arial"/>
                        </a:rPr>
                        <a:t>Chia tập theo từng động cơ, không chia theo từng dòng</a:t>
                      </a:r>
                    </a:p>
                  </a:txBody>
                  <a:tcPr marL="73152" marR="73152" marT="27432" marB="27432" anchor="ctr">
                    <a:solidFill>
                      <a:srgbClr val="EAF0FA"/>
                    </a:solidFill>
                  </a:tcPr>
                </a:tc>
              </a:tr>
              <a:tr h="566928">
                <a:tc>
                  <a:txBody>
                    <a:bodyPr wrap="square"/>
                    <a:lstStyle/>
                    <a:p>
                      <a:r>
                        <a:rPr sz="1200" b="0">
                          <a:solidFill>
                            <a:srgbClr val="1B2733"/>
                          </a:solidFill>
                          <a:latin typeface="Arial"/>
                        </a:rPr>
                        <a:t>PySpark thiếu winutils trên Windows; Hadoop một node</a:t>
                      </a:r>
                    </a:p>
                  </a:txBody>
                  <a:tcPr marL="73152" marR="73152" marT="27432" marB="27432" anchor="ctr">
                    <a:solidFill>
                      <a:srgbClr val="FFFFFF"/>
                    </a:solidFill>
                  </a:tcPr>
                </a:tc>
                <a:tc>
                  <a:txBody>
                    <a:bodyPr wrap="square"/>
                    <a:lstStyle/>
                    <a:p>
                      <a:r>
                        <a:rPr sz="1200" b="0">
                          <a:solidFill>
                            <a:srgbClr val="1B2733"/>
                          </a:solidFill>
                          <a:latin typeface="Arial"/>
                        </a:rPr>
                        <a:t>Ghi Parquet qua Arrow; image Hadoop có sẵn Python; replication = 1</a:t>
                      </a:r>
                    </a:p>
                  </a:txBody>
                  <a:tcPr marL="73152" marR="73152" marT="27432" marB="27432" anchor="ctr">
                    <a:solidFill>
                      <a:srgbClr val="FFFFFF"/>
                    </a:solidFill>
                  </a:tcPr>
                </a:tc>
                <a:tc>
                  <a:txBody>
                    <a:bodyPr wrap="square"/>
                    <a:lstStyle/>
                    <a:p>
                      <a:r>
                        <a:rPr sz="1200" b="0">
                          <a:solidFill>
                            <a:srgbClr val="1B2733"/>
                          </a:solidFill>
                          <a:latin typeface="Arial"/>
                        </a:rPr>
                        <a:t>Đối chiếu từng giá trị giữa các cách làm; kiểm tra HDFS bằng fsck sau khi ghi</a:t>
                      </a:r>
                    </a:p>
                  </a:txBody>
                  <a:tcPr marL="73152" marR="73152" marT="27432" marB="27432" anchor="ctr">
                    <a:solidFill>
                      <a:srgbClr val="FFFFFF"/>
                    </a:solidFill>
                  </a:tcPr>
                </a:tc>
              </a:tr>
              <a:tr h="566928">
                <a:tc>
                  <a:txBody>
                    <a:bodyPr wrap="square"/>
                    <a:lstStyle/>
                    <a:p>
                      <a:r>
                        <a:rPr sz="1200" b="0">
                          <a:solidFill>
                            <a:srgbClr val="1B2733"/>
                          </a:solidFill>
                          <a:latin typeface="Arial"/>
                        </a:rPr>
                        <a:t>Dễ sa vào tối ưu mô hình</a:t>
                      </a:r>
                    </a:p>
                  </a:txBody>
                  <a:tcPr marL="73152" marR="73152" marT="27432" marB="27432" anchor="ctr">
                    <a:solidFill>
                      <a:srgbClr val="EAF0FA"/>
                    </a:solidFill>
                  </a:tcPr>
                </a:tc>
                <a:tc>
                  <a:txBody>
                    <a:bodyPr wrap="square"/>
                    <a:lstStyle/>
                    <a:p>
                      <a:r>
                        <a:rPr sz="1200" b="0">
                          <a:solidFill>
                            <a:srgbClr val="1B2733"/>
                          </a:solidFill>
                          <a:latin typeface="Arial"/>
                        </a:rPr>
                        <a:t>Cố định tiêu chí đánh giá trước; tách thử nghiệm sang phần mở rộng</a:t>
                      </a:r>
                    </a:p>
                  </a:txBody>
                  <a:tcPr marL="73152" marR="73152" marT="27432" marB="27432" anchor="ctr">
                    <a:solidFill>
                      <a:srgbClr val="EAF0FA"/>
                    </a:solidFill>
                  </a:tcPr>
                </a:tc>
                <a:tc>
                  <a:txBody>
                    <a:bodyPr wrap="square"/>
                    <a:lstStyle/>
                    <a:p>
                      <a:r>
                        <a:rPr sz="1200" b="0">
                          <a:solidFill>
                            <a:srgbClr val="1B2733"/>
                          </a:solidFill>
                          <a:latin typeface="Arial"/>
                        </a:rPr>
                        <a:t>Ưu tiên pipeline đúng và cảnh báo dễ hiểu hơn việc giảm thêm vài cycle MAE</a:t>
                      </a:r>
                    </a:p>
                  </a:txBody>
                  <a:tcPr marL="73152" marR="73152" marT="27432" marB="27432" anchor="ctr">
                    <a:solidFill>
                      <a:srgbClr val="EAF0FA"/>
                    </a:solidFill>
                  </a:tcPr>
                </a:tc>
              </a:tr>
            </a:tbl>
          </a:graphicData>
        </a:graphic>
      </p:graphicFrame>
      <p:sp>
        <p:nvSpPr>
          <p:cNvPr id="8" name="Rounded Rectangle 7"/>
          <p:cNvSpPr/>
          <p:nvPr/>
        </p:nvSpPr>
        <p:spPr>
          <a:xfrm>
            <a:off x="841248" y="5303520"/>
            <a:ext cx="10515600" cy="68580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5303520"/>
            <a:ext cx="10104120" cy="685800"/>
          </a:xfrm>
          <a:prstGeom prst="rect">
            <a:avLst/>
          </a:prstGeom>
          <a:noFill/>
        </p:spPr>
        <p:txBody>
          <a:bodyPr wrap="square" lIns="0" rIns="0" tIns="0" bIns="0" anchor="ctr"/>
          <a:lstStyle/>
          <a:p>
            <a:pPr algn="l">
              <a:spcAft>
                <a:spcPts val="0"/>
              </a:spcAft>
            </a:pPr>
            <a:r>
              <a:rPr sz="1200" b="1">
                <a:solidFill>
                  <a:srgbClr val="21409A"/>
                </a:solidFill>
                <a:latin typeface="Arial"/>
              </a:rPr>
              <a:t>Giới hạn: </a:t>
            </a:r>
            <a:r>
              <a:rPr sz="1200" b="0">
                <a:solidFill>
                  <a:srgbClr val="1B2733"/>
                </a:solidFill>
                <a:latin typeface="Arial"/>
              </a:rPr>
              <a:t>dữ liệu mô phỏng; chưa có chi phí bảo trì để chọn ngưỡng; Hadoop và Spark chạy trên một máy, chưa có cluster nhiều node hay streaming; kết quả cảnh báo trên OOF train hơi lạc quan.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Trân trọng cảm ơn quý thầy 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Kính mời quý thầy cô đặt câu hỏi</a:t>
            </a:r>
          </a:p>
        </p:txBody>
      </p:sp>
      <p:sp>
        <p:nvSpPr>
          <p:cNvPr id="4" name="TextBox 3"/>
          <p:cNvSpPr txBox="1"/>
          <p:nvPr/>
        </p:nvSpPr>
        <p:spPr>
          <a:xfrm>
            <a:off x="630936" y="4754880"/>
            <a:ext cx="5669280" cy="640080"/>
          </a:xfrm>
          <a:prstGeom prst="rect">
            <a:avLst/>
          </a:prstGeom>
          <a:noFill/>
        </p:spPr>
        <p:txBody>
          <a:bodyPr wrap="square" lIns="0" rIns="0" tIns="0" bIns="0" anchor="t"/>
          <a:lstStyle/>
          <a:p>
            <a:pPr algn="l">
              <a:spcAft>
                <a:spcPts val="400"/>
              </a:spcAft>
            </a:pPr>
            <a:r>
              <a:rPr sz="1250" b="1">
                <a:solidFill>
                  <a:srgbClr val="21409A"/>
                </a:solidFill>
                <a:latin typeface="Arial"/>
              </a:rPr>
              <a:t>Demo dashboard: </a:t>
            </a:r>
            <a:r>
              <a:rPr sz="1250" b="0">
                <a:solidFill>
                  <a:srgbClr val="1B2733"/>
                </a:solidFill>
                <a:latin typeface="Arial"/>
              </a:rPr>
              <a:t>uv run --extra dashboard streamlit run app.py</a:t>
            </a:r>
          </a:p>
          <a:p>
            <a:pPr algn="l">
              <a:spcAft>
                <a:spcPts val="400"/>
              </a:spcAft>
            </a:pPr>
            <a:r>
              <a:rPr sz="1250" b="0">
                <a:solidFill>
                  <a:srgbClr val="5A6B7B"/>
                </a:solidFill>
                <a:latin typeface="Arial"/>
              </a:rPr>
              <a:t>Phan Nguyễn Mai Phương · MSHV 25002711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