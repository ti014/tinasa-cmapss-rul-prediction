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5"/>
    <p:sldId id="262" r:id="rId4"/>
    <p:sldId id="263" r:id="rId3"/>
    <p:sldId id="264" r:id="rId2"/>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40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94"/>
  </p:normalViewPr>
  <p:slideViewPr>
    <p:cSldViewPr snapToGrid="0">
      <p:cViewPr varScale="1">
        <p:scale>
          <a:sx n="104" d="100"/>
          <a:sy n="104" d="100"/>
        </p:scale>
        <p:origin x="232"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Thời gian pipeline gồm I/O (giây)</a:t>
            </a:r>
          </a:p>
        </c:rich>
      </c:tx>
      <c:layout/>
      <c:overlay val="0"/>
    </c:title>
    <c:autoTitleDeleted val="0"/>
    <c:plotArea>
      <c:barChart>
        <c:barDir val="col"/>
        <c:grouping val="clustered"/>
        <c:ser>
          <c:idx val="0"/>
          <c:order val="0"/>
          <c:tx>
            <c:strRef>
              <c:f>Sheet1!$B$1</c:f>
              <c:strCache>
                <c:ptCount val="1"/>
                <c:pt idx="0">
                  <c:v>Pandas</c:v>
                </c:pt>
              </c:strCache>
            </c:strRef>
          </c:tx>
          <c:spPr>
            <a:solidFill>
              <a:srgbClr val="21409A"/>
            </a:solidFill>
          </c:spPr>
          <c:cat>
            <c:strRef>
              <c:f>Sheet1!$A$2:$A$3</c:f>
              <c:strCache>
                <c:ptCount val="2"/>
                <c:pt idx="0">
                  <c:v>1× · 33.727 dòng</c:v>
                </c:pt>
                <c:pt idx="1">
                  <c:v>10× · 337.270 dòng</c:v>
                </c:pt>
              </c:strCache>
            </c:strRef>
          </c:cat>
          <c:val>
            <c:numRef>
              <c:f>Sheet1!$B$2:$B$3</c:f>
              <c:numCache>
                <c:formatCode>General</c:formatCode>
                <c:ptCount val="2"/>
                <c:pt idx="0">
                  <c:v>11</c:v>
                </c:pt>
                <c:pt idx="1">
                  <c:v>112</c:v>
                </c:pt>
              </c:numCache>
            </c:numRef>
          </c:val>
        </c:ser>
        <c:ser>
          <c:idx val="1"/>
          <c:order val="1"/>
          <c:tx>
            <c:strRef>
              <c:f>Sheet1!$C$1</c:f>
              <c:strCache>
                <c:ptCount val="1"/>
                <c:pt idx="0">
                  <c:v>PySpark local[4]</c:v>
                </c:pt>
              </c:strCache>
            </c:strRef>
          </c:tx>
          <c:spPr>
            <a:solidFill>
              <a:srgbClr val="FCB525"/>
            </a:solidFill>
          </c:spPr>
          <c:cat>
            <c:strRef>
              <c:f>Sheet1!$A$2:$A$3</c:f>
              <c:strCache>
                <c:ptCount val="2"/>
                <c:pt idx="0">
                  <c:v>1× · 33.727 dòng</c:v>
                </c:pt>
                <c:pt idx="1">
                  <c:v>10× · 337.270 dòng</c:v>
                </c:pt>
              </c:strCache>
            </c:strRef>
          </c:cat>
          <c:val>
            <c:numRef>
              <c:f>Sheet1!$C$2:$C$3</c:f>
              <c:numCache>
                <c:formatCode>General</c:formatCode>
                <c:ptCount val="2"/>
                <c:pt idx="0">
                  <c:v>15</c:v>
                </c:pt>
                <c:pt idx="1">
                  <c:v>33</c:v>
                </c:pt>
              </c:numCache>
            </c:numRef>
          </c:val>
        </c:ser>
        <c:dLbls>
          <c:numFmt formatCode="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MAE trên tập kiểm tra (cycle)</a:t>
            </a:r>
          </a:p>
        </c:rich>
      </c:tx>
      <c:layout/>
      <c:overlay val="0"/>
    </c:title>
    <c:autoTitleDeleted val="0"/>
    <c:plotArea>
      <c:barChart>
        <c:barDir val="col"/>
        <c:grouping val="clustered"/>
        <c:ser>
          <c:idx val="0"/>
          <c:order val="0"/>
          <c:tx>
            <c:strRef>
              <c:f>Sheet1!$B$1</c:f>
              <c:strCache>
                <c:ptCount val="1"/>
                <c:pt idx="0">
                  <c:v>Huấn luyện nội bộ</c:v>
                </c:pt>
              </c:strCache>
            </c:strRef>
          </c:tx>
          <c:spPr>
            <a:solidFill>
              <a:srgbClr val="21409A"/>
            </a:solidFill>
          </c:spPr>
          <c:cat>
            <c:strRef>
              <c:f>Sheet1!$A$2:$A$4</c:f>
              <c:strCache>
                <c:ptCount val="3"/>
                <c:pt idx="0">
                  <c:v>FD002</c:v>
                </c:pt>
                <c:pt idx="1">
                  <c:v>FD003</c:v>
                </c:pt>
                <c:pt idx="2">
                  <c:v>FD004</c:v>
                </c:pt>
              </c:strCache>
            </c:strRef>
          </c:cat>
          <c:val>
            <c:numRef>
              <c:f>Sheet1!$B$2:$B$4</c:f>
              <c:numCache>
                <c:formatCode>General</c:formatCode>
                <c:ptCount val="3"/>
                <c:pt idx="0">
                  <c:v>22.4</c:v>
                </c:pt>
                <c:pt idx="1">
                  <c:v>28.3</c:v>
                </c:pt>
                <c:pt idx="2">
                  <c:v>27.2</c:v>
                </c:pt>
              </c:numCache>
            </c:numRef>
          </c:val>
        </c:ser>
        <c:ser>
          <c:idx val="1"/>
          <c:order val="1"/>
          <c:tx>
            <c:strRef>
              <c:f>Sheet1!$C$1</c:f>
              <c:strCache>
                <c:ptCount val="1"/>
                <c:pt idx="0">
                  <c:v>Áp dụng mô hình FD001</c:v>
                </c:pt>
              </c:strCache>
            </c:strRef>
          </c:tx>
          <c:spPr>
            <a:solidFill>
              <a:srgbClr val="FCB525"/>
            </a:solidFill>
          </c:spPr>
          <c:cat>
            <c:strRef>
              <c:f>Sheet1!$A$2:$A$4</c:f>
              <c:strCache>
                <c:ptCount val="3"/>
                <c:pt idx="0">
                  <c:v>FD002</c:v>
                </c:pt>
                <c:pt idx="1">
                  <c:v>FD003</c:v>
                </c:pt>
                <c:pt idx="2">
                  <c:v>FD004</c:v>
                </c:pt>
              </c:strCache>
            </c:strRef>
          </c:cat>
          <c:val>
            <c:numRef>
              <c:f>Sheet1!$C$2:$C$4</c:f>
              <c:numCache>
                <c:formatCode>General</c:formatCode>
                <c:ptCount val="3"/>
                <c:pt idx="0">
                  <c:v>60.3</c:v>
                </c:pt>
                <c:pt idx="1">
                  <c:v>47.4</c:v>
                </c:pt>
                <c:pt idx="2">
                  <c:v>58.6</c:v>
                </c:pt>
              </c:numCache>
            </c:numRef>
          </c:val>
        </c:ser>
        <c:dLbls>
          <c:numFmt formatCode="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ax val="72.0"/>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20 giây.</a:t>
            </a:r>
          </a:p>
          <a:p>
            <a:r>
              <a:t>Chào thầy/cô. Em là Phan Nguyễn Mai Phương, MSHV 25002711. Đề tài 8: phân tích dữ liệu cảm biến để phát hiện dấu hiệu bất thường và dự đoán thời điểm cần bảo trì, kèm biểu đồ cảnh báo sớm.</a:t>
            </a:r>
          </a:p>
          <a:p>
            <a:r>
              <a:t>Bốn con số là khung của bài: 100 động cơ train; EWMA giảm khoảng 86,3% dao động ngắn hạn; bất thường được phát hiện trung vị 121 cycle trước khi hỏng; MAE RUL trên 100 động cơ test là 15,3490 cycle.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25 giây.</a:t>
            </a:r>
          </a:p>
          <a:p>
            <a:r>
              <a:t>Đọc nhanh sáu phần. Thứ tự bám quy trình của môn học: thu thập, làm sạch, lưu trữ trước; rồi khử nhiễu, xu hướng và bất thường; sau cùng là dự đoán RUL và cảnh báo. Năm câu hỏi bên phải sẽ được trả lời lại ở slide 18. Demo dashboard khoảng 3 phút ở cuối.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Remaining Useful Life (RUL, tuổi thọ hữu ích còn lại) là số cycle vận hành còn lại trước khi hỏng. Ví dụ động cơ hỏng ở cycle 200 thì tại cycle 170 có RUL bằng 30. Đơn vị là cycle; dữ liệu không quy đổi ra giờ.</a:t>
            </a:r>
          </a:p>
          <a:p>
            <a:r>
              <a:t>Bảng bên phải đối chiếu từng yêu cầu của đề tài với slide trình bày: khử nhiễu ở slide 9, window ở slide 10, xu hướng ở slide 11, bất thường ở slide 12, cảnh báo ở slide 15 và lịch bảo trì ở slide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C-MAPSS là dữ liệu mô phỏng động cơ turbofan của NASA, có tên trong gợi ý dữ liệu của đề tài. Mỗi subset có train (chạy đến khi hỏng), test (bị cắt trước khi hỏng) và file nhãn RUL test.</a:t>
            </a:r>
          </a:p>
          <a:p>
            <a:r>
              <a:t>FD001: 1 điều kiện vận hành, 1 dạng lỗi, 100 train và 100 test engines, 33.727 quan sát. Mỗi dòng có 26 trường: engine_id, cycle, 3 setting và 21 sensor.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Train: mỗi động cơ chạy đến khi hỏng nên RUL = cycle cuối − cycle hiện tại; FD001 có 20.631 nhãn train.</a:t>
            </a:r>
          </a:p>
          <a:p>
            <a:r>
              <a:t>Test: chuỗi bị cắt trước khi hỏng. Mô hình tạo đúng một dự đoán tại cycle cuối quan sát của mỗi động cơ test; sau khi ghi dự đoán ra file mới ghép RUL_FD001.txt để chấm điểm.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55 giây.</a:t>
            </a:r>
          </a:p>
          <a:p>
            <a:r>
              <a:t>Bronze là file text gốc. Reader kiểm tra đúng 26 trường, kiểu dữ liệu, khóa duy nhất và cycle liên tục; train và test được union theo dòng.</a:t>
            </a:r>
          </a:p>
          <a:p>
            <a:r>
              <a:t>Silver lưu observations và train_targets dạng Parquet. Gold lưu engine_summary dạng Parquet và SQLite. Từ Silver, bước đặc trưng tạo window 30 cycle; mô hình dùng GroupKFold, refit và tạo 100 dự đoán test.</a:t>
            </a:r>
          </a:p>
          <a:p>
            <a:r>
              <a:t>Nhánh dưới bên trái là phân tích tín hiệu: khử nhiễu, Health Index, bất thường, chỉ dùng train. Đây là phần thu thập, làm sạch, chuẩn hóa, tích hợp, lưu trữ mà rubric chấm 40%.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Bảng trái: cùng input, Pandas và PySpark cho cùng schema, khóa, số dòng và giá trị ở ba boundary; sai khác tuyệt đối lớn nhất bằng 0. Rolling features cũng khớp toàn bộ 27.927 dòng với tolerance 10^-7.</a:t>
            </a:r>
          </a:p>
          <a:p>
            <a:r>
              <a:t>Biểu đồ phải: trung vị ba lượt, gồm đọc Parquet, tổng hợp, rolling features và ghi file. Pandas tăng gần tuyến tính từ 10,5 lên 111,7 giây; Spark từ 14,6 lên 32,7 giây. Ở 1× Pandas nhanh hơn vì Spark tốn chi phí khởi động.</a:t>
            </a:r>
          </a:p>
          <a:p>
            <a:r>
              <a:t>Giới hạn: Spark local[4] trên một máy Windows, ghi qua driver; chưa đo cluster.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Tuổi thọ train từ 128 đến 362 cycle, trung vị 199, lệch phải vì có vài động cơ sống rất lâu.</a:t>
            </a:r>
          </a:p>
          <a:p>
            <a:r>
              <a:t>Bảy cột không đổi trong cả 100 động cơ: sensor 1, 5, 10, 16, 18, 19 và setting_3. Vì vậy bước khử nhiễu chỉ áp dụng cho 14 sensor có xu hướng. Không làm feature selection từ EDA để tránh rò rỉ vào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Đây là bước xử lý nhiễu tín hiệu mà đề tài yêu cầu. Đường xám là tín hiệu gốc của động cơ train 1, nhảy mạnh giữa hai cycle liền kề. Đường xanh là sau EWMA span 10.</a:t>
            </a:r>
          </a:p>
          <a:p>
            <a:r>
              <a:t>Công thức: s_t = α·x_t + (1 − α)·s_{t−1}, α = 2/(span + 1) ≈ 0,18: giá trị mới chiếm 18%, phần còn lại là lịch sử đã làm mượt. Chỉ dùng quá khứ nên không rò rỉ tương lai.</a:t>
            </a:r>
          </a:p>
          <a:p>
            <a:r>
              <a:t>Đo bằng độ lệch chuẩn của bước nhảy giữa hai cycle liền kề. Ví dụ sensor_4: 5,70 xuống 0,78. Trên 14 sensor, mức giảm từ 83,6% đến 86,4%.</a:t>
            </a:r>
          </a:p>
          <a:p>
            <a:r>
              <a:t>Giới hạn: không có tín hiệu sạch để đối chiếu, nên đây là mức giảm dao động, chưa chứng minh đã loại đúng nhiễu đo. Span 10 cố định trước, không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Ví dụ tại cycle 170: window gồm cycle 141–170; cycle 171 trở đi không được dùng.</a:t>
            </a:r>
          </a:p>
          <a:p>
            <a:r>
              <a:t>Với mỗi sensor tính 6 thống kê: giá trị cuối, trung bình, độ lệch chuẩn, min, max và độ dốc. 21 × 6 = 126 cột. 29 cycle đầu mỗi động cơ chưa đủ window nên không tạo dòng; FD001 có 17.731 window train và 10.196 window test.</a:t>
            </a:r>
          </a:p>
          <a:p>
            <a:r>
              <a:t>Về chuẩn hóa: StandardScaler fit trong training fold cho Ridge và trước PCA khi tạo Health Index; HGB dùng thang đo gốc vì cây quyết định không phụ thuộc thang đo.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Hai hình là quỹ đạo gốc của ba động cơ train dài 178, 199 và 229 cycle: sensor_4 tăng dần, sensor_7 giảm dần khi tiến gần lúc hỏng. Đây là biểu đồ xu hướng suy giảm theo thời gian.</a:t>
            </a:r>
          </a:p>
          <a:p>
            <a:r>
              <a:t>Kiểm định: mỗi động cơ lấy trung bình 30 cycle cuối trừ 30 cycle đầu; bootstrap 10.000 lần cho khoảng tin cậy; Wilcoxon cho p-value; Benjamini–Hochberg q = 0,05 trên 21 sensor.</a:t>
            </a:r>
          </a:p>
          <a:p>
            <a:r>
              <a:t>Kết quả: 15 sensor có thay đổi; năm sensor 4, 7, 11, 12, 20 thay đổi cùng hướng ở cả 100 động cơ; 6 sensor hằng không kiểm định được.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phần phát hiện dấu hiệu bất thường của đề tài. Health Index gộp 21 sensor đã khử nhiễu bằng StandardScaler rồi PCA một thành phần; chỉ số giảm khi động cơ suy giảm. Không dùng nhãn RUL.</a:t>
            </a:r>
          </a:p>
          <a:p>
            <a:r>
              <a:t>Quy tắc cố định trước: lấy trung bình và độ lệch chuẩn của 30 cycle đầu làm mức tham chiếu. Khi chỉ số giảm quá 3 độ lệch chuẩn và giữ 5 cycle liên tiếp thì báo. Yêu cầu liên tiếp để một gai đơn lẻ không gây báo động.</a:t>
            </a:r>
          </a:p>
          <a:p>
            <a:r>
              <a:t>Hình trái, động cơ 1: báo ở cycle 84, hỏng ở cycle 192, tức trước 108 cycle. Hình phải: trung vị 121, nhỏ nhất 67, lớn nhất 289 cycle.</a:t>
            </a:r>
          </a:p>
          <a:p>
            <a:r>
              <a:t>Cùng quy tắc trên tín hiệu gốc thì trung vị chỉ còn 72,5 cycle. Báo sớm hơn không tự động là tốt hơn: không có nhãn thời điểm bắt đầu hỏng nên chưa đo được báo động giả.</a:t>
            </a:r>
          </a:p>
          <a:p>
            <a:r>
              <a:t>Dải vàng phía dưới: em đã chạy lại quy tắc với 9 cấu hình, 2/3/4 sigma nhân 3/5/10 cycle. Cả 9 đều bắt đủ 100 động cơ, động cơ báo muộn nhất vẫn còn ít nhất 50 cycle. Chọn tham số chỉ là đánh đổi giữa báo sớm và báo quá sớm.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10 giây.</a:t>
            </a:r>
          </a:p>
          <a:p>
            <a:r>
              <a:t>Cách đánh giá: GroupKFold 5 fold theo động cơ, mọi window của một động cơ nằm cùng một phía; chia ngẫu nhiên theo dòng sẽ làm metric đẹp giả tạo vì hai window liền kề trùng 29/30 cycle. Mỗi động cơ có tổng trọng số bằng 1.</a:t>
            </a:r>
          </a:p>
          <a:p>
            <a:r>
              <a:t>Bảng trên: so sánh ba mô hình bằng GroupKFold. HGB có MAE 20,21 cycle, thấp hơn Ridge 3,78 cycle và thấp hơn median baseline hơn một nửa.</a:t>
            </a:r>
          </a:p>
          <a:p>
            <a:r>
              <a:t>Trên test: MAE 15,3490 cycle, khoảng tin cậy 95% [12,73; 18,09], RMSE 20,54, NASA score 1.513.</a:t>
            </a:r>
          </a:p>
          <a:p>
            <a:r>
              <a:t>MAE test thấp hơn MAE cross-validation vì test chỉ có một điểm cuối mỗi chuỗi, RUL thật từ 7 đến 145; cross-validation tính cả đầu đời có RUL rất lớn.</a:t>
            </a:r>
          </a:p>
          <a:p>
            <a:r>
              <a:t>Đọc hình: điểm càng gần đường chéo càng đúng; vùng RUL thấp bám đường chéo tốt hơn.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Hình: sai số bằng dự đoán trừ thật, theo RUL thật. MAE chỉ 4,38 cycle với 25 động cơ có RUL thật ≤ 30, tức đúng vùng cần cảnh báo; khoảng 21 cycle khi RUL trên 60.</a:t>
            </a:r>
          </a:p>
          <a:p>
            <a:r>
              <a:t>74 dự đoán cao hơn thật, 26 thấp hơn. Ví dụ động cơ 23: RUL thật 113, dự đoán 170,5, sai 57,5 cycle. Mười trường hợp sai lớn nhất chiếm 75,5% NASA score.</a:t>
            </a:r>
          </a:p>
          <a:p>
            <a:r>
              <a:t>Nguyên nhân: khi động cơ còn khỏe, Health Index đi ngang nên khó phân biệt còn 160 hay 300 cycle; trên OOF dự đoán dừng quanh 145 cycle.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30 giây.</a:t>
            </a:r>
          </a:p>
          <a:p>
            <a:r>
              <a:t>Đây là biểu đồ xu hướng cảnh báo sớm, sản phẩm đặc thù của đề tài. Đường xanh là RUL thật, đường đỏ là RUL dự đoán OOF, đường cam là ngưỡng 30 cycle; động cơ 1 được cảnh báo ở cycle 162, hỏng ở 192.</a:t>
            </a:r>
          </a:p>
          <a:p>
            <a:r>
              <a:t>Ngưỡng 30 trên 100 động cơ: 44 cảnh báo trước khi RUL thật chạm 30, 7 đúng lúc, 49 trễ nhưng vẫn trước khi hỏng, không bỏ lỡ. Lead time trung vị 30 cycle, ngắn nhất 19.</a:t>
            </a:r>
          </a:p>
          <a:p>
            <a:r>
              <a:t>Cảnh báo trễ tập trung ở động cơ suy giảm nhanh. Ngưỡng 40 nâng tỷ lệ kịp thời từ 51% lên 94%, đổi lại thời gian báo sớm tăng khoảng bốn lần. Chọn ngưỡng thật cần chi phí bảo trì, dữ liệu không có.</a:t>
            </a:r>
          </a:p>
          <a:p>
            <a:r>
              <a:t>Ghép hai mức trên động cơ 1: cycle 84 bất thường, cycle 162 RUL ≤ 30, cycle 192 hỏng.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sản phẩm đặc thù của đề tài: mỗi động cơ test có một dòng gồm cycle hiện tại, RUL dự đoán, cycle dự kiến cần bảo trì (lúc RUL dự đoán chạm 30) và trạng thái. Ví dụ động cơ 90 ở cycle 146, RUL dự đoán 31,2, nên cần bảo trì ở cycle 147.</a:t>
            </a:r>
          </a:p>
          <a:p>
            <a:r>
              <a:t>Trạng thái: cần bảo trì nếu RUL dự đoán ≤ 30; theo dõi tăng cường nếu Health Index đã báo bất thường; còn lại bình thường.</a:t>
            </a:r>
          </a:p>
          <a:p>
            <a:r>
              <a:t>Hình trái: 21 cần bảo trì ngay, 59 theo dõi, 20 bình thường. Kế hoạch: thêm 14 động cơ đến hạn trong 25 cycle tới và 8 trong 26–50 cycle.</a:t>
            </a:r>
          </a:p>
          <a:p>
            <a:r>
              <a:t>Kiểm tra bằng nhãn test sau khi đã ghi lịch: 25 động cơ thật sự cần bảo trì; 21 được báo đúng; 4 động cơ còn lại có RUL dự đoán 31–38 nên đến hạn sau 1–8 cycle và vẫn ở mức theo dõi. Cả 20 động cơ bình thường có RUL thật trên 60. Giới hạn: mức theo dõi còn rộng, 41/59 động cơ có RUL thật trên 60.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Biểu đồ: cùng pipeline với window 10 vì FD004 có động cơ test ngắn nhất 19 cycle. Cột xanh là huấn luyện và test trong cùng subset; cột vàng là giữ mô hình FD001 áp dụng sang subset khác. MAE tăng khoảng 2–3 lần. Với FD002 và FD004 chỉ khoảng 15% giá trị sensor nằm trong miền FD001 nên dự đoán gần như hằng số; FD003 có thêm dạng lỗi Fan.</a:t>
            </a:r>
          </a:p>
          <a:p>
            <a:r>
              <a:t>Bên phải là ba thử nghiệm cải thiện, không cái nào thay mô hình chính: nested CV quay về cấu hình gốc, cảnh báo trễ 49 → 53; thêm 42 đặc trưng lịch sử giảm MAE OOF 20,21 → 17,00 nhưng tỷ lệ cảnh báo kịp thời ở ngưỡng 30 giảm 51% → 45%; ARIMA dự báo Health Index MAE 0,41 nhưng chỉ tốt hơn drift ở 7/10 động cơ.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Q1: dữ liệu đạt mọi kiểm tra; Pandas và PySpark khớp tuyệt đối.</a:t>
            </a:r>
          </a:p>
          <a:p>
            <a:r>
              <a:t>Q2: EWMA giảm khoảng 86% dao động; window 30 tạo 126 đặc trưng.</a:t>
            </a:r>
          </a:p>
          <a:p>
            <a:r>
              <a:t>Q3: 15/21 sensor thay đổi; Health Index phát hiện bất thường ở 100/100 động cơ, trung vị 121 cycle trước khi hỏng.</a:t>
            </a:r>
          </a:p>
          <a:p>
            <a:r>
              <a:t>Q4: MAE test 15,35 cycle, nhỏ nhất ở vùng gần hỏng.</a:t>
            </a:r>
          </a:p>
          <a:p>
            <a:r>
              <a:t>Q5: không bỏ lỡ, lead time trung vị 30 cycle, nhưng 49% trễ; ngưỡng 40 giảm trễ xuống 6%. Lịch bảo trì báo cần bảo trì 21 động cơ, đúng cả 21.</a:t>
            </a:r>
          </a:p>
          <a:p>
            <a:r>
              <a:t>Sản phẩm: lịch dự đoán thời điểm cần bảo trì kèm biểu đồ xu hướng cảnh báo sớm.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Một: dữ liệu không ghi lúc bắt đầu hỏng, nên so mỗi động cơ với chính nó lúc khỏe và nói rõ chưa đo được báo động giả.</a:t>
            </a:r>
          </a:p>
          <a:p>
            <a:r>
              <a:t>Hai: dữ liệu chuỗi thời gian dễ rò rỉ khi chia tập; đơn vị chia phải là động cơ, window và EWMA chỉ dùng quá khứ.</a:t>
            </a:r>
          </a:p>
          <a:p>
            <a:r>
              <a:t>Ba: PySpark trên Windows thiếu winutils nên ghi qua Arrow, và luôn đối chiếu từng giá trị với Pandas.</a:t>
            </a:r>
          </a:p>
          <a:p>
            <a:r>
              <a:t>Bốn: dễ sa vào tối ưu mô hình; với bảo trì dự đoán, pipeline đúng và cảnh báo dễ hiểu quan trọng hơn vài cycle MAE.</a:t>
            </a:r>
          </a:p>
          <a:p>
            <a:r>
              <a:t>Giới hạn: dữ liệu mô phỏng, chưa có chi phí bảo trì, Spark chỉ chạy local.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Cảm ơn thầy/cô. Nếu còn thời gian, mở dashboard theo phần demo trong handoff/SPEECH_SCRIPT_VI.pdf (khoảng 3 phút); không chạy lại huấn luyện khi trình bày.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838200" y="1122363"/>
            <a:ext cx="10515599" cy="238760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
        <p:nvSpPr>
          <p:cNvPr id="3" name="Subtitle 2">
            <a:extLst>
              <a:ext uri="{FF2B5EF4-FFF2-40B4-BE49-F238E27FC236}">
                <a16:creationId xmlns:a16="http://schemas.microsoft.com/office/drawing/2014/main" id="{74EE4BD5-3F94-D34C-948C-86D5E4020F62}"/>
              </a:ext>
            </a:extLst>
          </p:cNvPr>
          <p:cNvSpPr>
            <a:spLocks noGrp="1"/>
          </p:cNvSpPr>
          <p:nvPr>
            <p:ph type="subTitle" idx="1"/>
          </p:nvPr>
        </p:nvSpPr>
        <p:spPr>
          <a:xfrm>
            <a:off x="1524000" y="3602038"/>
            <a:ext cx="9144000" cy="1655762"/>
          </a:xfrm>
        </p:spPr>
        <p:txBody>
          <a:bodyPr/>
          <a:lstStyle>
            <a:lvl1pPr marL="0" indent="0" algn="ctr">
              <a:buNone/>
              <a:defRPr sz="24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DDCBCD9B-CE16-FC56-D736-8FD1D08DC99D}"/>
              </a:ext>
            </a:extLst>
          </p:cNvPr>
          <p:cNvSpPr>
            <a:spLocks noGrp="1"/>
          </p:cNvSpPr>
          <p:nvPr>
            <p:ph type="dt" sz="half" idx="10"/>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A191A56D-49BD-12CB-5A41-A89ABB4AED8D}"/>
              </a:ext>
            </a:extLst>
          </p:cNvPr>
          <p:cNvSpPr>
            <a:spLocks noGrp="1"/>
          </p:cNvSpPr>
          <p:nvPr>
            <p:ph type="ftr" sz="quarter" idx="11"/>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C05A5329-3F8E-32BF-8731-7B989FC6CACE}"/>
              </a:ext>
            </a:extLst>
          </p:cNvPr>
          <p:cNvSpPr>
            <a:spLocks noGrp="1"/>
          </p:cNvSpPr>
          <p:nvPr>
            <p:ph type="sldNum" sz="quarter" idx="12"/>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444271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012C9-01A2-F69C-4863-3C54D0E3376E}"/>
              </a:ext>
            </a:extLst>
          </p:cNvPr>
          <p:cNvSpPr>
            <a:spLocks noGrp="1"/>
          </p:cNvSpPr>
          <p:nvPr>
            <p:ph type="title"/>
          </p:nvPr>
        </p:nvSpPr>
        <p:spPr>
          <a:xfrm>
            <a:off x="838200" y="1248031"/>
            <a:ext cx="10515600" cy="951471"/>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D8EFA2A-31AF-88CC-8ACE-BF19E442CC4F}"/>
              </a:ext>
            </a:extLst>
          </p:cNvPr>
          <p:cNvSpPr>
            <a:spLocks noGrp="1"/>
          </p:cNvSpPr>
          <p:nvPr>
            <p:ph idx="1"/>
          </p:nvPr>
        </p:nvSpPr>
        <p:spPr>
          <a:xfrm>
            <a:off x="838200" y="2310714"/>
            <a:ext cx="10515600" cy="3793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49F86498-72F1-249D-8C03-68AF81E2DD30}"/>
              </a:ext>
            </a:extLst>
          </p:cNvPr>
          <p:cNvSpPr>
            <a:spLocks noGrp="1"/>
          </p:cNvSpPr>
          <p:nvPr>
            <p:ph type="dt" sz="half" idx="10"/>
          </p:nvPr>
        </p:nvSpPr>
        <p:spPr>
          <a:xfrm>
            <a:off x="838199"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B6CE337-BF27-2496-0B98-F6639BBB2243}"/>
              </a:ext>
            </a:extLst>
          </p:cNvPr>
          <p:cNvSpPr>
            <a:spLocks noGrp="1"/>
          </p:cNvSpPr>
          <p:nvPr>
            <p:ph type="ftr" sz="quarter" idx="11"/>
          </p:nvPr>
        </p:nvSpPr>
        <p:spPr>
          <a:xfrm>
            <a:off x="2419859"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A85C06F6-6C30-B063-A0BB-949595E8664B}"/>
              </a:ext>
            </a:extLst>
          </p:cNvPr>
          <p:cNvSpPr>
            <a:spLocks noGrp="1"/>
          </p:cNvSpPr>
          <p:nvPr>
            <p:ph type="sldNum" sz="quarter" idx="12"/>
          </p:nvPr>
        </p:nvSpPr>
        <p:spPr/>
        <p:txBody>
          <a:bodyPr/>
          <a:lstStyle>
            <a:lvl1pPr>
              <a:defRPr>
                <a:solidFill>
                  <a:srgbClr val="21409A"/>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037689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4A87-6FC1-4666-0F2A-639F24884914}"/>
              </a:ext>
            </a:extLst>
          </p:cNvPr>
          <p:cNvSpPr>
            <a:spLocks noGrp="1"/>
          </p:cNvSpPr>
          <p:nvPr>
            <p:ph type="title"/>
          </p:nvPr>
        </p:nvSpPr>
        <p:spPr>
          <a:xfrm>
            <a:off x="831850" y="1536741"/>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0E835CC-EE89-24BC-2072-92D9724B3C47}"/>
              </a:ext>
            </a:extLst>
          </p:cNvPr>
          <p:cNvSpPr>
            <a:spLocks noGrp="1"/>
          </p:cNvSpPr>
          <p:nvPr>
            <p:ph type="body" idx="1"/>
          </p:nvPr>
        </p:nvSpPr>
        <p:spPr>
          <a:xfrm>
            <a:off x="831850" y="4416466"/>
            <a:ext cx="10515600" cy="1500187"/>
          </a:xfrm>
        </p:spPr>
        <p:txBody>
          <a:bodyPr/>
          <a:lstStyle>
            <a:lvl1pPr marL="0" indent="0">
              <a:buNone/>
              <a:defRPr sz="2400">
                <a:solidFill>
                  <a:srgbClr val="21409A"/>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B54C817-FAC3-15A6-0E1C-9FD92D5AFCB4}"/>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E330869-839E-DBC0-DBF9-612D9B29B709}"/>
              </a:ext>
            </a:extLst>
          </p:cNvPr>
          <p:cNvSpPr>
            <a:spLocks noGrp="1"/>
          </p:cNvSpPr>
          <p:nvPr>
            <p:ph type="ftr" sz="quarter" idx="11"/>
          </p:nvPr>
        </p:nvSpPr>
        <p:spPr>
          <a:xfrm>
            <a:off x="2395143"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68469DB6-CDF6-315D-63E8-0C4C3FB6196C}"/>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3211991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6F1A3-45B2-8367-78BB-DF2D68373C7F}"/>
              </a:ext>
            </a:extLst>
          </p:cNvPr>
          <p:cNvSpPr>
            <a:spLocks noGrp="1"/>
          </p:cNvSpPr>
          <p:nvPr>
            <p:ph type="title"/>
          </p:nvPr>
        </p:nvSpPr>
        <p:spPr>
          <a:xfrm>
            <a:off x="838200" y="1210962"/>
            <a:ext cx="10515600" cy="838073"/>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7BCA26BE-6043-4C3B-F448-6E9ABCD5A47F}"/>
              </a:ext>
            </a:extLst>
          </p:cNvPr>
          <p:cNvSpPr>
            <a:spLocks noGrp="1"/>
          </p:cNvSpPr>
          <p:nvPr>
            <p:ph sz="half" idx="1"/>
          </p:nvPr>
        </p:nvSpPr>
        <p:spPr>
          <a:xfrm>
            <a:off x="838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3D98A412-5358-69F6-0DA8-D0B6E24BE50D}"/>
              </a:ext>
            </a:extLst>
          </p:cNvPr>
          <p:cNvSpPr>
            <a:spLocks noGrp="1"/>
          </p:cNvSpPr>
          <p:nvPr>
            <p:ph sz="half" idx="2"/>
          </p:nvPr>
        </p:nvSpPr>
        <p:spPr>
          <a:xfrm>
            <a:off x="6172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0FA0E7B3-3CD9-7EBC-C9FD-B8EAC5AEEA5A}"/>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B9F99620-B4AB-691C-7321-70313D316CE1}"/>
              </a:ext>
            </a:extLst>
          </p:cNvPr>
          <p:cNvSpPr>
            <a:spLocks noGrp="1"/>
          </p:cNvSpPr>
          <p:nvPr>
            <p:ph type="ftr" sz="quarter" idx="11"/>
          </p:nvPr>
        </p:nvSpPr>
        <p:spPr>
          <a:xfrm>
            <a:off x="2407502" y="6356350"/>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143CE1A1-3589-41A9-AB7D-0D324D02D5D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76718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67D4-C3AA-7899-311A-3DF8DE161071}"/>
              </a:ext>
            </a:extLst>
          </p:cNvPr>
          <p:cNvSpPr>
            <a:spLocks noGrp="1"/>
          </p:cNvSpPr>
          <p:nvPr>
            <p:ph type="title"/>
          </p:nvPr>
        </p:nvSpPr>
        <p:spPr>
          <a:xfrm>
            <a:off x="839788" y="1248031"/>
            <a:ext cx="10515600" cy="504441"/>
          </a:xfrm>
        </p:spPr>
        <p:txBody>
          <a:bodyPr/>
          <a:lstStyle>
            <a:lvl1pPr>
              <a:defRPr sz="4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548981A-BAAE-F213-0589-2CD02A4D3C57}"/>
              </a:ext>
            </a:extLst>
          </p:cNvPr>
          <p:cNvSpPr>
            <a:spLocks noGrp="1"/>
          </p:cNvSpPr>
          <p:nvPr>
            <p:ph type="body" idx="1"/>
          </p:nvPr>
        </p:nvSpPr>
        <p:spPr>
          <a:xfrm>
            <a:off x="839788" y="182944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A4592C-4713-B4BC-32ED-D7D69EC4ECFD}"/>
              </a:ext>
            </a:extLst>
          </p:cNvPr>
          <p:cNvSpPr>
            <a:spLocks noGrp="1"/>
          </p:cNvSpPr>
          <p:nvPr>
            <p:ph sz="half" idx="2"/>
          </p:nvPr>
        </p:nvSpPr>
        <p:spPr>
          <a:xfrm>
            <a:off x="839788" y="2693773"/>
            <a:ext cx="5157787"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D060E27-55B0-60EC-EF46-51600BB63E43}"/>
              </a:ext>
            </a:extLst>
          </p:cNvPr>
          <p:cNvSpPr>
            <a:spLocks noGrp="1"/>
          </p:cNvSpPr>
          <p:nvPr>
            <p:ph type="body" sz="quarter" idx="3"/>
          </p:nvPr>
        </p:nvSpPr>
        <p:spPr>
          <a:xfrm>
            <a:off x="6172200" y="182944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D1BA-DA63-80A9-7C95-7A44950C974E}"/>
              </a:ext>
            </a:extLst>
          </p:cNvPr>
          <p:cNvSpPr>
            <a:spLocks noGrp="1"/>
          </p:cNvSpPr>
          <p:nvPr>
            <p:ph sz="quarter" idx="4"/>
          </p:nvPr>
        </p:nvSpPr>
        <p:spPr>
          <a:xfrm>
            <a:off x="6172200" y="2693773"/>
            <a:ext cx="5183188"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BFF3FA12-C155-A727-4D96-AB76B5ADD1EB}"/>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8" name="Footer Placeholder 7">
            <a:extLst>
              <a:ext uri="{FF2B5EF4-FFF2-40B4-BE49-F238E27FC236}">
                <a16:creationId xmlns:a16="http://schemas.microsoft.com/office/drawing/2014/main" id="{D6ED2261-79E7-42BC-65DB-48C4EDBE1678}"/>
              </a:ext>
            </a:extLst>
          </p:cNvPr>
          <p:cNvSpPr>
            <a:spLocks noGrp="1"/>
          </p:cNvSpPr>
          <p:nvPr>
            <p:ph type="ftr" sz="quarter" idx="11"/>
          </p:nvPr>
        </p:nvSpPr>
        <p:spPr>
          <a:xfrm>
            <a:off x="2395145" y="6356350"/>
            <a:ext cx="4114800" cy="365125"/>
          </a:xfrm>
        </p:spPr>
        <p:txBody>
          <a:bodyPr/>
          <a:lstStyle>
            <a:lvl1pPr>
              <a:defRPr>
                <a:solidFill>
                  <a:schemeClr val="bg1"/>
                </a:solidFill>
              </a:defRPr>
            </a:lvl1pPr>
          </a:lstStyle>
          <a:p>
            <a:endParaRPr lang="en-VN">
              <a:solidFill>
                <a:schemeClr val="bg1"/>
              </a:solidFill>
            </a:endParaRPr>
          </a:p>
        </p:txBody>
      </p:sp>
      <p:sp>
        <p:nvSpPr>
          <p:cNvPr id="9" name="Slide Number Placeholder 8">
            <a:extLst>
              <a:ext uri="{FF2B5EF4-FFF2-40B4-BE49-F238E27FC236}">
                <a16:creationId xmlns:a16="http://schemas.microsoft.com/office/drawing/2014/main" id="{D6F6A95A-9446-9074-C075-AC22FFC80F5B}"/>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975194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6A213-EF21-B196-9148-E5C0C56756D7}"/>
              </a:ext>
            </a:extLst>
          </p:cNvPr>
          <p:cNvSpPr>
            <a:spLocks noGrp="1"/>
          </p:cNvSpPr>
          <p:nvPr>
            <p:ph type="title"/>
          </p:nvPr>
        </p:nvSpPr>
        <p:spPr>
          <a:xfrm>
            <a:off x="838200" y="1254817"/>
            <a:ext cx="10515600" cy="1325563"/>
          </a:xfrm>
        </p:spPr>
        <p:txBody>
          <a:bodyPr/>
          <a:lstStyle>
            <a:lvl1pPr>
              <a:defRPr>
                <a:solidFill>
                  <a:schemeClr val="bg1"/>
                </a:solidFill>
              </a:defRPr>
            </a:lvl1pPr>
          </a:lstStyle>
          <a:p>
            <a:r>
              <a:rPr lang="en-US"/>
              <a:t>Click to edit Master title style</a:t>
            </a:r>
            <a:endParaRPr lang="en-VN"/>
          </a:p>
        </p:txBody>
      </p:sp>
      <p:sp>
        <p:nvSpPr>
          <p:cNvPr id="3" name="Date Placeholder 2">
            <a:extLst>
              <a:ext uri="{FF2B5EF4-FFF2-40B4-BE49-F238E27FC236}">
                <a16:creationId xmlns:a16="http://schemas.microsoft.com/office/drawing/2014/main" id="{34050238-AB7A-DC3E-0F7F-D0ED0C579362}"/>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4" name="Footer Placeholder 3">
            <a:extLst>
              <a:ext uri="{FF2B5EF4-FFF2-40B4-BE49-F238E27FC236}">
                <a16:creationId xmlns:a16="http://schemas.microsoft.com/office/drawing/2014/main" id="{5B2139A9-09CF-EE66-A7D0-00A04C82F885}"/>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5" name="Slide Number Placeholder 4">
            <a:extLst>
              <a:ext uri="{FF2B5EF4-FFF2-40B4-BE49-F238E27FC236}">
                <a16:creationId xmlns:a16="http://schemas.microsoft.com/office/drawing/2014/main" id="{2CDDE25E-6920-9B68-D3D7-C49781055FB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027514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BBB07D-2F87-EAB3-A430-43C4B47AE5DC}"/>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3" name="Footer Placeholder 2">
            <a:extLst>
              <a:ext uri="{FF2B5EF4-FFF2-40B4-BE49-F238E27FC236}">
                <a16:creationId xmlns:a16="http://schemas.microsoft.com/office/drawing/2014/main" id="{196B1729-F541-38C4-4120-CC6C2F7DC55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4" name="Slide Number Placeholder 3">
            <a:extLst>
              <a:ext uri="{FF2B5EF4-FFF2-40B4-BE49-F238E27FC236}">
                <a16:creationId xmlns:a16="http://schemas.microsoft.com/office/drawing/2014/main" id="{18BA3814-BD12-6CC0-4C44-9C57BDEE1887}"/>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356032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53BA8-44F6-4B5D-3247-1104EAF494C1}"/>
              </a:ext>
            </a:extLst>
          </p:cNvPr>
          <p:cNvSpPr>
            <a:spLocks noGrp="1"/>
          </p:cNvSpPr>
          <p:nvPr>
            <p:ph type="title"/>
          </p:nvPr>
        </p:nvSpPr>
        <p:spPr>
          <a:xfrm>
            <a:off x="839788" y="1352462"/>
            <a:ext cx="3932237" cy="1600200"/>
          </a:xfrm>
        </p:spPr>
        <p:txBody>
          <a:bodyPr anchor="b"/>
          <a:lstStyle>
            <a:lvl1pPr>
              <a:defRPr sz="3200">
                <a:solidFill>
                  <a:schemeClr val="bg1"/>
                </a:solidFill>
              </a:defRPr>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E12CA4D8-98EA-F5FC-7075-80F29E1CEFCC}"/>
              </a:ext>
            </a:extLst>
          </p:cNvPr>
          <p:cNvSpPr>
            <a:spLocks noGrp="1"/>
          </p:cNvSpPr>
          <p:nvPr>
            <p:ph idx="1"/>
          </p:nvPr>
        </p:nvSpPr>
        <p:spPr>
          <a:xfrm>
            <a:off x="5183188" y="1067143"/>
            <a:ext cx="6172200" cy="4873625"/>
          </a:xfrm>
        </p:spPr>
        <p:txBody>
          <a:bodyPr/>
          <a:lstStyle>
            <a:lvl1pPr>
              <a:defRPr sz="3200">
                <a:solidFill>
                  <a:schemeClr val="bg1"/>
                </a:solidFill>
              </a:defRPr>
            </a:lvl1pPr>
            <a:lvl2pPr>
              <a:defRPr sz="2800">
                <a:solidFill>
                  <a:schemeClr val="bg1"/>
                </a:solidFill>
              </a:defRPr>
            </a:lvl2pPr>
            <a:lvl3pPr>
              <a:defRPr sz="2400">
                <a:solidFill>
                  <a:schemeClr val="bg1"/>
                </a:solidFill>
              </a:defRPr>
            </a:lvl3pPr>
            <a:lvl4pPr>
              <a:defRPr sz="2000">
                <a:solidFill>
                  <a:schemeClr val="bg1"/>
                </a:solidFill>
              </a:defRPr>
            </a:lvl4pPr>
            <a:lvl5pPr>
              <a:defRPr sz="20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1B741AE8-BA71-06EA-8883-0CC7F6611233}"/>
              </a:ext>
            </a:extLst>
          </p:cNvPr>
          <p:cNvSpPr>
            <a:spLocks noGrp="1"/>
          </p:cNvSpPr>
          <p:nvPr>
            <p:ph type="body" sz="half" idx="2"/>
          </p:nvPr>
        </p:nvSpPr>
        <p:spPr>
          <a:xfrm>
            <a:off x="839788" y="3064476"/>
            <a:ext cx="3932237" cy="2884230"/>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91574F-CB73-747C-19DE-D0F37AEA5530}"/>
              </a:ext>
            </a:extLst>
          </p:cNvPr>
          <p:cNvSpPr>
            <a:spLocks noGrp="1"/>
          </p:cNvSpPr>
          <p:nvPr>
            <p:ph type="dt" sz="half" idx="10"/>
          </p:nvPr>
        </p:nvSpPr>
        <p:spPr>
          <a:xfrm>
            <a:off x="838200" y="6436068"/>
            <a:ext cx="27432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CD1F6199-E49A-2BD9-B63B-8931B127261D}"/>
              </a:ext>
            </a:extLst>
          </p:cNvPr>
          <p:cNvSpPr>
            <a:spLocks noGrp="1"/>
          </p:cNvSpPr>
          <p:nvPr>
            <p:ph type="ftr" sz="quarter" idx="11"/>
          </p:nvPr>
        </p:nvSpPr>
        <p:spPr>
          <a:xfrm>
            <a:off x="4038600" y="6436068"/>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8FCA3537-2871-3D82-A128-E61A0EE5A3AA}"/>
              </a:ext>
            </a:extLst>
          </p:cNvPr>
          <p:cNvSpPr>
            <a:spLocks noGrp="1"/>
          </p:cNvSpPr>
          <p:nvPr>
            <p:ph type="sldNum" sz="quarter" idx="12"/>
          </p:nvPr>
        </p:nvSpPr>
        <p:spPr>
          <a:xfrm>
            <a:off x="8610600" y="6436068"/>
            <a:ext cx="2743200" cy="365125"/>
          </a:xfrm>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48371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FE65-0850-44DA-C844-318A44172B58}"/>
              </a:ext>
            </a:extLst>
          </p:cNvPr>
          <p:cNvSpPr>
            <a:spLocks noGrp="1"/>
          </p:cNvSpPr>
          <p:nvPr>
            <p:ph type="title"/>
          </p:nvPr>
        </p:nvSpPr>
        <p:spPr>
          <a:xfrm>
            <a:off x="839788" y="1248031"/>
            <a:ext cx="3932237" cy="1427215"/>
          </a:xfrm>
        </p:spPr>
        <p:txBody>
          <a:bodyPr anchor="b"/>
          <a:lstStyle>
            <a:lvl1pPr>
              <a:defRPr sz="3200">
                <a:solidFill>
                  <a:schemeClr val="bg1"/>
                </a:solidFill>
              </a:defRPr>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993D9185-01FC-B206-8FE8-AAFD2023AB17}"/>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BAAA392-FB09-9952-9669-94BAF62A13A9}"/>
              </a:ext>
            </a:extLst>
          </p:cNvPr>
          <p:cNvSpPr>
            <a:spLocks noGrp="1"/>
          </p:cNvSpPr>
          <p:nvPr>
            <p:ph type="body" sz="half" idx="2"/>
          </p:nvPr>
        </p:nvSpPr>
        <p:spPr>
          <a:xfrm>
            <a:off x="839788" y="2780270"/>
            <a:ext cx="3932237" cy="308871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FBB13D-D9AC-5CF0-3E00-D4B20F7FE923}"/>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F5D393A2-5E10-F95A-E1F9-2970BB75AAC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6A2B4514-7935-15A5-5E47-E147B14383E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052088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F65D-FFC0-A921-1824-CC320D80483B}"/>
              </a:ext>
            </a:extLst>
          </p:cNvPr>
          <p:cNvSpPr>
            <a:spLocks noGrp="1"/>
          </p:cNvSpPr>
          <p:nvPr>
            <p:ph type="title"/>
          </p:nvPr>
        </p:nvSpPr>
        <p:spPr>
          <a:xfrm>
            <a:off x="838200" y="1173892"/>
            <a:ext cx="10515600" cy="1023429"/>
          </a:xfrm>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D7CBE4A2-1D94-648D-ADF5-9463D890011D}"/>
              </a:ext>
            </a:extLst>
          </p:cNvPr>
          <p:cNvSpPr>
            <a:spLocks noGrp="1"/>
          </p:cNvSpPr>
          <p:nvPr>
            <p:ph type="body" orient="vert" idx="1"/>
          </p:nvPr>
        </p:nvSpPr>
        <p:spPr>
          <a:xfrm>
            <a:off x="838200" y="2236573"/>
            <a:ext cx="10515600" cy="385530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9053E308-075E-7FF9-F294-7C4A2734A2E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C21F514-D604-8136-53AF-8BC75909904A}"/>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0009B017-D93A-FAA3-BB36-23C3180453A8}"/>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5774592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6D2259-ABA8-CACD-DAD3-0E197BAA6266}"/>
              </a:ext>
            </a:extLst>
          </p:cNvPr>
          <p:cNvSpPr>
            <a:spLocks noGrp="1"/>
          </p:cNvSpPr>
          <p:nvPr>
            <p:ph type="title" orient="vert"/>
          </p:nvPr>
        </p:nvSpPr>
        <p:spPr>
          <a:xfrm>
            <a:off x="8724900" y="1223319"/>
            <a:ext cx="2628900" cy="4831492"/>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C5B8D7A0-33D6-0687-4CC0-17A05982C165}"/>
              </a:ext>
            </a:extLst>
          </p:cNvPr>
          <p:cNvSpPr>
            <a:spLocks noGrp="1"/>
          </p:cNvSpPr>
          <p:nvPr>
            <p:ph type="body" orient="vert" idx="1"/>
          </p:nvPr>
        </p:nvSpPr>
        <p:spPr>
          <a:xfrm>
            <a:off x="838200" y="1223319"/>
            <a:ext cx="7734300" cy="483149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697F00D5-18F2-315C-897C-69E1FE21DB8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660A73F7-A1FB-A4A2-8E6F-B0E64EA86070}"/>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59107371-793F-27CD-9BB7-B6419098A64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4251344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lide E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628135" y="1480709"/>
            <a:ext cx="5649097" cy="435168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Tree>
    <p:extLst>
      <p:ext uri="{BB962C8B-B14F-4D97-AF65-F5344CB8AC3E}">
        <p14:creationId xmlns:p14="http://schemas.microsoft.com/office/powerpoint/2010/main" val="2032783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E151BE-7E94-CC11-BE59-479B26EFE5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AAB2091-440E-8AE7-629B-5A162CC5AC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D90E0F5-495D-E9A1-4670-50D69129BC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F3C1677-D119-7E5E-704D-1329CB3E50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EFCF64E6-44CF-B2E1-961E-FC0BB3D10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634273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rgbClr val="21409A"/>
          </a:solidFill>
          <a:latin typeface="Bai Jamjuree" pitchFamily="2" charset="-34"/>
          <a:ea typeface="+mj-ea"/>
          <a:cs typeface="Bai Jamjuree" pitchFamily="2" charset="-34"/>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41248" y="1600200"/>
            <a:ext cx="10515600" cy="1371600"/>
          </a:xfrm>
        </p:spPr>
        <p:txBody>
          <a:bodyPr/>
          <a:lstStyle/>
          <a:p>
            <a:pPr algn="ctr"/>
            <a:r>
              <a:rPr sz="4000" b="1">
                <a:solidFill>
                  <a:srgbClr val="21409A"/>
                </a:solidFill>
                <a:latin typeface="Arial"/>
              </a:rPr>
              <a:t>Phân tích dữ liệu IoT và bảo trì dự đoán</a:t>
            </a:r>
          </a:p>
        </p:txBody>
      </p:sp>
      <p:sp>
        <p:nvSpPr>
          <p:cNvPr id="3" name="Subtitle 2"/>
          <p:cNvSpPr>
            <a:spLocks noGrp="1"/>
          </p:cNvSpPr>
          <p:nvPr>
            <p:ph type="subTitle" idx="1"/>
          </p:nvPr>
        </p:nvSpPr>
        <p:spPr>
          <a:xfrm>
            <a:off x="1280160" y="2971800"/>
            <a:ext cx="9601200" cy="914400"/>
          </a:xfrm>
        </p:spPr>
        <p:txBody>
          <a:bodyPr/>
          <a:lstStyle/>
          <a:p>
            <a:pPr algn="ctr"/>
            <a:r>
              <a:rPr sz="2000">
                <a:solidFill>
                  <a:srgbClr val="1B2733"/>
                </a:solidFill>
                <a:latin typeface="Arial"/>
              </a:rPr>
              <a:t>Phát hiện bất thường, dự đoán RUL và cảnh báo sớm trên dữ liệu cảm biến NASA C-MAPSS</a:t>
            </a:r>
          </a:p>
        </p:txBody>
      </p:sp>
      <p:sp>
        <p:nvSpPr>
          <p:cNvPr id="4" name="TextBox 3"/>
          <p:cNvSpPr txBox="1"/>
          <p:nvPr/>
        </p:nvSpPr>
        <p:spPr>
          <a:xfrm>
            <a:off x="841248" y="1188720"/>
            <a:ext cx="10515600" cy="365760"/>
          </a:xfrm>
          <a:prstGeom prst="rect">
            <a:avLst/>
          </a:prstGeom>
          <a:noFill/>
        </p:spPr>
        <p:txBody>
          <a:bodyPr wrap="square" lIns="0" rIns="0" tIns="0" bIns="0" anchor="t"/>
          <a:lstStyle/>
          <a:p>
            <a:pPr algn="ctr">
              <a:spcAft>
                <a:spcPts val="0"/>
              </a:spcAft>
            </a:pPr>
            <a:r>
              <a:rPr sz="1400" b="1">
                <a:solidFill>
                  <a:srgbClr val="B37800"/>
                </a:solidFill>
                <a:latin typeface="Arial"/>
              </a:rPr>
              <a:t>BÁO CÁO CUỐI KỲ · PHÂN TÍCH DỮ LIỆU LỚN · ĐỀ TÀI 8</a:t>
            </a:r>
          </a:p>
        </p:txBody>
      </p:sp>
      <p:sp>
        <p:nvSpPr>
          <p:cNvPr id="5" name="Rounded Rectangle 4"/>
          <p:cNvSpPr/>
          <p:nvPr/>
        </p:nvSpPr>
        <p:spPr>
          <a:xfrm>
            <a:off x="109728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100</a:t>
            </a:r>
          </a:p>
        </p:txBody>
      </p:sp>
      <p:sp>
        <p:nvSpPr>
          <p:cNvPr id="7" name="TextBox 6"/>
          <p:cNvSpPr txBox="1"/>
          <p:nvPr/>
        </p:nvSpPr>
        <p:spPr>
          <a:xfrm>
            <a:off x="109728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động cơ train FD001</a:t>
            </a:r>
          </a:p>
        </p:txBody>
      </p:sp>
      <p:sp>
        <p:nvSpPr>
          <p:cNvPr id="8" name="Rounded Rectangle 7"/>
          <p:cNvSpPr/>
          <p:nvPr/>
        </p:nvSpPr>
        <p:spPr>
          <a:xfrm>
            <a:off x="365760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86%</a:t>
            </a:r>
          </a:p>
        </p:txBody>
      </p:sp>
      <p:sp>
        <p:nvSpPr>
          <p:cNvPr id="10" name="TextBox 9"/>
          <p:cNvSpPr txBox="1"/>
          <p:nvPr/>
        </p:nvSpPr>
        <p:spPr>
          <a:xfrm>
            <a:off x="365760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mức giảm độ dao động (EWMA)</a:t>
            </a:r>
          </a:p>
        </p:txBody>
      </p:sp>
      <p:sp>
        <p:nvSpPr>
          <p:cNvPr id="11" name="Rounded Rectangle 10"/>
          <p:cNvSpPr/>
          <p:nvPr/>
        </p:nvSpPr>
        <p:spPr>
          <a:xfrm>
            <a:off x="621792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121</a:t>
            </a:r>
          </a:p>
        </p:txBody>
      </p:sp>
      <p:sp>
        <p:nvSpPr>
          <p:cNvPr id="13" name="TextBox 12"/>
          <p:cNvSpPr txBox="1"/>
          <p:nvPr/>
        </p:nvSpPr>
        <p:spPr>
          <a:xfrm>
            <a:off x="621792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cycle phát hiện trước hỏng hóc</a:t>
            </a:r>
          </a:p>
        </p:txBody>
      </p:sp>
      <p:sp>
        <p:nvSpPr>
          <p:cNvPr id="14" name="Rounded Rectangle 13"/>
          <p:cNvSpPr/>
          <p:nvPr/>
        </p:nvSpPr>
        <p:spPr>
          <a:xfrm>
            <a:off x="8778239"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39"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15,35</a:t>
            </a:r>
          </a:p>
        </p:txBody>
      </p:sp>
      <p:sp>
        <p:nvSpPr>
          <p:cNvPr id="16" name="TextBox 15"/>
          <p:cNvSpPr txBox="1"/>
          <p:nvPr/>
        </p:nvSpPr>
        <p:spPr>
          <a:xfrm>
            <a:off x="8778239"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MAE trên tập kiểm tra (cycle)</a:t>
            </a:r>
          </a:p>
        </p:txBody>
      </p:sp>
      <p:sp>
        <p:nvSpPr>
          <p:cNvPr id="17" name="TextBox 16"/>
          <p:cNvSpPr txBox="1"/>
          <p:nvPr/>
        </p:nvSpPr>
        <p:spPr>
          <a:xfrm>
            <a:off x="841248" y="5440680"/>
            <a:ext cx="10515600" cy="365760"/>
          </a:xfrm>
          <a:prstGeom prst="rect">
            <a:avLst/>
          </a:prstGeom>
          <a:noFill/>
        </p:spPr>
        <p:txBody>
          <a:bodyPr wrap="square" lIns="0" rIns="0" tIns="0" bIns="0" anchor="t"/>
          <a:lstStyle/>
          <a:p>
            <a:pPr algn="ctr">
              <a:spcAft>
                <a:spcPts val="0"/>
              </a:spcAft>
            </a:pPr>
            <a:r>
              <a:rPr sz="1800" b="1">
                <a:solidFill>
                  <a:srgbClr val="21409A"/>
                </a:solidFill>
                <a:latin typeface="Arial"/>
              </a:rPr>
              <a:t>Phan Nguyễn Mai Phương · MSHV 25002711</a:t>
            </a:r>
          </a:p>
        </p:txBody>
      </p:sp>
      <p:sp>
        <p:nvSpPr>
          <p:cNvPr id="18" name="TextBox 17"/>
          <p:cNvSpPr txBox="1"/>
          <p:nvPr/>
        </p:nvSpPr>
        <p:spPr>
          <a:xfrm>
            <a:off x="841248" y="5806440"/>
            <a:ext cx="10515600" cy="320040"/>
          </a:xfrm>
          <a:prstGeom prst="rect">
            <a:avLst/>
          </a:prstGeom>
          <a:noFill/>
        </p:spPr>
        <p:txBody>
          <a:bodyPr wrap="square" lIns="0" rIns="0" tIns="0" bIns="0" anchor="t"/>
          <a:lstStyle/>
          <a:p>
            <a:pPr algn="ctr">
              <a:spcAft>
                <a:spcPts val="0"/>
              </a:spcAft>
            </a:pPr>
            <a:r>
              <a:rPr sz="1300" b="0">
                <a:solidFill>
                  <a:srgbClr val="1B2733"/>
                </a:solidFill>
                <a:latin typeface="Arial"/>
              </a:rPr>
              <a:t>Học viên cao học ngành Khoa học máy tính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Cấu trúc bài trình bày</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Trình bày theo trình tự pipeline quản lý dữ liệu: xử lý, phân tích tín hiệu, dự đoán và cảnh báo</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report/main.pdf; handoff/SPEECH_SCRIPT_VI.pdf</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 / 20</a:t>
            </a:r>
          </a:p>
        </p:txBody>
      </p:sp>
      <p:sp>
        <p:nvSpPr>
          <p:cNvPr id="7" name="Oval 6"/>
          <p:cNvSpPr/>
          <p:nvPr/>
        </p:nvSpPr>
        <p:spPr>
          <a:xfrm>
            <a:off x="841248" y="228600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28600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1</a:t>
            </a:r>
          </a:p>
        </p:txBody>
      </p:sp>
      <p:sp>
        <p:nvSpPr>
          <p:cNvPr id="9" name="TextBox 8"/>
          <p:cNvSpPr txBox="1"/>
          <p:nvPr/>
        </p:nvSpPr>
        <p:spPr>
          <a:xfrm>
            <a:off x="1417320" y="226771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Bài toán và dữ liệu</a:t>
            </a:r>
          </a:p>
        </p:txBody>
      </p:sp>
      <p:sp>
        <p:nvSpPr>
          <p:cNvPr id="10" name="TextBox 9"/>
          <p:cNvSpPr txBox="1"/>
          <p:nvPr/>
        </p:nvSpPr>
        <p:spPr>
          <a:xfrm>
            <a:off x="1417320" y="252374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3–5</a:t>
            </a:r>
          </a:p>
        </p:txBody>
      </p:sp>
      <p:sp>
        <p:nvSpPr>
          <p:cNvPr id="11" name="Oval 10"/>
          <p:cNvSpPr/>
          <p:nvPr/>
        </p:nvSpPr>
        <p:spPr>
          <a:xfrm>
            <a:off x="841248" y="2816352"/>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2816352"/>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2</a:t>
            </a:r>
          </a:p>
        </p:txBody>
      </p:sp>
      <p:sp>
        <p:nvSpPr>
          <p:cNvPr id="13" name="TextBox 12"/>
          <p:cNvSpPr txBox="1"/>
          <p:nvPr/>
        </p:nvSpPr>
        <p:spPr>
          <a:xfrm>
            <a:off x="1417320" y="279806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Pipeline dữ liệu</a:t>
            </a:r>
          </a:p>
        </p:txBody>
      </p:sp>
      <p:sp>
        <p:nvSpPr>
          <p:cNvPr id="14" name="TextBox 13"/>
          <p:cNvSpPr txBox="1"/>
          <p:nvPr/>
        </p:nvSpPr>
        <p:spPr>
          <a:xfrm>
            <a:off x="1417320" y="3054096"/>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6–8</a:t>
            </a:r>
          </a:p>
        </p:txBody>
      </p:sp>
      <p:sp>
        <p:nvSpPr>
          <p:cNvPr id="15" name="Oval 14"/>
          <p:cNvSpPr/>
          <p:nvPr/>
        </p:nvSpPr>
        <p:spPr>
          <a:xfrm>
            <a:off x="841248" y="3346704"/>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3346704"/>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3</a:t>
            </a:r>
          </a:p>
        </p:txBody>
      </p:sp>
      <p:sp>
        <p:nvSpPr>
          <p:cNvPr id="17" name="TextBox 16"/>
          <p:cNvSpPr txBox="1"/>
          <p:nvPr/>
        </p:nvSpPr>
        <p:spPr>
          <a:xfrm>
            <a:off x="1417320" y="3328416"/>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Khử nhiễu và cửa sổ thời gian</a:t>
            </a:r>
          </a:p>
        </p:txBody>
      </p:sp>
      <p:sp>
        <p:nvSpPr>
          <p:cNvPr id="18" name="TextBox 17"/>
          <p:cNvSpPr txBox="1"/>
          <p:nvPr/>
        </p:nvSpPr>
        <p:spPr>
          <a:xfrm>
            <a:off x="1417320" y="3584448"/>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9–10</a:t>
            </a:r>
          </a:p>
        </p:txBody>
      </p:sp>
      <p:sp>
        <p:nvSpPr>
          <p:cNvPr id="19" name="Oval 18"/>
          <p:cNvSpPr/>
          <p:nvPr/>
        </p:nvSpPr>
        <p:spPr>
          <a:xfrm>
            <a:off x="841248" y="3877056"/>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877056"/>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4</a:t>
            </a:r>
          </a:p>
        </p:txBody>
      </p:sp>
      <p:sp>
        <p:nvSpPr>
          <p:cNvPr id="21" name="TextBox 20"/>
          <p:cNvSpPr txBox="1"/>
          <p:nvPr/>
        </p:nvSpPr>
        <p:spPr>
          <a:xfrm>
            <a:off x="1417320" y="3858768"/>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Xu hướng và bất thường</a:t>
            </a:r>
          </a:p>
        </p:txBody>
      </p:sp>
      <p:sp>
        <p:nvSpPr>
          <p:cNvPr id="22" name="TextBox 21"/>
          <p:cNvSpPr txBox="1"/>
          <p:nvPr/>
        </p:nvSpPr>
        <p:spPr>
          <a:xfrm>
            <a:off x="1417320" y="4114800"/>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11–12</a:t>
            </a:r>
          </a:p>
        </p:txBody>
      </p:sp>
      <p:sp>
        <p:nvSpPr>
          <p:cNvPr id="23" name="Oval 22"/>
          <p:cNvSpPr/>
          <p:nvPr/>
        </p:nvSpPr>
        <p:spPr>
          <a:xfrm>
            <a:off x="841248" y="4407408"/>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 y="4407408"/>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5</a:t>
            </a:r>
          </a:p>
        </p:txBody>
      </p:sp>
      <p:sp>
        <p:nvSpPr>
          <p:cNvPr id="25" name="TextBox 24"/>
          <p:cNvSpPr txBox="1"/>
          <p:nvPr/>
        </p:nvSpPr>
        <p:spPr>
          <a:xfrm>
            <a:off x="1417320" y="4389120"/>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Dự đoán RUL, cảnh báo, lịch bảo trì</a:t>
            </a:r>
          </a:p>
        </p:txBody>
      </p:sp>
      <p:sp>
        <p:nvSpPr>
          <p:cNvPr id="26" name="TextBox 25"/>
          <p:cNvSpPr txBox="1"/>
          <p:nvPr/>
        </p:nvSpPr>
        <p:spPr>
          <a:xfrm>
            <a:off x="1417320" y="4645152"/>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13–16</a:t>
            </a:r>
          </a:p>
        </p:txBody>
      </p:sp>
      <p:sp>
        <p:nvSpPr>
          <p:cNvPr id="27" name="Oval 26"/>
          <p:cNvSpPr/>
          <p:nvPr/>
        </p:nvSpPr>
        <p:spPr>
          <a:xfrm>
            <a:off x="841248" y="493776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 y="493776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6</a:t>
            </a:r>
          </a:p>
        </p:txBody>
      </p:sp>
      <p:sp>
        <p:nvSpPr>
          <p:cNvPr id="29" name="TextBox 28"/>
          <p:cNvSpPr txBox="1"/>
          <p:nvPr/>
        </p:nvSpPr>
        <p:spPr>
          <a:xfrm>
            <a:off x="1417320" y="491947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Mở rộng và kết luận</a:t>
            </a:r>
          </a:p>
        </p:txBody>
      </p:sp>
      <p:sp>
        <p:nvSpPr>
          <p:cNvPr id="30" name="TextBox 29"/>
          <p:cNvSpPr txBox="1"/>
          <p:nvPr/>
        </p:nvSpPr>
        <p:spPr>
          <a:xfrm>
            <a:off x="1417320" y="517550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17–19</a:t>
            </a:r>
          </a:p>
        </p:txBody>
      </p:sp>
      <p:sp>
        <p:nvSpPr>
          <p:cNvPr id="31" name="Oval 30"/>
          <p:cNvSpPr/>
          <p:nvPr/>
        </p:nvSpPr>
        <p:spPr>
          <a:xfrm>
            <a:off x="841248" y="5468112"/>
            <a:ext cx="402336" cy="402336"/>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 y="5468112"/>
            <a:ext cx="402336" cy="402336"/>
          </a:xfrm>
          <a:prstGeom prst="rect">
            <a:avLst/>
          </a:prstGeom>
          <a:noFill/>
        </p:spPr>
        <p:txBody>
          <a:bodyPr wrap="square" lIns="0" rIns="0" tIns="0" bIns="0" anchor="ctr"/>
          <a:lstStyle/>
          <a:p>
            <a:pPr algn="ctr">
              <a:spcAft>
                <a:spcPts val="0"/>
              </a:spcAft>
            </a:pPr>
            <a:r>
              <a:rPr sz="1200" b="1">
                <a:solidFill>
                  <a:srgbClr val="1B2733"/>
                </a:solidFill>
                <a:latin typeface="Arial"/>
              </a:rPr>
              <a:t>7</a:t>
            </a:r>
          </a:p>
        </p:txBody>
      </p:sp>
      <p:sp>
        <p:nvSpPr>
          <p:cNvPr id="33" name="TextBox 32"/>
          <p:cNvSpPr txBox="1"/>
          <p:nvPr/>
        </p:nvSpPr>
        <p:spPr>
          <a:xfrm>
            <a:off x="1417320" y="544982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Demo dashboard</a:t>
            </a:r>
          </a:p>
        </p:txBody>
      </p:sp>
      <p:sp>
        <p:nvSpPr>
          <p:cNvPr id="34" name="TextBox 33"/>
          <p:cNvSpPr txBox="1"/>
          <p:nvPr/>
        </p:nvSpPr>
        <p:spPr>
          <a:xfrm>
            <a:off x="1417320" y="5705855"/>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Khoảng 2,5 phút</a:t>
            </a:r>
          </a:p>
        </p:txBody>
      </p:sp>
      <p:sp>
        <p:nvSpPr>
          <p:cNvPr id="35" name="Rounded Rectangle 34"/>
          <p:cNvSpPr/>
          <p:nvPr/>
        </p:nvSpPr>
        <p:spPr>
          <a:xfrm>
            <a:off x="6172200" y="2286000"/>
            <a:ext cx="5184648" cy="3749039"/>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2450592"/>
            <a:ext cx="4663440" cy="365760"/>
          </a:xfrm>
          <a:prstGeom prst="rect">
            <a:avLst/>
          </a:prstGeom>
          <a:noFill/>
        </p:spPr>
        <p:txBody>
          <a:bodyPr wrap="square" lIns="0" rIns="0" tIns="0" bIns="0" anchor="t"/>
          <a:lstStyle/>
          <a:p>
            <a:pPr algn="l">
              <a:spcAft>
                <a:spcPts val="0"/>
              </a:spcAft>
            </a:pPr>
            <a:r>
              <a:rPr sz="1800" b="1">
                <a:solidFill>
                  <a:srgbClr val="21409A"/>
                </a:solidFill>
                <a:latin typeface="Arial"/>
              </a:rPr>
              <a:t>Câu hỏi nghiên cứu</a:t>
            </a:r>
          </a:p>
        </p:txBody>
      </p:sp>
      <p:sp>
        <p:nvSpPr>
          <p:cNvPr id="37" name="Oval 36"/>
          <p:cNvSpPr/>
          <p:nvPr/>
        </p:nvSpPr>
        <p:spPr>
          <a:xfrm>
            <a:off x="6446520" y="2944368"/>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2944368"/>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Q1</a:t>
            </a:r>
          </a:p>
        </p:txBody>
      </p:sp>
      <p:sp>
        <p:nvSpPr>
          <p:cNvPr id="39" name="TextBox 38"/>
          <p:cNvSpPr txBox="1"/>
          <p:nvPr/>
        </p:nvSpPr>
        <p:spPr>
          <a:xfrm>
            <a:off x="6995160" y="2907792"/>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Dữ liệu có đạt ràng buộc chất lượng; hai cách triển khai ETL có tương đương?</a:t>
            </a:r>
          </a:p>
        </p:txBody>
      </p:sp>
      <p:sp>
        <p:nvSpPr>
          <p:cNvPr id="40" name="Oval 39"/>
          <p:cNvSpPr/>
          <p:nvPr/>
        </p:nvSpPr>
        <p:spPr>
          <a:xfrm>
            <a:off x="6446520" y="3547872"/>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3547872"/>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Q2</a:t>
            </a:r>
          </a:p>
        </p:txBody>
      </p:sp>
      <p:sp>
        <p:nvSpPr>
          <p:cNvPr id="42" name="TextBox 41"/>
          <p:cNvSpPr txBox="1"/>
          <p:nvPr/>
        </p:nvSpPr>
        <p:spPr>
          <a:xfrm>
            <a:off x="6995160" y="3511296"/>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Mức giảm nhiễu đạt được; dữ liệu được tổng hợp theo cửa sổ thời gian thế nào?</a:t>
            </a:r>
          </a:p>
        </p:txBody>
      </p:sp>
      <p:sp>
        <p:nvSpPr>
          <p:cNvPr id="43" name="Oval 42"/>
          <p:cNvSpPr/>
          <p:nvPr/>
        </p:nvSpPr>
        <p:spPr>
          <a:xfrm>
            <a:off x="6446520" y="4151376"/>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4151376"/>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Q3</a:t>
            </a:r>
          </a:p>
        </p:txBody>
      </p:sp>
      <p:sp>
        <p:nvSpPr>
          <p:cNvPr id="45" name="TextBox 44"/>
          <p:cNvSpPr txBox="1"/>
          <p:nvPr/>
        </p:nvSpPr>
        <p:spPr>
          <a:xfrm>
            <a:off x="6995160" y="4114800"/>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Xu hướng biến đổi của tín hiệu; khả năng phát hiện bất thường trước hỏng hóc?</a:t>
            </a:r>
          </a:p>
        </p:txBody>
      </p:sp>
      <p:sp>
        <p:nvSpPr>
          <p:cNvPr id="46" name="Oval 45"/>
          <p:cNvSpPr/>
          <p:nvPr/>
        </p:nvSpPr>
        <p:spPr>
          <a:xfrm>
            <a:off x="6446520" y="4754880"/>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4754880"/>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Q4</a:t>
            </a:r>
          </a:p>
        </p:txBody>
      </p:sp>
      <p:sp>
        <p:nvSpPr>
          <p:cNvPr id="48" name="TextBox 47"/>
          <p:cNvSpPr txBox="1"/>
          <p:nvPr/>
        </p:nvSpPr>
        <p:spPr>
          <a:xfrm>
            <a:off x="6995160" y="4718304"/>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Độ chính xác dự đoán RUL trên tập kiểm tra độc lập?</a:t>
            </a:r>
          </a:p>
        </p:txBody>
      </p:sp>
      <p:sp>
        <p:nvSpPr>
          <p:cNvPr id="49" name="Oval 48"/>
          <p:cNvSpPr/>
          <p:nvPr/>
        </p:nvSpPr>
        <p:spPr>
          <a:xfrm>
            <a:off x="6446520" y="5358384"/>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46520" y="5358384"/>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Q5</a:t>
            </a:r>
          </a:p>
        </p:txBody>
      </p:sp>
      <p:sp>
        <p:nvSpPr>
          <p:cNvPr id="51" name="TextBox 50"/>
          <p:cNvSpPr txBox="1"/>
          <p:nvPr/>
        </p:nvSpPr>
        <p:spPr>
          <a:xfrm>
            <a:off x="6995160" y="5321808"/>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Hiệu quả của cảnh báo sớm và lịch bảo trì dựa trên dự đoán?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biểu bài toán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Phát hiện dấu hiệu suy giảm và dự đoán thời điểm bảo trì từ dữ liệu cảm biến; đối chiếu yêu cầu Đề tài 8</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references/context/assignment-brief.png; report/sections/problem-data.tex</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3 / 20</a:t>
            </a:r>
          </a:p>
        </p:txBody>
      </p:sp>
      <p:sp>
        <p:nvSpPr>
          <p:cNvPr id="7" name="TextBox 6"/>
          <p:cNvSpPr txBox="1"/>
          <p:nvPr/>
        </p:nvSpPr>
        <p:spPr>
          <a:xfrm>
            <a:off x="841248" y="2286000"/>
            <a:ext cx="4846320" cy="292608"/>
          </a:xfrm>
          <a:prstGeom prst="rect">
            <a:avLst/>
          </a:prstGeom>
          <a:noFill/>
        </p:spPr>
        <p:txBody>
          <a:bodyPr wrap="square" lIns="0" rIns="0" tIns="0" bIns="0" anchor="t"/>
          <a:lstStyle/>
          <a:p>
            <a:pPr algn="l">
              <a:spcAft>
                <a:spcPts val="0"/>
              </a:spcAft>
            </a:pPr>
            <a:r>
              <a:rPr sz="1500" b="1">
                <a:solidFill>
                  <a:srgbClr val="21409A"/>
                </a:solidFill>
                <a:latin typeface="Arial"/>
              </a:rPr>
              <a:t>Định nghĩa RUL</a:t>
            </a:r>
          </a:p>
        </p:txBody>
      </p:sp>
      <p:sp>
        <p:nvSpPr>
          <p:cNvPr id="8" name="Rectangle 7"/>
          <p:cNvSpPr/>
          <p:nvPr/>
        </p:nvSpPr>
        <p:spPr>
          <a:xfrm>
            <a:off x="914400" y="3108960"/>
            <a:ext cx="4206240" cy="182880"/>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89703" y="3108960"/>
            <a:ext cx="630936" cy="18288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010912" y="3054096"/>
            <a:ext cx="292608" cy="292608"/>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01568"/>
            <a:ext cx="914400" cy="256032"/>
          </a:xfrm>
          <a:prstGeom prst="rect">
            <a:avLst/>
          </a:prstGeom>
          <a:noFill/>
        </p:spPr>
        <p:txBody>
          <a:bodyPr wrap="square" lIns="0" rIns="0" tIns="0" bIns="0" anchor="t"/>
          <a:lstStyle/>
          <a:p>
            <a:pPr algn="l">
              <a:spcAft>
                <a:spcPts val="0"/>
              </a:spcAft>
            </a:pPr>
            <a:r>
              <a:rPr sz="1100" b="0">
                <a:solidFill>
                  <a:srgbClr val="5A6B7B"/>
                </a:solidFill>
                <a:latin typeface="Arial"/>
              </a:rPr>
              <a:t>cycle 1</a:t>
            </a:r>
          </a:p>
        </p:txBody>
      </p:sp>
      <p:sp>
        <p:nvSpPr>
          <p:cNvPr id="12" name="TextBox 11"/>
          <p:cNvSpPr txBox="1"/>
          <p:nvPr/>
        </p:nvSpPr>
        <p:spPr>
          <a:xfrm>
            <a:off x="4032503" y="2724912"/>
            <a:ext cx="91440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13" name="TextBox 12"/>
          <p:cNvSpPr txBox="1"/>
          <p:nvPr/>
        </p:nvSpPr>
        <p:spPr>
          <a:xfrm>
            <a:off x="4572000" y="3401568"/>
            <a:ext cx="1097280" cy="457200"/>
          </a:xfrm>
          <a:prstGeom prst="rect">
            <a:avLst/>
          </a:prstGeom>
          <a:noFill/>
        </p:spPr>
        <p:txBody>
          <a:bodyPr wrap="square" lIns="0" rIns="0" tIns="0" bIns="0" anchor="t"/>
          <a:lstStyle/>
          <a:p>
            <a:pPr algn="ctr">
              <a:spcAft>
                <a:spcPts val="0"/>
              </a:spcAft>
            </a:pPr>
            <a:r>
              <a:rPr sz="1100" b="0">
                <a:solidFill>
                  <a:srgbClr val="B23A3A"/>
                </a:solidFill>
                <a:latin typeface="Arial"/>
              </a:rPr>
              <a:t>hỏng hóc
cycle 200</a:t>
            </a:r>
          </a:p>
        </p:txBody>
      </p:sp>
      <p:sp>
        <p:nvSpPr>
          <p:cNvPr id="14" name="TextBox 13"/>
          <p:cNvSpPr txBox="1"/>
          <p:nvPr/>
        </p:nvSpPr>
        <p:spPr>
          <a:xfrm>
            <a:off x="841248" y="3977639"/>
            <a:ext cx="4937760" cy="411480"/>
          </a:xfrm>
          <a:prstGeom prst="rect">
            <a:avLst/>
          </a:prstGeom>
          <a:noFill/>
        </p:spPr>
        <p:txBody>
          <a:bodyPr wrap="square" lIns="0" rIns="0" tIns="0" bIns="0" anchor="t"/>
          <a:lstStyle/>
          <a:p>
            <a:pPr algn="l">
              <a:spcAft>
                <a:spcPts val="0"/>
              </a:spcAft>
            </a:pPr>
            <a:r>
              <a:rPr sz="2200" b="1">
                <a:solidFill>
                  <a:srgbClr val="21409A"/>
                </a:solidFill>
                <a:latin typeface="Arial"/>
              </a:rPr>
              <a:t>RUL(t) = T − t</a:t>
            </a:r>
          </a:p>
        </p:txBody>
      </p:sp>
      <p:sp>
        <p:nvSpPr>
          <p:cNvPr id="15" name="TextBox 14"/>
          <p:cNvSpPr txBox="1"/>
          <p:nvPr/>
        </p:nvSpPr>
        <p:spPr>
          <a:xfrm>
            <a:off x="841248" y="4434840"/>
            <a:ext cx="4937760" cy="365760"/>
          </a:xfrm>
          <a:prstGeom prst="rect">
            <a:avLst/>
          </a:prstGeom>
          <a:noFill/>
        </p:spPr>
        <p:txBody>
          <a:bodyPr wrap="square" lIns="0" rIns="0" tIns="0" bIns="0" anchor="t"/>
          <a:lstStyle/>
          <a:p>
            <a:pPr algn="l">
              <a:spcAft>
                <a:spcPts val="0"/>
              </a:spcAft>
            </a:pPr>
            <a:r>
              <a:rPr sz="1600" b="1">
                <a:solidFill>
                  <a:srgbClr val="B37800"/>
                </a:solidFill>
                <a:latin typeface="Arial"/>
              </a:rPr>
              <a:t>RUL(170) = 200 − 170 = 30 cycle</a:t>
            </a:r>
          </a:p>
        </p:txBody>
      </p:sp>
      <p:sp>
        <p:nvSpPr>
          <p:cNvPr id="16" name="TextBox 15"/>
          <p:cNvSpPr txBox="1"/>
          <p:nvPr/>
        </p:nvSpPr>
        <p:spPr>
          <a:xfrm>
            <a:off x="841248" y="4937760"/>
            <a:ext cx="4846320" cy="1005840"/>
          </a:xfrm>
          <a:prstGeom prst="rect">
            <a:avLst/>
          </a:prstGeom>
          <a:noFill/>
        </p:spPr>
        <p:txBody>
          <a:bodyPr wrap="square" lIns="0" rIns="0" tIns="0" bIns="0" anchor="t"/>
          <a:lstStyle/>
          <a:p>
            <a:pPr algn="l">
              <a:spcAft>
                <a:spcPts val="0"/>
              </a:spcAft>
            </a:pPr>
            <a:r>
              <a:rPr sz="1400" b="0">
                <a:solidFill>
                  <a:srgbClr val="1B2733"/>
                </a:solidFill>
                <a:latin typeface="Arial"/>
              </a:rPr>
              <a:t>T: cycle hỏng hóc của động cơ. Đầu vào: chuỗi 21 tín hiệu cảm biến theo cycle. Đầu ra: dấu hiệu bất thường, ước lượng RUL và mức cảnh báo.</a:t>
            </a:r>
          </a:p>
        </p:txBody>
      </p:sp>
      <p:graphicFrame>
        <p:nvGraphicFramePr>
          <p:cNvPr id="17" name="Table 16"/>
          <p:cNvGraphicFramePr>
            <a:graphicFrameLocks noGrp="1"/>
          </p:cNvGraphicFramePr>
          <p:nvPr/>
        </p:nvGraphicFramePr>
        <p:xfrm>
          <a:off x="5989320" y="2286000"/>
          <a:ext cx="5367528" cy="3712464"/>
        </p:xfrm>
        <a:graphic>
          <a:graphicData uri="http://schemas.openxmlformats.org/drawingml/2006/table">
            <a:tbl>
              <a:tblPr firstRow="1" bandRow="1">
                <a:tableStyleId>{5C22544A-7EE6-4342-B048-85BDC9FD1C3A}</a:tableStyleId>
              </a:tblPr>
              <a:tblGrid>
                <a:gridCol w="2057400"/>
                <a:gridCol w="2743200"/>
                <a:gridCol w="566928"/>
              </a:tblGrid>
              <a:tr h="530352">
                <a:tc>
                  <a:txBody>
                    <a:bodyPr wrap="square"/>
                    <a:lstStyle/>
                    <a:p>
                      <a:r>
                        <a:rPr sz="1150" b="1">
                          <a:solidFill>
                            <a:srgbClr val="FFFFFF"/>
                          </a:solidFill>
                          <a:latin typeface="Arial"/>
                        </a:rPr>
                        <a:t>Yêu cầu của đề tài</a:t>
                      </a:r>
                    </a:p>
                  </a:txBody>
                  <a:tcPr marL="73152" marR="73152" marT="27432" marB="27432" anchor="ctr">
                    <a:solidFill>
                      <a:srgbClr val="21409A"/>
                    </a:solidFill>
                  </a:tcPr>
                </a:tc>
                <a:tc>
                  <a:txBody>
                    <a:bodyPr wrap="square"/>
                    <a:lstStyle/>
                    <a:p>
                      <a:r>
                        <a:rPr sz="1150" b="1">
                          <a:solidFill>
                            <a:srgbClr val="FFFFFF"/>
                          </a:solidFill>
                          <a:latin typeface="Arial"/>
                        </a:rPr>
                        <a:t>Phương pháp thực hiện</a:t>
                      </a:r>
                    </a:p>
                  </a:txBody>
                  <a:tcPr marL="73152" marR="73152" marT="27432" marB="27432" anchor="ctr">
                    <a:solidFill>
                      <a:srgbClr val="21409A"/>
                    </a:solidFill>
                  </a:tcPr>
                </a:tc>
                <a:tc>
                  <a:txBody>
                    <a:bodyPr wrap="square"/>
                    <a:lstStyle/>
                    <a:p>
                      <a:r>
                        <a:rPr sz="1150" b="1">
                          <a:solidFill>
                            <a:srgbClr val="FFFFFF"/>
                          </a:solidFill>
                          <a:latin typeface="Arial"/>
                        </a:rPr>
                        <a:t>Slide</a:t>
                      </a:r>
                    </a:p>
                  </a:txBody>
                  <a:tcPr marL="73152" marR="73152" marT="27432" marB="27432" anchor="ctr">
                    <a:solidFill>
                      <a:srgbClr val="21409A"/>
                    </a:solidFill>
                  </a:tcPr>
                </a:tc>
              </a:tr>
              <a:tr h="530352">
                <a:tc>
                  <a:txBody>
                    <a:bodyPr wrap="square"/>
                    <a:lstStyle/>
                    <a:p>
                      <a:r>
                        <a:rPr sz="1150" b="0">
                          <a:solidFill>
                            <a:srgbClr val="1B2733"/>
                          </a:solidFill>
                          <a:latin typeface="Arial"/>
                        </a:rPr>
                        <a:t>Xử lý chuỗi thời gian cảm biến</a:t>
                      </a:r>
                    </a:p>
                  </a:txBody>
                  <a:tcPr marL="73152" marR="73152" marT="27432" marB="27432" anchor="ctr">
                    <a:solidFill>
                      <a:srgbClr val="FFFFFF"/>
                    </a:solidFill>
                  </a:tcPr>
                </a:tc>
                <a:tc>
                  <a:txBody>
                    <a:bodyPr wrap="square"/>
                    <a:lstStyle/>
                    <a:p>
                      <a:r>
                        <a:rPr sz="1150" b="0">
                          <a:solidFill>
                            <a:srgbClr val="1B2733"/>
                          </a:solidFill>
                          <a:latin typeface="Arial"/>
                        </a:rPr>
                        <a:t>Kiểm tra schema, khóa, cycle liên tục; ETL Pandas–PySpark</a:t>
                      </a:r>
                    </a:p>
                  </a:txBody>
                  <a:tcPr marL="73152" marR="73152" marT="27432" marB="27432" anchor="ctr">
                    <a:solidFill>
                      <a:srgbClr val="FFFFFF"/>
                    </a:solidFill>
                  </a:tcPr>
                </a:tc>
                <a:tc>
                  <a:txBody>
                    <a:bodyPr wrap="square"/>
                    <a:lstStyle/>
                    <a:p>
                      <a:r>
                        <a:rPr sz="1150" b="0">
                          <a:solidFill>
                            <a:srgbClr val="1B2733"/>
                          </a:solidFill>
                          <a:latin typeface="Arial"/>
                        </a:rPr>
                        <a:t>6, 7</a:t>
                      </a:r>
                    </a:p>
                  </a:txBody>
                  <a:tcPr marL="73152" marR="73152" marT="27432" marB="27432" anchor="ctr">
                    <a:solidFill>
                      <a:srgbClr val="FFFFFF"/>
                    </a:solidFill>
                  </a:tcPr>
                </a:tc>
              </a:tr>
              <a:tr h="530352">
                <a:tc>
                  <a:txBody>
                    <a:bodyPr wrap="square"/>
                    <a:lstStyle/>
                    <a:p>
                      <a:r>
                        <a:rPr sz="1150" b="0">
                          <a:solidFill>
                            <a:srgbClr val="1B2733"/>
                          </a:solidFill>
                          <a:latin typeface="Arial"/>
                        </a:rPr>
                        <a:t>Xử lý nhiễu tín hiệu</a:t>
                      </a:r>
                    </a:p>
                  </a:txBody>
                  <a:tcPr marL="73152" marR="73152" marT="27432" marB="27432" anchor="ctr">
                    <a:solidFill>
                      <a:srgbClr val="EAF0FA"/>
                    </a:solidFill>
                  </a:tcPr>
                </a:tc>
                <a:tc>
                  <a:txBody>
                    <a:bodyPr wrap="square"/>
                    <a:lstStyle/>
                    <a:p>
                      <a:r>
                        <a:rPr sz="1150" b="0">
                          <a:solidFill>
                            <a:srgbClr val="1B2733"/>
                          </a:solidFill>
                          <a:latin typeface="Arial"/>
                        </a:rPr>
                        <a:t>EWMA span 10 theo từng động cơ, chỉ dùng quá khứ</a:t>
                      </a:r>
                    </a:p>
                  </a:txBody>
                  <a:tcPr marL="73152" marR="73152" marT="27432" marB="27432" anchor="ctr">
                    <a:solidFill>
                      <a:srgbClr val="EAF0FA"/>
                    </a:solidFill>
                  </a:tcPr>
                </a:tc>
                <a:tc>
                  <a:txBody>
                    <a:bodyPr wrap="square"/>
                    <a:lstStyle/>
                    <a:p>
                      <a:r>
                        <a:rPr sz="1150" b="0">
                          <a:solidFill>
                            <a:srgbClr val="1B2733"/>
                          </a:solidFill>
                          <a:latin typeface="Arial"/>
                        </a:rPr>
                        <a:t>9</a:t>
                      </a:r>
                    </a:p>
                  </a:txBody>
                  <a:tcPr marL="73152" marR="73152" marT="27432" marB="27432" anchor="ctr">
                    <a:solidFill>
                      <a:srgbClr val="EAF0FA"/>
                    </a:solidFill>
                  </a:tcPr>
                </a:tc>
              </a:tr>
              <a:tr h="530352">
                <a:tc>
                  <a:txBody>
                    <a:bodyPr wrap="square"/>
                    <a:lstStyle/>
                    <a:p>
                      <a:r>
                        <a:rPr sz="1150" b="0">
                          <a:solidFill>
                            <a:srgbClr val="1B2733"/>
                          </a:solidFill>
                          <a:latin typeface="Arial"/>
                        </a:rPr>
                        <a:t>Chuẩn hóa, tổng hợp theo window</a:t>
                      </a:r>
                    </a:p>
                  </a:txBody>
                  <a:tcPr marL="73152" marR="73152" marT="27432" marB="27432" anchor="ctr">
                    <a:solidFill>
                      <a:srgbClr val="FFFFFF"/>
                    </a:solidFill>
                  </a:tcPr>
                </a:tc>
                <a:tc>
                  <a:txBody>
                    <a:bodyPr wrap="square"/>
                    <a:lstStyle/>
                    <a:p>
                      <a:r>
                        <a:rPr sz="1150" b="0">
                          <a:solidFill>
                            <a:srgbClr val="1B2733"/>
                          </a:solidFill>
                          <a:latin typeface="Arial"/>
                        </a:rPr>
                        <a:t>StandardScaler cho Health Index; window 30 → 126 đặc trưng</a:t>
                      </a:r>
                    </a:p>
                  </a:txBody>
                  <a:tcPr marL="73152" marR="73152" marT="27432" marB="27432" anchor="ctr">
                    <a:solidFill>
                      <a:srgbClr val="FFFFFF"/>
                    </a:solidFill>
                  </a:tcPr>
                </a:tc>
                <a:tc>
                  <a:txBody>
                    <a:bodyPr wrap="square"/>
                    <a:lstStyle/>
                    <a:p>
                      <a:r>
                        <a:rPr sz="1150" b="0">
                          <a:solidFill>
                            <a:srgbClr val="1B2733"/>
                          </a:solidFill>
                          <a:latin typeface="Arial"/>
                        </a:rPr>
                        <a:t>10</a:t>
                      </a:r>
                    </a:p>
                  </a:txBody>
                  <a:tcPr marL="73152" marR="73152" marT="27432" marB="27432" anchor="ctr">
                    <a:solidFill>
                      <a:srgbClr val="FFFFFF"/>
                    </a:solidFill>
                  </a:tcPr>
                </a:tc>
              </a:tr>
              <a:tr h="530352">
                <a:tc>
                  <a:txBody>
                    <a:bodyPr wrap="square"/>
                    <a:lstStyle/>
                    <a:p>
                      <a:r>
                        <a:rPr sz="1150" b="0">
                          <a:solidFill>
                            <a:srgbClr val="1B2733"/>
                          </a:solidFill>
                          <a:latin typeface="Arial"/>
                        </a:rPr>
                        <a:t>Phát hiện dấu hiệu bất thường</a:t>
                      </a:r>
                    </a:p>
                  </a:txBody>
                  <a:tcPr marL="73152" marR="73152" marT="27432" marB="27432" anchor="ctr">
                    <a:solidFill>
                      <a:srgbClr val="EAF0FA"/>
                    </a:solidFill>
                  </a:tcPr>
                </a:tc>
                <a:tc>
                  <a:txBody>
                    <a:bodyPr wrap="square"/>
                    <a:lstStyle/>
                    <a:p>
                      <a:r>
                        <a:rPr sz="1150" b="0">
                          <a:solidFill>
                            <a:srgbClr val="1B2733"/>
                          </a:solidFill>
                          <a:latin typeface="Arial"/>
                        </a:rPr>
                        <a:t>Health Index giảm quá 3σ so với 30 cycle đầu</a:t>
                      </a:r>
                    </a:p>
                  </a:txBody>
                  <a:tcPr marL="73152" marR="73152" marT="27432" marB="27432" anchor="ctr">
                    <a:solidFill>
                      <a:srgbClr val="EAF0FA"/>
                    </a:solidFill>
                  </a:tcPr>
                </a:tc>
                <a:tc>
                  <a:txBody>
                    <a:bodyPr wrap="square"/>
                    <a:lstStyle/>
                    <a:p>
                      <a:r>
                        <a:rPr sz="1150" b="0">
                          <a:solidFill>
                            <a:srgbClr val="1B2733"/>
                          </a:solidFill>
                          <a:latin typeface="Arial"/>
                        </a:rPr>
                        <a:t>12</a:t>
                      </a:r>
                    </a:p>
                  </a:txBody>
                  <a:tcPr marL="73152" marR="73152" marT="27432" marB="27432" anchor="ctr">
                    <a:solidFill>
                      <a:srgbClr val="EAF0FA"/>
                    </a:solidFill>
                  </a:tcPr>
                </a:tc>
              </a:tr>
              <a:tr h="530352">
                <a:tc>
                  <a:txBody>
                    <a:bodyPr wrap="square"/>
                    <a:lstStyle/>
                    <a:p>
                      <a:r>
                        <a:rPr sz="1150" b="0">
                          <a:solidFill>
                            <a:srgbClr val="1B2733"/>
                          </a:solidFill>
                          <a:latin typeface="Arial"/>
                        </a:rPr>
                        <a:t>Trực quan hóa xu hướng suy giảm</a:t>
                      </a:r>
                    </a:p>
                  </a:txBody>
                  <a:tcPr marL="73152" marR="73152" marT="27432" marB="27432" anchor="ctr">
                    <a:solidFill>
                      <a:srgbClr val="FFFFFF"/>
                    </a:solidFill>
                  </a:tcPr>
                </a:tc>
                <a:tc>
                  <a:txBody>
                    <a:bodyPr wrap="square"/>
                    <a:lstStyle/>
                    <a:p>
                      <a:r>
                        <a:rPr sz="1150" b="0">
                          <a:solidFill>
                            <a:srgbClr val="1B2733"/>
                          </a:solidFill>
                          <a:latin typeface="Arial"/>
                        </a:rPr>
                        <a:t>Quỹ đạo sensor, kiểm định đầu/cuối, Health Index</a:t>
                      </a:r>
                    </a:p>
                  </a:txBody>
                  <a:tcPr marL="73152" marR="73152" marT="27432" marB="27432" anchor="ctr">
                    <a:solidFill>
                      <a:srgbClr val="FFFFFF"/>
                    </a:solidFill>
                  </a:tcPr>
                </a:tc>
                <a:tc>
                  <a:txBody>
                    <a:bodyPr wrap="square"/>
                    <a:lstStyle/>
                    <a:p>
                      <a:r>
                        <a:rPr sz="1150" b="0">
                          <a:solidFill>
                            <a:srgbClr val="1B2733"/>
                          </a:solidFill>
                          <a:latin typeface="Arial"/>
                        </a:rPr>
                        <a:t>11, 12</a:t>
                      </a:r>
                    </a:p>
                  </a:txBody>
                  <a:tcPr marL="73152" marR="73152" marT="27432" marB="27432" anchor="ctr">
                    <a:solidFill>
                      <a:srgbClr val="FFFFFF"/>
                    </a:solidFill>
                  </a:tcPr>
                </a:tc>
              </a:tr>
              <a:tr h="530352">
                <a:tc>
                  <a:txBody>
                    <a:bodyPr wrap="square"/>
                    <a:lstStyle/>
                    <a:p>
                      <a:r>
                        <a:rPr sz="1150" b="0">
                          <a:solidFill>
                            <a:srgbClr val="1B2733"/>
                          </a:solidFill>
                          <a:latin typeface="Arial"/>
                        </a:rPr>
                        <a:t>Dự đoán thời điểm bảo trì, cảnh báo sớm</a:t>
                      </a:r>
                    </a:p>
                  </a:txBody>
                  <a:tcPr marL="73152" marR="73152" marT="27432" marB="27432" anchor="ctr">
                    <a:solidFill>
                      <a:srgbClr val="EAF0FA"/>
                    </a:solidFill>
                  </a:tcPr>
                </a:tc>
                <a:tc>
                  <a:txBody>
                    <a:bodyPr wrap="square"/>
                    <a:lstStyle/>
                    <a:p>
                      <a:r>
                        <a:rPr sz="1150" b="0">
                          <a:solidFill>
                            <a:srgbClr val="1B2733"/>
                          </a:solidFill>
                          <a:latin typeface="Arial"/>
                        </a:rPr>
                        <a:t>Lịch bảo trì cho 100 động cơ test; hai mức cảnh báo</a:t>
                      </a:r>
                    </a:p>
                  </a:txBody>
                  <a:tcPr marL="73152" marR="73152" marT="27432" marB="27432" anchor="ctr">
                    <a:solidFill>
                      <a:srgbClr val="EAF0FA"/>
                    </a:solidFill>
                  </a:tcPr>
                </a:tc>
                <a:tc>
                  <a:txBody>
                    <a:bodyPr wrap="square"/>
                    <a:lstStyle/>
                    <a:p>
                      <a:r>
                        <a:rPr sz="1150" b="0">
                          <a:solidFill>
                            <a:srgbClr val="1B2733"/>
                          </a:solidFill>
                          <a:latin typeface="Arial"/>
                        </a:rPr>
                        <a:t>15, 16</a:t>
                      </a:r>
                    </a:p>
                  </a:txBody>
                  <a:tcPr marL="73152" marR="73152" marT="27432" marB="27432" anchor="ctr">
                    <a:solidFill>
                      <a:srgbClr val="EAF0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Bộ dữ liệu NASA C-MAPSS</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Bốn subset khác nhau về số điều kiện vận hành và số dạng lỗi; FD001 là đối tượng phân tích chính</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data/raw/readme.txt; outputs/cross_dataset/FD00x/etl/run_info.json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4 / 20</a:t>
            </a:r>
          </a:p>
        </p:txBody>
      </p:sp>
      <p:sp>
        <p:nvSpPr>
          <p:cNvPr id="7" name="Rounded Rectangle 6"/>
          <p:cNvSpPr/>
          <p:nvPr/>
        </p:nvSpPr>
        <p:spPr>
          <a:xfrm>
            <a:off x="841248" y="2286000"/>
            <a:ext cx="2487168" cy="2240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395728"/>
            <a:ext cx="2103120" cy="457200"/>
          </a:xfrm>
          <a:prstGeom prst="rect">
            <a:avLst/>
          </a:prstGeom>
          <a:noFill/>
        </p:spPr>
        <p:txBody>
          <a:bodyPr wrap="square" lIns="0" rIns="0" tIns="0" bIns="0" anchor="t"/>
          <a:lstStyle/>
          <a:p>
            <a:pPr algn="l">
              <a:spcAft>
                <a:spcPts val="0"/>
              </a:spcAft>
            </a:pPr>
            <a:r>
              <a:rPr sz="2400" b="1">
                <a:solidFill>
                  <a:srgbClr val="FFFFFF"/>
                </a:solidFill>
                <a:latin typeface="Arial"/>
              </a:rPr>
              <a:t>FD001</a:t>
            </a:r>
          </a:p>
        </p:txBody>
      </p:sp>
      <p:sp>
        <p:nvSpPr>
          <p:cNvPr id="9" name="TextBox 8"/>
          <p:cNvSpPr txBox="1"/>
          <p:nvPr/>
        </p:nvSpPr>
        <p:spPr>
          <a:xfrm>
            <a:off x="1042416" y="2852928"/>
            <a:ext cx="2103120" cy="274320"/>
          </a:xfrm>
          <a:prstGeom prst="rect">
            <a:avLst/>
          </a:prstGeom>
          <a:noFill/>
        </p:spPr>
        <p:txBody>
          <a:bodyPr wrap="square" lIns="0" rIns="0" tIns="0" bIns="0" anchor="t"/>
          <a:lstStyle/>
          <a:p>
            <a:pPr algn="l">
              <a:spcAft>
                <a:spcPts val="0"/>
              </a:spcAft>
            </a:pPr>
            <a:r>
              <a:rPr sz="1150" b="1">
                <a:solidFill>
                  <a:srgbClr val="FCB525"/>
                </a:solidFill>
                <a:latin typeface="Arial"/>
              </a:rPr>
              <a:t>Phân tích chính</a:t>
            </a:r>
          </a:p>
        </p:txBody>
      </p:sp>
      <p:sp>
        <p:nvSpPr>
          <p:cNvPr id="10" name="TextBox 9"/>
          <p:cNvSpPr txBox="1"/>
          <p:nvPr/>
        </p:nvSpPr>
        <p:spPr>
          <a:xfrm>
            <a:off x="1042416" y="3200400"/>
            <a:ext cx="2194560" cy="566928"/>
          </a:xfrm>
          <a:prstGeom prst="rect">
            <a:avLst/>
          </a:prstGeom>
          <a:noFill/>
        </p:spPr>
        <p:txBody>
          <a:bodyPr wrap="square" lIns="0" rIns="0" tIns="0" bIns="0" anchor="t"/>
          <a:lstStyle/>
          <a:p>
            <a:pPr algn="l">
              <a:spcAft>
                <a:spcPts val="0"/>
              </a:spcAft>
            </a:pPr>
            <a:r>
              <a:rPr sz="1300" b="0">
                <a:solidFill>
                  <a:srgbClr val="FFFFFF"/>
                </a:solidFill>
                <a:latin typeface="Arial"/>
              </a:rPr>
              <a:t>1 điều kiện vận hành
1 dạng lỗi (HPC)</a:t>
            </a:r>
          </a:p>
        </p:txBody>
      </p:sp>
      <p:sp>
        <p:nvSpPr>
          <p:cNvPr id="11" name="TextBox 10"/>
          <p:cNvSpPr txBox="1"/>
          <p:nvPr/>
        </p:nvSpPr>
        <p:spPr>
          <a:xfrm>
            <a:off x="1042416" y="3840480"/>
            <a:ext cx="2194560" cy="566928"/>
          </a:xfrm>
          <a:prstGeom prst="rect">
            <a:avLst/>
          </a:prstGeom>
          <a:noFill/>
        </p:spPr>
        <p:txBody>
          <a:bodyPr wrap="square" lIns="0" rIns="0" tIns="0" bIns="0" anchor="t"/>
          <a:lstStyle/>
          <a:p>
            <a:pPr algn="l">
              <a:spcAft>
                <a:spcPts val="0"/>
              </a:spcAft>
            </a:pPr>
            <a:r>
              <a:rPr sz="1300" b="0">
                <a:solidFill>
                  <a:srgbClr val="C9D6F0"/>
                </a:solidFill>
                <a:latin typeface="Arial"/>
              </a:rPr>
              <a:t>100 train / 100 test
33.727 quan sát</a:t>
            </a:r>
          </a:p>
        </p:txBody>
      </p:sp>
      <p:sp>
        <p:nvSpPr>
          <p:cNvPr id="12" name="Rounded Rectangle 11"/>
          <p:cNvSpPr/>
          <p:nvPr/>
        </p:nvSpPr>
        <p:spPr>
          <a:xfrm>
            <a:off x="349300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9417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FD002</a:t>
            </a:r>
          </a:p>
        </p:txBody>
      </p:sp>
      <p:sp>
        <p:nvSpPr>
          <p:cNvPr id="14" name="TextBox 13"/>
          <p:cNvSpPr txBox="1"/>
          <p:nvPr/>
        </p:nvSpPr>
        <p:spPr>
          <a:xfrm>
            <a:off x="369417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15" name="TextBox 14"/>
          <p:cNvSpPr txBox="1"/>
          <p:nvPr/>
        </p:nvSpPr>
        <p:spPr>
          <a:xfrm>
            <a:off x="369417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1 dạng lỗi (HPC)</a:t>
            </a:r>
          </a:p>
        </p:txBody>
      </p:sp>
      <p:sp>
        <p:nvSpPr>
          <p:cNvPr id="16" name="TextBox 15"/>
          <p:cNvSpPr txBox="1"/>
          <p:nvPr/>
        </p:nvSpPr>
        <p:spPr>
          <a:xfrm>
            <a:off x="369417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260 train / 259 test
87.750 quan sát</a:t>
            </a:r>
          </a:p>
        </p:txBody>
      </p:sp>
      <p:sp>
        <p:nvSpPr>
          <p:cNvPr id="17" name="Rounded Rectangle 16"/>
          <p:cNvSpPr/>
          <p:nvPr/>
        </p:nvSpPr>
        <p:spPr>
          <a:xfrm>
            <a:off x="614476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FD003</a:t>
            </a:r>
          </a:p>
        </p:txBody>
      </p:sp>
      <p:sp>
        <p:nvSpPr>
          <p:cNvPr id="19" name="TextBox 18"/>
          <p:cNvSpPr txBox="1"/>
          <p:nvPr/>
        </p:nvSpPr>
        <p:spPr>
          <a:xfrm>
            <a:off x="634593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0" name="TextBox 19"/>
          <p:cNvSpPr txBox="1"/>
          <p:nvPr/>
        </p:nvSpPr>
        <p:spPr>
          <a:xfrm>
            <a:off x="634593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1 điều kiện vận hành
2 dạng lỗi (HPC, Fan)</a:t>
            </a:r>
          </a:p>
        </p:txBody>
      </p:sp>
      <p:sp>
        <p:nvSpPr>
          <p:cNvPr id="21" name="TextBox 20"/>
          <p:cNvSpPr txBox="1"/>
          <p:nvPr/>
        </p:nvSpPr>
        <p:spPr>
          <a:xfrm>
            <a:off x="634593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100 train / 100 test
41.316 quan sát</a:t>
            </a:r>
          </a:p>
        </p:txBody>
      </p:sp>
      <p:sp>
        <p:nvSpPr>
          <p:cNvPr id="22" name="Rounded Rectangle 21"/>
          <p:cNvSpPr/>
          <p:nvPr/>
        </p:nvSpPr>
        <p:spPr>
          <a:xfrm>
            <a:off x="879652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9769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FD004</a:t>
            </a:r>
          </a:p>
        </p:txBody>
      </p:sp>
      <p:sp>
        <p:nvSpPr>
          <p:cNvPr id="24" name="TextBox 23"/>
          <p:cNvSpPr txBox="1"/>
          <p:nvPr/>
        </p:nvSpPr>
        <p:spPr>
          <a:xfrm>
            <a:off x="899769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5" name="TextBox 24"/>
          <p:cNvSpPr txBox="1"/>
          <p:nvPr/>
        </p:nvSpPr>
        <p:spPr>
          <a:xfrm>
            <a:off x="899769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2 dạng lỗi (HPC, Fan)</a:t>
            </a:r>
          </a:p>
        </p:txBody>
      </p:sp>
      <p:sp>
        <p:nvSpPr>
          <p:cNvPr id="26" name="TextBox 25"/>
          <p:cNvSpPr txBox="1"/>
          <p:nvPr/>
        </p:nvSpPr>
        <p:spPr>
          <a:xfrm>
            <a:off x="899769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249 train / 248 test
102.463 quan sát</a:t>
            </a:r>
          </a:p>
        </p:txBody>
      </p:sp>
      <p:sp>
        <p:nvSpPr>
          <p:cNvPr id="27" name="TextBox 26"/>
          <p:cNvSpPr txBox="1"/>
          <p:nvPr/>
        </p:nvSpPr>
        <p:spPr>
          <a:xfrm>
            <a:off x="841248" y="4754880"/>
            <a:ext cx="7315200" cy="310896"/>
          </a:xfrm>
          <a:prstGeom prst="rect">
            <a:avLst/>
          </a:prstGeom>
          <a:noFill/>
        </p:spPr>
        <p:txBody>
          <a:bodyPr wrap="square" lIns="0" rIns="0" tIns="0" bIns="0" anchor="t"/>
          <a:lstStyle/>
          <a:p>
            <a:pPr algn="l">
              <a:spcAft>
                <a:spcPts val="0"/>
              </a:spcAft>
            </a:pPr>
            <a:r>
              <a:rPr sz="1500" b="1">
                <a:solidFill>
                  <a:srgbClr val="21409A"/>
                </a:solidFill>
                <a:latin typeface="Arial"/>
              </a:rPr>
              <a:t>Cấu trúc một bản ghi quan sát (26 trường)</a:t>
            </a:r>
          </a:p>
        </p:txBody>
      </p:sp>
      <p:sp>
        <p:nvSpPr>
          <p:cNvPr id="28" name="Rounded Rectangle 27"/>
          <p:cNvSpPr/>
          <p:nvPr/>
        </p:nvSpPr>
        <p:spPr>
          <a:xfrm>
            <a:off x="841248" y="5120640"/>
            <a:ext cx="123444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5120640"/>
            <a:ext cx="1234440" cy="438912"/>
          </a:xfrm>
          <a:prstGeom prst="rect">
            <a:avLst/>
          </a:prstGeom>
          <a:noFill/>
        </p:spPr>
        <p:txBody>
          <a:bodyPr wrap="square" lIns="0" rIns="0" tIns="0" bIns="0" anchor="ctr"/>
          <a:lstStyle/>
          <a:p>
            <a:pPr algn="ctr">
              <a:spcAft>
                <a:spcPts val="0"/>
              </a:spcAft>
            </a:pPr>
            <a:r>
              <a:rPr sz="1300" b="1">
                <a:solidFill>
                  <a:srgbClr val="FFFFFF"/>
                </a:solidFill>
                <a:latin typeface="Arial"/>
              </a:rPr>
              <a:t>engine_id</a:t>
            </a:r>
          </a:p>
        </p:txBody>
      </p:sp>
      <p:sp>
        <p:nvSpPr>
          <p:cNvPr id="30" name="Rounded Rectangle 29"/>
          <p:cNvSpPr/>
          <p:nvPr/>
        </p:nvSpPr>
        <p:spPr>
          <a:xfrm>
            <a:off x="2148840" y="5120640"/>
            <a:ext cx="91440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5120640"/>
            <a:ext cx="914400" cy="438912"/>
          </a:xfrm>
          <a:prstGeom prst="rect">
            <a:avLst/>
          </a:prstGeom>
          <a:noFill/>
        </p:spPr>
        <p:txBody>
          <a:bodyPr wrap="square" lIns="0" rIns="0" tIns="0" bIns="0" anchor="ctr"/>
          <a:lstStyle/>
          <a:p>
            <a:pPr algn="ctr">
              <a:spcAft>
                <a:spcPts val="0"/>
              </a:spcAft>
            </a:pPr>
            <a:r>
              <a:rPr sz="1300" b="1">
                <a:solidFill>
                  <a:srgbClr val="FFFFFF"/>
                </a:solidFill>
                <a:latin typeface="Arial"/>
              </a:rPr>
              <a:t>cycle</a:t>
            </a:r>
          </a:p>
        </p:txBody>
      </p:sp>
      <p:sp>
        <p:nvSpPr>
          <p:cNvPr id="32" name="Rounded Rectangle 31"/>
          <p:cNvSpPr/>
          <p:nvPr/>
        </p:nvSpPr>
        <p:spPr>
          <a:xfrm>
            <a:off x="3136392" y="5120640"/>
            <a:ext cx="2331720" cy="438912"/>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36392" y="5120640"/>
            <a:ext cx="2331720" cy="438912"/>
          </a:xfrm>
          <a:prstGeom prst="rect">
            <a:avLst/>
          </a:prstGeom>
          <a:noFill/>
        </p:spPr>
        <p:txBody>
          <a:bodyPr wrap="square" lIns="0" rIns="0" tIns="0" bIns="0" anchor="ctr"/>
          <a:lstStyle/>
          <a:p>
            <a:pPr algn="ctr">
              <a:spcAft>
                <a:spcPts val="0"/>
              </a:spcAft>
            </a:pPr>
            <a:r>
              <a:rPr sz="1300" b="1">
                <a:solidFill>
                  <a:srgbClr val="FFFFFF"/>
                </a:solidFill>
                <a:latin typeface="Arial"/>
              </a:rPr>
              <a:t>setting_1 … setting_3</a:t>
            </a:r>
          </a:p>
        </p:txBody>
      </p:sp>
      <p:sp>
        <p:nvSpPr>
          <p:cNvPr id="34" name="Rounded Rectangle 33"/>
          <p:cNvSpPr/>
          <p:nvPr/>
        </p:nvSpPr>
        <p:spPr>
          <a:xfrm>
            <a:off x="5541264" y="5120640"/>
            <a:ext cx="5815584" cy="43891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541264" y="5120640"/>
            <a:ext cx="5815584" cy="438912"/>
          </a:xfrm>
          <a:prstGeom prst="rect">
            <a:avLst/>
          </a:prstGeom>
          <a:noFill/>
        </p:spPr>
        <p:txBody>
          <a:bodyPr wrap="square" lIns="0" rIns="0" tIns="0" bIns="0" anchor="ctr"/>
          <a:lstStyle/>
          <a:p>
            <a:pPr algn="ctr">
              <a:spcAft>
                <a:spcPts val="0"/>
              </a:spcAft>
            </a:pPr>
            <a:r>
              <a:rPr sz="1300" b="1">
                <a:solidFill>
                  <a:srgbClr val="1B2733"/>
                </a:solidFill>
                <a:latin typeface="Arial"/>
              </a:rPr>
              <a:t>sensor_1 … sensor_21</a:t>
            </a:r>
          </a:p>
        </p:txBody>
      </p:sp>
      <p:sp>
        <p:nvSpPr>
          <p:cNvPr id="36" name="TextBox 35"/>
          <p:cNvSpPr txBox="1"/>
          <p:nvPr/>
        </p:nvSpPr>
        <p:spPr>
          <a:xfrm>
            <a:off x="841248" y="5669280"/>
            <a:ext cx="10515600" cy="320040"/>
          </a:xfrm>
          <a:prstGeom prst="rect">
            <a:avLst/>
          </a:prstGeom>
          <a:noFill/>
        </p:spPr>
        <p:txBody>
          <a:bodyPr wrap="square" lIns="0" rIns="0" tIns="0" bIns="0" anchor="t"/>
          <a:lstStyle/>
          <a:p>
            <a:pPr algn="l">
              <a:spcAft>
                <a:spcPts val="0"/>
              </a:spcAft>
            </a:pPr>
            <a:r>
              <a:rPr sz="1300" b="0">
                <a:solidFill>
                  <a:srgbClr val="5A6B7B"/>
                </a:solidFill>
                <a:latin typeface="Arial"/>
              </a:rPr>
              <a:t>Khóa chính: (split, engine_id, cycle). Dữ liệu không có giá trị thiếu.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Xây dựng nhãn RUL và ranh giới tập kiểm tra</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Nhãn tập kiểm tra chỉ được sử dụng sau khi đã lưu kết quả dự đoán, nhằm tránh rò rỉ dữ liệu (data leakage)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data/CONTRACTS.md; outputs/modeling/run_info.json; outputs/modeling/tables/final_metrics.json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5 / 20</a:t>
            </a:r>
          </a:p>
        </p:txBody>
      </p:sp>
      <p:sp>
        <p:nvSpPr>
          <p:cNvPr id="7" name="TextBox 6"/>
          <p:cNvSpPr txBox="1"/>
          <p:nvPr/>
        </p:nvSpPr>
        <p:spPr>
          <a:xfrm>
            <a:off x="841248" y="233172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Train</a:t>
            </a:r>
          </a:p>
        </p:txBody>
      </p:sp>
      <p:sp>
        <p:nvSpPr>
          <p:cNvPr id="8" name="TextBox 7"/>
          <p:cNvSpPr txBox="1"/>
          <p:nvPr/>
        </p:nvSpPr>
        <p:spPr>
          <a:xfrm>
            <a:off x="841248" y="2660903"/>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vận hành đến hỏng hóc</a:t>
            </a:r>
          </a:p>
        </p:txBody>
      </p:sp>
      <p:sp>
        <p:nvSpPr>
          <p:cNvPr id="9" name="Rectangle 8"/>
          <p:cNvSpPr/>
          <p:nvPr/>
        </p:nvSpPr>
        <p:spPr>
          <a:xfrm>
            <a:off x="2514600" y="2441448"/>
            <a:ext cx="480060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78040" y="2395727"/>
            <a:ext cx="329184" cy="329184"/>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2788920"/>
            <a:ext cx="914400" cy="256032"/>
          </a:xfrm>
          <a:prstGeom prst="rect">
            <a:avLst/>
          </a:prstGeom>
          <a:noFill/>
        </p:spPr>
        <p:txBody>
          <a:bodyPr wrap="square" lIns="0" rIns="0" tIns="0" bIns="0" anchor="t"/>
          <a:lstStyle/>
          <a:p>
            <a:pPr algn="ctr">
              <a:spcAft>
                <a:spcPts val="0"/>
              </a:spcAft>
            </a:pPr>
            <a:r>
              <a:rPr sz="1150" b="0">
                <a:solidFill>
                  <a:srgbClr val="B23A3A"/>
                </a:solidFill>
                <a:latin typeface="Arial"/>
              </a:rPr>
              <a:t>hỏng hóc</a:t>
            </a:r>
          </a:p>
        </p:txBody>
      </p:sp>
      <p:sp>
        <p:nvSpPr>
          <p:cNvPr id="12" name="TextBox 11"/>
          <p:cNvSpPr txBox="1"/>
          <p:nvPr/>
        </p:nvSpPr>
        <p:spPr>
          <a:xfrm>
            <a:off x="841248" y="352044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Test</a:t>
            </a:r>
          </a:p>
        </p:txBody>
      </p:sp>
      <p:sp>
        <p:nvSpPr>
          <p:cNvPr id="13" name="TextBox 12"/>
          <p:cNvSpPr txBox="1"/>
          <p:nvPr/>
        </p:nvSpPr>
        <p:spPr>
          <a:xfrm>
            <a:off x="841248" y="3849624"/>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bị cắt trước hỏng hóc</a:t>
            </a:r>
          </a:p>
        </p:txBody>
      </p:sp>
      <p:sp>
        <p:nvSpPr>
          <p:cNvPr id="14" name="Rectangle 13"/>
          <p:cNvSpPr/>
          <p:nvPr/>
        </p:nvSpPr>
        <p:spPr>
          <a:xfrm>
            <a:off x="2514600" y="3630168"/>
            <a:ext cx="315468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5669280" y="3749039"/>
            <a:ext cx="1645920" cy="0"/>
          </a:xfrm>
          <a:prstGeom prst="line">
            <a:avLst/>
          </a:prstGeom>
          <a:ln>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50408" y="3611880"/>
            <a:ext cx="274320" cy="274320"/>
          </a:xfrm>
          <a:prstGeom prst="ellipse">
            <a:avLst/>
          </a:prstGeom>
          <a:solidFill>
            <a:srgbClr val="FCB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977639"/>
            <a:ext cx="1645920" cy="256032"/>
          </a:xfrm>
          <a:prstGeom prst="rect">
            <a:avLst/>
          </a:prstGeom>
          <a:noFill/>
        </p:spPr>
        <p:txBody>
          <a:bodyPr wrap="square" lIns="0" rIns="0" tIns="0" bIns="0" anchor="t"/>
          <a:lstStyle/>
          <a:p>
            <a:pPr algn="r">
              <a:spcAft>
                <a:spcPts val="0"/>
              </a:spcAft>
            </a:pPr>
            <a:r>
              <a:rPr sz="1150" b="0">
                <a:solidFill>
                  <a:srgbClr val="B37800"/>
                </a:solidFill>
                <a:latin typeface="Arial"/>
              </a:rPr>
              <a:t>cycle cuối quan sát</a:t>
            </a:r>
          </a:p>
        </p:txBody>
      </p:sp>
      <p:sp>
        <p:nvSpPr>
          <p:cNvPr id="18" name="TextBox 17"/>
          <p:cNvSpPr txBox="1"/>
          <p:nvPr/>
        </p:nvSpPr>
        <p:spPr>
          <a:xfrm>
            <a:off x="5943600" y="3977639"/>
            <a:ext cx="1463040" cy="256032"/>
          </a:xfrm>
          <a:prstGeom prst="rect">
            <a:avLst/>
          </a:prstGeom>
          <a:noFill/>
        </p:spPr>
        <p:txBody>
          <a:bodyPr wrap="square" lIns="0" rIns="0" tIns="0" bIns="0" anchor="t"/>
          <a:lstStyle/>
          <a:p>
            <a:pPr algn="r">
              <a:spcAft>
                <a:spcPts val="0"/>
              </a:spcAft>
            </a:pPr>
            <a:r>
              <a:rPr sz="1150" b="0">
                <a:solidFill>
                  <a:srgbClr val="5A6B7B"/>
                </a:solidFill>
                <a:latin typeface="Arial"/>
              </a:rPr>
              <a:t>chưa biết thời điểm hỏng</a:t>
            </a:r>
          </a:p>
        </p:txBody>
      </p:sp>
      <p:sp>
        <p:nvSpPr>
          <p:cNvPr id="19" name="Rounded Rectangle 18"/>
          <p:cNvSpPr/>
          <p:nvPr/>
        </p:nvSpPr>
        <p:spPr>
          <a:xfrm>
            <a:off x="841248" y="4663440"/>
            <a:ext cx="676656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800600"/>
            <a:ext cx="6400800" cy="1097280"/>
          </a:xfrm>
          <a:prstGeom prst="rect">
            <a:avLst/>
          </a:prstGeom>
          <a:noFill/>
        </p:spPr>
        <p:txBody>
          <a:bodyPr wrap="square" lIns="0" rIns="0" tIns="0" bIns="0" anchor="t"/>
          <a:lstStyle/>
          <a:p>
            <a:pPr algn="l">
              <a:spcAft>
                <a:spcPts val="800"/>
              </a:spcAft>
            </a:pPr>
            <a:r>
              <a:rPr sz="1450" b="1">
                <a:solidFill>
                  <a:srgbClr val="21409A"/>
                </a:solidFill>
                <a:latin typeface="Arial"/>
              </a:rPr>
              <a:t>Train: </a:t>
            </a:r>
            <a:r>
              <a:rPr sz="1450" b="0">
                <a:solidFill>
                  <a:srgbClr val="1B2733"/>
                </a:solidFill>
                <a:latin typeface="Arial"/>
              </a:rPr>
              <a:t>RUL(t) = cycle cuối − t → 20.631 nhãn</a:t>
            </a:r>
          </a:p>
          <a:p>
            <a:pPr algn="l">
              <a:spcAft>
                <a:spcPts val="800"/>
              </a:spcAft>
            </a:pPr>
            <a:r>
              <a:rPr sz="1450" b="1">
                <a:solidFill>
                  <a:srgbClr val="21409A"/>
                </a:solidFill>
                <a:latin typeface="Arial"/>
              </a:rPr>
              <a:t>Test: </a:t>
            </a:r>
            <a:r>
              <a:rPr sz="1450" b="0">
                <a:solidFill>
                  <a:srgbClr val="1B2733"/>
                </a:solidFill>
                <a:latin typeface="Arial"/>
              </a:rPr>
              <a:t>một dự đoán tại cycle cuối của mỗi động cơ; ghép RUL_FD001.txt sau khi đã lưu dự đoán</a:t>
            </a:r>
          </a:p>
        </p:txBody>
      </p:sp>
      <p:sp>
        <p:nvSpPr>
          <p:cNvPr id="21" name="Rounded Rectangle 20"/>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83879" y="2450592"/>
            <a:ext cx="3017520" cy="320040"/>
          </a:xfrm>
          <a:prstGeom prst="rect">
            <a:avLst/>
          </a:prstGeom>
          <a:noFill/>
        </p:spPr>
        <p:txBody>
          <a:bodyPr wrap="square" lIns="0" rIns="0" tIns="0" bIns="0" anchor="t"/>
          <a:lstStyle/>
          <a:p>
            <a:pPr algn="l">
              <a:spcAft>
                <a:spcPts val="0"/>
              </a:spcAft>
            </a:pPr>
            <a:r>
              <a:rPr sz="1600" b="1">
                <a:solidFill>
                  <a:srgbClr val="FFFFFF"/>
                </a:solidFill>
                <a:latin typeface="Arial"/>
              </a:rPr>
              <a:t>Kiểm soát nhãn tập kiểm tra</a:t>
            </a:r>
          </a:p>
        </p:txBody>
      </p:sp>
      <p:sp>
        <p:nvSpPr>
          <p:cNvPr id="23" name="TextBox 22"/>
          <p:cNvSpPr txBox="1"/>
          <p:nvPr/>
        </p:nvSpPr>
        <p:spPr>
          <a:xfrm>
            <a:off x="8183879" y="292608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Không sử dụng</a:t>
            </a:r>
          </a:p>
        </p:txBody>
      </p:sp>
      <p:sp>
        <p:nvSpPr>
          <p:cNvPr id="24" name="TextBox 23"/>
          <p:cNvSpPr txBox="1"/>
          <p:nvPr/>
        </p:nvSpPr>
        <p:spPr>
          <a:xfrm>
            <a:off x="8183879" y="331012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trong EDA, xây dựng đặc trưng và lựa chọn mô hình</a:t>
            </a:r>
          </a:p>
        </p:txBody>
      </p:sp>
      <p:sp>
        <p:nvSpPr>
          <p:cNvPr id="25" name="TextBox 24"/>
          <p:cNvSpPr txBox="1"/>
          <p:nvPr/>
        </p:nvSpPr>
        <p:spPr>
          <a:xfrm>
            <a:off x="8183879" y="393192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Ghép sau dự đoán</a:t>
            </a:r>
          </a:p>
        </p:txBody>
      </p:sp>
      <p:sp>
        <p:nvSpPr>
          <p:cNvPr id="26" name="TextBox 25"/>
          <p:cNvSpPr txBox="1"/>
          <p:nvPr/>
        </p:nvSpPr>
        <p:spPr>
          <a:xfrm>
            <a:off x="8183879" y="431596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nhãn chỉ được ghép khi dự đoán đã được lưu</a:t>
            </a:r>
          </a:p>
        </p:txBody>
      </p:sp>
      <p:sp>
        <p:nvSpPr>
          <p:cNvPr id="27" name="TextBox 26"/>
          <p:cNvSpPr txBox="1"/>
          <p:nvPr/>
        </p:nvSpPr>
        <p:spPr>
          <a:xfrm>
            <a:off x="8183879" y="493776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Truy vết được</a:t>
            </a:r>
          </a:p>
        </p:txBody>
      </p:sp>
      <p:sp>
        <p:nvSpPr>
          <p:cNvPr id="28" name="TextBox 27"/>
          <p:cNvSpPr txBox="1"/>
          <p:nvPr/>
        </p:nvSpPr>
        <p:spPr>
          <a:xfrm>
            <a:off x="8183879" y="532180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metadata ghi trạng thái ghép nhãn và mã băm SHA-256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Kiến trúc pipeline dữ liệu Bronze–Silver–Gold</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Mỗi tầng lưu kết quả kèm mã băm và metadata, bảo đảm khả năng truy vết và tái lập</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report/figures/pipeline.pdf; handoff/DATA_WALKTHROUGH.md; outputs/*/run_info.json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6 / 20</a:t>
            </a:r>
          </a:p>
        </p:txBody>
      </p:sp>
      <p:sp>
        <p:nvSpPr>
          <p:cNvPr id="7" name="Rounded Rectangle 6"/>
          <p:cNvSpPr/>
          <p:nvPr/>
        </p:nvSpPr>
        <p:spPr>
          <a:xfrm>
            <a:off x="4345228" y="2286000"/>
            <a:ext cx="3507638" cy="310896"/>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5228" y="2286000"/>
            <a:ext cx="3507638" cy="310896"/>
          </a:xfrm>
          <a:prstGeom prst="rect">
            <a:avLst/>
          </a:prstGeom>
          <a:noFill/>
        </p:spPr>
        <p:txBody>
          <a:bodyPr wrap="square" lIns="0" rIns="0" tIns="0" bIns="0" anchor="ctr"/>
          <a:lstStyle/>
          <a:p>
            <a:pPr algn="ctr">
              <a:spcAft>
                <a:spcPts val="0"/>
              </a:spcAft>
            </a:pPr>
            <a:r>
              <a:rPr sz="1200" b="1">
                <a:solidFill>
                  <a:srgbClr val="B37800"/>
                </a:solidFill>
                <a:latin typeface="Arial"/>
              </a:rPr>
              <a:t>Đối chiếu Pandas–PySpark: sai khác 0</a:t>
            </a:r>
          </a:p>
        </p:txBody>
      </p:sp>
      <p:sp>
        <p:nvSpPr>
          <p:cNvPr id="9" name="Rounded Rectangle 8"/>
          <p:cNvSpPr/>
          <p:nvPr/>
        </p:nvSpPr>
        <p:spPr>
          <a:xfrm>
            <a:off x="841248"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Bronze</a:t>
            </a:r>
          </a:p>
        </p:txBody>
      </p:sp>
      <p:sp>
        <p:nvSpPr>
          <p:cNvPr id="11" name="TextBox 10"/>
          <p:cNvSpPr txBox="1"/>
          <p:nvPr/>
        </p:nvSpPr>
        <p:spPr>
          <a:xfrm>
            <a:off x="950976"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Text gốc</a:t>
            </a:r>
          </a:p>
        </p:txBody>
      </p:sp>
      <p:sp>
        <p:nvSpPr>
          <p:cNvPr id="12" name="TextBox 11"/>
          <p:cNvSpPr txBox="1"/>
          <p:nvPr/>
        </p:nvSpPr>
        <p:spPr>
          <a:xfrm>
            <a:off x="950976"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train, test,
RUL_FD00x</a:t>
            </a:r>
          </a:p>
        </p:txBody>
      </p:sp>
      <p:cxnSp>
        <p:nvCxnSpPr>
          <p:cNvPr id="13" name="Connector 12"/>
          <p:cNvCxnSpPr/>
          <p:nvPr/>
        </p:nvCxnSpPr>
        <p:spPr>
          <a:xfrm>
            <a:off x="2432304" y="3451860"/>
            <a:ext cx="17922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29814"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39542"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Kiểm tra</a:t>
            </a:r>
          </a:p>
        </p:txBody>
      </p:sp>
      <p:sp>
        <p:nvSpPr>
          <p:cNvPr id="16" name="TextBox 15"/>
          <p:cNvSpPr txBox="1"/>
          <p:nvPr/>
        </p:nvSpPr>
        <p:spPr>
          <a:xfrm>
            <a:off x="2739542"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Reader</a:t>
            </a:r>
          </a:p>
        </p:txBody>
      </p:sp>
      <p:sp>
        <p:nvSpPr>
          <p:cNvPr id="17" name="TextBox 16"/>
          <p:cNvSpPr txBox="1"/>
          <p:nvPr/>
        </p:nvSpPr>
        <p:spPr>
          <a:xfrm>
            <a:off x="2739542"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26 trường, kiểu,
khóa, cycle</a:t>
            </a:r>
          </a:p>
        </p:txBody>
      </p:sp>
      <p:cxnSp>
        <p:nvCxnSpPr>
          <p:cNvPr id="18" name="Connector 17"/>
          <p:cNvCxnSpPr/>
          <p:nvPr/>
        </p:nvCxnSpPr>
        <p:spPr>
          <a:xfrm>
            <a:off x="4220870" y="3451860"/>
            <a:ext cx="17922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418380"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28108"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Silver</a:t>
            </a:r>
          </a:p>
        </p:txBody>
      </p:sp>
      <p:sp>
        <p:nvSpPr>
          <p:cNvPr id="21" name="TextBox 20"/>
          <p:cNvSpPr txBox="1"/>
          <p:nvPr/>
        </p:nvSpPr>
        <p:spPr>
          <a:xfrm>
            <a:off x="4528108"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Parquet</a:t>
            </a:r>
          </a:p>
        </p:txBody>
      </p:sp>
      <p:sp>
        <p:nvSpPr>
          <p:cNvPr id="22" name="TextBox 21"/>
          <p:cNvSpPr txBox="1"/>
          <p:nvPr/>
        </p:nvSpPr>
        <p:spPr>
          <a:xfrm>
            <a:off x="4528108"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observations
33.727 dòng</a:t>
            </a:r>
          </a:p>
        </p:txBody>
      </p:sp>
      <p:cxnSp>
        <p:nvCxnSpPr>
          <p:cNvPr id="23" name="Connector 22"/>
          <p:cNvCxnSpPr/>
          <p:nvPr/>
        </p:nvCxnSpPr>
        <p:spPr>
          <a:xfrm>
            <a:off x="6009436" y="3451860"/>
            <a:ext cx="179223"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06947"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16675"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Gold</a:t>
            </a:r>
          </a:p>
        </p:txBody>
      </p:sp>
      <p:sp>
        <p:nvSpPr>
          <p:cNvPr id="26" name="TextBox 25"/>
          <p:cNvSpPr txBox="1"/>
          <p:nvPr/>
        </p:nvSpPr>
        <p:spPr>
          <a:xfrm>
            <a:off x="6316675"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Parquet + SQLite</a:t>
            </a:r>
          </a:p>
        </p:txBody>
      </p:sp>
      <p:sp>
        <p:nvSpPr>
          <p:cNvPr id="27" name="TextBox 26"/>
          <p:cNvSpPr txBox="1"/>
          <p:nvPr/>
        </p:nvSpPr>
        <p:spPr>
          <a:xfrm>
            <a:off x="6316675"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engine_summary
200 dòng</a:t>
            </a:r>
          </a:p>
        </p:txBody>
      </p:sp>
      <p:cxnSp>
        <p:nvCxnSpPr>
          <p:cNvPr id="28" name="Connector 27"/>
          <p:cNvCxnSpPr/>
          <p:nvPr/>
        </p:nvCxnSpPr>
        <p:spPr>
          <a:xfrm>
            <a:off x="7798003" y="3451860"/>
            <a:ext cx="17922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995513" y="2697480"/>
            <a:ext cx="1572768" cy="1508760"/>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05241" y="2807208"/>
            <a:ext cx="1353312" cy="310896"/>
          </a:xfrm>
          <a:prstGeom prst="rect">
            <a:avLst/>
          </a:prstGeom>
          <a:noFill/>
        </p:spPr>
        <p:txBody>
          <a:bodyPr wrap="square" lIns="0" rIns="0" tIns="0" bIns="0" anchor="t"/>
          <a:lstStyle/>
          <a:p>
            <a:pPr algn="l">
              <a:spcAft>
                <a:spcPts val="0"/>
              </a:spcAft>
            </a:pPr>
            <a:r>
              <a:rPr sz="1500" b="1">
                <a:solidFill>
                  <a:srgbClr val="FFFFFF"/>
                </a:solidFill>
                <a:latin typeface="Arial"/>
              </a:rPr>
              <a:t>Đặc trưng</a:t>
            </a:r>
          </a:p>
        </p:txBody>
      </p:sp>
      <p:sp>
        <p:nvSpPr>
          <p:cNvPr id="31" name="TextBox 30"/>
          <p:cNvSpPr txBox="1"/>
          <p:nvPr/>
        </p:nvSpPr>
        <p:spPr>
          <a:xfrm>
            <a:off x="8105241" y="3127248"/>
            <a:ext cx="1353312" cy="274320"/>
          </a:xfrm>
          <a:prstGeom prst="rect">
            <a:avLst/>
          </a:prstGeom>
          <a:noFill/>
        </p:spPr>
        <p:txBody>
          <a:bodyPr wrap="square" lIns="0" rIns="0" tIns="0" bIns="0" anchor="t"/>
          <a:lstStyle/>
          <a:p>
            <a:pPr algn="l">
              <a:spcAft>
                <a:spcPts val="0"/>
              </a:spcAft>
            </a:pPr>
            <a:r>
              <a:rPr sz="1200" b="1">
                <a:solidFill>
                  <a:srgbClr val="C9D6F0"/>
                </a:solidFill>
                <a:latin typeface="Arial"/>
              </a:rPr>
              <a:t>Window 30</a:t>
            </a:r>
          </a:p>
        </p:txBody>
      </p:sp>
      <p:sp>
        <p:nvSpPr>
          <p:cNvPr id="32" name="TextBox 31"/>
          <p:cNvSpPr txBox="1"/>
          <p:nvPr/>
        </p:nvSpPr>
        <p:spPr>
          <a:xfrm>
            <a:off x="8105241" y="3474720"/>
            <a:ext cx="1389888" cy="685800"/>
          </a:xfrm>
          <a:prstGeom prst="rect">
            <a:avLst/>
          </a:prstGeom>
          <a:noFill/>
        </p:spPr>
        <p:txBody>
          <a:bodyPr wrap="square" lIns="0" rIns="0" tIns="0" bIns="0" anchor="t"/>
          <a:lstStyle/>
          <a:p>
            <a:pPr algn="l">
              <a:spcAft>
                <a:spcPts val="0"/>
              </a:spcAft>
            </a:pPr>
            <a:r>
              <a:rPr sz="1150" b="0">
                <a:solidFill>
                  <a:srgbClr val="FFFFFF"/>
                </a:solidFill>
                <a:latin typeface="Arial"/>
              </a:rPr>
              <a:t>27.927 dòng
126 đặc trưng</a:t>
            </a:r>
          </a:p>
        </p:txBody>
      </p:sp>
      <p:cxnSp>
        <p:nvCxnSpPr>
          <p:cNvPr id="33" name="Connector 32"/>
          <p:cNvCxnSpPr/>
          <p:nvPr/>
        </p:nvCxnSpPr>
        <p:spPr>
          <a:xfrm>
            <a:off x="9586569" y="3451860"/>
            <a:ext cx="179223"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784080" y="2697480"/>
            <a:ext cx="1572768" cy="15087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93807" y="2807208"/>
            <a:ext cx="1353312" cy="310896"/>
          </a:xfrm>
          <a:prstGeom prst="rect">
            <a:avLst/>
          </a:prstGeom>
          <a:noFill/>
        </p:spPr>
        <p:txBody>
          <a:bodyPr wrap="square" lIns="0" rIns="0" tIns="0" bIns="0" anchor="t"/>
          <a:lstStyle/>
          <a:p>
            <a:pPr algn="l">
              <a:spcAft>
                <a:spcPts val="0"/>
              </a:spcAft>
            </a:pPr>
            <a:r>
              <a:rPr sz="1500" b="1">
                <a:solidFill>
                  <a:srgbClr val="FFFFFF"/>
                </a:solidFill>
                <a:latin typeface="Arial"/>
              </a:rPr>
              <a:t>Mô hình</a:t>
            </a:r>
          </a:p>
        </p:txBody>
      </p:sp>
      <p:sp>
        <p:nvSpPr>
          <p:cNvPr id="36" name="TextBox 35"/>
          <p:cNvSpPr txBox="1"/>
          <p:nvPr/>
        </p:nvSpPr>
        <p:spPr>
          <a:xfrm>
            <a:off x="9893807" y="3127248"/>
            <a:ext cx="1353312" cy="274320"/>
          </a:xfrm>
          <a:prstGeom prst="rect">
            <a:avLst/>
          </a:prstGeom>
          <a:noFill/>
        </p:spPr>
        <p:txBody>
          <a:bodyPr wrap="square" lIns="0" rIns="0" tIns="0" bIns="0" anchor="t"/>
          <a:lstStyle/>
          <a:p>
            <a:pPr algn="l">
              <a:spcAft>
                <a:spcPts val="0"/>
              </a:spcAft>
            </a:pPr>
            <a:r>
              <a:rPr sz="1200" b="1">
                <a:solidFill>
                  <a:srgbClr val="C9D6F0"/>
                </a:solidFill>
                <a:latin typeface="Arial"/>
              </a:rPr>
              <a:t>HGB</a:t>
            </a:r>
          </a:p>
        </p:txBody>
      </p:sp>
      <p:sp>
        <p:nvSpPr>
          <p:cNvPr id="37" name="TextBox 36"/>
          <p:cNvSpPr txBox="1"/>
          <p:nvPr/>
        </p:nvSpPr>
        <p:spPr>
          <a:xfrm>
            <a:off x="9893807" y="3474720"/>
            <a:ext cx="1389888" cy="685800"/>
          </a:xfrm>
          <a:prstGeom prst="rect">
            <a:avLst/>
          </a:prstGeom>
          <a:noFill/>
        </p:spPr>
        <p:txBody>
          <a:bodyPr wrap="square" lIns="0" rIns="0" tIns="0" bIns="0" anchor="t"/>
          <a:lstStyle/>
          <a:p>
            <a:pPr algn="l">
              <a:spcAft>
                <a:spcPts val="0"/>
              </a:spcAft>
            </a:pPr>
            <a:r>
              <a:rPr sz="1150" b="0">
                <a:solidFill>
                  <a:srgbClr val="FFFFFF"/>
                </a:solidFill>
                <a:latin typeface="Arial"/>
              </a:rPr>
              <a:t>GroupKFold →
refit → test</a:t>
            </a:r>
          </a:p>
        </p:txBody>
      </p:sp>
      <p:cxnSp>
        <p:nvCxnSpPr>
          <p:cNvPr id="38" name="Connector 37"/>
          <p:cNvCxnSpPr/>
          <p:nvPr/>
        </p:nvCxnSpPr>
        <p:spPr>
          <a:xfrm>
            <a:off x="3416198" y="4233672"/>
            <a:ext cx="0" cy="521208"/>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450238" y="4773168"/>
            <a:ext cx="3931920" cy="77724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587398" y="4846320"/>
            <a:ext cx="3657600" cy="347472"/>
          </a:xfrm>
          <a:prstGeom prst="rect">
            <a:avLst/>
          </a:prstGeom>
          <a:noFill/>
        </p:spPr>
        <p:txBody>
          <a:bodyPr wrap="square" lIns="0" rIns="0" tIns="0" bIns="0" anchor="t"/>
          <a:lstStyle/>
          <a:p>
            <a:pPr algn="l">
              <a:spcAft>
                <a:spcPts val="0"/>
              </a:spcAft>
            </a:pPr>
            <a:r>
              <a:rPr sz="1300" b="1">
                <a:solidFill>
                  <a:srgbClr val="21409A"/>
                </a:solidFill>
                <a:latin typeface="Arial"/>
              </a:rPr>
              <a:t>Khử nhiễu → Health Index → bất thường</a:t>
            </a:r>
          </a:p>
        </p:txBody>
      </p:sp>
      <p:sp>
        <p:nvSpPr>
          <p:cNvPr id="41" name="TextBox 40"/>
          <p:cNvSpPr txBox="1"/>
          <p:nvPr/>
        </p:nvSpPr>
        <p:spPr>
          <a:xfrm>
            <a:off x="1587398" y="5193792"/>
            <a:ext cx="3657600" cy="274320"/>
          </a:xfrm>
          <a:prstGeom prst="rect">
            <a:avLst/>
          </a:prstGeom>
          <a:noFill/>
        </p:spPr>
        <p:txBody>
          <a:bodyPr wrap="square" lIns="0" rIns="0" tIns="0" bIns="0" anchor="t"/>
          <a:lstStyle/>
          <a:p>
            <a:pPr algn="l">
              <a:spcAft>
                <a:spcPts val="0"/>
              </a:spcAft>
            </a:pPr>
            <a:r>
              <a:rPr sz="1150" b="0">
                <a:solidFill>
                  <a:srgbClr val="5A6B7B"/>
                </a:solidFill>
                <a:latin typeface="Arial"/>
              </a:rPr>
              <a:t>chỉ dùng tập train · slide 9–12</a:t>
            </a:r>
          </a:p>
        </p:txBody>
      </p:sp>
      <p:cxnSp>
        <p:nvCxnSpPr>
          <p:cNvPr id="42" name="Connector 41"/>
          <p:cNvCxnSpPr/>
          <p:nvPr/>
        </p:nvCxnSpPr>
        <p:spPr>
          <a:xfrm>
            <a:off x="10570463" y="4233672"/>
            <a:ext cx="0" cy="521208"/>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8705088" y="4773168"/>
            <a:ext cx="2651760" cy="77724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42248" y="4846320"/>
            <a:ext cx="2377440" cy="347472"/>
          </a:xfrm>
          <a:prstGeom prst="rect">
            <a:avLst/>
          </a:prstGeom>
          <a:noFill/>
        </p:spPr>
        <p:txBody>
          <a:bodyPr wrap="square" lIns="0" rIns="0" tIns="0" bIns="0" anchor="t"/>
          <a:lstStyle/>
          <a:p>
            <a:pPr algn="l">
              <a:spcAft>
                <a:spcPts val="0"/>
              </a:spcAft>
            </a:pPr>
            <a:r>
              <a:rPr sz="1300" b="1">
                <a:solidFill>
                  <a:srgbClr val="21409A"/>
                </a:solidFill>
                <a:latin typeface="Arial"/>
              </a:rPr>
              <a:t>Cảnh báo, lịch bảo trì</a:t>
            </a:r>
          </a:p>
        </p:txBody>
      </p:sp>
      <p:sp>
        <p:nvSpPr>
          <p:cNvPr id="45" name="TextBox 44"/>
          <p:cNvSpPr txBox="1"/>
          <p:nvPr/>
        </p:nvSpPr>
        <p:spPr>
          <a:xfrm>
            <a:off x="8842248" y="5193792"/>
            <a:ext cx="2377440" cy="274320"/>
          </a:xfrm>
          <a:prstGeom prst="rect">
            <a:avLst/>
          </a:prstGeom>
          <a:noFill/>
        </p:spPr>
        <p:txBody>
          <a:bodyPr wrap="square" lIns="0" rIns="0" tIns="0" bIns="0" anchor="t"/>
          <a:lstStyle/>
          <a:p>
            <a:pPr algn="l">
              <a:spcAft>
                <a:spcPts val="0"/>
              </a:spcAft>
            </a:pPr>
            <a:r>
              <a:rPr sz="1150" b="0">
                <a:solidFill>
                  <a:srgbClr val="5A6B7B"/>
                </a:solidFill>
                <a:latin typeface="Arial"/>
              </a:rPr>
              <a:t>slide 13–16</a:t>
            </a:r>
          </a:p>
        </p:txBody>
      </p:sp>
      <p:sp>
        <p:nvSpPr>
          <p:cNvPr id="46" name="TextBox 45"/>
          <p:cNvSpPr txBox="1"/>
          <p:nvPr/>
        </p:nvSpPr>
        <p:spPr>
          <a:xfrm>
            <a:off x="841248" y="5687568"/>
            <a:ext cx="10515600" cy="320040"/>
          </a:xfrm>
          <a:prstGeom prst="rect">
            <a:avLst/>
          </a:prstGeom>
          <a:noFill/>
        </p:spPr>
        <p:txBody>
          <a:bodyPr wrap="square" lIns="0" rIns="0" tIns="0" bIns="0" anchor="t"/>
          <a:lstStyle/>
          <a:p>
            <a:pPr algn="l">
              <a:spcAft>
                <a:spcPts val="0"/>
              </a:spcAft>
            </a:pPr>
            <a:r>
              <a:rPr sz="1300" b="0">
                <a:solidFill>
                  <a:srgbClr val="5A6B7B"/>
                </a:solidFill>
                <a:latin typeface="Arial"/>
              </a:rPr>
              <a:t>Đặc trưng và nhãn được ghép bằng đủ ba cột khóa, kiểm tra quan hệ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Đối chiếu hai cách triển khai Pandas và PySpark</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Kết quả trùng khớp ở mọi tầng dữ liệu; ở quy mô 10×, PySpark cục bộ nhanh hơn Pandas khoảng 3,4 lần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outputs/etl/parity.json; outputs/benchmarks/20260929/measurements.csv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7 / 20</a:t>
            </a:r>
          </a:p>
        </p:txBody>
      </p:sp>
      <p:graphicFrame>
        <p:nvGraphicFramePr>
          <p:cNvPr id="7" name="Table 6"/>
          <p:cNvGraphicFramePr>
            <a:graphicFrameLocks noGrp="1"/>
          </p:cNvGraphicFramePr>
          <p:nvPr/>
        </p:nvGraphicFramePr>
        <p:xfrm>
          <a:off x="841248" y="2286000"/>
          <a:ext cx="5577840" cy="1828800"/>
        </p:xfrm>
        <a:graphic>
          <a:graphicData uri="http://schemas.openxmlformats.org/drawingml/2006/table">
            <a:tbl>
              <a:tblPr firstRow="1" bandRow="1">
                <a:tableStyleId>{5C22544A-7EE6-4342-B048-85BDC9FD1C3A}</a:tableStyleId>
              </a:tblPr>
              <a:tblGrid>
                <a:gridCol w="2194560"/>
                <a:gridCol w="1051560"/>
                <a:gridCol w="1417320"/>
                <a:gridCol w="914400"/>
              </a:tblGrid>
              <a:tr h="457200">
                <a:tc>
                  <a:txBody>
                    <a:bodyPr wrap="square"/>
                    <a:lstStyle/>
                    <a:p>
                      <a:r>
                        <a:rPr sz="1250" b="1">
                          <a:solidFill>
                            <a:srgbClr val="FFFFFF"/>
                          </a:solidFill>
                          <a:latin typeface="Arial"/>
                        </a:rPr>
                        <a:t>Boundary</a:t>
                      </a:r>
                    </a:p>
                  </a:txBody>
                  <a:tcPr marL="73152" marR="73152" marT="27432" marB="27432" anchor="ctr">
                    <a:solidFill>
                      <a:srgbClr val="21409A"/>
                    </a:solidFill>
                  </a:tcPr>
                </a:tc>
                <a:tc>
                  <a:txBody>
                    <a:bodyPr wrap="square"/>
                    <a:lstStyle/>
                    <a:p>
                      <a:r>
                        <a:rPr sz="1250" b="1">
                          <a:solidFill>
                            <a:srgbClr val="FFFFFF"/>
                          </a:solidFill>
                          <a:latin typeface="Arial"/>
                        </a:rPr>
                        <a:t>Số dòng</a:t>
                      </a:r>
                    </a:p>
                  </a:txBody>
                  <a:tcPr marL="73152" marR="73152" marT="27432" marB="27432" anchor="ctr">
                    <a:solidFill>
                      <a:srgbClr val="21409A"/>
                    </a:solidFill>
                  </a:tcPr>
                </a:tc>
                <a:tc>
                  <a:txBody>
                    <a:bodyPr wrap="square"/>
                    <a:lstStyle/>
                    <a:p>
                      <a:r>
                        <a:rPr sz="1250" b="1">
                          <a:solidFill>
                            <a:srgbClr val="FFFFFF"/>
                          </a:solidFill>
                          <a:latin typeface="Arial"/>
                        </a:rPr>
                        <a:t>Sai khác lớn nhất</a:t>
                      </a:r>
                    </a:p>
                  </a:txBody>
                  <a:tcPr marL="73152" marR="73152" marT="27432" marB="27432" anchor="ctr">
                    <a:solidFill>
                      <a:srgbClr val="21409A"/>
                    </a:solidFill>
                  </a:tcPr>
                </a:tc>
                <a:tc>
                  <a:txBody>
                    <a:bodyPr wrap="square"/>
                    <a:lstStyle/>
                    <a:p>
                      <a:r>
                        <a:rPr sz="1250" b="1">
                          <a:solidFill>
                            <a:srgbClr val="FFFFFF"/>
                          </a:solidFill>
                          <a:latin typeface="Arial"/>
                        </a:rPr>
                        <a:t>Kết quả</a:t>
                      </a:r>
                    </a:p>
                  </a:txBody>
                  <a:tcPr marL="73152" marR="73152" marT="27432" marB="27432" anchor="ctr">
                    <a:solidFill>
                      <a:srgbClr val="21409A"/>
                    </a:solidFill>
                  </a:tcPr>
                </a:tc>
              </a:tr>
              <a:tr h="457200">
                <a:tc>
                  <a:txBody>
                    <a:bodyPr wrap="square"/>
                    <a:lstStyle/>
                    <a:p>
                      <a:r>
                        <a:rPr sz="1250" b="0">
                          <a:solidFill>
                            <a:srgbClr val="1B2733"/>
                          </a:solidFill>
                          <a:latin typeface="Arial"/>
                        </a:rPr>
                        <a:t>Silver observations</a:t>
                      </a:r>
                    </a:p>
                  </a:txBody>
                  <a:tcPr marL="73152" marR="73152" marT="27432" marB="27432" anchor="ctr">
                    <a:solidFill>
                      <a:srgbClr val="FFFFFF"/>
                    </a:solidFill>
                  </a:tcPr>
                </a:tc>
                <a:tc>
                  <a:txBody>
                    <a:bodyPr wrap="square"/>
                    <a:lstStyle/>
                    <a:p>
                      <a:r>
                        <a:rPr sz="1250" b="0">
                          <a:solidFill>
                            <a:srgbClr val="1B2733"/>
                          </a:solidFill>
                          <a:latin typeface="Arial"/>
                        </a:rPr>
                        <a:t>33.727</a:t>
                      </a:r>
                    </a:p>
                  </a:txBody>
                  <a:tcPr marL="73152" marR="73152" marT="27432" marB="27432" anchor="ctr">
                    <a:solidFill>
                      <a:srgbClr val="FFFFFF"/>
                    </a:solidFill>
                  </a:tcPr>
                </a:tc>
                <a:tc>
                  <a:txBody>
                    <a:bodyPr wrap="square"/>
                    <a:lstStyle/>
                    <a:p>
                      <a:r>
                        <a:rPr sz="1250" b="0">
                          <a:solidFill>
                            <a:srgbClr val="1B2733"/>
                          </a:solidFill>
                          <a:latin typeface="Arial"/>
                        </a:rPr>
                        <a:t>0</a:t>
                      </a:r>
                    </a:p>
                  </a:txBody>
                  <a:tcPr marL="73152" marR="73152" marT="27432" marB="27432" anchor="ctr">
                    <a:solidFill>
                      <a:srgbClr val="FFFFFF"/>
                    </a:solidFill>
                  </a:tcPr>
                </a:tc>
                <a:tc>
                  <a:txBody>
                    <a:bodyPr wrap="square"/>
                    <a:lstStyle/>
                    <a:p>
                      <a:r>
                        <a:rPr sz="1250" b="0">
                          <a:solidFill>
                            <a:srgbClr val="1B2733"/>
                          </a:solidFill>
                          <a:latin typeface="Arial"/>
                        </a:rPr>
                        <a:t>Khớp</a:t>
                      </a:r>
                    </a:p>
                  </a:txBody>
                  <a:tcPr marL="73152" marR="73152" marT="27432" marB="27432" anchor="ctr">
                    <a:solidFill>
                      <a:srgbClr val="FFFFFF"/>
                    </a:solidFill>
                  </a:tcPr>
                </a:tc>
              </a:tr>
              <a:tr h="457200">
                <a:tc>
                  <a:txBody>
                    <a:bodyPr wrap="square"/>
                    <a:lstStyle/>
                    <a:p>
                      <a:r>
                        <a:rPr sz="1250" b="0">
                          <a:solidFill>
                            <a:srgbClr val="1B2733"/>
                          </a:solidFill>
                          <a:latin typeface="Arial"/>
                        </a:rPr>
                        <a:t>Silver train_targets</a:t>
                      </a:r>
                    </a:p>
                  </a:txBody>
                  <a:tcPr marL="73152" marR="73152" marT="27432" marB="27432" anchor="ctr">
                    <a:solidFill>
                      <a:srgbClr val="EAF0FA"/>
                    </a:solidFill>
                  </a:tcPr>
                </a:tc>
                <a:tc>
                  <a:txBody>
                    <a:bodyPr wrap="square"/>
                    <a:lstStyle/>
                    <a:p>
                      <a:r>
                        <a:rPr sz="1250" b="0">
                          <a:solidFill>
                            <a:srgbClr val="1B2733"/>
                          </a:solidFill>
                          <a:latin typeface="Arial"/>
                        </a:rPr>
                        <a:t>20.631</a:t>
                      </a:r>
                    </a:p>
                  </a:txBody>
                  <a:tcPr marL="73152" marR="73152" marT="27432" marB="27432" anchor="ctr">
                    <a:solidFill>
                      <a:srgbClr val="EAF0FA"/>
                    </a:solidFill>
                  </a:tcPr>
                </a:tc>
                <a:tc>
                  <a:txBody>
                    <a:bodyPr wrap="square"/>
                    <a:lstStyle/>
                    <a:p>
                      <a:r>
                        <a:rPr sz="1250" b="0">
                          <a:solidFill>
                            <a:srgbClr val="1B2733"/>
                          </a:solidFill>
                          <a:latin typeface="Arial"/>
                        </a:rPr>
                        <a:t>0</a:t>
                      </a:r>
                    </a:p>
                  </a:txBody>
                  <a:tcPr marL="73152" marR="73152" marT="27432" marB="27432" anchor="ctr">
                    <a:solidFill>
                      <a:srgbClr val="EAF0FA"/>
                    </a:solidFill>
                  </a:tcPr>
                </a:tc>
                <a:tc>
                  <a:txBody>
                    <a:bodyPr wrap="square"/>
                    <a:lstStyle/>
                    <a:p>
                      <a:r>
                        <a:rPr sz="1250" b="0">
                          <a:solidFill>
                            <a:srgbClr val="1B2733"/>
                          </a:solidFill>
                          <a:latin typeface="Arial"/>
                        </a:rPr>
                        <a:t>Khớp</a:t>
                      </a:r>
                    </a:p>
                  </a:txBody>
                  <a:tcPr marL="73152" marR="73152" marT="27432" marB="27432" anchor="ctr">
                    <a:solidFill>
                      <a:srgbClr val="EAF0FA"/>
                    </a:solidFill>
                  </a:tcPr>
                </a:tc>
              </a:tr>
              <a:tr h="457200">
                <a:tc>
                  <a:txBody>
                    <a:bodyPr wrap="square"/>
                    <a:lstStyle/>
                    <a:p>
                      <a:r>
                        <a:rPr sz="1250" b="0">
                          <a:solidFill>
                            <a:srgbClr val="1B2733"/>
                          </a:solidFill>
                          <a:latin typeface="Arial"/>
                        </a:rPr>
                        <a:t>Gold engine_summary</a:t>
                      </a:r>
                    </a:p>
                  </a:txBody>
                  <a:tcPr marL="73152" marR="73152" marT="27432" marB="27432" anchor="ctr">
                    <a:solidFill>
                      <a:srgbClr val="FFFFFF"/>
                    </a:solidFill>
                  </a:tcPr>
                </a:tc>
                <a:tc>
                  <a:txBody>
                    <a:bodyPr wrap="square"/>
                    <a:lstStyle/>
                    <a:p>
                      <a:r>
                        <a:rPr sz="1250" b="0">
                          <a:solidFill>
                            <a:srgbClr val="1B2733"/>
                          </a:solidFill>
                          <a:latin typeface="Arial"/>
                        </a:rPr>
                        <a:t>200</a:t>
                      </a:r>
                    </a:p>
                  </a:txBody>
                  <a:tcPr marL="73152" marR="73152" marT="27432" marB="27432" anchor="ctr">
                    <a:solidFill>
                      <a:srgbClr val="FFFFFF"/>
                    </a:solidFill>
                  </a:tcPr>
                </a:tc>
                <a:tc>
                  <a:txBody>
                    <a:bodyPr wrap="square"/>
                    <a:lstStyle/>
                    <a:p>
                      <a:r>
                        <a:rPr sz="1250" b="0">
                          <a:solidFill>
                            <a:srgbClr val="1B2733"/>
                          </a:solidFill>
                          <a:latin typeface="Arial"/>
                        </a:rPr>
                        <a:t>0</a:t>
                      </a:r>
                    </a:p>
                  </a:txBody>
                  <a:tcPr marL="73152" marR="73152" marT="27432" marB="27432" anchor="ctr">
                    <a:solidFill>
                      <a:srgbClr val="FFFFFF"/>
                    </a:solidFill>
                  </a:tcPr>
                </a:tc>
                <a:tc>
                  <a:txBody>
                    <a:bodyPr wrap="square"/>
                    <a:lstStyle/>
                    <a:p>
                      <a:r>
                        <a:rPr sz="1250" b="0">
                          <a:solidFill>
                            <a:srgbClr val="1B2733"/>
                          </a:solidFill>
                          <a:latin typeface="Arial"/>
                        </a:rPr>
                        <a:t>Khớp</a:t>
                      </a:r>
                    </a:p>
                  </a:txBody>
                  <a:tcPr marL="73152" marR="73152" marT="27432" marB="27432" anchor="ctr">
                    <a:solidFill>
                      <a:srgbClr val="FFFFFF"/>
                    </a:solidFill>
                  </a:tcPr>
                </a:tc>
              </a:tr>
            </a:tbl>
          </a:graphicData>
        </a:graphic>
      </p:graphicFrame>
      <p:sp>
        <p:nvSpPr>
          <p:cNvPr id="8" name="Rounded Rectangle 7"/>
          <p:cNvSpPr/>
          <p:nvPr/>
        </p:nvSpPr>
        <p:spPr>
          <a:xfrm>
            <a:off x="841248" y="4297680"/>
            <a:ext cx="5577840" cy="16916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434840"/>
            <a:ext cx="5212080" cy="310896"/>
          </a:xfrm>
          <a:prstGeom prst="rect">
            <a:avLst/>
          </a:prstGeom>
          <a:noFill/>
        </p:spPr>
        <p:txBody>
          <a:bodyPr wrap="square" lIns="0" rIns="0" tIns="0" bIns="0" anchor="t"/>
          <a:lstStyle/>
          <a:p>
            <a:pPr algn="l">
              <a:spcAft>
                <a:spcPts val="0"/>
              </a:spcAft>
            </a:pPr>
            <a:r>
              <a:rPr sz="1400" b="1">
                <a:solidFill>
                  <a:srgbClr val="21409A"/>
                </a:solidFill>
                <a:latin typeface="Arial"/>
              </a:rPr>
              <a:t>Đối chiếu ở mức từng giá trị</a:t>
            </a:r>
          </a:p>
        </p:txBody>
      </p:sp>
      <p:sp>
        <p:nvSpPr>
          <p:cNvPr id="10" name="TextBox 9"/>
          <p:cNvSpPr txBox="1"/>
          <p:nvPr/>
        </p:nvSpPr>
        <p:spPr>
          <a:xfrm>
            <a:off x="1051560" y="4800600"/>
            <a:ext cx="5212080" cy="1097280"/>
          </a:xfrm>
          <a:prstGeom prst="rect">
            <a:avLst/>
          </a:prstGeom>
          <a:noFill/>
        </p:spPr>
        <p:txBody>
          <a:bodyPr wrap="square" lIns="0" rIns="0" tIns="0" bIns="0" anchor="t"/>
          <a:lstStyle/>
          <a:p>
            <a:pPr algn="l">
              <a:spcAft>
                <a:spcPts val="0"/>
              </a:spcAft>
            </a:pPr>
            <a:r>
              <a:rPr sz="1300" b="0">
                <a:solidFill>
                  <a:srgbClr val="1B2733"/>
                </a:solidFill>
                <a:latin typeface="Arial"/>
              </a:rPr>
              <a:t>Rolling features: so toàn bộ 27.927 dòng × 126 đặc trưng, tolerance 10⁻⁷. Cùng window 30, độ lệch chuẩn mẫu và độ dốc tính theo từng động cơ.</a:t>
            </a:r>
          </a:p>
        </p:txBody>
      </p:sp>
      <p:graphicFrame>
        <p:nvGraphicFramePr>
          <p:cNvPr id="11" name="Chart 10"/>
          <p:cNvGraphicFramePr>
            <a:graphicFrameLocks noGrp="1"/>
          </p:cNvGraphicFramePr>
          <p:nvPr/>
        </p:nvGraphicFramePr>
        <p:xfrm>
          <a:off x="6675120" y="2240280"/>
          <a:ext cx="4681728" cy="3291840"/>
        </p:xfrm>
        <a:graphic>
          <a:graphicData uri="http://schemas.openxmlformats.org/drawingml/2006/chart">
            <c:chart xmlns:c="http://schemas.openxmlformats.org/drawingml/2006/chart" r:id="rId3"/>
          </a:graphicData>
        </a:graphic>
      </p:graphicFrame>
      <p:sp>
        <p:nvSpPr>
          <p:cNvPr id="12" name="TextBox 11"/>
          <p:cNvSpPr txBox="1"/>
          <p:nvPr/>
        </p:nvSpPr>
        <p:spPr>
          <a:xfrm>
            <a:off x="6675120" y="5596128"/>
            <a:ext cx="4681728" cy="411480"/>
          </a:xfrm>
          <a:prstGeom prst="rect">
            <a:avLst/>
          </a:prstGeom>
          <a:noFill/>
        </p:spPr>
        <p:txBody>
          <a:bodyPr wrap="square" lIns="0" rIns="0" tIns="0" bIns="0" anchor="t"/>
          <a:lstStyle/>
          <a:p>
            <a:pPr algn="l">
              <a:spcAft>
                <a:spcPts val="0"/>
              </a:spcAft>
            </a:pPr>
            <a:r>
              <a:rPr sz="1200" b="1">
                <a:solidFill>
                  <a:srgbClr val="21409A"/>
                </a:solidFill>
                <a:latin typeface="Arial"/>
              </a:rPr>
              <a:t>Không gồm thời gian khởi động Spark; đo trên một máy, chưa phải cluster.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khám phá dữ liệu</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Tuổi thọ động cơ dao động từ 128 đến 362 cycle; bảy cột không biến thiên trên toàn bộ tập train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outputs/eda/figures/engine_lifetimes.png; outputs/eda/tables/constant_engine_counts.csv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8 / 20</a:t>
            </a:r>
          </a:p>
        </p:txBody>
      </p:sp>
      <p:pic>
        <p:nvPicPr>
          <p:cNvPr id="7" name="Picture 6" descr="image.png"/>
          <p:cNvPicPr>
            <a:picLocks noChangeAspect="1"/>
          </p:cNvPicPr>
          <p:nvPr/>
        </p:nvPicPr>
        <p:blipFill>
          <a:blip r:embed="rId3"/>
          <a:stretch>
            <a:fillRect/>
          </a:stretch>
        </p:blipFill>
        <p:spPr>
          <a:xfrm>
            <a:off x="841248" y="2286000"/>
            <a:ext cx="6766560" cy="2297725"/>
          </a:xfrm>
          <a:prstGeom prst="rect">
            <a:avLst/>
          </a:prstGeom>
        </p:spPr>
      </p:pic>
      <p:sp>
        <p:nvSpPr>
          <p:cNvPr id="8" name="TextBox 7"/>
          <p:cNvSpPr txBox="1"/>
          <p:nvPr/>
        </p:nvSpPr>
        <p:spPr>
          <a:xfrm>
            <a:off x="84124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128</a:t>
            </a:r>
          </a:p>
        </p:txBody>
      </p:sp>
      <p:sp>
        <p:nvSpPr>
          <p:cNvPr id="9" name="TextBox 8"/>
          <p:cNvSpPr txBox="1"/>
          <p:nvPr/>
        </p:nvSpPr>
        <p:spPr>
          <a:xfrm>
            <a:off x="84124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Ngắn nhất (cycle)</a:t>
            </a:r>
          </a:p>
        </p:txBody>
      </p:sp>
      <p:sp>
        <p:nvSpPr>
          <p:cNvPr id="10" name="TextBox 9"/>
          <p:cNvSpPr txBox="1"/>
          <p:nvPr/>
        </p:nvSpPr>
        <p:spPr>
          <a:xfrm>
            <a:off x="253288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199</a:t>
            </a:r>
          </a:p>
        </p:txBody>
      </p:sp>
      <p:sp>
        <p:nvSpPr>
          <p:cNvPr id="11" name="TextBox 10"/>
          <p:cNvSpPr txBox="1"/>
          <p:nvPr/>
        </p:nvSpPr>
        <p:spPr>
          <a:xfrm>
            <a:off x="253288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vị (cycle)</a:t>
            </a:r>
          </a:p>
        </p:txBody>
      </p:sp>
      <p:sp>
        <p:nvSpPr>
          <p:cNvPr id="12" name="TextBox 11"/>
          <p:cNvSpPr txBox="1"/>
          <p:nvPr/>
        </p:nvSpPr>
        <p:spPr>
          <a:xfrm>
            <a:off x="422452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206,31</a:t>
            </a:r>
          </a:p>
        </p:txBody>
      </p:sp>
      <p:sp>
        <p:nvSpPr>
          <p:cNvPr id="13" name="TextBox 12"/>
          <p:cNvSpPr txBox="1"/>
          <p:nvPr/>
        </p:nvSpPr>
        <p:spPr>
          <a:xfrm>
            <a:off x="422452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bình (cycle)</a:t>
            </a:r>
          </a:p>
        </p:txBody>
      </p:sp>
      <p:sp>
        <p:nvSpPr>
          <p:cNvPr id="14" name="TextBox 13"/>
          <p:cNvSpPr txBox="1"/>
          <p:nvPr/>
        </p:nvSpPr>
        <p:spPr>
          <a:xfrm>
            <a:off x="591616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362</a:t>
            </a:r>
          </a:p>
        </p:txBody>
      </p:sp>
      <p:sp>
        <p:nvSpPr>
          <p:cNvPr id="15" name="TextBox 14"/>
          <p:cNvSpPr txBox="1"/>
          <p:nvPr/>
        </p:nvSpPr>
        <p:spPr>
          <a:xfrm>
            <a:off x="591616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Dài nhất (cycle)</a:t>
            </a:r>
          </a:p>
        </p:txBody>
      </p:sp>
      <p:sp>
        <p:nvSpPr>
          <p:cNvPr id="16" name="Rounded Rectangle 15"/>
          <p:cNvSpPr/>
          <p:nvPr/>
        </p:nvSpPr>
        <p:spPr>
          <a:xfrm>
            <a:off x="7955279" y="2286000"/>
            <a:ext cx="3401568" cy="37033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56448" y="2432304"/>
            <a:ext cx="3017520" cy="320040"/>
          </a:xfrm>
          <a:prstGeom prst="rect">
            <a:avLst/>
          </a:prstGeom>
          <a:noFill/>
        </p:spPr>
        <p:txBody>
          <a:bodyPr wrap="square" lIns="0" rIns="0" tIns="0" bIns="0" anchor="t"/>
          <a:lstStyle/>
          <a:p>
            <a:pPr algn="l">
              <a:spcAft>
                <a:spcPts val="0"/>
              </a:spcAft>
            </a:pPr>
            <a:r>
              <a:rPr sz="1450" b="1">
                <a:solidFill>
                  <a:srgbClr val="21409A"/>
                </a:solidFill>
                <a:latin typeface="Arial"/>
              </a:rPr>
              <a:t>Cột hằng trên 100/100 động cơ</a:t>
            </a:r>
          </a:p>
        </p:txBody>
      </p:sp>
      <p:sp>
        <p:nvSpPr>
          <p:cNvPr id="18" name="Rounded Rectangle 17"/>
          <p:cNvSpPr/>
          <p:nvPr/>
        </p:nvSpPr>
        <p:spPr>
          <a:xfrm>
            <a:off x="815644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a:t>
            </a:r>
          </a:p>
        </p:txBody>
      </p:sp>
      <p:sp>
        <p:nvSpPr>
          <p:cNvPr id="20" name="Rounded Rectangle 19"/>
          <p:cNvSpPr/>
          <p:nvPr/>
        </p:nvSpPr>
        <p:spPr>
          <a:xfrm>
            <a:off x="971092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1092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sensor_5</a:t>
            </a:r>
          </a:p>
        </p:txBody>
      </p:sp>
      <p:sp>
        <p:nvSpPr>
          <p:cNvPr id="22" name="Rounded Rectangle 21"/>
          <p:cNvSpPr/>
          <p:nvPr/>
        </p:nvSpPr>
        <p:spPr>
          <a:xfrm>
            <a:off x="815644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sensor_10</a:t>
            </a:r>
          </a:p>
        </p:txBody>
      </p:sp>
      <p:sp>
        <p:nvSpPr>
          <p:cNvPr id="24" name="Rounded Rectangle 23"/>
          <p:cNvSpPr/>
          <p:nvPr/>
        </p:nvSpPr>
        <p:spPr>
          <a:xfrm>
            <a:off x="971092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1092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sensor_16</a:t>
            </a:r>
          </a:p>
        </p:txBody>
      </p:sp>
      <p:sp>
        <p:nvSpPr>
          <p:cNvPr id="26" name="Rounded Rectangle 25"/>
          <p:cNvSpPr/>
          <p:nvPr/>
        </p:nvSpPr>
        <p:spPr>
          <a:xfrm>
            <a:off x="815644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5644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sensor_18</a:t>
            </a:r>
          </a:p>
        </p:txBody>
      </p:sp>
      <p:sp>
        <p:nvSpPr>
          <p:cNvPr id="28" name="Rounded Rectangle 27"/>
          <p:cNvSpPr/>
          <p:nvPr/>
        </p:nvSpPr>
        <p:spPr>
          <a:xfrm>
            <a:off x="971092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1092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sensor_19</a:t>
            </a:r>
          </a:p>
        </p:txBody>
      </p:sp>
      <p:sp>
        <p:nvSpPr>
          <p:cNvPr id="30" name="Rounded Rectangle 29"/>
          <p:cNvSpPr/>
          <p:nvPr/>
        </p:nvSpPr>
        <p:spPr>
          <a:xfrm>
            <a:off x="8156448" y="4306824"/>
            <a:ext cx="1463040" cy="384048"/>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306824"/>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setting_3</a:t>
            </a:r>
          </a:p>
        </p:txBody>
      </p:sp>
      <p:sp>
        <p:nvSpPr>
          <p:cNvPr id="32" name="TextBox 31"/>
          <p:cNvSpPr txBox="1"/>
          <p:nvPr/>
        </p:nvSpPr>
        <p:spPr>
          <a:xfrm>
            <a:off x="8156448" y="4846320"/>
            <a:ext cx="3017520" cy="365760"/>
          </a:xfrm>
          <a:prstGeom prst="rect">
            <a:avLst/>
          </a:prstGeom>
          <a:noFill/>
        </p:spPr>
        <p:txBody>
          <a:bodyPr wrap="square" lIns="0" rIns="0" tIns="0" bIns="0" anchor="t"/>
          <a:lstStyle/>
          <a:p>
            <a:pPr algn="l">
              <a:spcAft>
                <a:spcPts val="0"/>
              </a:spcAft>
            </a:pPr>
            <a:r>
              <a:rPr sz="1250" b="0">
                <a:solidFill>
                  <a:srgbClr val="1B2733"/>
                </a:solidFill>
                <a:latin typeface="Arial"/>
              </a:rPr>
              <a:t>sensor_6 không đổi ở 38/100 động cơ.</a:t>
            </a:r>
          </a:p>
        </p:txBody>
      </p:sp>
      <p:sp>
        <p:nvSpPr>
          <p:cNvPr id="33" name="TextBox 32"/>
          <p:cNvSpPr txBox="1"/>
          <p:nvPr/>
        </p:nvSpPr>
        <p:spPr>
          <a:xfrm>
            <a:off x="8156448" y="5257800"/>
            <a:ext cx="3017520" cy="640080"/>
          </a:xfrm>
          <a:prstGeom prst="rect">
            <a:avLst/>
          </a:prstGeom>
          <a:noFill/>
        </p:spPr>
        <p:txBody>
          <a:bodyPr wrap="square" lIns="0" rIns="0" tIns="0" bIns="0" anchor="t"/>
          <a:lstStyle/>
          <a:p>
            <a:pPr algn="l">
              <a:spcAft>
                <a:spcPts val="0"/>
              </a:spcAft>
            </a:pPr>
            <a:r>
              <a:rPr sz="1250" b="0">
                <a:solidFill>
                  <a:srgbClr val="5A6B7B"/>
                </a:solidFill>
                <a:latin typeface="Arial"/>
              </a:rPr>
              <a:t>Khử nhiễu được áp dụng cho 14 sensor còn lại.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Khử nhiễu tín hiệu bằng EWMA</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Độ dao động ngắn hạn giảm khoảng 86% (trung vị trên 14 sensor); xu hướng suy giảm được bảo toàn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outputs/degradation/figures/denoise_before_after.png; outputs/degradation/tables/noise_summary.csv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9 / 20</a:t>
            </a:r>
          </a:p>
        </p:txBody>
      </p:sp>
      <p:pic>
        <p:nvPicPr>
          <p:cNvPr id="7" name="Picture 6" descr="image.png"/>
          <p:cNvPicPr>
            <a:picLocks noChangeAspect="1"/>
          </p:cNvPicPr>
          <p:nvPr/>
        </p:nvPicPr>
        <p:blipFill>
          <a:blip r:embed="rId3"/>
          <a:stretch>
            <a:fillRect/>
          </a:stretch>
        </p:blipFill>
        <p:spPr>
          <a:xfrm>
            <a:off x="841248" y="2240280"/>
            <a:ext cx="7178039" cy="2563585"/>
          </a:xfrm>
          <a:prstGeom prst="rect">
            <a:avLst/>
          </a:prstGeom>
        </p:spPr>
      </p:pic>
      <p:graphicFrame>
        <p:nvGraphicFramePr>
          <p:cNvPr id="8" name="Table 7"/>
          <p:cNvGraphicFramePr>
            <a:graphicFrameLocks noGrp="1"/>
          </p:cNvGraphicFramePr>
          <p:nvPr/>
        </p:nvGraphicFramePr>
        <p:xfrm>
          <a:off x="8183879" y="2286000"/>
          <a:ext cx="3200400" cy="2194560"/>
        </p:xfrm>
        <a:graphic>
          <a:graphicData uri="http://schemas.openxmlformats.org/drawingml/2006/table">
            <a:tbl>
              <a:tblPr firstRow="1" bandRow="1">
                <a:tableStyleId>{5C22544A-7EE6-4342-B048-85BDC9FD1C3A}</a:tableStyleId>
              </a:tblPr>
              <a:tblGrid>
                <a:gridCol w="1005840"/>
                <a:gridCol w="658368"/>
                <a:gridCol w="896112"/>
                <a:gridCol w="640080"/>
              </a:tblGrid>
              <a:tr h="365760">
                <a:tc>
                  <a:txBody>
                    <a:bodyPr wrap="square"/>
                    <a:lstStyle/>
                    <a:p>
                      <a:r>
                        <a:rPr sz="1100" b="1">
                          <a:solidFill>
                            <a:srgbClr val="FFFFFF"/>
                          </a:solidFill>
                          <a:latin typeface="Arial"/>
                        </a:rPr>
                        <a:t>Sensor</a:t>
                      </a:r>
                    </a:p>
                  </a:txBody>
                  <a:tcPr marL="73152" marR="73152" marT="27432" marB="27432" anchor="ctr">
                    <a:solidFill>
                      <a:srgbClr val="21409A"/>
                    </a:solidFill>
                  </a:tcPr>
                </a:tc>
                <a:tc>
                  <a:txBody>
                    <a:bodyPr wrap="square"/>
                    <a:lstStyle/>
                    <a:p>
                      <a:r>
                        <a:rPr sz="1100" b="1">
                          <a:solidFill>
                            <a:srgbClr val="FFFFFF"/>
                          </a:solidFill>
                          <a:latin typeface="Arial"/>
                        </a:rPr>
                        <a:t>Gốc</a:t>
                      </a:r>
                    </a:p>
                  </a:txBody>
                  <a:tcPr marL="73152" marR="73152" marT="27432" marB="27432" anchor="ctr">
                    <a:solidFill>
                      <a:srgbClr val="21409A"/>
                    </a:solidFill>
                  </a:tcPr>
                </a:tc>
                <a:tc>
                  <a:txBody>
                    <a:bodyPr wrap="square"/>
                    <a:lstStyle/>
                    <a:p>
                      <a:r>
                        <a:rPr sz="1100" b="1">
                          <a:solidFill>
                            <a:srgbClr val="FFFFFF"/>
                          </a:solidFill>
                          <a:latin typeface="Arial"/>
                        </a:rPr>
                        <a:t>EWMA</a:t>
                      </a:r>
                    </a:p>
                  </a:txBody>
                  <a:tcPr marL="73152" marR="73152" marT="27432" marB="27432" anchor="ctr">
                    <a:solidFill>
                      <a:srgbClr val="21409A"/>
                    </a:solidFill>
                  </a:tcPr>
                </a:tc>
                <a:tc>
                  <a:txBody>
                    <a:bodyPr wrap="square"/>
                    <a:lstStyle/>
                    <a:p>
                      <a:r>
                        <a:rPr sz="1100" b="1">
                          <a:solidFill>
                            <a:srgbClr val="FFFFFF"/>
                          </a:solidFill>
                          <a:latin typeface="Arial"/>
                        </a:rPr>
                        <a:t>Giảm</a:t>
                      </a:r>
                    </a:p>
                  </a:txBody>
                  <a:tcPr marL="73152" marR="73152" marT="27432" marB="27432" anchor="ctr">
                    <a:solidFill>
                      <a:srgbClr val="21409A"/>
                    </a:solidFill>
                  </a:tcPr>
                </a:tc>
              </a:tr>
              <a:tr h="365760">
                <a:tc>
                  <a:txBody>
                    <a:bodyPr wrap="square"/>
                    <a:lstStyle/>
                    <a:p>
                      <a:r>
                        <a:rPr sz="1100" b="0">
                          <a:solidFill>
                            <a:srgbClr val="1B2733"/>
                          </a:solidFill>
                          <a:latin typeface="Arial"/>
                        </a:rPr>
                        <a:t>sensor_4</a:t>
                      </a:r>
                    </a:p>
                  </a:txBody>
                  <a:tcPr marL="73152" marR="73152" marT="27432" marB="27432" anchor="ctr">
                    <a:solidFill>
                      <a:srgbClr val="FFFFFF"/>
                    </a:solidFill>
                  </a:tcPr>
                </a:tc>
                <a:tc>
                  <a:txBody>
                    <a:bodyPr wrap="square"/>
                    <a:lstStyle/>
                    <a:p>
                      <a:pPr algn="r"/>
                      <a:r>
                        <a:rPr sz="1100" b="0">
                          <a:solidFill>
                            <a:srgbClr val="1B2733"/>
                          </a:solidFill>
                          <a:latin typeface="Arial"/>
                        </a:rPr>
                        <a:t>5,70</a:t>
                      </a:r>
                    </a:p>
                  </a:txBody>
                  <a:tcPr marL="73152" marR="73152" marT="27432" marB="27432" anchor="ctr">
                    <a:solidFill>
                      <a:srgbClr val="FFFFFF"/>
                    </a:solidFill>
                  </a:tcPr>
                </a:tc>
                <a:tc>
                  <a:txBody>
                    <a:bodyPr wrap="square"/>
                    <a:lstStyle/>
                    <a:p>
                      <a:pPr algn="r"/>
                      <a:r>
                        <a:rPr sz="1100" b="0">
                          <a:solidFill>
                            <a:srgbClr val="1B2733"/>
                          </a:solidFill>
                          <a:latin typeface="Arial"/>
                        </a:rPr>
                        <a:t>0,783</a:t>
                      </a:r>
                    </a:p>
                  </a:txBody>
                  <a:tcPr marL="73152" marR="73152" marT="27432" marB="27432" anchor="ctr">
                    <a:solidFill>
                      <a:srgbClr val="FFFFFF"/>
                    </a:solidFill>
                  </a:tcPr>
                </a:tc>
                <a:tc>
                  <a:txBody>
                    <a:bodyPr wrap="square"/>
                    <a:lstStyle/>
                    <a:p>
                      <a:pPr algn="r"/>
                      <a:r>
                        <a:rPr sz="1100" b="0">
                          <a:solidFill>
                            <a:srgbClr val="1B2733"/>
                          </a:solidFill>
                          <a:latin typeface="Arial"/>
                        </a:rPr>
                        <a:t>86,3%</a:t>
                      </a:r>
                    </a:p>
                  </a:txBody>
                  <a:tcPr marL="73152" marR="73152" marT="27432" marB="27432" anchor="ctr">
                    <a:solidFill>
                      <a:srgbClr val="FFFFFF"/>
                    </a:solidFill>
                  </a:tcPr>
                </a:tc>
              </a:tr>
              <a:tr h="365760">
                <a:tc>
                  <a:txBody>
                    <a:bodyPr wrap="square"/>
                    <a:lstStyle/>
                    <a:p>
                      <a:r>
                        <a:rPr sz="1100" b="0">
                          <a:solidFill>
                            <a:srgbClr val="1B2733"/>
                          </a:solidFill>
                          <a:latin typeface="Arial"/>
                        </a:rPr>
                        <a:t>sensor_9</a:t>
                      </a:r>
                    </a:p>
                  </a:txBody>
                  <a:tcPr marL="73152" marR="73152" marT="27432" marB="27432" anchor="ctr">
                    <a:solidFill>
                      <a:srgbClr val="EAF0FA"/>
                    </a:solidFill>
                  </a:tcPr>
                </a:tc>
                <a:tc>
                  <a:txBody>
                    <a:bodyPr wrap="square"/>
                    <a:lstStyle/>
                    <a:p>
                      <a:pPr algn="r"/>
                      <a:r>
                        <a:rPr sz="1100" b="0">
                          <a:solidFill>
                            <a:srgbClr val="1B2733"/>
                          </a:solidFill>
                          <a:latin typeface="Arial"/>
                        </a:rPr>
                        <a:t>5,90</a:t>
                      </a:r>
                    </a:p>
                  </a:txBody>
                  <a:tcPr marL="73152" marR="73152" marT="27432" marB="27432" anchor="ctr">
                    <a:solidFill>
                      <a:srgbClr val="EAF0FA"/>
                    </a:solidFill>
                  </a:tcPr>
                </a:tc>
                <a:tc>
                  <a:txBody>
                    <a:bodyPr wrap="square"/>
                    <a:lstStyle/>
                    <a:p>
                      <a:pPr algn="r"/>
                      <a:r>
                        <a:rPr sz="1100" b="0">
                          <a:solidFill>
                            <a:srgbClr val="1B2733"/>
                          </a:solidFill>
                          <a:latin typeface="Arial"/>
                        </a:rPr>
                        <a:t>0,924</a:t>
                      </a:r>
                    </a:p>
                  </a:txBody>
                  <a:tcPr marL="73152" marR="73152" marT="27432" marB="27432" anchor="ctr">
                    <a:solidFill>
                      <a:srgbClr val="EAF0FA"/>
                    </a:solidFill>
                  </a:tcPr>
                </a:tc>
                <a:tc>
                  <a:txBody>
                    <a:bodyPr wrap="square"/>
                    <a:lstStyle/>
                    <a:p>
                      <a:pPr algn="r"/>
                      <a:r>
                        <a:rPr sz="1100" b="0">
                          <a:solidFill>
                            <a:srgbClr val="1B2733"/>
                          </a:solidFill>
                          <a:latin typeface="Arial"/>
                        </a:rPr>
                        <a:t>84,3%</a:t>
                      </a:r>
                    </a:p>
                  </a:txBody>
                  <a:tcPr marL="73152" marR="73152" marT="27432" marB="27432" anchor="ctr">
                    <a:solidFill>
                      <a:srgbClr val="EAF0FA"/>
                    </a:solidFill>
                  </a:tcPr>
                </a:tc>
              </a:tr>
              <a:tr h="365760">
                <a:tc>
                  <a:txBody>
                    <a:bodyPr wrap="square"/>
                    <a:lstStyle/>
                    <a:p>
                      <a:r>
                        <a:rPr sz="1100" b="0">
                          <a:solidFill>
                            <a:srgbClr val="1B2733"/>
                          </a:solidFill>
                          <a:latin typeface="Arial"/>
                        </a:rPr>
                        <a:t>sensor_11</a:t>
                      </a:r>
                    </a:p>
                  </a:txBody>
                  <a:tcPr marL="73152" marR="73152" marT="27432" marB="27432" anchor="ctr">
                    <a:solidFill>
                      <a:srgbClr val="FFFFFF"/>
                    </a:solidFill>
                  </a:tcPr>
                </a:tc>
                <a:tc>
                  <a:txBody>
                    <a:bodyPr wrap="square"/>
                    <a:lstStyle/>
                    <a:p>
                      <a:pPr algn="r"/>
                      <a:r>
                        <a:rPr sz="1100" b="0">
                          <a:solidFill>
                            <a:srgbClr val="1B2733"/>
                          </a:solidFill>
                          <a:latin typeface="Arial"/>
                        </a:rPr>
                        <a:t>0,144</a:t>
                      </a:r>
                    </a:p>
                  </a:txBody>
                  <a:tcPr marL="73152" marR="73152" marT="27432" marB="27432" anchor="ctr">
                    <a:solidFill>
                      <a:srgbClr val="FFFFFF"/>
                    </a:solidFill>
                  </a:tcPr>
                </a:tc>
                <a:tc>
                  <a:txBody>
                    <a:bodyPr wrap="square"/>
                    <a:lstStyle/>
                    <a:p>
                      <a:pPr algn="r"/>
                      <a:r>
                        <a:rPr sz="1100" b="0">
                          <a:solidFill>
                            <a:srgbClr val="1B2733"/>
                          </a:solidFill>
                          <a:latin typeface="Arial"/>
                        </a:rPr>
                        <a:t>0,020</a:t>
                      </a:r>
                    </a:p>
                  </a:txBody>
                  <a:tcPr marL="73152" marR="73152" marT="27432" marB="27432" anchor="ctr">
                    <a:solidFill>
                      <a:srgbClr val="FFFFFF"/>
                    </a:solidFill>
                  </a:tcPr>
                </a:tc>
                <a:tc>
                  <a:txBody>
                    <a:bodyPr wrap="square"/>
                    <a:lstStyle/>
                    <a:p>
                      <a:pPr algn="r"/>
                      <a:r>
                        <a:rPr sz="1100" b="0">
                          <a:solidFill>
                            <a:srgbClr val="1B2733"/>
                          </a:solidFill>
                          <a:latin typeface="Arial"/>
                        </a:rPr>
                        <a:t>86,2%</a:t>
                      </a:r>
                    </a:p>
                  </a:txBody>
                  <a:tcPr marL="73152" marR="73152" marT="27432" marB="27432" anchor="ctr">
                    <a:solidFill>
                      <a:srgbClr val="FFFFFF"/>
                    </a:solidFill>
                  </a:tcPr>
                </a:tc>
              </a:tr>
              <a:tr h="365760">
                <a:tc>
                  <a:txBody>
                    <a:bodyPr wrap="square"/>
                    <a:lstStyle/>
                    <a:p>
                      <a:r>
                        <a:rPr sz="1100" b="0">
                          <a:solidFill>
                            <a:srgbClr val="1B2733"/>
                          </a:solidFill>
                          <a:latin typeface="Arial"/>
                        </a:rPr>
                        <a:t>sensor_12</a:t>
                      </a:r>
                    </a:p>
                  </a:txBody>
                  <a:tcPr marL="73152" marR="73152" marT="27432" marB="27432" anchor="ctr">
                    <a:solidFill>
                      <a:srgbClr val="EAF0FA"/>
                    </a:solidFill>
                  </a:tcPr>
                </a:tc>
                <a:tc>
                  <a:txBody>
                    <a:bodyPr wrap="square"/>
                    <a:lstStyle/>
                    <a:p>
                      <a:pPr algn="r"/>
                      <a:r>
                        <a:rPr sz="1100" b="0">
                          <a:solidFill>
                            <a:srgbClr val="1B2733"/>
                          </a:solidFill>
                          <a:latin typeface="Arial"/>
                        </a:rPr>
                        <a:t>0,425</a:t>
                      </a:r>
                    </a:p>
                  </a:txBody>
                  <a:tcPr marL="73152" marR="73152" marT="27432" marB="27432" anchor="ctr">
                    <a:solidFill>
                      <a:srgbClr val="EAF0FA"/>
                    </a:solidFill>
                  </a:tcPr>
                </a:tc>
                <a:tc>
                  <a:txBody>
                    <a:bodyPr wrap="square"/>
                    <a:lstStyle/>
                    <a:p>
                      <a:pPr algn="r"/>
                      <a:r>
                        <a:rPr sz="1100" b="0">
                          <a:solidFill>
                            <a:srgbClr val="1B2733"/>
                          </a:solidFill>
                          <a:latin typeface="Arial"/>
                        </a:rPr>
                        <a:t>0,059</a:t>
                      </a:r>
                    </a:p>
                  </a:txBody>
                  <a:tcPr marL="73152" marR="73152" marT="27432" marB="27432" anchor="ctr">
                    <a:solidFill>
                      <a:srgbClr val="EAF0FA"/>
                    </a:solidFill>
                  </a:tcPr>
                </a:tc>
                <a:tc>
                  <a:txBody>
                    <a:bodyPr wrap="square"/>
                    <a:lstStyle/>
                    <a:p>
                      <a:pPr algn="r"/>
                      <a:r>
                        <a:rPr sz="1100" b="0">
                          <a:solidFill>
                            <a:srgbClr val="1B2733"/>
                          </a:solidFill>
                          <a:latin typeface="Arial"/>
                        </a:rPr>
                        <a:t>86,2%</a:t>
                      </a:r>
                    </a:p>
                  </a:txBody>
                  <a:tcPr marL="73152" marR="73152" marT="27432" marB="27432" anchor="ctr">
                    <a:solidFill>
                      <a:srgbClr val="EAF0FA"/>
                    </a:solidFill>
                  </a:tcPr>
                </a:tc>
              </a:tr>
              <a:tr h="365760">
                <a:tc>
                  <a:txBody>
                    <a:bodyPr wrap="square"/>
                    <a:lstStyle/>
                    <a:p>
                      <a:r>
                        <a:rPr sz="1100" b="0">
                          <a:solidFill>
                            <a:srgbClr val="1B2733"/>
                          </a:solidFill>
                          <a:latin typeface="Arial"/>
                        </a:rPr>
                        <a:t>sensor_14</a:t>
                      </a:r>
                    </a:p>
                  </a:txBody>
                  <a:tcPr marL="73152" marR="73152" marT="27432" marB="27432" anchor="ctr">
                    <a:solidFill>
                      <a:srgbClr val="FFFFFF"/>
                    </a:solidFill>
                  </a:tcPr>
                </a:tc>
                <a:tc>
                  <a:txBody>
                    <a:bodyPr wrap="square"/>
                    <a:lstStyle/>
                    <a:p>
                      <a:pPr algn="r"/>
                      <a:r>
                        <a:rPr sz="1100" b="0">
                          <a:solidFill>
                            <a:srgbClr val="1B2733"/>
                          </a:solidFill>
                          <a:latin typeface="Arial"/>
                        </a:rPr>
                        <a:t>4,45</a:t>
                      </a:r>
                    </a:p>
                  </a:txBody>
                  <a:tcPr marL="73152" marR="73152" marT="27432" marB="27432" anchor="ctr">
                    <a:solidFill>
                      <a:srgbClr val="FFFFFF"/>
                    </a:solidFill>
                  </a:tcPr>
                </a:tc>
                <a:tc>
                  <a:txBody>
                    <a:bodyPr wrap="square"/>
                    <a:lstStyle/>
                    <a:p>
                      <a:pPr algn="r"/>
                      <a:r>
                        <a:rPr sz="1100" b="0">
                          <a:solidFill>
                            <a:srgbClr val="1B2733"/>
                          </a:solidFill>
                          <a:latin typeface="Arial"/>
                        </a:rPr>
                        <a:t>0,729</a:t>
                      </a:r>
                    </a:p>
                  </a:txBody>
                  <a:tcPr marL="73152" marR="73152" marT="27432" marB="27432" anchor="ctr">
                    <a:solidFill>
                      <a:srgbClr val="FFFFFF"/>
                    </a:solidFill>
                  </a:tcPr>
                </a:tc>
                <a:tc>
                  <a:txBody>
                    <a:bodyPr wrap="square"/>
                    <a:lstStyle/>
                    <a:p>
                      <a:pPr algn="r"/>
                      <a:r>
                        <a:rPr sz="1100" b="0">
                          <a:solidFill>
                            <a:srgbClr val="1B2733"/>
                          </a:solidFill>
                          <a:latin typeface="Arial"/>
                        </a:rPr>
                        <a:t>83,6%</a:t>
                      </a:r>
                    </a:p>
                  </a:txBody>
                  <a:tcPr marL="73152" marR="73152" marT="27432" marB="27432" anchor="ctr">
                    <a:solidFill>
                      <a:srgbClr val="FFFFFF"/>
                    </a:solidFill>
                  </a:tcPr>
                </a:tc>
              </a:tr>
            </a:tbl>
          </a:graphicData>
        </a:graphic>
      </p:graphicFrame>
      <p:sp>
        <p:nvSpPr>
          <p:cNvPr id="9" name="TextBox 8"/>
          <p:cNvSpPr txBox="1"/>
          <p:nvPr/>
        </p:nvSpPr>
        <p:spPr>
          <a:xfrm>
            <a:off x="8183879" y="4553712"/>
            <a:ext cx="3127248" cy="411480"/>
          </a:xfrm>
          <a:prstGeom prst="rect">
            <a:avLst/>
          </a:prstGeom>
          <a:noFill/>
        </p:spPr>
        <p:txBody>
          <a:bodyPr wrap="square" lIns="0" rIns="0" tIns="0" bIns="0" anchor="t"/>
          <a:lstStyle/>
          <a:p>
            <a:pPr algn="l">
              <a:spcAft>
                <a:spcPts val="0"/>
              </a:spcAft>
            </a:pPr>
            <a:r>
              <a:rPr sz="1050" b="0">
                <a:solidFill>
                  <a:srgbClr val="5A6B7B"/>
                </a:solidFill>
                <a:latin typeface="Arial"/>
              </a:rPr>
              <a:t>Độ lệch chuẩn bước nhảy giữa hai cycle liền kề, trong từng động cơ.</a:t>
            </a:r>
          </a:p>
        </p:txBody>
      </p:sp>
      <p:sp>
        <p:nvSpPr>
          <p:cNvPr id="10" name="Rounded Rectangle 9"/>
          <p:cNvSpPr/>
          <p:nvPr/>
        </p:nvSpPr>
        <p:spPr>
          <a:xfrm>
            <a:off x="841248" y="5029200"/>
            <a:ext cx="10515600"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120640"/>
            <a:ext cx="10058400" cy="822960"/>
          </a:xfrm>
          <a:prstGeom prst="rect">
            <a:avLst/>
          </a:prstGeom>
          <a:noFill/>
        </p:spPr>
        <p:txBody>
          <a:bodyPr wrap="square" lIns="0" rIns="0" tIns="0" bIns="0" anchor="t"/>
          <a:lstStyle/>
          <a:p>
            <a:pPr algn="l">
              <a:spcAft>
                <a:spcPts val="400"/>
              </a:spcAft>
            </a:pPr>
            <a:r>
              <a:rPr sz="1350" b="1">
                <a:solidFill>
                  <a:srgbClr val="21409A"/>
                </a:solidFill>
                <a:latin typeface="Arial"/>
              </a:rPr>
              <a:t>Công thức: </a:t>
            </a:r>
            <a:r>
              <a:rPr sz="1350" b="0">
                <a:solidFill>
                  <a:srgbClr val="1B2733"/>
                </a:solidFill>
                <a:latin typeface="Arial"/>
              </a:rPr>
              <a:t>sₜ = α·xₜ + (1 − α)·sₜ₋₁,  α = 2 / (span + 1) ≈ 0,18</a:t>
            </a:r>
          </a:p>
          <a:p>
            <a:pPr algn="l">
              <a:spcAft>
                <a:spcPts val="400"/>
              </a:spcAft>
            </a:pPr>
            <a:r>
              <a:rPr sz="1350" b="1">
                <a:solidFill>
                  <a:srgbClr val="21409A"/>
                </a:solidFill>
                <a:latin typeface="Arial"/>
              </a:rPr>
              <a:t>Vai trò: </a:t>
            </a:r>
            <a:r>
              <a:rPr sz="1350" b="0">
                <a:solidFill>
                  <a:srgbClr val="1B2733"/>
                </a:solidFill>
                <a:latin typeface="Arial"/>
              </a:rPr>
              <a:t>tín hiệu EWMA là đầu vào của Health Index và phát hiện bất thường (slide 12); mô hình RUL dùng đặc trưng cửa sổ trên tín hiệu gốc.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Tổng hợp đặc trưng theo cửa sổ thời gian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Cửa sổ trượt nhân quả 30 cycle; 21 sensor × 6 thống kê = 126 đặc trưng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outputs/features/run_info.json; src/cmapss/features/rolling.py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10 / 20</a:t>
            </a:r>
          </a:p>
        </p:txBody>
      </p:sp>
      <p:sp>
        <p:nvSpPr>
          <p:cNvPr id="7" name="Rectangle 6"/>
          <p:cNvSpPr/>
          <p:nvPr/>
        </p:nvSpPr>
        <p:spPr>
          <a:xfrm>
            <a:off x="841248"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88720"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62456"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36192"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099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574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311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40487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7860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5234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92608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9981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7355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4728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2102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79476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6849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4223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1596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8970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66344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3717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1091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18464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35838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3212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70585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7959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533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270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745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48272" y="2606040"/>
            <a:ext cx="146304" cy="384048"/>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922008"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095744"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69480"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443216"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16952"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23659" y="2295144"/>
            <a:ext cx="82296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48" name="TextBox 47"/>
          <p:cNvSpPr txBox="1"/>
          <p:nvPr/>
        </p:nvSpPr>
        <p:spPr>
          <a:xfrm>
            <a:off x="1709928" y="3063240"/>
            <a:ext cx="5212080" cy="274320"/>
          </a:xfrm>
          <a:prstGeom prst="rect">
            <a:avLst/>
          </a:prstGeom>
          <a:noFill/>
        </p:spPr>
        <p:txBody>
          <a:bodyPr wrap="square" lIns="0" rIns="0" tIns="0" bIns="0" anchor="t"/>
          <a:lstStyle/>
          <a:p>
            <a:pPr algn="ctr">
              <a:spcAft>
                <a:spcPts val="0"/>
              </a:spcAft>
            </a:pPr>
            <a:r>
              <a:rPr sz="1250" b="1">
                <a:solidFill>
                  <a:srgbClr val="21409A"/>
                </a:solidFill>
                <a:latin typeface="Arial"/>
              </a:rPr>
              <a:t>window: cycle 141–170</a:t>
            </a:r>
          </a:p>
        </p:txBody>
      </p:sp>
      <p:sp>
        <p:nvSpPr>
          <p:cNvPr id="49" name="TextBox 48"/>
          <p:cNvSpPr txBox="1"/>
          <p:nvPr/>
        </p:nvSpPr>
        <p:spPr>
          <a:xfrm>
            <a:off x="6281928" y="3063240"/>
            <a:ext cx="1508760" cy="274320"/>
          </a:xfrm>
          <a:prstGeom prst="rect">
            <a:avLst/>
          </a:prstGeom>
          <a:noFill/>
        </p:spPr>
        <p:txBody>
          <a:bodyPr wrap="square" lIns="0" rIns="0" tIns="0" bIns="0" anchor="t"/>
          <a:lstStyle/>
          <a:p>
            <a:pPr algn="r">
              <a:spcAft>
                <a:spcPts val="0"/>
              </a:spcAft>
            </a:pPr>
            <a:r>
              <a:rPr sz="1150" b="0">
                <a:solidFill>
                  <a:srgbClr val="5A6B7B"/>
                </a:solidFill>
                <a:latin typeface="Arial"/>
              </a:rPr>
              <a:t>171+: không sử dụng</a:t>
            </a:r>
          </a:p>
        </p:txBody>
      </p:sp>
      <p:sp>
        <p:nvSpPr>
          <p:cNvPr id="50" name="TextBox 49"/>
          <p:cNvSpPr txBox="1"/>
          <p:nvPr/>
        </p:nvSpPr>
        <p:spPr>
          <a:xfrm>
            <a:off x="841248" y="3474720"/>
            <a:ext cx="6858000" cy="365760"/>
          </a:xfrm>
          <a:prstGeom prst="rect">
            <a:avLst/>
          </a:prstGeom>
          <a:noFill/>
        </p:spPr>
        <p:txBody>
          <a:bodyPr wrap="square" lIns="0" rIns="0" tIns="0" bIns="0" anchor="t"/>
          <a:lstStyle/>
          <a:p>
            <a:pPr algn="l">
              <a:spcAft>
                <a:spcPts val="0"/>
              </a:spcAft>
            </a:pPr>
            <a:r>
              <a:rPr sz="1800" b="1">
                <a:solidFill>
                  <a:srgbClr val="21409A"/>
                </a:solidFill>
                <a:latin typeface="Arial"/>
              </a:rPr>
              <a:t>21 sensor × 6 thống kê = 126 đặc trưng</a:t>
            </a:r>
          </a:p>
        </p:txBody>
      </p:sp>
      <p:sp>
        <p:nvSpPr>
          <p:cNvPr id="51" name="Rounded Rectangle 50"/>
          <p:cNvSpPr/>
          <p:nvPr/>
        </p:nvSpPr>
        <p:spPr>
          <a:xfrm>
            <a:off x="841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78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last</a:t>
            </a:r>
          </a:p>
        </p:txBody>
      </p:sp>
      <p:sp>
        <p:nvSpPr>
          <p:cNvPr id="53" name="TextBox 52"/>
          <p:cNvSpPr txBox="1"/>
          <p:nvPr/>
        </p:nvSpPr>
        <p:spPr>
          <a:xfrm>
            <a:off x="978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tại cycle t</a:t>
            </a:r>
          </a:p>
        </p:txBody>
      </p:sp>
      <p:sp>
        <p:nvSpPr>
          <p:cNvPr id="54" name="Rounded Rectangle 53"/>
          <p:cNvSpPr/>
          <p:nvPr/>
        </p:nvSpPr>
        <p:spPr>
          <a:xfrm>
            <a:off x="3127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64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mean</a:t>
            </a:r>
          </a:p>
        </p:txBody>
      </p:sp>
      <p:sp>
        <p:nvSpPr>
          <p:cNvPr id="56" name="TextBox 55"/>
          <p:cNvSpPr txBox="1"/>
          <p:nvPr/>
        </p:nvSpPr>
        <p:spPr>
          <a:xfrm>
            <a:off x="3264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trung bình</a:t>
            </a:r>
          </a:p>
        </p:txBody>
      </p:sp>
      <p:sp>
        <p:nvSpPr>
          <p:cNvPr id="57" name="Rounded Rectangle 56"/>
          <p:cNvSpPr/>
          <p:nvPr/>
        </p:nvSpPr>
        <p:spPr>
          <a:xfrm>
            <a:off x="5413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50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std</a:t>
            </a:r>
          </a:p>
        </p:txBody>
      </p:sp>
      <p:sp>
        <p:nvSpPr>
          <p:cNvPr id="59" name="TextBox 58"/>
          <p:cNvSpPr txBox="1"/>
          <p:nvPr/>
        </p:nvSpPr>
        <p:spPr>
          <a:xfrm>
            <a:off x="5550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lệch chuẩn mẫu</a:t>
            </a:r>
          </a:p>
        </p:txBody>
      </p:sp>
      <p:sp>
        <p:nvSpPr>
          <p:cNvPr id="60" name="Rounded Rectangle 59"/>
          <p:cNvSpPr/>
          <p:nvPr/>
        </p:nvSpPr>
        <p:spPr>
          <a:xfrm>
            <a:off x="841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78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min</a:t>
            </a:r>
          </a:p>
        </p:txBody>
      </p:sp>
      <p:sp>
        <p:nvSpPr>
          <p:cNvPr id="62" name="TextBox 61"/>
          <p:cNvSpPr txBox="1"/>
          <p:nvPr/>
        </p:nvSpPr>
        <p:spPr>
          <a:xfrm>
            <a:off x="978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nhỏ nhất</a:t>
            </a:r>
          </a:p>
        </p:txBody>
      </p:sp>
      <p:sp>
        <p:nvSpPr>
          <p:cNvPr id="63" name="Rounded Rectangle 62"/>
          <p:cNvSpPr/>
          <p:nvPr/>
        </p:nvSpPr>
        <p:spPr>
          <a:xfrm>
            <a:off x="3127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64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max</a:t>
            </a:r>
          </a:p>
        </p:txBody>
      </p:sp>
      <p:sp>
        <p:nvSpPr>
          <p:cNvPr id="65" name="TextBox 64"/>
          <p:cNvSpPr txBox="1"/>
          <p:nvPr/>
        </p:nvSpPr>
        <p:spPr>
          <a:xfrm>
            <a:off x="3264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lớn nhất</a:t>
            </a:r>
          </a:p>
        </p:txBody>
      </p:sp>
      <p:sp>
        <p:nvSpPr>
          <p:cNvPr id="66" name="Rounded Rectangle 65"/>
          <p:cNvSpPr/>
          <p:nvPr/>
        </p:nvSpPr>
        <p:spPr>
          <a:xfrm>
            <a:off x="5413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550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slope</a:t>
            </a:r>
          </a:p>
        </p:txBody>
      </p:sp>
      <p:sp>
        <p:nvSpPr>
          <p:cNvPr id="68" name="TextBox 67"/>
          <p:cNvSpPr txBox="1"/>
          <p:nvPr/>
        </p:nvSpPr>
        <p:spPr>
          <a:xfrm>
            <a:off x="5550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hệ số góc hồi quy</a:t>
            </a:r>
          </a:p>
        </p:txBody>
      </p:sp>
      <p:sp>
        <p:nvSpPr>
          <p:cNvPr id="69" name="TextBox 68"/>
          <p:cNvSpPr txBox="1"/>
          <p:nvPr/>
        </p:nvSpPr>
        <p:spPr>
          <a:xfrm>
            <a:off x="841248" y="5623560"/>
            <a:ext cx="6858000" cy="365760"/>
          </a:xfrm>
          <a:prstGeom prst="rect">
            <a:avLst/>
          </a:prstGeom>
          <a:noFill/>
        </p:spPr>
        <p:txBody>
          <a:bodyPr wrap="square" lIns="0" rIns="0" tIns="0" bIns="0" anchor="t"/>
          <a:lstStyle/>
          <a:p>
            <a:pPr algn="l">
              <a:spcAft>
                <a:spcPts val="0"/>
              </a:spcAft>
            </a:pPr>
            <a:r>
              <a:rPr sz="1250" b="0">
                <a:solidFill>
                  <a:srgbClr val="5A6B7B"/>
                </a:solidFill>
                <a:latin typeface="Arial"/>
              </a:rPr>
              <a:t>17.731 window train · 10.196 window test · không padding 29 cycle đầu</a:t>
            </a:r>
          </a:p>
        </p:txBody>
      </p:sp>
      <p:sp>
        <p:nvSpPr>
          <p:cNvPr id="70" name="Rounded Rectangle 69"/>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183879" y="2450592"/>
            <a:ext cx="3017520" cy="329184"/>
          </a:xfrm>
          <a:prstGeom prst="rect">
            <a:avLst/>
          </a:prstGeom>
          <a:noFill/>
        </p:spPr>
        <p:txBody>
          <a:bodyPr wrap="square" lIns="0" rIns="0" tIns="0" bIns="0" anchor="t"/>
          <a:lstStyle/>
          <a:p>
            <a:pPr algn="l">
              <a:spcAft>
                <a:spcPts val="0"/>
              </a:spcAft>
            </a:pPr>
            <a:r>
              <a:rPr sz="1600" b="1">
                <a:solidFill>
                  <a:srgbClr val="FFFFFF"/>
                </a:solidFill>
                <a:latin typeface="Arial"/>
              </a:rPr>
              <a:t>Chuẩn hóa</a:t>
            </a:r>
          </a:p>
        </p:txBody>
      </p:sp>
      <p:sp>
        <p:nvSpPr>
          <p:cNvPr id="72" name="TextBox 71"/>
          <p:cNvSpPr txBox="1"/>
          <p:nvPr/>
        </p:nvSpPr>
        <p:spPr>
          <a:xfrm>
            <a:off x="8183879" y="2880360"/>
            <a:ext cx="2971800" cy="3017520"/>
          </a:xfrm>
          <a:prstGeom prst="rect">
            <a:avLst/>
          </a:prstGeom>
          <a:noFill/>
        </p:spPr>
        <p:txBody>
          <a:bodyPr wrap="square" lIns="0" rIns="0" tIns="0" bIns="0" anchor="t"/>
          <a:lstStyle/>
          <a:p>
            <a:pPr algn="l">
              <a:spcAft>
                <a:spcPts val="800"/>
              </a:spcAft>
            </a:pPr>
            <a:r>
              <a:rPr sz="1300" b="0">
                <a:solidFill>
                  <a:srgbClr val="FFFFFF"/>
                </a:solidFill>
                <a:latin typeface="Arial"/>
              </a:rPr>
              <a:t>• ETL chuẩn hóa schema và kiểu dữ liệu.</a:t>
            </a:r>
          </a:p>
          <a:p>
            <a:pPr algn="l">
              <a:spcAft>
                <a:spcPts val="800"/>
              </a:spcAft>
            </a:pPr>
            <a:r>
              <a:rPr sz="1300" b="0">
                <a:solidFill>
                  <a:srgbClr val="FFFFFF"/>
                </a:solidFill>
                <a:latin typeface="Arial"/>
              </a:rPr>
              <a:t>• StandardScaler fit trong training fold (Ridge) và trước PCA (Health Index).</a:t>
            </a:r>
          </a:p>
          <a:p>
            <a:pPr algn="l">
              <a:spcAft>
                <a:spcPts val="800"/>
              </a:spcAft>
            </a:pPr>
            <a:r>
              <a:rPr sz="1300" b="0">
                <a:solidFill>
                  <a:srgbClr val="FFFFFF"/>
                </a:solidFill>
                <a:latin typeface="Arial"/>
              </a:rPr>
              <a:t>• HGB dùng thang đo gốc do mô hình cây bất biến với phép biến đổi đơn điệu.</a:t>
            </a:r>
          </a:p>
          <a:p>
            <a:pPr algn="l">
              <a:spcAft>
                <a:spcPts val="800"/>
              </a:spcAft>
            </a:pPr>
            <a:r>
              <a:rPr sz="1300" b="0">
                <a:solidFill>
                  <a:srgbClr val="FFFFFF"/>
                </a:solidFill>
                <a:latin typeface="Arial"/>
              </a:rPr>
              <a:t>• Các thống kê trên cửa sổ có tác dụng làm trơn bổ sung.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Xu hướng suy giảm của tín hiệu cảm biến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15/21 sensor thay đổi có ý nghĩa thống kê giữa 30 cycle đầu và cuối vòng đời (Wilcoxon, hiệu chỉnh FDR)</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outputs/eda/figures/sensor_trajectories_1.png; outputs/statistics/tables/sensor_inference.csv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11 / 20</a:t>
            </a:r>
          </a:p>
        </p:txBody>
      </p:sp>
      <p:pic>
        <p:nvPicPr>
          <p:cNvPr id="7" name="Picture 6" descr="image.png"/>
          <p:cNvPicPr>
            <a:picLocks noChangeAspect="1"/>
          </p:cNvPicPr>
          <p:nvPr/>
        </p:nvPicPr>
        <p:blipFill>
          <a:blip r:embed="rId3"/>
          <a:stretch>
            <a:fillRect/>
          </a:stretch>
        </p:blipFill>
        <p:spPr>
          <a:xfrm>
            <a:off x="841248" y="2240280"/>
            <a:ext cx="3703320" cy="1778568"/>
          </a:xfrm>
          <a:prstGeom prst="rect">
            <a:avLst/>
          </a:prstGeom>
        </p:spPr>
      </p:pic>
      <p:pic>
        <p:nvPicPr>
          <p:cNvPr id="8" name="Picture 7" descr="image.png"/>
          <p:cNvPicPr>
            <a:picLocks noChangeAspect="1"/>
          </p:cNvPicPr>
          <p:nvPr/>
        </p:nvPicPr>
        <p:blipFill>
          <a:blip r:embed="rId4"/>
          <a:stretch>
            <a:fillRect/>
          </a:stretch>
        </p:blipFill>
        <p:spPr>
          <a:xfrm>
            <a:off x="841248" y="4073712"/>
            <a:ext cx="3703320" cy="1820969"/>
          </a:xfrm>
          <a:prstGeom prst="rect">
            <a:avLst/>
          </a:prstGeom>
        </p:spPr>
      </p:pic>
      <p:sp>
        <p:nvSpPr>
          <p:cNvPr id="9" name="TextBox 8"/>
          <p:cNvSpPr txBox="1"/>
          <p:nvPr/>
        </p:nvSpPr>
        <p:spPr>
          <a:xfrm>
            <a:off x="841248" y="5833872"/>
            <a:ext cx="4023360" cy="228600"/>
          </a:xfrm>
          <a:prstGeom prst="rect">
            <a:avLst/>
          </a:prstGeom>
          <a:noFill/>
        </p:spPr>
        <p:txBody>
          <a:bodyPr wrap="square" lIns="0" rIns="0" tIns="0" bIns="0" anchor="t"/>
          <a:lstStyle/>
          <a:p>
            <a:pPr algn="l">
              <a:spcAft>
                <a:spcPts val="0"/>
              </a:spcAft>
            </a:pPr>
            <a:r>
              <a:rPr sz="1000" b="0">
                <a:solidFill>
                  <a:srgbClr val="5A6B7B"/>
                </a:solidFill>
                <a:latin typeface="Arial"/>
              </a:rPr>
              <a:t>Động cơ 87 (178 cycle), 26 (199), 75 (229); giá trị gốc.</a:t>
            </a:r>
          </a:p>
        </p:txBody>
      </p:sp>
      <p:sp>
        <p:nvSpPr>
          <p:cNvPr id="10" name="Oval 9"/>
          <p:cNvSpPr/>
          <p:nvPr/>
        </p:nvSpPr>
        <p:spPr>
          <a:xfrm>
            <a:off x="4937760" y="233172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33172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1</a:t>
            </a:r>
          </a:p>
        </p:txBody>
      </p:sp>
      <p:sp>
        <p:nvSpPr>
          <p:cNvPr id="12" name="TextBox 11"/>
          <p:cNvSpPr txBox="1"/>
          <p:nvPr/>
        </p:nvSpPr>
        <p:spPr>
          <a:xfrm>
            <a:off x="5532120" y="230428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Ghép cặp trong động cơ</a:t>
            </a:r>
          </a:p>
        </p:txBody>
      </p:sp>
      <p:sp>
        <p:nvSpPr>
          <p:cNvPr id="13" name="TextBox 12"/>
          <p:cNvSpPr txBox="1"/>
          <p:nvPr/>
        </p:nvSpPr>
        <p:spPr>
          <a:xfrm>
            <a:off x="5532120" y="260603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Δ = trung bình 30 cycle cuối − 30 cycle đầu</a:t>
            </a:r>
          </a:p>
        </p:txBody>
      </p:sp>
      <p:sp>
        <p:nvSpPr>
          <p:cNvPr id="14" name="Oval 13"/>
          <p:cNvSpPr/>
          <p:nvPr/>
        </p:nvSpPr>
        <p:spPr>
          <a:xfrm>
            <a:off x="4937760" y="310896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310896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2</a:t>
            </a:r>
          </a:p>
        </p:txBody>
      </p:sp>
      <p:sp>
        <p:nvSpPr>
          <p:cNvPr id="16" name="TextBox 15"/>
          <p:cNvSpPr txBox="1"/>
          <p:nvPr/>
        </p:nvSpPr>
        <p:spPr>
          <a:xfrm>
            <a:off x="5532120" y="308152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Bootstrap và Wilcoxon</a:t>
            </a:r>
          </a:p>
        </p:txBody>
      </p:sp>
      <p:sp>
        <p:nvSpPr>
          <p:cNvPr id="17" name="TextBox 16"/>
          <p:cNvSpPr txBox="1"/>
          <p:nvPr/>
        </p:nvSpPr>
        <p:spPr>
          <a:xfrm>
            <a:off x="5532120" y="338327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Lấy mẫu lại động cơ 10.000 lần</a:t>
            </a:r>
          </a:p>
        </p:txBody>
      </p:sp>
      <p:sp>
        <p:nvSpPr>
          <p:cNvPr id="18" name="Oval 17"/>
          <p:cNvSpPr/>
          <p:nvPr/>
        </p:nvSpPr>
        <p:spPr>
          <a:xfrm>
            <a:off x="4937760" y="388620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0" y="388620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3</a:t>
            </a:r>
          </a:p>
        </p:txBody>
      </p:sp>
      <p:sp>
        <p:nvSpPr>
          <p:cNvPr id="20" name="TextBox 19"/>
          <p:cNvSpPr txBox="1"/>
          <p:nvPr/>
        </p:nvSpPr>
        <p:spPr>
          <a:xfrm>
            <a:off x="5532120" y="385876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Hiệu chỉnh đa kiểm định</a:t>
            </a:r>
          </a:p>
        </p:txBody>
      </p:sp>
      <p:sp>
        <p:nvSpPr>
          <p:cNvPr id="21" name="TextBox 20"/>
          <p:cNvSpPr txBox="1"/>
          <p:nvPr/>
        </p:nvSpPr>
        <p:spPr>
          <a:xfrm>
            <a:off x="5532120" y="4160520"/>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Benjamini–Hochberg trên 21 sensor, q = 0,05</a:t>
            </a:r>
          </a:p>
        </p:txBody>
      </p:sp>
      <p:sp>
        <p:nvSpPr>
          <p:cNvPr id="22" name="Rounded Rectangle 21"/>
          <p:cNvSpPr/>
          <p:nvPr/>
        </p:nvSpPr>
        <p:spPr>
          <a:xfrm>
            <a:off x="4937760" y="4709160"/>
            <a:ext cx="2926080" cy="12801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4754880"/>
            <a:ext cx="2651760" cy="640080"/>
          </a:xfrm>
          <a:prstGeom prst="rect">
            <a:avLst/>
          </a:prstGeom>
          <a:noFill/>
        </p:spPr>
        <p:txBody>
          <a:bodyPr wrap="square" lIns="0" rIns="0" tIns="0" bIns="0" anchor="t"/>
          <a:lstStyle/>
          <a:p>
            <a:pPr algn="l">
              <a:spcAft>
                <a:spcPts val="0"/>
              </a:spcAft>
            </a:pPr>
            <a:r>
              <a:rPr sz="3800" b="1">
                <a:solidFill>
                  <a:srgbClr val="FFFFFF"/>
                </a:solidFill>
                <a:latin typeface="Arial"/>
              </a:rPr>
              <a:t>15/21</a:t>
            </a:r>
          </a:p>
        </p:txBody>
      </p:sp>
      <p:sp>
        <p:nvSpPr>
          <p:cNvPr id="24" name="TextBox 23"/>
          <p:cNvSpPr txBox="1"/>
          <p:nvPr/>
        </p:nvSpPr>
        <p:spPr>
          <a:xfrm>
            <a:off x="5138928" y="5394960"/>
            <a:ext cx="2651760" cy="548640"/>
          </a:xfrm>
          <a:prstGeom prst="rect">
            <a:avLst/>
          </a:prstGeom>
          <a:noFill/>
        </p:spPr>
        <p:txBody>
          <a:bodyPr wrap="square" lIns="0" rIns="0" tIns="0" bIns="0" anchor="t"/>
          <a:lstStyle/>
          <a:p>
            <a:pPr algn="l">
              <a:spcAft>
                <a:spcPts val="0"/>
              </a:spcAft>
            </a:pPr>
            <a:r>
              <a:rPr sz="1200" b="0">
                <a:solidFill>
                  <a:srgbClr val="C9D6F0"/>
                </a:solidFill>
                <a:latin typeface="Arial"/>
              </a:rPr>
              <a:t>sensor thay đổi có ý nghĩa thống kê (q = 0,05)</a:t>
            </a:r>
          </a:p>
        </p:txBody>
      </p:sp>
      <p:sp>
        <p:nvSpPr>
          <p:cNvPr id="25" name="Rounded Rectangle 24"/>
          <p:cNvSpPr/>
          <p:nvPr/>
        </p:nvSpPr>
        <p:spPr>
          <a:xfrm>
            <a:off x="8046720" y="4709160"/>
            <a:ext cx="3310128" cy="12801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4800600"/>
            <a:ext cx="2971800" cy="1143000"/>
          </a:xfrm>
          <a:prstGeom prst="rect">
            <a:avLst/>
          </a:prstGeom>
          <a:noFill/>
        </p:spPr>
        <p:txBody>
          <a:bodyPr wrap="square" lIns="0" rIns="0" tIns="0" bIns="0" anchor="ctr"/>
          <a:lstStyle/>
          <a:p>
            <a:pPr algn="l">
              <a:spcAft>
                <a:spcPts val="0"/>
              </a:spcAft>
            </a:pPr>
            <a:r>
              <a:rPr sz="1250" b="0">
                <a:solidFill>
                  <a:srgbClr val="1B2733"/>
                </a:solidFill>
                <a:latin typeface="Arial"/>
              </a:rPr>
              <a:t>Sensor 4, 7, 11, 12, 20 thay đổi cùng chiều ở 100/100 động cơ; 6 sensor hằng không kiểm định được.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hiện dấu hiệu bất thường dựa trên Health Index</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3σ so với 30 cycle đầu, duy trì 5 cycle: phát hiện 100/100 động cơ, trung vị 121 cycle trước hỏng hóc</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outputs/degradation/figures/anomaly_health_index.png; outputs/degradation/summary.json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12 / 20</a:t>
            </a:r>
          </a:p>
        </p:txBody>
      </p:sp>
      <p:pic>
        <p:nvPicPr>
          <p:cNvPr id="7" name="Picture 6" descr="image.png"/>
          <p:cNvPicPr>
            <a:picLocks noChangeAspect="1"/>
          </p:cNvPicPr>
          <p:nvPr/>
        </p:nvPicPr>
        <p:blipFill>
          <a:blip r:embed="rId3"/>
          <a:stretch>
            <a:fillRect/>
          </a:stretch>
        </p:blipFill>
        <p:spPr>
          <a:xfrm>
            <a:off x="841248" y="2240280"/>
            <a:ext cx="7452360" cy="2750275"/>
          </a:xfrm>
          <a:prstGeom prst="rect">
            <a:avLst/>
          </a:prstGeom>
        </p:spPr>
      </p:pic>
      <p:sp>
        <p:nvSpPr>
          <p:cNvPr id="8" name="Rounded Rectangle 7"/>
          <p:cNvSpPr/>
          <p:nvPr/>
        </p:nvSpPr>
        <p:spPr>
          <a:xfrm>
            <a:off x="8503920" y="2286000"/>
            <a:ext cx="2852928" cy="85039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0" y="2340864"/>
            <a:ext cx="2560320" cy="438912"/>
          </a:xfrm>
          <a:prstGeom prst="rect">
            <a:avLst/>
          </a:prstGeom>
          <a:noFill/>
        </p:spPr>
        <p:txBody>
          <a:bodyPr wrap="square" lIns="0" rIns="0" tIns="0" bIns="0" anchor="t"/>
          <a:lstStyle/>
          <a:p>
            <a:pPr algn="l">
              <a:spcAft>
                <a:spcPts val="0"/>
              </a:spcAft>
            </a:pPr>
            <a:r>
              <a:rPr sz="2400" b="1">
                <a:solidFill>
                  <a:srgbClr val="FFFFFF"/>
                </a:solidFill>
                <a:latin typeface="Arial"/>
              </a:rPr>
              <a:t>100/100</a:t>
            </a:r>
          </a:p>
        </p:txBody>
      </p:sp>
      <p:sp>
        <p:nvSpPr>
          <p:cNvPr id="10" name="TextBox 9"/>
          <p:cNvSpPr txBox="1"/>
          <p:nvPr/>
        </p:nvSpPr>
        <p:spPr>
          <a:xfrm>
            <a:off x="8686800" y="2770632"/>
            <a:ext cx="2606040" cy="347472"/>
          </a:xfrm>
          <a:prstGeom prst="rect">
            <a:avLst/>
          </a:prstGeom>
          <a:noFill/>
        </p:spPr>
        <p:txBody>
          <a:bodyPr wrap="square" lIns="0" rIns="0" tIns="0" bIns="0" anchor="t"/>
          <a:lstStyle/>
          <a:p>
            <a:pPr algn="l">
              <a:spcAft>
                <a:spcPts val="0"/>
              </a:spcAft>
            </a:pPr>
            <a:r>
              <a:rPr sz="1050" b="0">
                <a:solidFill>
                  <a:srgbClr val="C9D6F0"/>
                </a:solidFill>
                <a:latin typeface="Arial"/>
              </a:rPr>
              <a:t>động cơ được phát hiện trước hỏng hóc</a:t>
            </a:r>
          </a:p>
        </p:txBody>
      </p:sp>
      <p:sp>
        <p:nvSpPr>
          <p:cNvPr id="11" name="Rounded Rectangle 10"/>
          <p:cNvSpPr/>
          <p:nvPr/>
        </p:nvSpPr>
        <p:spPr>
          <a:xfrm>
            <a:off x="8503920" y="3227832"/>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0" y="3282696"/>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121</a:t>
            </a:r>
          </a:p>
        </p:txBody>
      </p:sp>
      <p:sp>
        <p:nvSpPr>
          <p:cNvPr id="13" name="TextBox 12"/>
          <p:cNvSpPr txBox="1"/>
          <p:nvPr/>
        </p:nvSpPr>
        <p:spPr>
          <a:xfrm>
            <a:off x="8686800" y="3712464"/>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cycle phát hiện trước hỏng hóc (trung vị); IQR 101–149</a:t>
            </a:r>
          </a:p>
        </p:txBody>
      </p:sp>
      <p:sp>
        <p:nvSpPr>
          <p:cNvPr id="14" name="Rounded Rectangle 13"/>
          <p:cNvSpPr/>
          <p:nvPr/>
        </p:nvSpPr>
        <p:spPr>
          <a:xfrm>
            <a:off x="8503920" y="4169664"/>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0" y="4224528"/>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39%</a:t>
            </a:r>
          </a:p>
        </p:txBody>
      </p:sp>
      <p:sp>
        <p:nvSpPr>
          <p:cNvPr id="16" name="TextBox 15"/>
          <p:cNvSpPr txBox="1"/>
          <p:nvPr/>
        </p:nvSpPr>
        <p:spPr>
          <a:xfrm>
            <a:off x="8686800" y="4654296"/>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vòng đời tại thời điểm phát hiện (trung vị)</a:t>
            </a:r>
          </a:p>
        </p:txBody>
      </p:sp>
      <p:sp>
        <p:nvSpPr>
          <p:cNvPr id="17" name="Rounded Rectangle 16"/>
          <p:cNvSpPr/>
          <p:nvPr/>
        </p:nvSpPr>
        <p:spPr>
          <a:xfrm>
            <a:off x="841248" y="5212080"/>
            <a:ext cx="10515600" cy="7772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248656"/>
            <a:ext cx="10104120" cy="713232"/>
          </a:xfrm>
          <a:prstGeom prst="rect">
            <a:avLst/>
          </a:prstGeom>
          <a:noFill/>
        </p:spPr>
        <p:txBody>
          <a:bodyPr wrap="square" lIns="0" rIns="0" tIns="0" bIns="0" anchor="ctr"/>
          <a:lstStyle/>
          <a:p>
            <a:pPr algn="l">
              <a:spcAft>
                <a:spcPts val="0"/>
              </a:spcAft>
            </a:pPr>
            <a:r>
              <a:rPr sz="1200" b="0">
                <a:solidFill>
                  <a:srgbClr val="1B2733"/>
                </a:solidFill>
                <a:latin typeface="Arial"/>
              </a:rPr>
              <a:t>Độ nhạy: với 9 cấu hình (2/3/4σ × 3/5/10 cycle), quy tắc đều phát hiện 100/100 động cơ, lead time nhỏ nhất ≥ 50 cycle. Không khử nhiễu: trung vị còn 72,5 cycle. Giới hạn: chưa ước lượng được tỷ lệ dương tính giả do thiếu nhãn thời điểm bắt đầu suy giảm.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Mô hình dự đoán RUL</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HistGradientBoosting, lựa chọn bằng GroupKFold 5 fold theo động cơ; MAE trên tập kiểm tra: 15,35 cycle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outputs/modeling/tables/{model_metrics.csv,final_metrics.json}; figures/final_true_vs_predicted.png</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13 / 20</a:t>
            </a:r>
          </a:p>
        </p:txBody>
      </p:sp>
      <p:graphicFrame>
        <p:nvGraphicFramePr>
          <p:cNvPr id="7" name="Table 6"/>
          <p:cNvGraphicFramePr>
            <a:graphicFrameLocks noGrp="1"/>
          </p:cNvGraphicFramePr>
          <p:nvPr/>
        </p:nvGraphicFramePr>
        <p:xfrm>
          <a:off x="841248" y="2286000"/>
          <a:ext cx="5212080" cy="1536192"/>
        </p:xfrm>
        <a:graphic>
          <a:graphicData uri="http://schemas.openxmlformats.org/drawingml/2006/table">
            <a:tbl>
              <a:tblPr firstRow="1" bandRow="1">
                <a:tableStyleId>{5C22544A-7EE6-4342-B048-85BDC9FD1C3A}</a:tableStyleId>
              </a:tblPr>
              <a:tblGrid>
                <a:gridCol w="2743200"/>
                <a:gridCol w="1097280"/>
                <a:gridCol w="1371600"/>
              </a:tblGrid>
              <a:tr h="384048">
                <a:tc>
                  <a:txBody>
                    <a:bodyPr wrap="square"/>
                    <a:lstStyle/>
                    <a:p>
                      <a:r>
                        <a:rPr sz="1250" b="1">
                          <a:solidFill>
                            <a:srgbClr val="FFFFFF"/>
                          </a:solidFill>
                          <a:latin typeface="Arial"/>
                        </a:rPr>
                        <a:t>Mô hình (GroupKFold 5 fold)</a:t>
                      </a:r>
                    </a:p>
                  </a:txBody>
                  <a:tcPr marL="73152" marR="73152" marT="27432" marB="27432" anchor="ctr">
                    <a:solidFill>
                      <a:srgbClr val="21409A"/>
                    </a:solidFill>
                  </a:tcPr>
                </a:tc>
                <a:tc>
                  <a:txBody>
                    <a:bodyPr wrap="square"/>
                    <a:lstStyle/>
                    <a:p>
                      <a:r>
                        <a:rPr sz="1250" b="1">
                          <a:solidFill>
                            <a:srgbClr val="FFFFFF"/>
                          </a:solidFill>
                          <a:latin typeface="Arial"/>
                        </a:rPr>
                        <a:t>MAE</a:t>
                      </a:r>
                    </a:p>
                  </a:txBody>
                  <a:tcPr marL="73152" marR="73152" marT="27432" marB="27432" anchor="ctr">
                    <a:solidFill>
                      <a:srgbClr val="21409A"/>
                    </a:solidFill>
                  </a:tcPr>
                </a:tc>
                <a:tc>
                  <a:txBody>
                    <a:bodyPr wrap="square"/>
                    <a:lstStyle/>
                    <a:p>
                      <a:r>
                        <a:rPr sz="1250" b="1">
                          <a:solidFill>
                            <a:srgbClr val="FFFFFF"/>
                          </a:solidFill>
                          <a:latin typeface="Arial"/>
                        </a:rPr>
                        <a:t>Độ lệch chuẩn</a:t>
                      </a:r>
                    </a:p>
                  </a:txBody>
                  <a:tcPr marL="73152" marR="73152" marT="27432" marB="27432" anchor="ctr">
                    <a:solidFill>
                      <a:srgbClr val="21409A"/>
                    </a:solidFill>
                  </a:tcPr>
                </a:tc>
              </a:tr>
              <a:tr h="384048">
                <a:tc>
                  <a:txBody>
                    <a:bodyPr wrap="square"/>
                    <a:lstStyle/>
                    <a:p>
                      <a:r>
                        <a:rPr sz="1250" b="0">
                          <a:solidFill>
                            <a:srgbClr val="1B2733"/>
                          </a:solidFill>
                          <a:latin typeface="Arial"/>
                        </a:rPr>
                        <a:t>Median baseline</a:t>
                      </a:r>
                    </a:p>
                  </a:txBody>
                  <a:tcPr marL="73152" marR="73152" marT="27432" marB="27432" anchor="ctr">
                    <a:solidFill>
                      <a:srgbClr val="FFFFFF"/>
                    </a:solidFill>
                  </a:tcPr>
                </a:tc>
                <a:tc>
                  <a:txBody>
                    <a:bodyPr wrap="square"/>
                    <a:lstStyle/>
                    <a:p>
                      <a:pPr algn="r"/>
                      <a:r>
                        <a:rPr sz="1250" b="0">
                          <a:solidFill>
                            <a:srgbClr val="1B2733"/>
                          </a:solidFill>
                          <a:latin typeface="Arial"/>
                        </a:rPr>
                        <a:t>46,95</a:t>
                      </a:r>
                    </a:p>
                  </a:txBody>
                  <a:tcPr marL="73152" marR="73152" marT="27432" marB="27432" anchor="ctr">
                    <a:solidFill>
                      <a:srgbClr val="FFFFFF"/>
                    </a:solidFill>
                  </a:tcPr>
                </a:tc>
                <a:tc>
                  <a:txBody>
                    <a:bodyPr wrap="square"/>
                    <a:lstStyle/>
                    <a:p>
                      <a:pPr algn="r"/>
                      <a:r>
                        <a:rPr sz="1250" b="0">
                          <a:solidFill>
                            <a:srgbClr val="1B2733"/>
                          </a:solidFill>
                          <a:latin typeface="Arial"/>
                        </a:rPr>
                        <a:t>0,12</a:t>
                      </a:r>
                    </a:p>
                  </a:txBody>
                  <a:tcPr marL="73152" marR="73152" marT="27432" marB="27432" anchor="ctr">
                    <a:solidFill>
                      <a:srgbClr val="FFFFFF"/>
                    </a:solidFill>
                  </a:tcPr>
                </a:tc>
              </a:tr>
              <a:tr h="384048">
                <a:tc>
                  <a:txBody>
                    <a:bodyPr wrap="square"/>
                    <a:lstStyle/>
                    <a:p>
                      <a:r>
                        <a:rPr sz="1250" b="0">
                          <a:solidFill>
                            <a:srgbClr val="1B2733"/>
                          </a:solidFill>
                          <a:latin typeface="Arial"/>
                        </a:rPr>
                        <a:t>Ridge (α = 1)</a:t>
                      </a:r>
                    </a:p>
                  </a:txBody>
                  <a:tcPr marL="73152" marR="73152" marT="27432" marB="27432" anchor="ctr">
                    <a:solidFill>
                      <a:srgbClr val="EAF0FA"/>
                    </a:solidFill>
                  </a:tcPr>
                </a:tc>
                <a:tc>
                  <a:txBody>
                    <a:bodyPr wrap="square"/>
                    <a:lstStyle/>
                    <a:p>
                      <a:pPr algn="r"/>
                      <a:r>
                        <a:rPr sz="1250" b="0">
                          <a:solidFill>
                            <a:srgbClr val="1B2733"/>
                          </a:solidFill>
                          <a:latin typeface="Arial"/>
                        </a:rPr>
                        <a:t>23,99</a:t>
                      </a:r>
                    </a:p>
                  </a:txBody>
                  <a:tcPr marL="73152" marR="73152" marT="27432" marB="27432" anchor="ctr">
                    <a:solidFill>
                      <a:srgbClr val="EAF0FA"/>
                    </a:solidFill>
                  </a:tcPr>
                </a:tc>
                <a:tc>
                  <a:txBody>
                    <a:bodyPr wrap="square"/>
                    <a:lstStyle/>
                    <a:p>
                      <a:pPr algn="r"/>
                      <a:r>
                        <a:rPr sz="1250" b="0">
                          <a:solidFill>
                            <a:srgbClr val="1B2733"/>
                          </a:solidFill>
                          <a:latin typeface="Arial"/>
                        </a:rPr>
                        <a:t>0,95</a:t>
                      </a:r>
                    </a:p>
                  </a:txBody>
                  <a:tcPr marL="73152" marR="73152" marT="27432" marB="27432" anchor="ctr">
                    <a:solidFill>
                      <a:srgbClr val="EAF0FA"/>
                    </a:solidFill>
                  </a:tcPr>
                </a:tc>
              </a:tr>
              <a:tr h="384048">
                <a:tc>
                  <a:txBody>
                    <a:bodyPr wrap="square"/>
                    <a:lstStyle/>
                    <a:p>
                      <a:r>
                        <a:rPr sz="1250" b="1">
                          <a:solidFill>
                            <a:srgbClr val="1B2733"/>
                          </a:solidFill>
                          <a:latin typeface="Arial"/>
                        </a:rPr>
                        <a:t>HistGradientBoosting</a:t>
                      </a:r>
                    </a:p>
                  </a:txBody>
                  <a:tcPr marL="73152" marR="73152" marT="27432" marB="27432" anchor="ctr">
                    <a:solidFill>
                      <a:srgbClr val="FFF4DA"/>
                    </a:solidFill>
                  </a:tcPr>
                </a:tc>
                <a:tc>
                  <a:txBody>
                    <a:bodyPr wrap="square"/>
                    <a:lstStyle/>
                    <a:p>
                      <a:pPr algn="r"/>
                      <a:r>
                        <a:rPr sz="1250" b="1">
                          <a:solidFill>
                            <a:srgbClr val="1B2733"/>
                          </a:solidFill>
                          <a:latin typeface="Arial"/>
                        </a:rPr>
                        <a:t>20,21</a:t>
                      </a:r>
                    </a:p>
                  </a:txBody>
                  <a:tcPr marL="73152" marR="73152" marT="27432" marB="27432" anchor="ctr">
                    <a:solidFill>
                      <a:srgbClr val="FFF4DA"/>
                    </a:solidFill>
                  </a:tcPr>
                </a:tc>
                <a:tc>
                  <a:txBody>
                    <a:bodyPr wrap="square"/>
                    <a:lstStyle/>
                    <a:p>
                      <a:pPr algn="r"/>
                      <a:r>
                        <a:rPr sz="1250" b="1">
                          <a:solidFill>
                            <a:srgbClr val="1B2733"/>
                          </a:solidFill>
                          <a:latin typeface="Arial"/>
                        </a:rPr>
                        <a:t>0,98</a:t>
                      </a:r>
                    </a:p>
                  </a:txBody>
                  <a:tcPr marL="73152" marR="73152" marT="27432" marB="27432" anchor="ctr">
                    <a:solidFill>
                      <a:srgbClr val="FFF4DA"/>
                    </a:solidFill>
                  </a:tcPr>
                </a:tc>
              </a:tr>
            </a:tbl>
          </a:graphicData>
        </a:graphic>
      </p:graphicFrame>
      <p:sp>
        <p:nvSpPr>
          <p:cNvPr id="8" name="Rounded Rectangle 7"/>
          <p:cNvSpPr/>
          <p:nvPr/>
        </p:nvSpPr>
        <p:spPr>
          <a:xfrm>
            <a:off x="841248" y="4069080"/>
            <a:ext cx="1673352" cy="192024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160520"/>
            <a:ext cx="1463040" cy="548640"/>
          </a:xfrm>
          <a:prstGeom prst="rect">
            <a:avLst/>
          </a:prstGeom>
          <a:noFill/>
        </p:spPr>
        <p:txBody>
          <a:bodyPr wrap="square" lIns="0" rIns="0" tIns="0" bIns="0" anchor="t"/>
          <a:lstStyle/>
          <a:p>
            <a:pPr algn="l">
              <a:spcAft>
                <a:spcPts val="0"/>
              </a:spcAft>
            </a:pPr>
            <a:r>
              <a:rPr sz="2400" b="1">
                <a:solidFill>
                  <a:srgbClr val="FFFFFF"/>
                </a:solidFill>
                <a:latin typeface="Arial"/>
              </a:rPr>
              <a:t>15,35</a:t>
            </a:r>
          </a:p>
        </p:txBody>
      </p:sp>
      <p:sp>
        <p:nvSpPr>
          <p:cNvPr id="10" name="TextBox 9"/>
          <p:cNvSpPr txBox="1"/>
          <p:nvPr/>
        </p:nvSpPr>
        <p:spPr>
          <a:xfrm>
            <a:off x="978408" y="4754880"/>
            <a:ext cx="1463040" cy="320040"/>
          </a:xfrm>
          <a:prstGeom prst="rect">
            <a:avLst/>
          </a:prstGeom>
          <a:noFill/>
        </p:spPr>
        <p:txBody>
          <a:bodyPr wrap="square" lIns="0" rIns="0" tIns="0" bIns="0" anchor="t"/>
          <a:lstStyle/>
          <a:p>
            <a:pPr algn="l">
              <a:spcAft>
                <a:spcPts val="0"/>
              </a:spcAft>
            </a:pPr>
            <a:r>
              <a:rPr sz="1250" b="1">
                <a:solidFill>
                  <a:srgbClr val="FFFFFF"/>
                </a:solidFill>
                <a:latin typeface="Arial"/>
              </a:rPr>
              <a:t>MAE (cycle)</a:t>
            </a:r>
          </a:p>
        </p:txBody>
      </p:sp>
      <p:sp>
        <p:nvSpPr>
          <p:cNvPr id="11" name="TextBox 10"/>
          <p:cNvSpPr txBox="1"/>
          <p:nvPr/>
        </p:nvSpPr>
        <p:spPr>
          <a:xfrm>
            <a:off x="978408" y="5120640"/>
            <a:ext cx="1463040" cy="777240"/>
          </a:xfrm>
          <a:prstGeom prst="rect">
            <a:avLst/>
          </a:prstGeom>
          <a:noFill/>
        </p:spPr>
        <p:txBody>
          <a:bodyPr wrap="square" lIns="0" rIns="0" tIns="0" bIns="0" anchor="t"/>
          <a:lstStyle/>
          <a:p>
            <a:pPr algn="l">
              <a:spcAft>
                <a:spcPts val="0"/>
              </a:spcAft>
            </a:pPr>
            <a:r>
              <a:rPr sz="1100" b="0">
                <a:solidFill>
                  <a:srgbClr val="C9D6F0"/>
                </a:solidFill>
                <a:latin typeface="Arial"/>
              </a:rPr>
              <a:t>CI 95%: 12,73–18,09</a:t>
            </a:r>
          </a:p>
        </p:txBody>
      </p:sp>
      <p:sp>
        <p:nvSpPr>
          <p:cNvPr id="12" name="Rounded Rectangle 11"/>
          <p:cNvSpPr/>
          <p:nvPr/>
        </p:nvSpPr>
        <p:spPr>
          <a:xfrm>
            <a:off x="262432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6148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20,54</a:t>
            </a:r>
          </a:p>
        </p:txBody>
      </p:sp>
      <p:sp>
        <p:nvSpPr>
          <p:cNvPr id="14" name="TextBox 13"/>
          <p:cNvSpPr txBox="1"/>
          <p:nvPr/>
        </p:nvSpPr>
        <p:spPr>
          <a:xfrm>
            <a:off x="276148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RMSE (cycle)</a:t>
            </a:r>
          </a:p>
        </p:txBody>
      </p:sp>
      <p:sp>
        <p:nvSpPr>
          <p:cNvPr id="15" name="TextBox 14"/>
          <p:cNvSpPr txBox="1"/>
          <p:nvPr/>
        </p:nvSpPr>
        <p:spPr>
          <a:xfrm>
            <a:off x="276148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nhạy với sai số lớn</a:t>
            </a:r>
          </a:p>
        </p:txBody>
      </p:sp>
      <p:sp>
        <p:nvSpPr>
          <p:cNvPr id="16" name="Rounded Rectangle 15"/>
          <p:cNvSpPr/>
          <p:nvPr/>
        </p:nvSpPr>
        <p:spPr>
          <a:xfrm>
            <a:off x="440740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456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1.513</a:t>
            </a:r>
          </a:p>
        </p:txBody>
      </p:sp>
      <p:sp>
        <p:nvSpPr>
          <p:cNvPr id="18" name="TextBox 17"/>
          <p:cNvSpPr txBox="1"/>
          <p:nvPr/>
        </p:nvSpPr>
        <p:spPr>
          <a:xfrm>
            <a:off x="454456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NASA score</a:t>
            </a:r>
          </a:p>
        </p:txBody>
      </p:sp>
      <p:sp>
        <p:nvSpPr>
          <p:cNvPr id="19" name="TextBox 18"/>
          <p:cNvSpPr txBox="1"/>
          <p:nvPr/>
        </p:nvSpPr>
        <p:spPr>
          <a:xfrm>
            <a:off x="454456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phạt nặng hơn khi ước lượng cao</a:t>
            </a:r>
          </a:p>
        </p:txBody>
      </p:sp>
      <p:pic>
        <p:nvPicPr>
          <p:cNvPr id="20" name="Picture 19" descr="image.png"/>
          <p:cNvPicPr>
            <a:picLocks noChangeAspect="1"/>
          </p:cNvPicPr>
          <p:nvPr/>
        </p:nvPicPr>
        <p:blipFill>
          <a:blip r:embed="rId3"/>
          <a:stretch>
            <a:fillRect/>
          </a:stretch>
        </p:blipFill>
        <p:spPr>
          <a:xfrm>
            <a:off x="6355080" y="2328454"/>
            <a:ext cx="5001768" cy="3572691"/>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sai số dự đoán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Sai số giảm khi RUL nhỏ; mô hình có xu hướng ước lượng cao, tương ứng với cảnh báo muộn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outputs/modeling/figures/final_residuals_by_rul.png; outputs/diagnostics/error_diagnostics.json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14 / 20</a:t>
            </a:r>
          </a:p>
        </p:txBody>
      </p:sp>
      <p:pic>
        <p:nvPicPr>
          <p:cNvPr id="7" name="Picture 6" descr="image.png"/>
          <p:cNvPicPr>
            <a:picLocks noChangeAspect="1"/>
          </p:cNvPicPr>
          <p:nvPr/>
        </p:nvPicPr>
        <p:blipFill>
          <a:blip r:embed="rId3"/>
          <a:stretch>
            <a:fillRect/>
          </a:stretch>
        </p:blipFill>
        <p:spPr>
          <a:xfrm>
            <a:off x="841248" y="2240280"/>
            <a:ext cx="5248655" cy="3749039"/>
          </a:xfrm>
          <a:prstGeom prst="rect">
            <a:avLst/>
          </a:prstGeom>
        </p:spPr>
      </p:pic>
      <p:sp>
        <p:nvSpPr>
          <p:cNvPr id="8" name="TextBox 7"/>
          <p:cNvSpPr txBox="1"/>
          <p:nvPr/>
        </p:nvSpPr>
        <p:spPr>
          <a:xfrm>
            <a:off x="6675120" y="2286000"/>
            <a:ext cx="4663440" cy="310896"/>
          </a:xfrm>
          <a:prstGeom prst="rect">
            <a:avLst/>
          </a:prstGeom>
          <a:noFill/>
        </p:spPr>
        <p:txBody>
          <a:bodyPr wrap="square" lIns="0" rIns="0" tIns="0" bIns="0" anchor="t"/>
          <a:lstStyle/>
          <a:p>
            <a:pPr algn="l">
              <a:spcAft>
                <a:spcPts val="0"/>
              </a:spcAft>
            </a:pPr>
            <a:r>
              <a:rPr sz="1500" b="1">
                <a:solidFill>
                  <a:srgbClr val="21409A"/>
                </a:solidFill>
                <a:latin typeface="Arial"/>
              </a:rPr>
              <a:t>Phân bố dấu của sai số (100 động cơ kiểm tra)</a:t>
            </a:r>
          </a:p>
        </p:txBody>
      </p:sp>
      <p:sp>
        <p:nvSpPr>
          <p:cNvPr id="9" name="Rectangle 8"/>
          <p:cNvSpPr/>
          <p:nvPr/>
        </p:nvSpPr>
        <p:spPr>
          <a:xfrm>
            <a:off x="6675120" y="2697480"/>
            <a:ext cx="3450945" cy="50292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126065" y="2697480"/>
            <a:ext cx="1212494" cy="502920"/>
          </a:xfrm>
          <a:prstGeom prst="rect">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84848" y="2697480"/>
            <a:ext cx="2377440" cy="502920"/>
          </a:xfrm>
          <a:prstGeom prst="rect">
            <a:avLst/>
          </a:prstGeom>
          <a:noFill/>
        </p:spPr>
        <p:txBody>
          <a:bodyPr wrap="square" lIns="0" rIns="0" tIns="0" bIns="0" anchor="ctr"/>
          <a:lstStyle/>
          <a:p>
            <a:pPr algn="l">
              <a:spcAft>
                <a:spcPts val="0"/>
              </a:spcAft>
            </a:pPr>
            <a:r>
              <a:rPr sz="1400" b="1">
                <a:solidFill>
                  <a:srgbClr val="1B2733"/>
                </a:solidFill>
                <a:latin typeface="Arial"/>
              </a:rPr>
              <a:t>74 ước lượng cao</a:t>
            </a:r>
          </a:p>
        </p:txBody>
      </p:sp>
      <p:sp>
        <p:nvSpPr>
          <p:cNvPr id="12" name="TextBox 11"/>
          <p:cNvSpPr txBox="1"/>
          <p:nvPr/>
        </p:nvSpPr>
        <p:spPr>
          <a:xfrm>
            <a:off x="10126065" y="2697480"/>
            <a:ext cx="1212494" cy="502920"/>
          </a:xfrm>
          <a:prstGeom prst="rect">
            <a:avLst/>
          </a:prstGeom>
          <a:noFill/>
        </p:spPr>
        <p:txBody>
          <a:bodyPr wrap="square" lIns="0" rIns="0" tIns="0" bIns="0" anchor="ctr"/>
          <a:lstStyle/>
          <a:p>
            <a:pPr algn="ctr">
              <a:spcAft>
                <a:spcPts val="0"/>
              </a:spcAft>
            </a:pPr>
            <a:r>
              <a:rPr sz="1200" b="1">
                <a:solidFill>
                  <a:srgbClr val="FFFFFF"/>
                </a:solidFill>
                <a:latin typeface="Arial"/>
              </a:rPr>
              <a:t>26 thấp</a:t>
            </a:r>
          </a:p>
        </p:txBody>
      </p:sp>
      <p:sp>
        <p:nvSpPr>
          <p:cNvPr id="13" name="Rounded Rectangle 12"/>
          <p:cNvSpPr/>
          <p:nvPr/>
        </p:nvSpPr>
        <p:spPr>
          <a:xfrm>
            <a:off x="6675120" y="3429000"/>
            <a:ext cx="4681728" cy="16916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76288" y="3547872"/>
            <a:ext cx="4297680" cy="310896"/>
          </a:xfrm>
          <a:prstGeom prst="rect">
            <a:avLst/>
          </a:prstGeom>
          <a:noFill/>
        </p:spPr>
        <p:txBody>
          <a:bodyPr wrap="square" lIns="0" rIns="0" tIns="0" bIns="0" anchor="t"/>
          <a:lstStyle/>
          <a:p>
            <a:pPr algn="l">
              <a:spcAft>
                <a:spcPts val="0"/>
              </a:spcAft>
            </a:pPr>
            <a:r>
              <a:rPr sz="1400" b="1">
                <a:solidFill>
                  <a:srgbClr val="21409A"/>
                </a:solidFill>
                <a:latin typeface="Arial"/>
              </a:rPr>
              <a:t>Sai số lớn nhất: động cơ 23</a:t>
            </a:r>
          </a:p>
        </p:txBody>
      </p:sp>
      <p:sp>
        <p:nvSpPr>
          <p:cNvPr id="15" name="TextBox 14"/>
          <p:cNvSpPr txBox="1"/>
          <p:nvPr/>
        </p:nvSpPr>
        <p:spPr>
          <a:xfrm>
            <a:off x="6876288"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113</a:t>
            </a:r>
          </a:p>
        </p:txBody>
      </p:sp>
      <p:sp>
        <p:nvSpPr>
          <p:cNvPr id="16" name="TextBox 15"/>
          <p:cNvSpPr txBox="1"/>
          <p:nvPr/>
        </p:nvSpPr>
        <p:spPr>
          <a:xfrm>
            <a:off x="6876288"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RUL thật (cycle)</a:t>
            </a:r>
          </a:p>
        </p:txBody>
      </p:sp>
      <p:sp>
        <p:nvSpPr>
          <p:cNvPr id="17" name="TextBox 16"/>
          <p:cNvSpPr txBox="1"/>
          <p:nvPr/>
        </p:nvSpPr>
        <p:spPr>
          <a:xfrm>
            <a:off x="8339327"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170,5</a:t>
            </a:r>
          </a:p>
        </p:txBody>
      </p:sp>
      <p:sp>
        <p:nvSpPr>
          <p:cNvPr id="18" name="TextBox 17"/>
          <p:cNvSpPr txBox="1"/>
          <p:nvPr/>
        </p:nvSpPr>
        <p:spPr>
          <a:xfrm>
            <a:off x="833932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Dự đoán (cycle)</a:t>
            </a:r>
          </a:p>
        </p:txBody>
      </p:sp>
      <p:sp>
        <p:nvSpPr>
          <p:cNvPr id="19" name="TextBox 18"/>
          <p:cNvSpPr txBox="1"/>
          <p:nvPr/>
        </p:nvSpPr>
        <p:spPr>
          <a:xfrm>
            <a:off x="9802367" y="3931920"/>
            <a:ext cx="1417320" cy="548640"/>
          </a:xfrm>
          <a:prstGeom prst="rect">
            <a:avLst/>
          </a:prstGeom>
          <a:noFill/>
        </p:spPr>
        <p:txBody>
          <a:bodyPr wrap="square" lIns="0" rIns="0" tIns="0" bIns="0" anchor="t"/>
          <a:lstStyle/>
          <a:p>
            <a:pPr algn="l">
              <a:spcAft>
                <a:spcPts val="0"/>
              </a:spcAft>
            </a:pPr>
            <a:r>
              <a:rPr sz="2400" b="1">
                <a:solidFill>
                  <a:srgbClr val="B37800"/>
                </a:solidFill>
                <a:latin typeface="Arial"/>
              </a:rPr>
              <a:t>57,5</a:t>
            </a:r>
          </a:p>
        </p:txBody>
      </p:sp>
      <p:sp>
        <p:nvSpPr>
          <p:cNvPr id="20" name="TextBox 19"/>
          <p:cNvSpPr txBox="1"/>
          <p:nvPr/>
        </p:nvSpPr>
        <p:spPr>
          <a:xfrm>
            <a:off x="980236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Sai số (cycle)</a:t>
            </a:r>
          </a:p>
        </p:txBody>
      </p:sp>
      <p:sp>
        <p:nvSpPr>
          <p:cNvPr id="21" name="TextBox 20"/>
          <p:cNvSpPr txBox="1"/>
          <p:nvPr/>
        </p:nvSpPr>
        <p:spPr>
          <a:xfrm>
            <a:off x="6675120" y="5257800"/>
            <a:ext cx="4681728" cy="731520"/>
          </a:xfrm>
          <a:prstGeom prst="rect">
            <a:avLst/>
          </a:prstGeom>
          <a:noFill/>
        </p:spPr>
        <p:txBody>
          <a:bodyPr wrap="square" lIns="0" rIns="0" tIns="0" bIns="0" anchor="t"/>
          <a:lstStyle/>
          <a:p>
            <a:pPr algn="l">
              <a:spcAft>
                <a:spcPts val="0"/>
              </a:spcAft>
            </a:pPr>
            <a:r>
              <a:rPr sz="1300" b="1">
                <a:solidFill>
                  <a:srgbClr val="21409A"/>
                </a:solidFill>
                <a:latin typeface="Arial"/>
              </a:rPr>
              <a:t>MAE 4,38 cycle khi RUL thật ≤ 30. Mười sai số lớn nhất chiếm 75,5% NASA score.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Cơ chế cảnh báo sớm hai mức</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RUL ≤ 30: không bỏ sót động cơ, lead time trung vị 30 cycle; 49% cảnh báo muộn so với ngưỡng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outputs/modeling/figures/warning_trajectory.png; outputs/course_alignment/20261007/warning_fixed_policies.csv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15 / 20</a:t>
            </a:r>
          </a:p>
        </p:txBody>
      </p:sp>
      <p:pic>
        <p:nvPicPr>
          <p:cNvPr id="7" name="Picture 6" descr="image.png"/>
          <p:cNvPicPr>
            <a:picLocks noChangeAspect="1"/>
          </p:cNvPicPr>
          <p:nvPr/>
        </p:nvPicPr>
        <p:blipFill>
          <a:blip r:embed="rId3"/>
          <a:stretch>
            <a:fillRect/>
          </a:stretch>
        </p:blipFill>
        <p:spPr>
          <a:xfrm>
            <a:off x="841248" y="2240280"/>
            <a:ext cx="5806440" cy="3266122"/>
          </a:xfrm>
          <a:prstGeom prst="rect">
            <a:avLst/>
          </a:prstGeom>
        </p:spPr>
      </p:pic>
      <p:sp>
        <p:nvSpPr>
          <p:cNvPr id="8" name="TextBox 7"/>
          <p:cNvSpPr txBox="1"/>
          <p:nvPr/>
        </p:nvSpPr>
        <p:spPr>
          <a:xfrm>
            <a:off x="841248" y="5561266"/>
            <a:ext cx="5806440" cy="274320"/>
          </a:xfrm>
          <a:prstGeom prst="rect">
            <a:avLst/>
          </a:prstGeom>
          <a:noFill/>
        </p:spPr>
        <p:txBody>
          <a:bodyPr wrap="square" lIns="0" rIns="0" tIns="0" bIns="0" anchor="t"/>
          <a:lstStyle/>
          <a:p>
            <a:pPr algn="l">
              <a:spcAft>
                <a:spcPts val="0"/>
              </a:spcAft>
            </a:pPr>
            <a:r>
              <a:rPr sz="1100" b="0">
                <a:solidFill>
                  <a:srgbClr val="5A6B7B"/>
                </a:solidFill>
                <a:latin typeface="Arial"/>
              </a:rPr>
              <a:t>Động cơ train 1: cảnh báo mức 2 tại cycle 162; hỏng hóc tại cycle 192.</a:t>
            </a:r>
          </a:p>
        </p:txBody>
      </p:sp>
      <p:graphicFrame>
        <p:nvGraphicFramePr>
          <p:cNvPr id="9" name="Table 8"/>
          <p:cNvGraphicFramePr>
            <a:graphicFrameLocks noGrp="1"/>
          </p:cNvGraphicFramePr>
          <p:nvPr/>
        </p:nvGraphicFramePr>
        <p:xfrm>
          <a:off x="6949440" y="2286000"/>
          <a:ext cx="4407408" cy="1152144"/>
        </p:xfrm>
        <a:graphic>
          <a:graphicData uri="http://schemas.openxmlformats.org/drawingml/2006/table">
            <a:tbl>
              <a:tblPr firstRow="1" bandRow="1">
                <a:tableStyleId>{5C22544A-7EE6-4342-B048-85BDC9FD1C3A}</a:tableStyleId>
              </a:tblPr>
              <a:tblGrid>
                <a:gridCol w="1280160"/>
                <a:gridCol w="1005840"/>
                <a:gridCol w="868680"/>
                <a:gridCol w="1252728"/>
              </a:tblGrid>
              <a:tr h="384048">
                <a:tc>
                  <a:txBody>
                    <a:bodyPr wrap="square"/>
                    <a:lstStyle/>
                    <a:p>
                      <a:r>
                        <a:rPr sz="1250" b="1">
                          <a:solidFill>
                            <a:srgbClr val="FFFFFF"/>
                          </a:solidFill>
                          <a:latin typeface="Arial"/>
                        </a:rPr>
                        <a:t>Ngưỡng RUL</a:t>
                      </a:r>
                    </a:p>
                  </a:txBody>
                  <a:tcPr marL="73152" marR="73152" marT="27432" marB="27432" anchor="ctr">
                    <a:solidFill>
                      <a:srgbClr val="21409A"/>
                    </a:solidFill>
                  </a:tcPr>
                </a:tc>
                <a:tc>
                  <a:txBody>
                    <a:bodyPr wrap="square"/>
                    <a:lstStyle/>
                    <a:p>
                      <a:r>
                        <a:rPr sz="1250" b="1">
                          <a:solidFill>
                            <a:srgbClr val="FFFFFF"/>
                          </a:solidFill>
                          <a:latin typeface="Arial"/>
                        </a:rPr>
                        <a:t>Kịp thời</a:t>
                      </a:r>
                    </a:p>
                  </a:txBody>
                  <a:tcPr marL="73152" marR="73152" marT="27432" marB="27432" anchor="ctr">
                    <a:solidFill>
                      <a:srgbClr val="21409A"/>
                    </a:solidFill>
                  </a:tcPr>
                </a:tc>
                <a:tc>
                  <a:txBody>
                    <a:bodyPr wrap="square"/>
                    <a:lstStyle/>
                    <a:p>
                      <a:r>
                        <a:rPr sz="1250" b="1">
                          <a:solidFill>
                            <a:srgbClr val="FFFFFF"/>
                          </a:solidFill>
                          <a:latin typeface="Arial"/>
                        </a:rPr>
                        <a:t>Muộn</a:t>
                      </a:r>
                    </a:p>
                  </a:txBody>
                  <a:tcPr marL="73152" marR="73152" marT="27432" marB="27432" anchor="ctr">
                    <a:solidFill>
                      <a:srgbClr val="21409A"/>
                    </a:solidFill>
                  </a:tcPr>
                </a:tc>
                <a:tc>
                  <a:txBody>
                    <a:bodyPr wrap="square"/>
                    <a:lstStyle/>
                    <a:p>
                      <a:r>
                        <a:rPr sz="1250" b="1">
                          <a:solidFill>
                            <a:srgbClr val="FFFFFF"/>
                          </a:solidFill>
                          <a:latin typeface="Arial"/>
                        </a:rPr>
                        <a:t>Báo sớm</a:t>
                      </a:r>
                    </a:p>
                  </a:txBody>
                  <a:tcPr marL="73152" marR="73152" marT="27432" marB="27432" anchor="ctr">
                    <a:solidFill>
                      <a:srgbClr val="21409A"/>
                    </a:solidFill>
                  </a:tcPr>
                </a:tc>
              </a:tr>
              <a:tr h="384048">
                <a:tc>
                  <a:txBody>
                    <a:bodyPr wrap="square"/>
                    <a:lstStyle/>
                    <a:p>
                      <a:r>
                        <a:rPr sz="1250" b="1">
                          <a:solidFill>
                            <a:srgbClr val="1B2733"/>
                          </a:solidFill>
                          <a:latin typeface="Arial"/>
                        </a:rPr>
                        <a:t>≤ 30 cycle</a:t>
                      </a:r>
                    </a:p>
                  </a:txBody>
                  <a:tcPr marL="73152" marR="73152" marT="27432" marB="27432" anchor="ctr">
                    <a:solidFill>
                      <a:srgbClr val="FFF4DA"/>
                    </a:solidFill>
                  </a:tcPr>
                </a:tc>
                <a:tc>
                  <a:txBody>
                    <a:bodyPr wrap="square"/>
                    <a:lstStyle/>
                    <a:p>
                      <a:pPr algn="r"/>
                      <a:r>
                        <a:rPr sz="1250" b="1">
                          <a:solidFill>
                            <a:srgbClr val="1B2733"/>
                          </a:solidFill>
                          <a:latin typeface="Arial"/>
                        </a:rPr>
                        <a:t>51%</a:t>
                      </a:r>
                    </a:p>
                  </a:txBody>
                  <a:tcPr marL="73152" marR="73152" marT="27432" marB="27432" anchor="ctr">
                    <a:solidFill>
                      <a:srgbClr val="FFF4DA"/>
                    </a:solidFill>
                  </a:tcPr>
                </a:tc>
                <a:tc>
                  <a:txBody>
                    <a:bodyPr wrap="square"/>
                    <a:lstStyle/>
                    <a:p>
                      <a:pPr algn="r"/>
                      <a:r>
                        <a:rPr sz="1250" b="1">
                          <a:solidFill>
                            <a:srgbClr val="1B2733"/>
                          </a:solidFill>
                          <a:latin typeface="Arial"/>
                        </a:rPr>
                        <a:t>49%</a:t>
                      </a:r>
                    </a:p>
                  </a:txBody>
                  <a:tcPr marL="73152" marR="73152" marT="27432" marB="27432" anchor="ctr">
                    <a:solidFill>
                      <a:srgbClr val="FFF4DA"/>
                    </a:solidFill>
                  </a:tcPr>
                </a:tc>
                <a:tc>
                  <a:txBody>
                    <a:bodyPr wrap="square"/>
                    <a:lstStyle/>
                    <a:p>
                      <a:pPr algn="r"/>
                      <a:r>
                        <a:rPr sz="1250" b="1">
                          <a:solidFill>
                            <a:srgbClr val="1B2733"/>
                          </a:solidFill>
                          <a:latin typeface="Arial"/>
                        </a:rPr>
                        <a:t>1,3%</a:t>
                      </a:r>
                    </a:p>
                  </a:txBody>
                  <a:tcPr marL="73152" marR="73152" marT="27432" marB="27432" anchor="ctr">
                    <a:solidFill>
                      <a:srgbClr val="FFF4DA"/>
                    </a:solidFill>
                  </a:tcPr>
                </a:tc>
              </a:tr>
              <a:tr h="384048">
                <a:tc>
                  <a:txBody>
                    <a:bodyPr wrap="square"/>
                    <a:lstStyle/>
                    <a:p>
                      <a:r>
                        <a:rPr sz="1250" b="0">
                          <a:solidFill>
                            <a:srgbClr val="1B2733"/>
                          </a:solidFill>
                          <a:latin typeface="Arial"/>
                        </a:rPr>
                        <a:t>≤ 40 cycle</a:t>
                      </a:r>
                    </a:p>
                  </a:txBody>
                  <a:tcPr marL="73152" marR="73152" marT="27432" marB="27432" anchor="ctr">
                    <a:solidFill>
                      <a:srgbClr val="EAF0FA"/>
                    </a:solidFill>
                  </a:tcPr>
                </a:tc>
                <a:tc>
                  <a:txBody>
                    <a:bodyPr wrap="square"/>
                    <a:lstStyle/>
                    <a:p>
                      <a:pPr algn="r"/>
                      <a:r>
                        <a:rPr sz="1250" b="0">
                          <a:solidFill>
                            <a:srgbClr val="1B2733"/>
                          </a:solidFill>
                          <a:latin typeface="Arial"/>
                        </a:rPr>
                        <a:t>94%</a:t>
                      </a:r>
                    </a:p>
                  </a:txBody>
                  <a:tcPr marL="73152" marR="73152" marT="27432" marB="27432" anchor="ctr">
                    <a:solidFill>
                      <a:srgbClr val="EAF0FA"/>
                    </a:solidFill>
                  </a:tcPr>
                </a:tc>
                <a:tc>
                  <a:txBody>
                    <a:bodyPr wrap="square"/>
                    <a:lstStyle/>
                    <a:p>
                      <a:pPr algn="r"/>
                      <a:r>
                        <a:rPr sz="1250" b="0">
                          <a:solidFill>
                            <a:srgbClr val="1B2733"/>
                          </a:solidFill>
                          <a:latin typeface="Arial"/>
                        </a:rPr>
                        <a:t>6%</a:t>
                      </a:r>
                    </a:p>
                  </a:txBody>
                  <a:tcPr marL="73152" marR="73152" marT="27432" marB="27432" anchor="ctr">
                    <a:solidFill>
                      <a:srgbClr val="EAF0FA"/>
                    </a:solidFill>
                  </a:tcPr>
                </a:tc>
                <a:tc>
                  <a:txBody>
                    <a:bodyPr wrap="square"/>
                    <a:lstStyle/>
                    <a:p>
                      <a:pPr algn="r"/>
                      <a:r>
                        <a:rPr sz="1250" b="0">
                          <a:solidFill>
                            <a:srgbClr val="1B2733"/>
                          </a:solidFill>
                          <a:latin typeface="Arial"/>
                        </a:rPr>
                        <a:t>5,3%</a:t>
                      </a:r>
                    </a:p>
                  </a:txBody>
                  <a:tcPr marL="73152" marR="73152" marT="27432" marB="27432" anchor="ctr">
                    <a:solidFill>
                      <a:srgbClr val="EAF0FA"/>
                    </a:solidFill>
                  </a:tcPr>
                </a:tc>
              </a:tr>
            </a:tbl>
          </a:graphicData>
        </a:graphic>
      </p:graphicFrame>
      <p:sp>
        <p:nvSpPr>
          <p:cNvPr id="10" name="TextBox 9"/>
          <p:cNvSpPr txBox="1"/>
          <p:nvPr/>
        </p:nvSpPr>
        <p:spPr>
          <a:xfrm>
            <a:off x="6949440" y="3493008"/>
            <a:ext cx="4407408" cy="411480"/>
          </a:xfrm>
          <a:prstGeom prst="rect">
            <a:avLst/>
          </a:prstGeom>
          <a:noFill/>
        </p:spPr>
        <p:txBody>
          <a:bodyPr wrap="square" lIns="0" rIns="0" tIns="0" bIns="0" anchor="t"/>
          <a:lstStyle/>
          <a:p>
            <a:pPr algn="l">
              <a:spcAft>
                <a:spcPts val="0"/>
              </a:spcAft>
            </a:pPr>
            <a:r>
              <a:rPr sz="1050" b="0">
                <a:solidFill>
                  <a:srgbClr val="5A6B7B"/>
                </a:solidFill>
                <a:latin typeface="Arial"/>
              </a:rPr>
              <a:t>Kịp thời: lead time ≥ 30 cycle. Báo sớm: tỷ lệ cycle có cảnh báo khi RUL thực tế lớn hơn 30.</a:t>
            </a:r>
          </a:p>
        </p:txBody>
      </p:sp>
      <p:sp>
        <p:nvSpPr>
          <p:cNvPr id="11" name="Rounded Rectangle 10"/>
          <p:cNvSpPr/>
          <p:nvPr/>
        </p:nvSpPr>
        <p:spPr>
          <a:xfrm>
            <a:off x="6949440" y="4023360"/>
            <a:ext cx="4407408" cy="19659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50608" y="4114800"/>
            <a:ext cx="4023360" cy="292608"/>
          </a:xfrm>
          <a:prstGeom prst="rect">
            <a:avLst/>
          </a:prstGeom>
          <a:noFill/>
        </p:spPr>
        <p:txBody>
          <a:bodyPr wrap="square" lIns="0" rIns="0" tIns="0" bIns="0" anchor="t"/>
          <a:lstStyle/>
          <a:p>
            <a:pPr algn="l">
              <a:spcAft>
                <a:spcPts val="0"/>
              </a:spcAft>
            </a:pPr>
            <a:r>
              <a:rPr sz="1400" b="1">
                <a:solidFill>
                  <a:srgbClr val="21409A"/>
                </a:solidFill>
                <a:latin typeface="Arial"/>
              </a:rPr>
              <a:t>Hai mức cảnh báo trên động cơ 1</a:t>
            </a:r>
          </a:p>
        </p:txBody>
      </p:sp>
      <p:sp>
        <p:nvSpPr>
          <p:cNvPr id="13" name="Rounded Rectangle 12"/>
          <p:cNvSpPr/>
          <p:nvPr/>
        </p:nvSpPr>
        <p:spPr>
          <a:xfrm>
            <a:off x="7150608" y="4526280"/>
            <a:ext cx="868680" cy="34747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50608" y="4526280"/>
            <a:ext cx="868680" cy="347472"/>
          </a:xfrm>
          <a:prstGeom prst="rect">
            <a:avLst/>
          </a:prstGeom>
          <a:noFill/>
        </p:spPr>
        <p:txBody>
          <a:bodyPr wrap="square" lIns="0" rIns="0" tIns="0" bIns="0" anchor="ctr"/>
          <a:lstStyle/>
          <a:p>
            <a:pPr algn="ctr">
              <a:spcAft>
                <a:spcPts val="0"/>
              </a:spcAft>
            </a:pPr>
            <a:r>
              <a:rPr sz="1100" b="1">
                <a:solidFill>
                  <a:srgbClr val="1B2733"/>
                </a:solidFill>
                <a:latin typeface="Arial"/>
              </a:rPr>
              <a:t>cycle 84</a:t>
            </a:r>
          </a:p>
        </p:txBody>
      </p:sp>
      <p:sp>
        <p:nvSpPr>
          <p:cNvPr id="15" name="TextBox 14"/>
          <p:cNvSpPr txBox="1"/>
          <p:nvPr/>
        </p:nvSpPr>
        <p:spPr>
          <a:xfrm>
            <a:off x="8138160" y="45262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1 · Health Index bất thường</a:t>
            </a:r>
          </a:p>
        </p:txBody>
      </p:sp>
      <p:sp>
        <p:nvSpPr>
          <p:cNvPr id="16" name="Rounded Rectangle 15"/>
          <p:cNvSpPr/>
          <p:nvPr/>
        </p:nvSpPr>
        <p:spPr>
          <a:xfrm>
            <a:off x="7150608" y="4983480"/>
            <a:ext cx="868680" cy="34747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50608" y="4983480"/>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162</a:t>
            </a:r>
          </a:p>
        </p:txBody>
      </p:sp>
      <p:sp>
        <p:nvSpPr>
          <p:cNvPr id="18" name="TextBox 17"/>
          <p:cNvSpPr txBox="1"/>
          <p:nvPr/>
        </p:nvSpPr>
        <p:spPr>
          <a:xfrm>
            <a:off x="8138160" y="49834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2 · RUL dự đoán ≤ 30</a:t>
            </a:r>
          </a:p>
        </p:txBody>
      </p:sp>
      <p:sp>
        <p:nvSpPr>
          <p:cNvPr id="19" name="Rounded Rectangle 18"/>
          <p:cNvSpPr/>
          <p:nvPr/>
        </p:nvSpPr>
        <p:spPr>
          <a:xfrm>
            <a:off x="7150608" y="5440680"/>
            <a:ext cx="868680" cy="347472"/>
          </a:xfrm>
          <a:prstGeom prst="roundRect">
            <a:avLst>
              <a:gd name="adj" fmla="val 8000"/>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50608" y="5440680"/>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192</a:t>
            </a:r>
          </a:p>
        </p:txBody>
      </p:sp>
      <p:sp>
        <p:nvSpPr>
          <p:cNvPr id="21" name="TextBox 20"/>
          <p:cNvSpPr txBox="1"/>
          <p:nvPr/>
        </p:nvSpPr>
        <p:spPr>
          <a:xfrm>
            <a:off x="8138160" y="54406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Hỏng hóc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Báo cáo dự đoán thời điểm bảo trì</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21/21 động cơ được xếp mức cần bảo trì có RUL thực tế ≤ 30; không có trường hợp dương tính giả</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outputs/maintenance/tables/maintenance_schedule.csv; outputs/maintenance/summary.json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16 / 20</a:t>
            </a:r>
          </a:p>
        </p:txBody>
      </p:sp>
      <p:pic>
        <p:nvPicPr>
          <p:cNvPr id="7" name="Picture 6" descr="image.png"/>
          <p:cNvPicPr>
            <a:picLocks noChangeAspect="1"/>
          </p:cNvPicPr>
          <p:nvPr/>
        </p:nvPicPr>
        <p:blipFill>
          <a:blip r:embed="rId3"/>
          <a:stretch>
            <a:fillRect/>
          </a:stretch>
        </p:blipFill>
        <p:spPr>
          <a:xfrm>
            <a:off x="841248" y="2240280"/>
            <a:ext cx="6812280" cy="2534801"/>
          </a:xfrm>
          <a:prstGeom prst="rect">
            <a:avLst/>
          </a:prstGeom>
        </p:spPr>
      </p:pic>
      <p:sp>
        <p:nvSpPr>
          <p:cNvPr id="8" name="Rounded Rectangle 7"/>
          <p:cNvSpPr/>
          <p:nvPr/>
        </p:nvSpPr>
        <p:spPr>
          <a:xfrm>
            <a:off x="841248" y="4937760"/>
            <a:ext cx="2148840" cy="1051560"/>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001768"/>
            <a:ext cx="1828800" cy="502920"/>
          </a:xfrm>
          <a:prstGeom prst="rect">
            <a:avLst/>
          </a:prstGeom>
          <a:noFill/>
        </p:spPr>
        <p:txBody>
          <a:bodyPr wrap="square" lIns="0" rIns="0" tIns="0" bIns="0" anchor="t"/>
          <a:lstStyle/>
          <a:p>
            <a:pPr algn="l">
              <a:spcAft>
                <a:spcPts val="0"/>
              </a:spcAft>
            </a:pPr>
            <a:r>
              <a:rPr sz="2600" b="1">
                <a:solidFill>
                  <a:srgbClr val="1B2733"/>
                </a:solidFill>
                <a:latin typeface="Arial"/>
              </a:rPr>
              <a:t>21</a:t>
            </a:r>
          </a:p>
        </p:txBody>
      </p:sp>
      <p:sp>
        <p:nvSpPr>
          <p:cNvPr id="10" name="TextBox 9"/>
          <p:cNvSpPr txBox="1"/>
          <p:nvPr/>
        </p:nvSpPr>
        <p:spPr>
          <a:xfrm>
            <a:off x="1005840" y="5504688"/>
            <a:ext cx="1874519" cy="411480"/>
          </a:xfrm>
          <a:prstGeom prst="rect">
            <a:avLst/>
          </a:prstGeom>
          <a:noFill/>
        </p:spPr>
        <p:txBody>
          <a:bodyPr wrap="square" lIns="0" rIns="0" tIns="0" bIns="0" anchor="t"/>
          <a:lstStyle/>
          <a:p>
            <a:pPr algn="l">
              <a:spcAft>
                <a:spcPts val="0"/>
              </a:spcAft>
            </a:pPr>
            <a:r>
              <a:rPr sz="1150" b="0">
                <a:solidFill>
                  <a:srgbClr val="1B2733"/>
                </a:solidFill>
                <a:latin typeface="Arial"/>
              </a:rPr>
              <a:t>cần bảo trì ngay</a:t>
            </a:r>
          </a:p>
        </p:txBody>
      </p:sp>
      <p:sp>
        <p:nvSpPr>
          <p:cNvPr id="11" name="Rounded Rectangle 10"/>
          <p:cNvSpPr/>
          <p:nvPr/>
        </p:nvSpPr>
        <p:spPr>
          <a:xfrm>
            <a:off x="3127248" y="4937760"/>
            <a:ext cx="2148840" cy="10515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5001768"/>
            <a:ext cx="1828800" cy="502920"/>
          </a:xfrm>
          <a:prstGeom prst="rect">
            <a:avLst/>
          </a:prstGeom>
          <a:noFill/>
        </p:spPr>
        <p:txBody>
          <a:bodyPr wrap="square" lIns="0" rIns="0" tIns="0" bIns="0" anchor="t"/>
          <a:lstStyle/>
          <a:p>
            <a:pPr algn="l">
              <a:spcAft>
                <a:spcPts val="0"/>
              </a:spcAft>
            </a:pPr>
            <a:r>
              <a:rPr sz="2600" b="1">
                <a:solidFill>
                  <a:srgbClr val="21409A"/>
                </a:solidFill>
                <a:latin typeface="Arial"/>
              </a:rPr>
              <a:t>14</a:t>
            </a:r>
          </a:p>
        </p:txBody>
      </p:sp>
      <p:sp>
        <p:nvSpPr>
          <p:cNvPr id="13" name="TextBox 12"/>
          <p:cNvSpPr txBox="1"/>
          <p:nvPr/>
        </p:nvSpPr>
        <p:spPr>
          <a:xfrm>
            <a:off x="3291840" y="5504688"/>
            <a:ext cx="1874519" cy="411480"/>
          </a:xfrm>
          <a:prstGeom prst="rect">
            <a:avLst/>
          </a:prstGeom>
          <a:noFill/>
        </p:spPr>
        <p:txBody>
          <a:bodyPr wrap="square" lIns="0" rIns="0" tIns="0" bIns="0" anchor="t"/>
          <a:lstStyle/>
          <a:p>
            <a:pPr algn="l">
              <a:spcAft>
                <a:spcPts val="0"/>
              </a:spcAft>
            </a:pPr>
            <a:r>
              <a:rPr sz="1150" b="0">
                <a:solidFill>
                  <a:srgbClr val="5A6B7B"/>
                </a:solidFill>
                <a:latin typeface="Arial"/>
              </a:rPr>
              <a:t>đến hạn trong 1–25 cycle tới</a:t>
            </a:r>
          </a:p>
        </p:txBody>
      </p:sp>
      <p:sp>
        <p:nvSpPr>
          <p:cNvPr id="14" name="Rounded Rectangle 13"/>
          <p:cNvSpPr/>
          <p:nvPr/>
        </p:nvSpPr>
        <p:spPr>
          <a:xfrm>
            <a:off x="5413248" y="4937760"/>
            <a:ext cx="2148840" cy="10515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77840" y="5001768"/>
            <a:ext cx="1828800" cy="502920"/>
          </a:xfrm>
          <a:prstGeom prst="rect">
            <a:avLst/>
          </a:prstGeom>
          <a:noFill/>
        </p:spPr>
        <p:txBody>
          <a:bodyPr wrap="square" lIns="0" rIns="0" tIns="0" bIns="0" anchor="t"/>
          <a:lstStyle/>
          <a:p>
            <a:pPr algn="l">
              <a:spcAft>
                <a:spcPts val="0"/>
              </a:spcAft>
            </a:pPr>
            <a:r>
              <a:rPr sz="2600" b="1">
                <a:solidFill>
                  <a:srgbClr val="21409A"/>
                </a:solidFill>
                <a:latin typeface="Arial"/>
              </a:rPr>
              <a:t>8</a:t>
            </a:r>
          </a:p>
        </p:txBody>
      </p:sp>
      <p:sp>
        <p:nvSpPr>
          <p:cNvPr id="16" name="TextBox 15"/>
          <p:cNvSpPr txBox="1"/>
          <p:nvPr/>
        </p:nvSpPr>
        <p:spPr>
          <a:xfrm>
            <a:off x="5577840" y="5504688"/>
            <a:ext cx="1874519" cy="411480"/>
          </a:xfrm>
          <a:prstGeom prst="rect">
            <a:avLst/>
          </a:prstGeom>
          <a:noFill/>
        </p:spPr>
        <p:txBody>
          <a:bodyPr wrap="square" lIns="0" rIns="0" tIns="0" bIns="0" anchor="t"/>
          <a:lstStyle/>
          <a:p>
            <a:pPr algn="l">
              <a:spcAft>
                <a:spcPts val="0"/>
              </a:spcAft>
            </a:pPr>
            <a:r>
              <a:rPr sz="1150" b="0">
                <a:solidFill>
                  <a:srgbClr val="5A6B7B"/>
                </a:solidFill>
                <a:latin typeface="Arial"/>
              </a:rPr>
              <a:t>đến hạn trong 26–50 cycle</a:t>
            </a:r>
          </a:p>
        </p:txBody>
      </p:sp>
      <p:sp>
        <p:nvSpPr>
          <p:cNvPr id="17" name="TextBox 16"/>
          <p:cNvSpPr txBox="1"/>
          <p:nvPr/>
        </p:nvSpPr>
        <p:spPr>
          <a:xfrm>
            <a:off x="7909560" y="2286000"/>
            <a:ext cx="3447288" cy="310896"/>
          </a:xfrm>
          <a:prstGeom prst="rect">
            <a:avLst/>
          </a:prstGeom>
          <a:noFill/>
        </p:spPr>
        <p:txBody>
          <a:bodyPr wrap="square" lIns="0" rIns="0" tIns="0" bIns="0" anchor="t"/>
          <a:lstStyle/>
          <a:p>
            <a:pPr algn="l">
              <a:spcAft>
                <a:spcPts val="0"/>
              </a:spcAft>
            </a:pPr>
            <a:r>
              <a:rPr sz="1400" b="1">
                <a:solidFill>
                  <a:srgbClr val="21409A"/>
                </a:solidFill>
                <a:latin typeface="Arial"/>
              </a:rPr>
              <a:t>Đối chiếu với RUL thực tế</a:t>
            </a:r>
          </a:p>
        </p:txBody>
      </p:sp>
      <p:graphicFrame>
        <p:nvGraphicFramePr>
          <p:cNvPr id="18" name="Table 17"/>
          <p:cNvGraphicFramePr>
            <a:graphicFrameLocks noGrp="1"/>
          </p:cNvGraphicFramePr>
          <p:nvPr/>
        </p:nvGraphicFramePr>
        <p:xfrm>
          <a:off x="7909560" y="2670048"/>
          <a:ext cx="3447288" cy="1536192"/>
        </p:xfrm>
        <a:graphic>
          <a:graphicData uri="http://schemas.openxmlformats.org/drawingml/2006/table">
            <a:tbl>
              <a:tblPr firstRow="1" bandRow="1">
                <a:tableStyleId>{5C22544A-7EE6-4342-B048-85BDC9FD1C3A}</a:tableStyleId>
              </a:tblPr>
              <a:tblGrid>
                <a:gridCol w="1481328"/>
                <a:gridCol w="658368"/>
                <a:gridCol w="658368"/>
                <a:gridCol w="649224"/>
              </a:tblGrid>
              <a:tr h="384048">
                <a:tc>
                  <a:txBody>
                    <a:bodyPr wrap="square"/>
                    <a:lstStyle/>
                    <a:p>
                      <a:r>
                        <a:rPr sz="1100" b="1">
                          <a:solidFill>
                            <a:srgbClr val="FFFFFF"/>
                          </a:solidFill>
                          <a:latin typeface="Arial"/>
                        </a:rPr>
                        <a:t>Trạng thái</a:t>
                      </a:r>
                    </a:p>
                  </a:txBody>
                  <a:tcPr marL="73152" marR="73152" marT="27432" marB="27432" anchor="ctr">
                    <a:solidFill>
                      <a:srgbClr val="21409A"/>
                    </a:solidFill>
                  </a:tcPr>
                </a:tc>
                <a:tc>
                  <a:txBody>
                    <a:bodyPr wrap="square"/>
                    <a:lstStyle/>
                    <a:p>
                      <a:r>
                        <a:rPr sz="1100" b="1">
                          <a:solidFill>
                            <a:srgbClr val="FFFFFF"/>
                          </a:solidFill>
                          <a:latin typeface="Arial"/>
                        </a:rPr>
                        <a:t>≤ 30</a:t>
                      </a:r>
                    </a:p>
                  </a:txBody>
                  <a:tcPr marL="73152" marR="73152" marT="27432" marB="27432" anchor="ctr">
                    <a:solidFill>
                      <a:srgbClr val="21409A"/>
                    </a:solidFill>
                  </a:tcPr>
                </a:tc>
                <a:tc>
                  <a:txBody>
                    <a:bodyPr wrap="square"/>
                    <a:lstStyle/>
                    <a:p>
                      <a:r>
                        <a:rPr sz="1100" b="1">
                          <a:solidFill>
                            <a:srgbClr val="FFFFFF"/>
                          </a:solidFill>
                          <a:latin typeface="Arial"/>
                        </a:rPr>
                        <a:t>31–60</a:t>
                      </a:r>
                    </a:p>
                  </a:txBody>
                  <a:tcPr marL="73152" marR="73152" marT="27432" marB="27432" anchor="ctr">
                    <a:solidFill>
                      <a:srgbClr val="21409A"/>
                    </a:solidFill>
                  </a:tcPr>
                </a:tc>
                <a:tc>
                  <a:txBody>
                    <a:bodyPr wrap="square"/>
                    <a:lstStyle/>
                    <a:p>
                      <a:r>
                        <a:rPr sz="1100" b="1">
                          <a:solidFill>
                            <a:srgbClr val="FFFFFF"/>
                          </a:solidFill>
                          <a:latin typeface="Arial"/>
                        </a:rPr>
                        <a:t>&gt; 60</a:t>
                      </a:r>
                    </a:p>
                  </a:txBody>
                  <a:tcPr marL="73152" marR="73152" marT="27432" marB="27432" anchor="ctr">
                    <a:solidFill>
                      <a:srgbClr val="21409A"/>
                    </a:solidFill>
                  </a:tcPr>
                </a:tc>
              </a:tr>
              <a:tr h="384048">
                <a:tc>
                  <a:txBody>
                    <a:bodyPr wrap="square"/>
                    <a:lstStyle/>
                    <a:p>
                      <a:r>
                        <a:rPr sz="1100" b="1">
                          <a:solidFill>
                            <a:srgbClr val="1B2733"/>
                          </a:solidFill>
                          <a:latin typeface="Arial"/>
                        </a:rPr>
                        <a:t>Cần bảo trì</a:t>
                      </a:r>
                    </a:p>
                  </a:txBody>
                  <a:tcPr marL="73152" marR="73152" marT="27432" marB="27432" anchor="ctr">
                    <a:solidFill>
                      <a:srgbClr val="FFF4DA"/>
                    </a:solidFill>
                  </a:tcPr>
                </a:tc>
                <a:tc>
                  <a:txBody>
                    <a:bodyPr wrap="square"/>
                    <a:lstStyle/>
                    <a:p>
                      <a:pPr algn="r"/>
                      <a:r>
                        <a:rPr sz="1100" b="1">
                          <a:solidFill>
                            <a:srgbClr val="1B2733"/>
                          </a:solidFill>
                          <a:latin typeface="Arial"/>
                        </a:rPr>
                        <a:t>21</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r>
              <a:tr h="384048">
                <a:tc>
                  <a:txBody>
                    <a:bodyPr wrap="square"/>
                    <a:lstStyle/>
                    <a:p>
                      <a:r>
                        <a:rPr sz="110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100" b="0">
                          <a:solidFill>
                            <a:srgbClr val="1B2733"/>
                          </a:solidFill>
                          <a:latin typeface="Arial"/>
                        </a:rPr>
                        <a:t>4</a:t>
                      </a:r>
                    </a:p>
                  </a:txBody>
                  <a:tcPr marL="73152" marR="73152" marT="27432" marB="27432" anchor="ctr">
                    <a:solidFill>
                      <a:srgbClr val="EAF0FA"/>
                    </a:solidFill>
                  </a:tcPr>
                </a:tc>
                <a:tc>
                  <a:txBody>
                    <a:bodyPr wrap="square"/>
                    <a:lstStyle/>
                    <a:p>
                      <a:pPr algn="r"/>
                      <a:r>
                        <a:rPr sz="1100" b="0">
                          <a:solidFill>
                            <a:srgbClr val="1B2733"/>
                          </a:solidFill>
                          <a:latin typeface="Arial"/>
                        </a:rPr>
                        <a:t>14</a:t>
                      </a:r>
                    </a:p>
                  </a:txBody>
                  <a:tcPr marL="73152" marR="73152" marT="27432" marB="27432" anchor="ctr">
                    <a:solidFill>
                      <a:srgbClr val="EAF0FA"/>
                    </a:solidFill>
                  </a:tcPr>
                </a:tc>
                <a:tc>
                  <a:txBody>
                    <a:bodyPr wrap="square"/>
                    <a:lstStyle/>
                    <a:p>
                      <a:pPr algn="r"/>
                      <a:r>
                        <a:rPr sz="1100" b="0">
                          <a:solidFill>
                            <a:srgbClr val="1B2733"/>
                          </a:solidFill>
                          <a:latin typeface="Arial"/>
                        </a:rPr>
                        <a:t>41</a:t>
                      </a:r>
                    </a:p>
                  </a:txBody>
                  <a:tcPr marL="73152" marR="73152" marT="27432" marB="27432" anchor="ctr">
                    <a:solidFill>
                      <a:srgbClr val="EAF0FA"/>
                    </a:solidFill>
                  </a:tcPr>
                </a:tc>
              </a:tr>
              <a:tr h="384048">
                <a:tc>
                  <a:txBody>
                    <a:bodyPr wrap="square"/>
                    <a:lstStyle/>
                    <a:p>
                      <a:r>
                        <a:rPr sz="1100" b="0">
                          <a:solidFill>
                            <a:srgbClr val="1B2733"/>
                          </a:solidFill>
                          <a:latin typeface="Arial"/>
                        </a:rPr>
                        <a:t>Bình thường</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20</a:t>
                      </a:r>
                    </a:p>
                  </a:txBody>
                  <a:tcPr marL="73152" marR="73152" marT="27432" marB="27432" anchor="ctr">
                    <a:solidFill>
                      <a:srgbClr val="FFFFFF"/>
                    </a:solidFill>
                  </a:tcPr>
                </a:tc>
              </a:tr>
            </a:tbl>
          </a:graphicData>
        </a:graphic>
      </p:graphicFrame>
      <p:sp>
        <p:nvSpPr>
          <p:cNvPr id="19" name="Rounded Rectangle 18"/>
          <p:cNvSpPr/>
          <p:nvPr/>
        </p:nvSpPr>
        <p:spPr>
          <a:xfrm>
            <a:off x="7909560" y="4434840"/>
            <a:ext cx="3447288" cy="15544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92440" y="4526280"/>
            <a:ext cx="3108960" cy="1417320"/>
          </a:xfrm>
          <a:prstGeom prst="rect">
            <a:avLst/>
          </a:prstGeom>
          <a:noFill/>
        </p:spPr>
        <p:txBody>
          <a:bodyPr wrap="square" lIns="0" rIns="0" tIns="0" bIns="0" anchor="t"/>
          <a:lstStyle/>
          <a:p>
            <a:pPr algn="l">
              <a:spcAft>
                <a:spcPts val="600"/>
              </a:spcAft>
            </a:pPr>
            <a:r>
              <a:rPr sz="2200" b="1">
                <a:solidFill>
                  <a:srgbClr val="FCB525"/>
                </a:solidFill>
                <a:latin typeface="Arial"/>
              </a:rPr>
              <a:t>21/25</a:t>
            </a:r>
            <a:r>
              <a:rPr sz="1200" b="0">
                <a:solidFill>
                  <a:srgbClr val="FFFFFF"/>
                </a:solidFill>
                <a:latin typeface="Arial"/>
              </a:rPr>
              <a:t>  động cơ có RUL thực tế ≤ 30 được xếp mức cần bảo trì</a:t>
            </a:r>
          </a:p>
          <a:p>
            <a:pPr algn="l">
              <a:spcAft>
                <a:spcPts val="600"/>
              </a:spcAft>
            </a:pPr>
            <a:r>
              <a:rPr sz="1200" b="0">
                <a:solidFill>
                  <a:srgbClr val="C9D6F0"/>
                </a:solidFill>
                <a:latin typeface="Arial"/>
              </a:rPr>
              <a:t>4 trường hợp còn lại được xếp đến hạn sau 1–8 cycle, ở mức theo dõi tăng cường.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Các thử nghiệm mở rộng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Khả năng tổng quát hóa sang FD002–FD004 (cửa sổ 10 cycle) và các phương án cải tiến; kết luận chính không đổi</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outputs/cross_dataset/matrix.json; outputs/experiments/; outputs/course_alignment/20261007/summary.json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17 / 20</a:t>
            </a:r>
          </a:p>
        </p:txBody>
      </p:sp>
      <p:graphicFrame>
        <p:nvGraphicFramePr>
          <p:cNvPr id="7" name="Chart 6"/>
          <p:cNvGraphicFramePr>
            <a:graphicFrameLocks noGrp="1"/>
          </p:cNvGraphicFramePr>
          <p:nvPr/>
        </p:nvGraphicFramePr>
        <p:xfrm>
          <a:off x="841248" y="2240280"/>
          <a:ext cx="5943600" cy="3749039"/>
        </p:xfrm>
        <a:graphic>
          <a:graphicData uri="http://schemas.openxmlformats.org/drawingml/2006/chart">
            <c:chart xmlns:c="http://schemas.openxmlformats.org/drawingml/2006/chart" r:id="rId3"/>
          </a:graphicData>
        </a:graphic>
      </p:graphicFrame>
      <p:sp>
        <p:nvSpPr>
          <p:cNvPr id="8" name="Rounded Rectangle 7"/>
          <p:cNvSpPr/>
          <p:nvPr/>
        </p:nvSpPr>
        <p:spPr>
          <a:xfrm>
            <a:off x="7086600" y="2286000"/>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2377440"/>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Nested CV: window, siêu tham số, trọng số</a:t>
            </a:r>
          </a:p>
        </p:txBody>
      </p:sp>
      <p:sp>
        <p:nvSpPr>
          <p:cNvPr id="10" name="TextBox 9"/>
          <p:cNvSpPr txBox="1"/>
          <p:nvPr/>
        </p:nvSpPr>
        <p:spPr>
          <a:xfrm>
            <a:off x="7269480" y="2743200"/>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Quy trình lựa chọn hội tụ về cấu hình gốc; số cảnh báo muộn 49 → 53/100.</a:t>
            </a:r>
          </a:p>
        </p:txBody>
      </p:sp>
      <p:sp>
        <p:nvSpPr>
          <p:cNvPr id="11" name="Rounded Rectangle 10"/>
          <p:cNvSpPr/>
          <p:nvPr/>
        </p:nvSpPr>
        <p:spPr>
          <a:xfrm>
            <a:off x="7086600" y="3538728"/>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9480" y="3630168"/>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Thêm 42 đặc trưng lịch sử (169 đặc trưng)</a:t>
            </a:r>
          </a:p>
        </p:txBody>
      </p:sp>
      <p:sp>
        <p:nvSpPr>
          <p:cNvPr id="13" name="TextBox 12"/>
          <p:cNvSpPr txBox="1"/>
          <p:nvPr/>
        </p:nvSpPr>
        <p:spPr>
          <a:xfrm>
            <a:off x="7269480" y="3995928"/>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OOF 20,21 → 17,00; tỷ lệ cảnh báo kịp thời (ngưỡng 30) giảm 51% → 45%.</a:t>
            </a:r>
          </a:p>
        </p:txBody>
      </p:sp>
      <p:sp>
        <p:nvSpPr>
          <p:cNvPr id="14" name="Rounded Rectangle 13"/>
          <p:cNvSpPr/>
          <p:nvPr/>
        </p:nvSpPr>
        <p:spPr>
          <a:xfrm>
            <a:off x="7086600" y="4791456"/>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4882896"/>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ARIMA dự báo Health Index</a:t>
            </a:r>
          </a:p>
        </p:txBody>
      </p:sp>
      <p:sp>
        <p:nvSpPr>
          <p:cNvPr id="16" name="TextBox 15"/>
          <p:cNvSpPr txBox="1"/>
          <p:nvPr/>
        </p:nvSpPr>
        <p:spPr>
          <a:xfrm>
            <a:off x="7269480" y="5248656"/>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0,41 so với 0,75 của phương pháp drift; vượt trội ở 7/10 động cơ.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Kết luận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Trả lời năm câu hỏi nghiên cứu; kết luận giới hạn trong dữ liệu mô phỏng C-MAPSS FD001</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report/sections/conclusion.tex; các artifact đã dẫn ở slide 6–16</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18 / 20</a:t>
            </a:r>
          </a:p>
        </p:txBody>
      </p:sp>
      <p:sp>
        <p:nvSpPr>
          <p:cNvPr id="7" name="Rounded Rectangle 6"/>
          <p:cNvSpPr/>
          <p:nvPr/>
        </p:nvSpPr>
        <p:spPr>
          <a:xfrm>
            <a:off x="84124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Q1</a:t>
            </a:r>
          </a:p>
        </p:txBody>
      </p:sp>
      <p:sp>
        <p:nvSpPr>
          <p:cNvPr id="10" name="TextBox 9"/>
          <p:cNvSpPr txBox="1"/>
          <p:nvPr/>
        </p:nvSpPr>
        <p:spPr>
          <a:xfrm>
            <a:off x="157276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Pipeline dữ liệu</a:t>
            </a:r>
          </a:p>
        </p:txBody>
      </p:sp>
      <p:sp>
        <p:nvSpPr>
          <p:cNvPr id="11" name="TextBox 10"/>
          <p:cNvSpPr txBox="1"/>
          <p:nvPr/>
        </p:nvSpPr>
        <p:spPr>
          <a:xfrm>
            <a:off x="102412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0 sai khác</a:t>
            </a:r>
          </a:p>
        </p:txBody>
      </p:sp>
      <p:sp>
        <p:nvSpPr>
          <p:cNvPr id="12" name="TextBox 11"/>
          <p:cNvSpPr txBox="1"/>
          <p:nvPr/>
        </p:nvSpPr>
        <p:spPr>
          <a:xfrm>
            <a:off x="102412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Pandas và PySpark trùng khớp; PySpark nhanh hơn ~3,4× ở quy mô 10×</a:t>
            </a:r>
          </a:p>
        </p:txBody>
      </p:sp>
      <p:sp>
        <p:nvSpPr>
          <p:cNvPr id="13" name="Rounded Rectangle 12"/>
          <p:cNvSpPr/>
          <p:nvPr/>
        </p:nvSpPr>
        <p:spPr>
          <a:xfrm>
            <a:off x="440740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9028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028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Q2</a:t>
            </a:r>
          </a:p>
        </p:txBody>
      </p:sp>
      <p:sp>
        <p:nvSpPr>
          <p:cNvPr id="16" name="TextBox 15"/>
          <p:cNvSpPr txBox="1"/>
          <p:nvPr/>
        </p:nvSpPr>
        <p:spPr>
          <a:xfrm>
            <a:off x="513892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Khử nhiễu, window</a:t>
            </a:r>
          </a:p>
        </p:txBody>
      </p:sp>
      <p:sp>
        <p:nvSpPr>
          <p:cNvPr id="17" name="TextBox 16"/>
          <p:cNvSpPr txBox="1"/>
          <p:nvPr/>
        </p:nvSpPr>
        <p:spPr>
          <a:xfrm>
            <a:off x="459028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−86%</a:t>
            </a:r>
          </a:p>
        </p:txBody>
      </p:sp>
      <p:sp>
        <p:nvSpPr>
          <p:cNvPr id="18" name="TextBox 17"/>
          <p:cNvSpPr txBox="1"/>
          <p:nvPr/>
        </p:nvSpPr>
        <p:spPr>
          <a:xfrm>
            <a:off x="459028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độ dao động sau EWMA; 126 đặc trưng cửa sổ 30 cycle</a:t>
            </a:r>
          </a:p>
        </p:txBody>
      </p:sp>
      <p:sp>
        <p:nvSpPr>
          <p:cNvPr id="19" name="Rounded Rectangle 18"/>
          <p:cNvSpPr/>
          <p:nvPr/>
        </p:nvSpPr>
        <p:spPr>
          <a:xfrm>
            <a:off x="797356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644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Q3</a:t>
            </a:r>
          </a:p>
        </p:txBody>
      </p:sp>
      <p:sp>
        <p:nvSpPr>
          <p:cNvPr id="22" name="TextBox 21"/>
          <p:cNvSpPr txBox="1"/>
          <p:nvPr/>
        </p:nvSpPr>
        <p:spPr>
          <a:xfrm>
            <a:off x="870508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Xu hướng, bất thường</a:t>
            </a:r>
          </a:p>
        </p:txBody>
      </p:sp>
      <p:sp>
        <p:nvSpPr>
          <p:cNvPr id="23" name="TextBox 22"/>
          <p:cNvSpPr txBox="1"/>
          <p:nvPr/>
        </p:nvSpPr>
        <p:spPr>
          <a:xfrm>
            <a:off x="815644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100/100</a:t>
            </a:r>
          </a:p>
        </p:txBody>
      </p:sp>
      <p:sp>
        <p:nvSpPr>
          <p:cNvPr id="24" name="TextBox 23"/>
          <p:cNvSpPr txBox="1"/>
          <p:nvPr/>
        </p:nvSpPr>
        <p:spPr>
          <a:xfrm>
            <a:off x="815644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động cơ được phát hiện, trung vị 121 cycle trước hỏng hóc</a:t>
            </a:r>
          </a:p>
        </p:txBody>
      </p:sp>
      <p:sp>
        <p:nvSpPr>
          <p:cNvPr id="25" name="Rounded Rectangle 24"/>
          <p:cNvSpPr/>
          <p:nvPr/>
        </p:nvSpPr>
        <p:spPr>
          <a:xfrm>
            <a:off x="84124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Q4</a:t>
            </a:r>
          </a:p>
        </p:txBody>
      </p:sp>
      <p:sp>
        <p:nvSpPr>
          <p:cNvPr id="28" name="TextBox 27"/>
          <p:cNvSpPr txBox="1"/>
          <p:nvPr/>
        </p:nvSpPr>
        <p:spPr>
          <a:xfrm>
            <a:off x="157276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Dự đoán RUL</a:t>
            </a:r>
          </a:p>
        </p:txBody>
      </p:sp>
      <p:sp>
        <p:nvSpPr>
          <p:cNvPr id="29" name="TextBox 28"/>
          <p:cNvSpPr txBox="1"/>
          <p:nvPr/>
        </p:nvSpPr>
        <p:spPr>
          <a:xfrm>
            <a:off x="102412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15,35</a:t>
            </a:r>
          </a:p>
        </p:txBody>
      </p:sp>
      <p:sp>
        <p:nvSpPr>
          <p:cNvPr id="30" name="TextBox 29"/>
          <p:cNvSpPr txBox="1"/>
          <p:nvPr/>
        </p:nvSpPr>
        <p:spPr>
          <a:xfrm>
            <a:off x="1024128" y="5394959"/>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MAE trên tập kiểm tra (cycle); 4,38 khi RUL ≤ 30</a:t>
            </a:r>
          </a:p>
        </p:txBody>
      </p:sp>
      <p:sp>
        <p:nvSpPr>
          <p:cNvPr id="31" name="Rounded Rectangle 30"/>
          <p:cNvSpPr/>
          <p:nvPr/>
        </p:nvSpPr>
        <p:spPr>
          <a:xfrm>
            <a:off x="440740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9028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9028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Q5</a:t>
            </a:r>
          </a:p>
        </p:txBody>
      </p:sp>
      <p:sp>
        <p:nvSpPr>
          <p:cNvPr id="34" name="TextBox 33"/>
          <p:cNvSpPr txBox="1"/>
          <p:nvPr/>
        </p:nvSpPr>
        <p:spPr>
          <a:xfrm>
            <a:off x="513892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Cảnh báo, lịch bảo trì</a:t>
            </a:r>
          </a:p>
        </p:txBody>
      </p:sp>
      <p:sp>
        <p:nvSpPr>
          <p:cNvPr id="35" name="TextBox 34"/>
          <p:cNvSpPr txBox="1"/>
          <p:nvPr/>
        </p:nvSpPr>
        <p:spPr>
          <a:xfrm>
            <a:off x="459028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21/21</a:t>
            </a:r>
          </a:p>
        </p:txBody>
      </p:sp>
      <p:sp>
        <p:nvSpPr>
          <p:cNvPr id="36" name="TextBox 35"/>
          <p:cNvSpPr txBox="1"/>
          <p:nvPr/>
        </p:nvSpPr>
        <p:spPr>
          <a:xfrm>
            <a:off x="4590288" y="5394959"/>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dự báo cần bảo trì chính xác; không bỏ sót; lead time trung vị 30 cycle</a:t>
            </a:r>
          </a:p>
        </p:txBody>
      </p:sp>
      <p:sp>
        <p:nvSpPr>
          <p:cNvPr id="37" name="Rounded Rectangle 36"/>
          <p:cNvSpPr/>
          <p:nvPr/>
        </p:nvSpPr>
        <p:spPr>
          <a:xfrm>
            <a:off x="7973568" y="4206240"/>
            <a:ext cx="3383280" cy="17830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56448" y="4343400"/>
            <a:ext cx="3017520" cy="329184"/>
          </a:xfrm>
          <a:prstGeom prst="rect">
            <a:avLst/>
          </a:prstGeom>
          <a:noFill/>
        </p:spPr>
        <p:txBody>
          <a:bodyPr wrap="square" lIns="0" rIns="0" tIns="0" bIns="0" anchor="t"/>
          <a:lstStyle/>
          <a:p>
            <a:pPr algn="l">
              <a:spcAft>
                <a:spcPts val="0"/>
              </a:spcAft>
            </a:pPr>
            <a:r>
              <a:rPr sz="1400" b="1">
                <a:solidFill>
                  <a:srgbClr val="FCB525"/>
                </a:solidFill>
                <a:latin typeface="Arial"/>
              </a:rPr>
              <a:t>Sản phẩm đặc thù</a:t>
            </a:r>
          </a:p>
        </p:txBody>
      </p:sp>
      <p:sp>
        <p:nvSpPr>
          <p:cNvPr id="39" name="TextBox 38"/>
          <p:cNvSpPr txBox="1"/>
          <p:nvPr/>
        </p:nvSpPr>
        <p:spPr>
          <a:xfrm>
            <a:off x="8156448" y="4709160"/>
            <a:ext cx="3017520" cy="1188720"/>
          </a:xfrm>
          <a:prstGeom prst="rect">
            <a:avLst/>
          </a:prstGeom>
          <a:noFill/>
        </p:spPr>
        <p:txBody>
          <a:bodyPr wrap="square" lIns="0" rIns="0" tIns="0" bIns="0" anchor="t"/>
          <a:lstStyle/>
          <a:p>
            <a:pPr algn="l">
              <a:spcAft>
                <a:spcPts val="0"/>
              </a:spcAft>
            </a:pPr>
            <a:r>
              <a:rPr sz="1300" b="0">
                <a:solidFill>
                  <a:srgbClr val="FFFFFF"/>
                </a:solidFill>
                <a:latin typeface="Arial"/>
              </a:rPr>
              <a:t>Lịch dự đoán thời điểm cần bảo trì cho từng động cơ, kèm biểu đồ xu hướng cảnh báo sớm.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Khó khăn, bài học và giới hạn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Các vấn đề phát sinh trong quá trình thực hiện, cách xử lý và bài học rút ra</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report/sections/discussion.tex (Mục Khó khăn và bài học rút ra)</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19 / 20</a:t>
            </a:r>
          </a:p>
        </p:txBody>
      </p:sp>
      <p:graphicFrame>
        <p:nvGraphicFramePr>
          <p:cNvPr id="7" name="Table 6"/>
          <p:cNvGraphicFramePr>
            <a:graphicFrameLocks noGrp="1"/>
          </p:cNvGraphicFramePr>
          <p:nvPr/>
        </p:nvGraphicFramePr>
        <p:xfrm>
          <a:off x="841248" y="2286000"/>
          <a:ext cx="10515600" cy="3017520"/>
        </p:xfrm>
        <a:graphic>
          <a:graphicData uri="http://schemas.openxmlformats.org/drawingml/2006/table">
            <a:tbl>
              <a:tblPr firstRow="1" bandRow="1">
                <a:tableStyleId>{5C22544A-7EE6-4342-B048-85BDC9FD1C3A}</a:tableStyleId>
              </a:tblPr>
              <a:tblGrid>
                <a:gridCol w="2468880"/>
                <a:gridCol w="3931920"/>
                <a:gridCol w="4114800"/>
              </a:tblGrid>
              <a:tr h="603504">
                <a:tc>
                  <a:txBody>
                    <a:bodyPr wrap="square"/>
                    <a:lstStyle/>
                    <a:p>
                      <a:r>
                        <a:rPr sz="1200" b="1">
                          <a:solidFill>
                            <a:srgbClr val="FFFFFF"/>
                          </a:solidFill>
                          <a:latin typeface="Arial"/>
                        </a:rPr>
                        <a:t>Khó khăn</a:t>
                      </a:r>
                    </a:p>
                  </a:txBody>
                  <a:tcPr marL="73152" marR="73152" marT="27432" marB="27432" anchor="ctr">
                    <a:solidFill>
                      <a:srgbClr val="21409A"/>
                    </a:solidFill>
                  </a:tcPr>
                </a:tc>
                <a:tc>
                  <a:txBody>
                    <a:bodyPr wrap="square"/>
                    <a:lstStyle/>
                    <a:p>
                      <a:r>
                        <a:rPr sz="1200" b="1">
                          <a:solidFill>
                            <a:srgbClr val="FFFFFF"/>
                          </a:solidFill>
                          <a:latin typeface="Arial"/>
                        </a:rPr>
                        <a:t>Cách xử lý</a:t>
                      </a:r>
                    </a:p>
                  </a:txBody>
                  <a:tcPr marL="73152" marR="73152" marT="27432" marB="27432" anchor="ctr">
                    <a:solidFill>
                      <a:srgbClr val="21409A"/>
                    </a:solidFill>
                  </a:tcPr>
                </a:tc>
                <a:tc>
                  <a:txBody>
                    <a:bodyPr wrap="square"/>
                    <a:lstStyle/>
                    <a:p>
                      <a:r>
                        <a:rPr sz="1200" b="1">
                          <a:solidFill>
                            <a:srgbClr val="FFFFFF"/>
                          </a:solidFill>
                          <a:latin typeface="Arial"/>
                        </a:rPr>
                        <a:t>Bài học</a:t>
                      </a:r>
                    </a:p>
                  </a:txBody>
                  <a:tcPr marL="73152" marR="73152" marT="27432" marB="27432" anchor="ctr">
                    <a:solidFill>
                      <a:srgbClr val="21409A"/>
                    </a:solidFill>
                  </a:tcPr>
                </a:tc>
              </a:tr>
              <a:tr h="603504">
                <a:tc>
                  <a:txBody>
                    <a:bodyPr wrap="square"/>
                    <a:lstStyle/>
                    <a:p>
                      <a:r>
                        <a:rPr sz="1200" b="0">
                          <a:solidFill>
                            <a:srgbClr val="1B2733"/>
                          </a:solidFill>
                          <a:latin typeface="Arial"/>
                        </a:rPr>
                        <a:t>Thiếu nhãn thời điểm bất thường</a:t>
                      </a:r>
                    </a:p>
                  </a:txBody>
                  <a:tcPr marL="73152" marR="73152" marT="27432" marB="27432" anchor="ctr">
                    <a:solidFill>
                      <a:srgbClr val="FFFFFF"/>
                    </a:solidFill>
                  </a:tcPr>
                </a:tc>
                <a:tc>
                  <a:txBody>
                    <a:bodyPr wrap="square"/>
                    <a:lstStyle/>
                    <a:p>
                      <a:r>
                        <a:rPr sz="1200" b="0">
                          <a:solidFill>
                            <a:srgbClr val="1B2733"/>
                          </a:solidFill>
                          <a:latin typeface="Arial"/>
                        </a:rPr>
                        <a:t>Lấy 30 cycle đầu của từng động cơ làm tham chiếu</a:t>
                      </a:r>
                    </a:p>
                  </a:txBody>
                  <a:tcPr marL="73152" marR="73152" marT="27432" marB="27432" anchor="ctr">
                    <a:solidFill>
                      <a:srgbClr val="FFFFFF"/>
                    </a:solidFill>
                  </a:tcPr>
                </a:tc>
                <a:tc>
                  <a:txBody>
                    <a:bodyPr wrap="square"/>
                    <a:lstStyle/>
                    <a:p>
                      <a:r>
                        <a:rPr sz="1200" b="0">
                          <a:solidFill>
                            <a:srgbClr val="1B2733"/>
                          </a:solidFill>
                          <a:latin typeface="Arial"/>
                        </a:rPr>
                        <a:t>Xác định rõ trạng thái tham chiếu; nêu rõ phần chưa kiểm chứng được</a:t>
                      </a:r>
                    </a:p>
                  </a:txBody>
                  <a:tcPr marL="73152" marR="73152" marT="27432" marB="27432" anchor="ctr">
                    <a:solidFill>
                      <a:srgbClr val="FFFFFF"/>
                    </a:solidFill>
                  </a:tcPr>
                </a:tc>
              </a:tr>
              <a:tr h="603504">
                <a:tc>
                  <a:txBody>
                    <a:bodyPr wrap="square"/>
                    <a:lstStyle/>
                    <a:p>
                      <a:r>
                        <a:rPr sz="1200" b="0">
                          <a:solidFill>
                            <a:srgbClr val="1B2733"/>
                          </a:solidFill>
                          <a:latin typeface="Arial"/>
                        </a:rPr>
                        <a:t>Rò rỉ dữ liệu khi chia tập</a:t>
                      </a:r>
                    </a:p>
                  </a:txBody>
                  <a:tcPr marL="73152" marR="73152" marT="27432" marB="27432" anchor="ctr">
                    <a:solidFill>
                      <a:srgbClr val="EAF0FA"/>
                    </a:solidFill>
                  </a:tcPr>
                </a:tc>
                <a:tc>
                  <a:txBody>
                    <a:bodyPr wrap="square"/>
                    <a:lstStyle/>
                    <a:p>
                      <a:r>
                        <a:rPr sz="1200" b="0">
                          <a:solidFill>
                            <a:srgbClr val="1B2733"/>
                          </a:solidFill>
                          <a:latin typeface="Arial"/>
                        </a:rPr>
                        <a:t>GroupKFold theo động cơ; window, EWMA chỉ dùng quá khứ</a:t>
                      </a:r>
                    </a:p>
                  </a:txBody>
                  <a:tcPr marL="73152" marR="73152" marT="27432" marB="27432" anchor="ctr">
                    <a:solidFill>
                      <a:srgbClr val="EAF0FA"/>
                    </a:solidFill>
                  </a:tcPr>
                </a:tc>
                <a:tc>
                  <a:txBody>
                    <a:bodyPr wrap="square"/>
                    <a:lstStyle/>
                    <a:p>
                      <a:r>
                        <a:rPr sz="1200" b="0">
                          <a:solidFill>
                            <a:srgbClr val="1B2733"/>
                          </a:solidFill>
                          <a:latin typeface="Arial"/>
                        </a:rPr>
                        <a:t>Với dữ liệu chuỗi thời gian, đơn vị phân chia là thực thể, không phải bản ghi</a:t>
                      </a:r>
                    </a:p>
                  </a:txBody>
                  <a:tcPr marL="73152" marR="73152" marT="27432" marB="27432" anchor="ctr">
                    <a:solidFill>
                      <a:srgbClr val="EAF0FA"/>
                    </a:solidFill>
                  </a:tcPr>
                </a:tc>
              </a:tr>
              <a:tr h="603504">
                <a:tc>
                  <a:txBody>
                    <a:bodyPr wrap="square"/>
                    <a:lstStyle/>
                    <a:p>
                      <a:r>
                        <a:rPr sz="1200" b="0">
                          <a:solidFill>
                            <a:srgbClr val="1B2733"/>
                          </a:solidFill>
                          <a:latin typeface="Arial"/>
                        </a:rPr>
                        <a:t>Giới hạn ghi file của PySpark trên Windows</a:t>
                      </a:r>
                    </a:p>
                  </a:txBody>
                  <a:tcPr marL="73152" marR="73152" marT="27432" marB="27432" anchor="ctr">
                    <a:solidFill>
                      <a:srgbClr val="FFFFFF"/>
                    </a:solidFill>
                  </a:tcPr>
                </a:tc>
                <a:tc>
                  <a:txBody>
                    <a:bodyPr wrap="square"/>
                    <a:lstStyle/>
                    <a:p>
                      <a:r>
                        <a:rPr sz="1200" b="0">
                          <a:solidFill>
                            <a:srgbClr val="1B2733"/>
                          </a:solidFill>
                          <a:latin typeface="Arial"/>
                        </a:rPr>
                        <a:t>JRE portable, ghi qua Arrow, đối chiếu sau mỗi bước</a:t>
                      </a:r>
                    </a:p>
                  </a:txBody>
                  <a:tcPr marL="73152" marR="73152" marT="27432" marB="27432" anchor="ctr">
                    <a:solidFill>
                      <a:srgbClr val="FFFFFF"/>
                    </a:solidFill>
                  </a:tcPr>
                </a:tc>
                <a:tc>
                  <a:txBody>
                    <a:bodyPr wrap="square"/>
                    <a:lstStyle/>
                    <a:p>
                      <a:r>
                        <a:rPr sz="1200" b="0">
                          <a:solidFill>
                            <a:srgbClr val="1B2733"/>
                          </a:solidFill>
                          <a:latin typeface="Arial"/>
                        </a:rPr>
                        <a:t>Hai cách triển khai cần được đối chiếu ở mức từng giá trị</a:t>
                      </a:r>
                    </a:p>
                  </a:txBody>
                  <a:tcPr marL="73152" marR="73152" marT="27432" marB="27432" anchor="ctr">
                    <a:solidFill>
                      <a:srgbClr val="FFFFFF"/>
                    </a:solidFill>
                  </a:tcPr>
                </a:tc>
              </a:tr>
              <a:tr h="603504">
                <a:tc>
                  <a:txBody>
                    <a:bodyPr wrap="square"/>
                    <a:lstStyle/>
                    <a:p>
                      <a:r>
                        <a:rPr sz="1200" b="0">
                          <a:solidFill>
                            <a:srgbClr val="1B2733"/>
                          </a:solidFill>
                          <a:latin typeface="Arial"/>
                        </a:rPr>
                        <a:t>Nguy cơ tập trung quá mức vào tối ưu mô hình</a:t>
                      </a:r>
                    </a:p>
                  </a:txBody>
                  <a:tcPr marL="73152" marR="73152" marT="27432" marB="27432" anchor="ctr">
                    <a:solidFill>
                      <a:srgbClr val="EAF0FA"/>
                    </a:solidFill>
                  </a:tcPr>
                </a:tc>
                <a:tc>
                  <a:txBody>
                    <a:bodyPr wrap="square"/>
                    <a:lstStyle/>
                    <a:p>
                      <a:r>
                        <a:rPr sz="1200" b="0">
                          <a:solidFill>
                            <a:srgbClr val="1B2733"/>
                          </a:solidFill>
                          <a:latin typeface="Arial"/>
                        </a:rPr>
                        <a:t>Cố định tiêu chí đánh giá trước; tách thử nghiệm sang phần mở rộng</a:t>
                      </a:r>
                    </a:p>
                  </a:txBody>
                  <a:tcPr marL="73152" marR="73152" marT="27432" marB="27432" anchor="ctr">
                    <a:solidFill>
                      <a:srgbClr val="EAF0FA"/>
                    </a:solidFill>
                  </a:tcPr>
                </a:tc>
                <a:tc>
                  <a:txBody>
                    <a:bodyPr wrap="square"/>
                    <a:lstStyle/>
                    <a:p>
                      <a:r>
                        <a:rPr sz="1200" b="0">
                          <a:solidFill>
                            <a:srgbClr val="1B2733"/>
                          </a:solidFill>
                          <a:latin typeface="Arial"/>
                        </a:rPr>
                        <a:t>Tính đúng đắn của pipeline và khả năng diễn giải cảnh báo được ưu tiên hơn mức giảm nhỏ của MAE</a:t>
                      </a:r>
                    </a:p>
                  </a:txBody>
                  <a:tcPr marL="73152" marR="73152" marT="27432" marB="27432" anchor="ctr">
                    <a:solidFill>
                      <a:srgbClr val="EAF0FA"/>
                    </a:solidFill>
                  </a:tcPr>
                </a:tc>
              </a:tr>
            </a:tbl>
          </a:graphicData>
        </a:graphic>
      </p:graphicFrame>
      <p:sp>
        <p:nvSpPr>
          <p:cNvPr id="8" name="Rounded Rectangle 7"/>
          <p:cNvSpPr/>
          <p:nvPr/>
        </p:nvSpPr>
        <p:spPr>
          <a:xfrm>
            <a:off x="841248" y="5440680"/>
            <a:ext cx="10515600"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5440680"/>
            <a:ext cx="10104120" cy="548640"/>
          </a:xfrm>
          <a:prstGeom prst="rect">
            <a:avLst/>
          </a:prstGeom>
          <a:noFill/>
        </p:spPr>
        <p:txBody>
          <a:bodyPr wrap="square" lIns="0" rIns="0" tIns="0" bIns="0" anchor="ctr"/>
          <a:lstStyle/>
          <a:p>
            <a:pPr algn="l">
              <a:spcAft>
                <a:spcPts val="0"/>
              </a:spcAft>
            </a:pPr>
            <a:r>
              <a:rPr sz="1250" b="1">
                <a:solidFill>
                  <a:srgbClr val="21409A"/>
                </a:solidFill>
                <a:latin typeface="Arial"/>
              </a:rPr>
              <a:t>Giới hạn: </a:t>
            </a:r>
            <a:r>
              <a:rPr sz="1250" b="0">
                <a:solidFill>
                  <a:srgbClr val="1B2733"/>
                </a:solidFill>
                <a:latin typeface="Arial"/>
              </a:rPr>
              <a:t>dữ liệu mô phỏng; chưa có dữ liệu chi phí để tối ưu ngưỡng cảnh báo; PySpark mới chạy cục bộ, chưa triển khai cluster hay streaming.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30936" y="1828800"/>
            <a:ext cx="5669280" cy="2011680"/>
          </a:xfrm>
        </p:spPr>
        <p:txBody>
          <a:bodyPr/>
          <a:lstStyle/>
          <a:p>
            <a:pPr algn="l"/>
            <a:r>
              <a:rPr sz="3600" b="1">
                <a:solidFill>
                  <a:srgbClr val="21409A"/>
                </a:solidFill>
                <a:latin typeface="Arial"/>
              </a:rPr>
              <a:t>Trân trọng cảm ơn quý thầy cô đã lắng nghe</a:t>
            </a:r>
          </a:p>
        </p:txBody>
      </p:sp>
      <p:sp>
        <p:nvSpPr>
          <p:cNvPr id="3" name="TextBox 2"/>
          <p:cNvSpPr txBox="1"/>
          <p:nvPr/>
        </p:nvSpPr>
        <p:spPr>
          <a:xfrm>
            <a:off x="630936" y="3931920"/>
            <a:ext cx="5669280" cy="457200"/>
          </a:xfrm>
          <a:prstGeom prst="rect">
            <a:avLst/>
          </a:prstGeom>
          <a:noFill/>
        </p:spPr>
        <p:txBody>
          <a:bodyPr wrap="square" lIns="0" rIns="0" tIns="0" bIns="0" anchor="t"/>
          <a:lstStyle/>
          <a:p>
            <a:pPr algn="l">
              <a:spcAft>
                <a:spcPts val="0"/>
              </a:spcAft>
            </a:pPr>
            <a:r>
              <a:rPr sz="2000" b="0">
                <a:solidFill>
                  <a:srgbClr val="1B2733"/>
                </a:solidFill>
                <a:latin typeface="Arial"/>
              </a:rPr>
              <a:t>Kính mời quý thầy cô đặt câu hỏi</a:t>
            </a:r>
          </a:p>
        </p:txBody>
      </p:sp>
      <p:sp>
        <p:nvSpPr>
          <p:cNvPr id="4" name="TextBox 3"/>
          <p:cNvSpPr txBox="1"/>
          <p:nvPr/>
        </p:nvSpPr>
        <p:spPr>
          <a:xfrm>
            <a:off x="630936" y="4754880"/>
            <a:ext cx="5669280" cy="640080"/>
          </a:xfrm>
          <a:prstGeom prst="rect">
            <a:avLst/>
          </a:prstGeom>
          <a:noFill/>
        </p:spPr>
        <p:txBody>
          <a:bodyPr wrap="square" lIns="0" rIns="0" tIns="0" bIns="0" anchor="t"/>
          <a:lstStyle/>
          <a:p>
            <a:pPr algn="l">
              <a:spcAft>
                <a:spcPts val="400"/>
              </a:spcAft>
            </a:pPr>
            <a:r>
              <a:rPr sz="1250" b="1">
                <a:solidFill>
                  <a:srgbClr val="21409A"/>
                </a:solidFill>
                <a:latin typeface="Arial"/>
              </a:rPr>
              <a:t>Demo dashboard: </a:t>
            </a:r>
            <a:r>
              <a:rPr sz="1250" b="0">
                <a:solidFill>
                  <a:srgbClr val="1B2733"/>
                </a:solidFill>
                <a:latin typeface="Arial"/>
              </a:rPr>
              <a:t>uv run --extra dashboard streamlit run app.py</a:t>
            </a:r>
          </a:p>
          <a:p>
            <a:pPr algn="l">
              <a:spcAft>
                <a:spcPts val="400"/>
              </a:spcAft>
            </a:pPr>
            <a:r>
              <a:rPr sz="1250" b="0">
                <a:solidFill>
                  <a:srgbClr val="5A6B7B"/>
                </a:solidFill>
                <a:latin typeface="Arial"/>
              </a:rPr>
              <a:t>Phan Nguyễn Mai Phương · MSHV 25002711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351</TotalTime>
  <Words>0</Words>
  <Application>Microsoft Macintosh PowerPoint</Application>
  <PresentationFormat>Widescreen</PresentationFormat>
  <Paragraphs>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Bai Jamjuree</vt:lpstr>
      <vt:lpstr>SF Pro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8 · Phân tích dữ liệu IoT và bảo trì dự đoán</dc:title>
  <dc:creator>Phan Nguyễn Mai Phương</dc:creator>
  <cp:lastModifiedBy>Huỳnh Phú Vinh</cp:lastModifiedBy>
  <cp:revision>3</cp:revision>
  <dcterms:created xsi:type="dcterms:W3CDTF">2026-01-13T01:30:23Z</dcterms:created>
  <dcterms:modified xsi:type="dcterms:W3CDTF">2026-01-13T07:21:35Z</dcterms:modified>
</cp:coreProperties>
</file>