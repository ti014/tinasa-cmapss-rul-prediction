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test (cycle)</a:t>
            </a:r>
          </a:p>
        </c:rich>
      </c:tx>
      <c:layout/>
      <c:overlay val="0"/>
    </c:title>
    <c:autoTitleDeleted val="0"/>
    <c:plotArea>
      <c:barChart>
        <c:barDir val="col"/>
        <c:grouping val="clustered"/>
        <c:ser>
          <c:idx val="0"/>
          <c:order val="0"/>
          <c:tx>
            <c:strRef>
              <c:f>Sheet1!$B$1</c:f>
              <c:strCache>
                <c:ptCount val="1"/>
                <c:pt idx="0">
                  <c:v>Huấn luyện trên chính subset đó</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Dùng lại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Kính chào quý thầy cô. Em là Phan Nguyễn Mai Phương, MSHV 25002711. Đề tài 8: phân tích dữ liệu cảm biến để phát hiện dấu hiệu bất thường và dự đoán thời điểm cần bảo trì, kèm biểu đồ cảnh báo sớm.</a:t>
            </a:r>
          </a:p>
          <a:p>
            <a:r>
              <a:t>Kết quả chính là 21/25 động cơ test cần bảo trì được báo đúng; MAE test là 15,35 cycle. Các slide sau giải thích cách đi từ 21 sensor đến lịch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Người dùng là trưởng bộ phận bảo trì, cần biết động cơ nào nên vào xưởng ngay. Tại cycle cuối của 100 động cơ test, hệ thống xếp 21 động cơ cần bảo trì ngay và cả 21 đều đúng. Đây là kết quả test tại một điểm cuối mỗi chuỗi.</a:t>
            </a:r>
          </a:p>
          <a:p>
            <a:r>
              <a:t>Remaining Useful Life (RUL, tuổi thọ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chuỗi thời gian ở slide 4, 5; làm mượt ở slide 5; window ở slide 8 và 17; xu hướng ở slide 6; bất thường ở slide 7; cảnh báo ở slide 9 và lịch bảo trì ở slide 10.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Bước 1–3 là phần chuẩn bị chung. Bước 1 tải dữ liệu từ cổng NASA và kiểm tra MD5, SHA-256. Bước 2 giữ nguyên file text gốc ở lớp Bronze. Bước 3 kiểm tra đủ 26 cột, đúng kiểu, không trùng khóa, cycle liên tục, rồi tính RUL cho train. Ô nét đứt là bước chạy lại trên Hadoop: MapReduce tính lại bảng tổng hợp động cơ, khớp 200/200 động cơ, không đi vào mô hình.</a:t>
            </a:r>
          </a:p>
          <a:p>
            <a:r>
              <a:t>Nhánh A dự đoán RUL: lưu bảng Silver và Gold dạng Parquet, SQLite; tạo 126 đặc trưng từ cửa sổ 30 cycle; huấn luyện HistGradientBoosting (HGB), chia 5 phần theo động cơ; lưu 100 dự đoán test rồi mới mở đáp án để chấm điểm. Pandas và PySpark cho cùng kết quả ở A1–A2.</a:t>
            </a:r>
          </a:p>
          <a:p>
            <a:r>
              <a:t>Nhánh B chỉ học trên train: khám phá dữ liệu, làm mượt bằng EWMA, gộp sensor thành chỉ số sức khỏe bằng PCA và phát hiện bất thường. Lịch bảo trì ghép RUL dự đoán với trạng thái bất thường của động cơ test.</a:t>
            </a:r>
          </a:p>
          <a:p>
            <a:r>
              <a:t>Hàng dưới cùng gắn năm bước của quy trình dữ liệu với sơ đồ: thu thập là bước 1; làm sạch là bước 3 và làm mượt B2; chuẩn hóa là thống nhất kiểu dữ liệu và StandardScaler ở slide 10; tích hợp là gộp train với test thành 33.727 dòng và ghép nhãn theo khóa; lưu trữ là Parquet, SQLite và HDFS.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Tuổi thọ train từ 128 đến 362 cycle, trung vị 199, lệch phải vì có vài động cơ chạy rất lâu.</a:t>
            </a:r>
          </a:p>
          <a:p>
            <a:r>
              <a:t>Bảy cột không đổi trong cả 100 động cơ: sensor 1, 5, 10, 16, 18, 19 và setting_3. Sensor_6 không đổi ở 38/100 động cơ nên cũng bị bỏ. Vì vậy bước làm mượt chỉ áp dụng cho 14 sensor có xu hướng. Không dùng EDA để chọn đặc trưng (feature selection),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5 giây.</a:t>
            </a:r>
          </a:p>
          <a:p>
            <a:r>
              <a:t>Đây là bước xử lý nhiễu tín hiệu mà đề tài yêu cầu. Đường xám là tín hiệu gốc của động cơ train 1, nhảy mạnh giữa hai cycle liền kề. Đường xanh là sau EWMA span 10, tức mỗi giá trị nhớ khoảng 10 cycle gần nhất.</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hiệu chỉnh Benjamini–Hochberg (FDR, kiểm soát tỷ lệ phát hiện sai) với ngưỡng q = 0,05 trên 21 sensor.</a:t>
            </a:r>
          </a:p>
          <a:p>
            <a:r>
              <a:t>Kết quả: 15 sensor có thay đổi; 12 sensor thay đổi cùng chiều ở cả 100 động cơ, ví dụ sensor 4, 7, 11, 12, 20; 6 sensor không đổi nên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phần phát hiện dấu hiệu bất thường của đề tài. Health Index (chỉ số sức khỏe) gộp 21 sensor bằng StandardScaler rồi PCA một thành phần: 14 sensor có xu hướng đã được làm mượt EWMA, 7 sensor gần như không đổi giữ nguyên.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cửa sổ của một động cơ nằm cùng một phía. Nếu chia ngẫu nhiên theo dòng, kết quả sẽ tốt hơn thực tế vì hai cửa sổ liền kề trùng 29/30 cycle. Mỗi động cơ có tổng trọng số bằng 1. Dự đoán trên phần động cơ mà mô hình chưa thấy khi huấn luyện gọi là dự đoán OOF (out-of-fold).</a:t>
            </a:r>
          </a:p>
          <a:p>
            <a:r>
              <a:t>Bảng trên: HGB có MAE 20,21 cycle, thấp hơn Ridge 3,78 cycle; baseline trung vị có MAE 46,95.</a:t>
            </a:r>
          </a:p>
          <a:p>
            <a:r>
              <a:t>Trên test: MAE 15,35 cycle, khoảng tin cậy 95% [12,73; 18,09], RMSE 20,54, NASA score 1.513.</a:t>
            </a:r>
          </a:p>
          <a:p>
            <a:r>
              <a:t>MAE test thấp hơn MAE cross-validation vì test chỉ có một điểm cuối mỗi chuỗi, RUL thực tế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biểu đồ xu hướng cảnh báo sớm, sản phẩm đặc thù của đề tài, minh họa trên động cơ train 1. Đường xanh là RUL thực tế, đường đỏ là RUL dự đoán OOF, đường cam là ngưỡng 30 cycle; động cơ train 1 được cảnh báo ở cycle 162, hỏng ở 192. Cùng quy tắc này được áp dụng cho động cơ test ở slide 10.</a:t>
            </a:r>
          </a:p>
          <a:p>
            <a:r>
              <a:t>Bảng bên phải dùng dự đoán OOF trên 100 động cơ train. Ở ngưỡng 30: 44 động cơ được báo trước khi RUL thực tế chạm 30, 7 đúng lúc, 49 muộn nhưng vẫn trước khi hỏng; không bỏ sót động cơ nào. Thời gian báo trước (lead time) trung vị 30 cycle, ngắn nhất 19. Vì OOF cũng dùng để chọn mô hình, kết quả này hơi lạc quan.</a:t>
            </a:r>
          </a:p>
          <a:p>
            <a:r>
              <a:t>Cảnh báo muộn tập trung ở động cơ suy giảm nhanh. Ngưỡng 40 nâng tỷ lệ kịp thời từ 51,00% lên 94,00%, đổi lại tỷ lệ báo quá sớm từ 1,29% lên 5,33%. Chọn ngưỡng thật cần chi phí bảo trì, dữ liệu không có.</a:t>
            </a:r>
          </a:p>
          <a:p>
            <a:r>
              <a:t>Ghép hai mức trên động cơ train 1: cycle 84 bất thường, cycle 162 RUL dự đoán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cần bảo trì (lúc RUL dự đoán chạm 30) và trạng thái. Bảng dưới trích 5 dòng. Ví dụ động cơ 90 ở cycle 146, RUL dự đoán 31,22, nên cần bảo trì ở cycle 147.</a:t>
            </a:r>
          </a:p>
          <a:p>
            <a:r>
              <a:t>Trạng thái: cần bảo trì nếu RUL dự đoán ≤ 30; theo dõi tăng cường nếu Health Index đã báo bất thường; còn lại bình thường.</a:t>
            </a:r>
          </a:p>
          <a:p>
            <a:r>
              <a:t>Hình trái: 100 động cơ test xếp theo RUL dự đoán. Hình phải: 21 cần bảo trì ngay, 59 theo dõi, 20 bình thường. Kế hoạch: thêm 14 động cơ đến hạn trong 25 cycle tới và 8 trong 26–50 cycle tới.</a:t>
            </a:r>
          </a:p>
          <a:p>
            <a:r>
              <a:t>Kiểm tra bằng nhãn test sau khi đã ghi lịch: 25 động cơ thật sự cần bảo trì; 21 được báo đúng; 4 động cơ còn lại có RUL dự đoán 31,22–38,46, đến hạn sau 1–8 cycle. Cả 20 động cơ bình thường có RUL thực tế ít nhất 77 cycle.</a:t>
            </a:r>
          </a:p>
          <a:p>
            <a:r>
              <a:t>Giới hạn: mức theo dõi còn rộng, 41/59 động cơ có RUL thực tế trên 60. 12 động cơ còn xa mới hỏng (RUL thực tế từ 77) có lịch muộn hơn lúc hỏng 4–27 cycle, vì mô hình dự đoán cao hơn thực tế ở vùng RUL lớn.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Scale lớn nhất mà cả hai cùng hoàn tất là 100×; tỷ số thời gian Pandas/Spark là 5,5. Mỗi điểm là phần tính toán của một lượt: đọc, tổng hợp và tạo đặc trưng, không gồm ghi file; trên Windows, bước ghi của Spark phải gom về driver và hết heap từ 100×. Dấu x là lượt failed hoặc timeout, không phải số đo thành công. Giới hạn 30 phút là do bài tự đặt; ngoại suy tuyến tính Pandas 200× cần khoảng 35 phút, và RAM ước tính 24–26 GiB, sát hoặc vượt 23,4 GiB của máy (suy luận, chưa đo). Pandas chạy 1 luồng, Spark 4 luồng, nên một phần chênh lệch đến từ song song hóa. Bước ghi đầy đủ của Spark thất bại từ 50× trên Windows. Spark là local[4] trên một máy; HDFS và MapReduce đã chạy trên Docker một node. Vì vậy hình này chứng minh hành vi khi nhân bản dữ liệu trong môi trường hiện tại, chưa phải benchmark cluster nhiều node. Khi trình bày, nhấn mạnh điểm chuyển từ một máy sang xử lý phân tán cần được xác định bằng dữ liệu phát sinh và thời hạn phản hồi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Q1: dữ liệu đạt mọi kiểm tra schema, khóa, cycle; Pandas và PySpark khớp tuyệt đối.</a:t>
            </a:r>
          </a:p>
          <a:p>
            <a:r>
              <a:t>Q2: EWMA giảm khoảng 86,28% dao động; window 30 cycle tạo 126 đặc trưng.</a:t>
            </a:r>
          </a:p>
          <a:p>
            <a:r>
              <a:t>Q3: 15/21 sensor thay đổi; Health Index phát hiện bất thường ở 100/100 động cơ train, trung vị 121 cycle trước khi hỏng.</a:t>
            </a:r>
          </a:p>
          <a:p>
            <a:r>
              <a:t>Q4: MAE test 15,35 cycle, nhỏ nhất ở vùng gần hỏng.</a:t>
            </a:r>
          </a:p>
          <a:p>
            <a:r>
              <a:t>Q5: hai kết quả khác nhau. Trên lịch bảo trì test: báo cần bảo trì 21 động cơ, đúng 21/25 động cơ cần bảo trì. Trên OOF train: báo trước trung vị 30 cycle; 49,00% muộn, ngưỡng 40 còn 6,00%.</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 trước khi chuyển sang dashboard.</a:t>
            </a:r>
          </a:p>
          <a:p>
            <a:r>
              <a:t>Trên dashboard, mở trang lịch bảo trì và chọn động cơ 90. Tại cycle 146, RUL dự đoán là 31,2 cycle nên lịch ở cycle 147. Đây là ví dụ minh họa cách người dùng đọc đầu ra; không thay thế đối chiếu test của slide 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Demo dashboard (khoảng 2,5 phút) là slide 13, theo handoff/SPEECH_SCRIPT_VI.pdf. Cảm ơn quý thầy cô và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Dữ liệu là bộ NASA C-MAPSS, tải trực tiếp từ cổng dữ liệu mở của NASA. Mỗi động cơ có chuỗi cảm biến theo cycle cho tới khi hỏng, và tập test có nhãn RUL thật để chấm điểm.</a:t>
            </a:r>
          </a:p>
          <a:p>
            <a:r>
              <a:t>C-MAPSS có bốn tập con (subset). Mỗi subset có train (chạy đến khi hỏng), test (bị cắt trước khi hỏng) và file nhãn RUL test. FD001: 1 điều kiện vận hành, 1 dạng lỗi ở máy nén áp suất cao (HPC), 100 động cơ train và 100 động cơ test,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cửa sổ gồm cycle 141–170; cycle 171 trở đi là tương lai nên không được dùng.</a:t>
            </a:r>
          </a:p>
          <a:p>
            <a:r>
              <a:t>Với mỗi sensor tính 6 thống kê: giá trị cuối (tại cycle t), trung bình, độ lệch chuẩn, nhỏ nhất, lớn nhất và độ dốc (hệ số góc hồi quy). 21 × 6 = 126 cột. 29 cycle đầu mỗi động cơ chưa đủ cửa sổ nên bị bỏ, không bù giá trị; FD001 có 17.731 cửa sổ train và 10.196 cửa sổ test.</a:t>
            </a:r>
          </a:p>
          <a:p>
            <a:r>
              <a:t>Về chuẩn hóa: StandardScaler đưa mỗi cột về trung bình 0, độ lệch chuẩn 1; nó chỉ học trên phần train của từng fold cho Ridge, và dùng trước PCA khi tạo Health Index. HGB giữ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Hình: sai số bằng RUL dự đoán trừ RUL thực tế, xếp theo RUL thực tế. MAE 4,38 cycle với 25 động cơ có RUL thực tế ≤ 30; MAE 21,35 cycle khi RUL trên 60.</a:t>
            </a:r>
          </a:p>
          <a:p>
            <a:r>
              <a:t>74 dự đoán cao hơn thực tế, 26 thấp hơn. Ví dụ động cơ 23: RUL thực tế 113, dự đoán 170,5, sai 57,5 cycle. 10 động cơ sai nhiều nhất đóng góp 75,5% tổng NASA score.</a:t>
            </a:r>
          </a:p>
          <a:p>
            <a:r>
              <a:t>Nguyên nhân: khi động cơ còn khỏe, tín hiệu cảm biến gần như đi ngang nên khó phân biệt còn 160 hay 300 cycle; trong dự đoán OOF, dự đoán trung bình dừng quanh 145–147 cycle khi RUL thật trên 150.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Biểu đồ: cùng pipeline với cửa sổ 10 cycle vì FD004 có động cơ test ngắn nhất 19 cycle. Cột xanh là huấn luyện và test trên chính subset đó; cột vàng là dùng lại mô hình FD001 cho subset khác. MAE tăng khoảng 1,7–2,7 lần. Với FD002 và FD004 chỉ khoảng 15% giá trị sensor nằm trong miền FD001 nên dự đoán gần như hằng số; FD003 có thêm dạng lỗi ở quạt (Fan).</a:t>
            </a:r>
          </a:p>
          <a:p>
            <a:r>
              <a:t>Bên phải là ba thử nghiệm cải thiện, không cái nào thay mô hình chính: cross-validation lồng nhau (nested CV) chọn lại đúng cấu hình gốc, cảnh báo muộn tăng từ 49 lên 53; thêm cột cycle và 42 đặc trưng lịch sử giảm MAE OOF từ 20,21 xuống 17,00 nhưng tỷ lệ cảnh báo kịp thời ở ngưỡng 30 từ 51,00% xuống 45,00%; ARIMA dự báo Health Index với MAE 0,41,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Một: dữ liệu không ghi lúc bắt đầu hỏng, nên so mỗi động cơ với chính nó lúc khỏe và nói rõ chưa đo được báo động giả.</a:t>
            </a:r>
          </a:p>
          <a:p>
            <a:r>
              <a:t>Hai: dữ liệu chuỗi thời gian dễ rò rỉ khi chia tập; phải chia theo từng động cơ, cửa sổ và EWMA chỉ dùng quá khứ.</a:t>
            </a:r>
          </a:p>
          <a:p>
            <a:r>
              <a:t>Ba: PySpark trên Windows thiếu winutils nên ghi qua Arrow, và luôn đối chiếu từng giá trị với Pandas. Hadoop trong Docker cần image có sẵn Python và hệ số nhân bản (replication) bằng 1 trên một node; kiểm tra lại bằng fsck.</a:t>
            </a:r>
          </a:p>
          <a:p>
            <a:r>
              <a:t>Bốn: dễ sa vào tối ưu mô hình; với bảo trì dự đoán, pipeline đúng và cảnh báo dễ hiểu quan trọng hơn vài cycle MAE.</a:t>
            </a:r>
          </a:p>
          <a:p>
            <a:r>
              <a:t>Giới hạn: dữ liệu mô phỏng; chưa có chi phí bảo trì; Hadoop và Spark đều chạy trên một máy; kết quả cảnh báo trên OOF train hơi lạc quan vì OOF cũng dùng để chọn mô hình.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Từ dữ liệu cảm biến đến quyết định: hôm nay đưa động cơ nào vào xưởng?</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21/25</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test: động cơ cần bảo trì được báo</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test: MAE RUL (cycle)</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giảm dao động sau EWMA</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21</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sensor mỗi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sáng cần biết động cơ nào vào xưởng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CÂU HỎI BẢO TRÌ</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Tại cycle cuối của 100 động cơ test, hệ thống báo 21 động cơ cần bảo trì ngay và cả 21 đều đúng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động cơ hỏng. Đầu vào: chuỗi 21 tín hiệu cảm biến theo cycle. Đầu ra: dấu hiệu bất thường, RUL dự đoán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1965960"/>
                <a:gridCol w="2697480"/>
                <a:gridCol w="70408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Cách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khóa, cycle liên tục; sắp theo động cơ và cycle</a:t>
                      </a:r>
                    </a:p>
                  </a:txBody>
                  <a:tcPr marL="73152" marR="73152" marT="27432" marB="27432" anchor="ctr">
                    <a:solidFill>
                      <a:srgbClr val="FFFFFF"/>
                    </a:solidFill>
                  </a:tcPr>
                </a:tc>
                <a:tc>
                  <a:txBody>
                    <a:bodyPr wrap="square"/>
                    <a:lstStyle/>
                    <a:p>
                      <a:r>
                        <a:rPr sz="1150" b="0">
                          <a:solidFill>
                            <a:srgbClr val="1B2733"/>
                          </a:solidFill>
                          <a:latin typeface="Arial"/>
                        </a:rPr>
                        <a:t>4, 5</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Làm mượt 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5</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cửa sổ</a:t>
                      </a:r>
                    </a:p>
                  </a:txBody>
                  <a:tcPr marL="73152" marR="73152" marT="27432" marB="27432" anchor="ctr">
                    <a:solidFill>
                      <a:srgbClr val="FFFFFF"/>
                    </a:solidFill>
                  </a:tcPr>
                </a:tc>
                <a:tc>
                  <a:txBody>
                    <a:bodyPr wrap="square"/>
                    <a:lstStyle/>
                    <a:p>
                      <a:r>
                        <a:rPr sz="1150" b="0">
                          <a:solidFill>
                            <a:srgbClr val="1B2733"/>
                          </a:solidFill>
                          <a:latin typeface="Arial"/>
                        </a:rPr>
                        <a:t>StandardScaler; window 30 cycle → 126 đặc trưng</a:t>
                      </a:r>
                    </a:p>
                  </a:txBody>
                  <a:tcPr marL="73152" marR="73152" marT="27432" marB="27432" anchor="ctr">
                    <a:solidFill>
                      <a:srgbClr val="FFFFFF"/>
                    </a:solidFill>
                  </a:tcPr>
                </a:tc>
                <a:tc>
                  <a:txBody>
                    <a:bodyPr wrap="square"/>
                    <a:lstStyle/>
                    <a:p>
                      <a:r>
                        <a:rPr sz="1150" b="0">
                          <a:solidFill>
                            <a:srgbClr val="1B2733"/>
                          </a:solidFill>
                          <a:latin typeface="Arial"/>
                        </a:rPr>
                        <a:t>8, 17</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(chỉ số sức khỏe)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7</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9, 10</a:t>
                      </a:r>
                    </a:p>
                  </a:txBody>
                  <a:tcPr marL="73152" marR="73152" marT="27432" marB="27432" anchor="ctr">
                    <a:solidFill>
                      <a:srgbClr val="EAF0FA"/>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Từ sensor đến quyết định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CÂU HỎI BẢO TRÌ</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bước chuẩn bị chung, rồi tách hai nhánh: dự đoán RUL và theo dõi tín hiệu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Rounded Rectangle 6"/>
          <p:cNvSpPr/>
          <p:nvPr/>
        </p:nvSpPr>
        <p:spPr>
          <a:xfrm>
            <a:off x="841248" y="224028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1343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1. Tải dữ liệu từ NASA</a:t>
            </a:r>
          </a:p>
        </p:txBody>
      </p:sp>
      <p:sp>
        <p:nvSpPr>
          <p:cNvPr id="9" name="TextBox 8"/>
          <p:cNvSpPr txBox="1"/>
          <p:nvPr/>
        </p:nvSpPr>
        <p:spPr>
          <a:xfrm>
            <a:off x="932688" y="260604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Kiểm tra MD5, SHA-256</a:t>
            </a:r>
          </a:p>
        </p:txBody>
      </p:sp>
      <p:sp>
        <p:nvSpPr>
          <p:cNvPr id="10" name="Rounded Rectangle 9"/>
          <p:cNvSpPr/>
          <p:nvPr/>
        </p:nvSpPr>
        <p:spPr>
          <a:xfrm>
            <a:off x="841248" y="3191256"/>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264408"/>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2. Dữ liệu gốc (Bronze)</a:t>
            </a:r>
          </a:p>
        </p:txBody>
      </p:sp>
      <p:sp>
        <p:nvSpPr>
          <p:cNvPr id="12" name="TextBox 11"/>
          <p:cNvSpPr txBox="1"/>
          <p:nvPr/>
        </p:nvSpPr>
        <p:spPr>
          <a:xfrm>
            <a:off x="932688" y="3557016"/>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File text, giữ nguyên</a:t>
            </a:r>
          </a:p>
        </p:txBody>
      </p:sp>
      <p:sp>
        <p:nvSpPr>
          <p:cNvPr id="13" name="Rounded Rectangle 12"/>
          <p:cNvSpPr/>
          <p:nvPr/>
        </p:nvSpPr>
        <p:spPr>
          <a:xfrm>
            <a:off x="841248" y="413766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1081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3. Đọc và kiểm tra</a:t>
            </a:r>
          </a:p>
        </p:txBody>
      </p:sp>
      <p:sp>
        <p:nvSpPr>
          <p:cNvPr id="15" name="TextBox 14"/>
          <p:cNvSpPr txBox="1"/>
          <p:nvPr/>
        </p:nvSpPr>
        <p:spPr>
          <a:xfrm>
            <a:off x="932688" y="450342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26 cột, khóa, cycle liên tục;
tính RUL cho train</a:t>
            </a:r>
          </a:p>
        </p:txBody>
      </p:sp>
      <p:sp>
        <p:nvSpPr>
          <p:cNvPr id="16" name="Rounded Rectangle 15"/>
          <p:cNvSpPr/>
          <p:nvPr/>
        </p:nvSpPr>
        <p:spPr>
          <a:xfrm>
            <a:off x="841248" y="5120640"/>
            <a:ext cx="2148840" cy="731520"/>
          </a:xfrm>
          <a:prstGeom prst="roundRect">
            <a:avLst>
              <a:gd name="adj" fmla="val 8000"/>
            </a:avLst>
          </a:prstGeom>
          <a:solidFill>
            <a:srgbClr val="FFFFFF"/>
          </a:solidFill>
          <a:ln w="15875">
            <a:solidFill>
              <a:srgbClr val="5A6B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193792"/>
            <a:ext cx="1965960" cy="274320"/>
          </a:xfrm>
          <a:prstGeom prst="rect">
            <a:avLst/>
          </a:prstGeom>
          <a:noFill/>
        </p:spPr>
        <p:txBody>
          <a:bodyPr wrap="square" lIns="0" rIns="0" tIns="0" bIns="0" anchor="t"/>
          <a:lstStyle/>
          <a:p>
            <a:pPr algn="l">
              <a:spcAft>
                <a:spcPts val="0"/>
              </a:spcAft>
            </a:pPr>
            <a:r>
              <a:rPr sz="1250" b="1">
                <a:solidFill>
                  <a:srgbClr val="5A6B7B"/>
                </a:solidFill>
                <a:latin typeface="Arial"/>
              </a:rPr>
              <a:t>Chạy lại trên Hadoop</a:t>
            </a:r>
          </a:p>
        </p:txBody>
      </p:sp>
      <p:sp>
        <p:nvSpPr>
          <p:cNvPr id="18" name="TextBox 17"/>
          <p:cNvSpPr txBox="1"/>
          <p:nvPr/>
        </p:nvSpPr>
        <p:spPr>
          <a:xfrm>
            <a:off x="932688" y="548640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MapReduce khớp
200/200 động cơ</a:t>
            </a:r>
          </a:p>
        </p:txBody>
      </p:sp>
      <p:cxnSp>
        <p:nvCxnSpPr>
          <p:cNvPr id="19" name="Connector 18"/>
          <p:cNvCxnSpPr/>
          <p:nvPr/>
        </p:nvCxnSpPr>
        <p:spPr>
          <a:xfrm>
            <a:off x="1915668" y="2971800"/>
            <a:ext cx="0" cy="219456"/>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15668" y="3922776"/>
            <a:ext cx="0" cy="214884"/>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85800" y="3557016"/>
            <a:ext cx="155448" cy="0"/>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557016"/>
            <a:ext cx="0" cy="1929384"/>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5486400"/>
            <a:ext cx="155448" cy="0"/>
          </a:xfrm>
          <a:prstGeom prst="line">
            <a:avLst/>
          </a:prstGeom>
          <a:ln w="19050">
            <a:solidFill>
              <a:srgbClr val="5A6B7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91840" y="224028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A. Đèn đỏ: dự đoán RUL</a:t>
            </a:r>
          </a:p>
        </p:txBody>
      </p:sp>
      <p:sp>
        <p:nvSpPr>
          <p:cNvPr id="25" name="TextBox 24"/>
          <p:cNvSpPr txBox="1"/>
          <p:nvPr/>
        </p:nvSpPr>
        <p:spPr>
          <a:xfrm>
            <a:off x="3291840" y="370332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B. Đèn vàng: theo dõi tín hiệu (chỉ học trên train)</a:t>
            </a:r>
          </a:p>
        </p:txBody>
      </p:sp>
      <p:sp>
        <p:nvSpPr>
          <p:cNvPr id="26" name="Rounded Rectangle 25"/>
          <p:cNvSpPr/>
          <p:nvPr/>
        </p:nvSpPr>
        <p:spPr>
          <a:xfrm>
            <a:off x="3291840"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A1. Lưu bảng</a:t>
            </a:r>
          </a:p>
        </p:txBody>
      </p:sp>
      <p:sp>
        <p:nvSpPr>
          <p:cNvPr id="28" name="TextBox 27"/>
          <p:cNvSpPr txBox="1"/>
          <p:nvPr/>
        </p:nvSpPr>
        <p:spPr>
          <a:xfrm>
            <a:off x="3383280"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train + test;
Silver, Gold</a:t>
            </a:r>
          </a:p>
        </p:txBody>
      </p:sp>
      <p:sp>
        <p:nvSpPr>
          <p:cNvPr id="29" name="Rounded Rectangle 28"/>
          <p:cNvSpPr/>
          <p:nvPr/>
        </p:nvSpPr>
        <p:spPr>
          <a:xfrm>
            <a:off x="4928616"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A2. Đặc trưng</a:t>
            </a:r>
          </a:p>
        </p:txBody>
      </p:sp>
      <p:sp>
        <p:nvSpPr>
          <p:cNvPr id="31" name="TextBox 30"/>
          <p:cNvSpPr txBox="1"/>
          <p:nvPr/>
        </p:nvSpPr>
        <p:spPr>
          <a:xfrm>
            <a:off x="5020056"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Cửa sổ 30 cycle
126 đặc trưng</a:t>
            </a:r>
          </a:p>
        </p:txBody>
      </p:sp>
      <p:cxnSp>
        <p:nvCxnSpPr>
          <p:cNvPr id="32" name="Connector 31"/>
          <p:cNvCxnSpPr/>
          <p:nvPr/>
        </p:nvCxnSpPr>
        <p:spPr>
          <a:xfrm>
            <a:off x="4791456"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56831"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A3. Huấn luyện</a:t>
            </a:r>
          </a:p>
        </p:txBody>
      </p:sp>
      <p:sp>
        <p:nvSpPr>
          <p:cNvPr id="35" name="TextBox 34"/>
          <p:cNvSpPr txBox="1"/>
          <p:nvPr/>
        </p:nvSpPr>
        <p:spPr>
          <a:xfrm>
            <a:off x="6656831"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HGB, chia 5 phần
theo động cơ</a:t>
            </a:r>
          </a:p>
        </p:txBody>
      </p:sp>
      <p:cxnSp>
        <p:nvCxnSpPr>
          <p:cNvPr id="36" name="Connector 35"/>
          <p:cNvCxnSpPr/>
          <p:nvPr/>
        </p:nvCxnSpPr>
        <p:spPr>
          <a:xfrm>
            <a:off x="6428232"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202168" y="256032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63347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A4. Dự đoán test</a:t>
            </a:r>
          </a:p>
        </p:txBody>
      </p:sp>
      <p:sp>
        <p:nvSpPr>
          <p:cNvPr id="39" name="TextBox 38"/>
          <p:cNvSpPr txBox="1"/>
          <p:nvPr/>
        </p:nvSpPr>
        <p:spPr>
          <a:xfrm>
            <a:off x="8293608" y="2926079"/>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100 động cơ, lưu
trước khi mở đáp án</a:t>
            </a:r>
          </a:p>
        </p:txBody>
      </p:sp>
      <p:cxnSp>
        <p:nvCxnSpPr>
          <p:cNvPr id="40" name="Connector 39"/>
          <p:cNvCxnSpPr/>
          <p:nvPr/>
        </p:nvCxnSpPr>
        <p:spPr>
          <a:xfrm>
            <a:off x="8065008"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38944"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A5. Chấm điểm</a:t>
            </a:r>
          </a:p>
        </p:txBody>
      </p:sp>
      <p:sp>
        <p:nvSpPr>
          <p:cNvPr id="43" name="TextBox 42"/>
          <p:cNvSpPr txBox="1"/>
          <p:nvPr/>
        </p:nvSpPr>
        <p:spPr>
          <a:xfrm>
            <a:off x="9930384"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MAE, RMSE,
NASA score</a:t>
            </a:r>
          </a:p>
        </p:txBody>
      </p:sp>
      <p:cxnSp>
        <p:nvCxnSpPr>
          <p:cNvPr id="44" name="Connector 43"/>
          <p:cNvCxnSpPr/>
          <p:nvPr/>
        </p:nvCxnSpPr>
        <p:spPr>
          <a:xfrm>
            <a:off x="9701784"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291840"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B1. Khám phá</a:t>
            </a:r>
          </a:p>
        </p:txBody>
      </p:sp>
      <p:sp>
        <p:nvSpPr>
          <p:cNvPr id="47" name="TextBox 46"/>
          <p:cNvSpPr txBox="1"/>
          <p:nvPr/>
        </p:nvSpPr>
        <p:spPr>
          <a:xfrm>
            <a:off x="3383280"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EDA: sensor đổi
theo tuổi máy</a:t>
            </a:r>
          </a:p>
        </p:txBody>
      </p:sp>
      <p:sp>
        <p:nvSpPr>
          <p:cNvPr id="48" name="Rounded Rectangle 47"/>
          <p:cNvSpPr/>
          <p:nvPr/>
        </p:nvSpPr>
        <p:spPr>
          <a:xfrm>
            <a:off x="4928616"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B2. Làm mượt</a:t>
            </a:r>
          </a:p>
        </p:txBody>
      </p:sp>
      <p:sp>
        <p:nvSpPr>
          <p:cNvPr id="50" name="TextBox 49"/>
          <p:cNvSpPr txBox="1"/>
          <p:nvPr/>
        </p:nvSpPr>
        <p:spPr>
          <a:xfrm>
            <a:off x="5020056"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EWMA, 14 sensor,
span 10</a:t>
            </a:r>
          </a:p>
        </p:txBody>
      </p:sp>
      <p:cxnSp>
        <p:nvCxnSpPr>
          <p:cNvPr id="51" name="Connector 50"/>
          <p:cNvCxnSpPr/>
          <p:nvPr/>
        </p:nvCxnSpPr>
        <p:spPr>
          <a:xfrm>
            <a:off x="4791456"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65392"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56831"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B3. Health Index</a:t>
            </a:r>
          </a:p>
        </p:txBody>
      </p:sp>
      <p:sp>
        <p:nvSpPr>
          <p:cNvPr id="54" name="TextBox 53"/>
          <p:cNvSpPr txBox="1"/>
          <p:nvPr/>
        </p:nvSpPr>
        <p:spPr>
          <a:xfrm>
            <a:off x="6656831"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21 sensor
bằng PCA</a:t>
            </a:r>
          </a:p>
        </p:txBody>
      </p:sp>
      <p:cxnSp>
        <p:nvCxnSpPr>
          <p:cNvPr id="55" name="Connector 54"/>
          <p:cNvCxnSpPr/>
          <p:nvPr/>
        </p:nvCxnSpPr>
        <p:spPr>
          <a:xfrm>
            <a:off x="6428232"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202168"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93608"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B4. Bất thường</a:t>
            </a:r>
          </a:p>
        </p:txBody>
      </p:sp>
      <p:sp>
        <p:nvSpPr>
          <p:cNvPr id="58" name="TextBox 57"/>
          <p:cNvSpPr txBox="1"/>
          <p:nvPr/>
        </p:nvSpPr>
        <p:spPr>
          <a:xfrm>
            <a:off x="8293608"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Giảm quá 3σ, 5 cycle
→ cảnh báo mức 1</a:t>
            </a:r>
          </a:p>
        </p:txBody>
      </p:sp>
      <p:cxnSp>
        <p:nvCxnSpPr>
          <p:cNvPr id="59" name="Connector 58"/>
          <p:cNvCxnSpPr/>
          <p:nvPr/>
        </p:nvCxnSpPr>
        <p:spPr>
          <a:xfrm>
            <a:off x="8065008"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838944" y="402336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0384" y="409651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Lịch bảo trì</a:t>
            </a:r>
          </a:p>
        </p:txBody>
      </p:sp>
      <p:sp>
        <p:nvSpPr>
          <p:cNvPr id="62" name="TextBox 61"/>
          <p:cNvSpPr txBox="1"/>
          <p:nvPr/>
        </p:nvSpPr>
        <p:spPr>
          <a:xfrm>
            <a:off x="9930384" y="4389120"/>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RUL ≤ 30: bảo trì
Bất thường: theo dõi</a:t>
            </a:r>
          </a:p>
        </p:txBody>
      </p:sp>
      <p:cxnSp>
        <p:nvCxnSpPr>
          <p:cNvPr id="63" name="Connector 62"/>
          <p:cNvCxnSpPr/>
          <p:nvPr/>
        </p:nvCxnSpPr>
        <p:spPr>
          <a:xfrm>
            <a:off x="9701784"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90088" y="4503420"/>
            <a:ext cx="146304"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36392" y="3040379"/>
            <a:ext cx="0" cy="1463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6392" y="3040379"/>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136392" y="4503420"/>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942832" y="3520439"/>
            <a:ext cx="0" cy="320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942832" y="3840480"/>
            <a:ext cx="1261872"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04704" y="3840480"/>
            <a:ext cx="0" cy="164592"/>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3291840"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64992"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Thu thập</a:t>
            </a:r>
          </a:p>
        </p:txBody>
      </p:sp>
      <p:sp>
        <p:nvSpPr>
          <p:cNvPr id="73" name="TextBox 72"/>
          <p:cNvSpPr txBox="1"/>
          <p:nvPr/>
        </p:nvSpPr>
        <p:spPr>
          <a:xfrm>
            <a:off x="3364992"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1</a:t>
            </a:r>
          </a:p>
        </p:txBody>
      </p:sp>
      <p:sp>
        <p:nvSpPr>
          <p:cNvPr id="74" name="Rounded Rectangle 73"/>
          <p:cNvSpPr/>
          <p:nvPr/>
        </p:nvSpPr>
        <p:spPr>
          <a:xfrm>
            <a:off x="4915814"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988966"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Làm sạch</a:t>
            </a:r>
          </a:p>
        </p:txBody>
      </p:sp>
      <p:sp>
        <p:nvSpPr>
          <p:cNvPr id="76" name="TextBox 75"/>
          <p:cNvSpPr txBox="1"/>
          <p:nvPr/>
        </p:nvSpPr>
        <p:spPr>
          <a:xfrm>
            <a:off x="4988966"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3; B2 làm mượt</a:t>
            </a:r>
          </a:p>
        </p:txBody>
      </p:sp>
      <p:sp>
        <p:nvSpPr>
          <p:cNvPr id="77" name="Rounded Rectangle 76"/>
          <p:cNvSpPr/>
          <p:nvPr/>
        </p:nvSpPr>
        <p:spPr>
          <a:xfrm>
            <a:off x="6539788"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12940"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Chuẩn hóa</a:t>
            </a:r>
          </a:p>
        </p:txBody>
      </p:sp>
      <p:sp>
        <p:nvSpPr>
          <p:cNvPr id="79" name="TextBox 78"/>
          <p:cNvSpPr txBox="1"/>
          <p:nvPr/>
        </p:nvSpPr>
        <p:spPr>
          <a:xfrm>
            <a:off x="6612940"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kiểu dữ liệu; StandardScaler</a:t>
            </a:r>
          </a:p>
        </p:txBody>
      </p:sp>
      <p:sp>
        <p:nvSpPr>
          <p:cNvPr id="80" name="Rounded Rectangle 79"/>
          <p:cNvSpPr/>
          <p:nvPr/>
        </p:nvSpPr>
        <p:spPr>
          <a:xfrm>
            <a:off x="8163763"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36915"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Tích hợp</a:t>
            </a:r>
          </a:p>
        </p:txBody>
      </p:sp>
      <p:sp>
        <p:nvSpPr>
          <p:cNvPr id="82" name="TextBox 81"/>
          <p:cNvSpPr txBox="1"/>
          <p:nvPr/>
        </p:nvSpPr>
        <p:spPr>
          <a:xfrm>
            <a:off x="8236915"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gộp train + test</a:t>
            </a:r>
          </a:p>
        </p:txBody>
      </p:sp>
      <p:sp>
        <p:nvSpPr>
          <p:cNvPr id="83" name="Rounded Rectangle 82"/>
          <p:cNvSpPr/>
          <p:nvPr/>
        </p:nvSpPr>
        <p:spPr>
          <a:xfrm>
            <a:off x="9787737"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0889"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Lưu trữ</a:t>
            </a:r>
          </a:p>
        </p:txBody>
      </p:sp>
      <p:sp>
        <p:nvSpPr>
          <p:cNvPr id="85" name="TextBox 84"/>
          <p:cNvSpPr txBox="1"/>
          <p:nvPr/>
        </p:nvSpPr>
        <p:spPr>
          <a:xfrm>
            <a:off x="9860889"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Parquet, SQLite, HDFS</a:t>
            </a:r>
          </a:p>
        </p:txBody>
      </p:sp>
      <p:sp>
        <p:nvSpPr>
          <p:cNvPr id="86" name="TextBox 85"/>
          <p:cNvSpPr txBox="1"/>
          <p:nvPr/>
        </p:nvSpPr>
        <p:spPr>
          <a:xfrm>
            <a:off x="3291840" y="5742432"/>
            <a:ext cx="8046720" cy="256032"/>
          </a:xfrm>
          <a:prstGeom prst="rect">
            <a:avLst/>
          </a:prstGeom>
          <a:noFill/>
        </p:spPr>
        <p:txBody>
          <a:bodyPr wrap="square" lIns="0" rIns="0" tIns="0" bIns="0" anchor="t"/>
          <a:lstStyle/>
          <a:p>
            <a:pPr algn="l">
              <a:spcAft>
                <a:spcPts val="0"/>
              </a:spcAft>
            </a:pPr>
            <a:r>
              <a:rPr sz="1100" b="0">
                <a:solidFill>
                  <a:srgbClr val="5A6B7B"/>
                </a:solidFill>
                <a:latin typeface="Arial"/>
              </a:rPr>
              <a:t>Ô nét đứt là kiểm tra phụ, không đi vào mô hình. Pandas và PySpark cho cùng kết quả ở A1–A2.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động cơ hỏng ở một thời điểm khác nhau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PIPELINE</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100 động cơ train từ 128 đến 362 cycle: không thể bảo trì theo một lịch cố định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outputs/eda/tables/constant_engine_counts.csv; slides/slide_figures.py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pic>
        <p:nvPicPr>
          <p:cNvPr id="7" name="Picture 6" descr="image.png"/>
          <p:cNvPicPr>
            <a:picLocks noChangeAspect="1"/>
          </p:cNvPicPr>
          <p:nvPr/>
        </p:nvPicPr>
        <p:blipFill>
          <a:blip r:embed="rId3"/>
          <a:stretch>
            <a:fillRect/>
          </a:stretch>
        </p:blipFill>
        <p:spPr>
          <a:xfrm>
            <a:off x="841248" y="2286000"/>
            <a:ext cx="6766559" cy="2331720"/>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không đổi ở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00" b="0">
                <a:solidFill>
                  <a:srgbClr val="5A6B7B"/>
                </a:solidFill>
                <a:latin typeface="Arial"/>
              </a:rPr>
              <a:t>Làm mượt áp dụng cho 14 sensor có xu hướng: bỏ 6 sensor trên và sensor_6.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TÍN HIỆU VÀ ĐẶC TRƯNG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outputs/degradation/tables/signals.parquet;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pic>
        <p:nvPicPr>
          <p:cNvPr id="7" name="Picture 6" descr="image.png"/>
          <p:cNvPicPr>
            <a:picLocks noChangeAspect="1"/>
          </p:cNvPicPr>
          <p:nvPr/>
        </p:nvPicPr>
        <p:blipFill>
          <a:blip r:embed="rId3"/>
          <a:stretch>
            <a:fillRect/>
          </a:stretch>
        </p:blipFill>
        <p:spPr>
          <a:xfrm>
            <a:off x="841248" y="2240280"/>
            <a:ext cx="7178040" cy="2606039"/>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5,6994</a:t>
                      </a:r>
                    </a:p>
                  </a:txBody>
                  <a:tcPr marL="73152" marR="73152" marT="27432" marB="27432" anchor="ctr">
                    <a:solidFill>
                      <a:srgbClr val="FFFFFF"/>
                    </a:solidFill>
                  </a:tcPr>
                </a:tc>
                <a:tc>
                  <a:txBody>
                    <a:bodyPr wrap="square"/>
                    <a:lstStyle/>
                    <a:p>
                      <a:pPr algn="r"/>
                      <a:r>
                        <a:rPr sz="1100" b="0">
                          <a:solidFill>
                            <a:srgbClr val="1B2733"/>
                          </a:solidFill>
                          <a:latin typeface="Arial"/>
                        </a:rPr>
                        <a:t>0,7829</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5,9037</a:t>
                      </a:r>
                    </a:p>
                  </a:txBody>
                  <a:tcPr marL="73152" marR="73152" marT="27432" marB="27432" anchor="ctr">
                    <a:solidFill>
                      <a:srgbClr val="EAF0FA"/>
                    </a:solidFill>
                  </a:tcPr>
                </a:tc>
                <a:tc>
                  <a:txBody>
                    <a:bodyPr wrap="square"/>
                    <a:lstStyle/>
                    <a:p>
                      <a:pPr algn="r"/>
                      <a:r>
                        <a:rPr sz="1100" b="0">
                          <a:solidFill>
                            <a:srgbClr val="1B2733"/>
                          </a:solidFill>
                          <a:latin typeface="Arial"/>
                        </a:rPr>
                        <a:t>0,9241</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0,1436</a:t>
                      </a:r>
                    </a:p>
                  </a:txBody>
                  <a:tcPr marL="73152" marR="73152" marT="27432" marB="27432" anchor="ctr">
                    <a:solidFill>
                      <a:srgbClr val="FFFFFF"/>
                    </a:solidFill>
                  </a:tcPr>
                </a:tc>
                <a:tc>
                  <a:txBody>
                    <a:bodyPr wrap="square"/>
                    <a:lstStyle/>
                    <a:p>
                      <a:pPr algn="r"/>
                      <a:r>
                        <a:rPr sz="1100" b="0">
                          <a:solidFill>
                            <a:srgbClr val="1B2733"/>
                          </a:solidFill>
                          <a:latin typeface="Arial"/>
                        </a:rPr>
                        <a:t>0,0198</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0,4245</a:t>
                      </a:r>
                    </a:p>
                  </a:txBody>
                  <a:tcPr marL="73152" marR="73152" marT="27432" marB="27432" anchor="ctr">
                    <a:solidFill>
                      <a:srgbClr val="EAF0FA"/>
                    </a:solidFill>
                  </a:tcPr>
                </a:tc>
                <a:tc>
                  <a:txBody>
                    <a:bodyPr wrap="square"/>
                    <a:lstStyle/>
                    <a:p>
                      <a:pPr algn="r"/>
                      <a:r>
                        <a:rPr sz="1100" b="0">
                          <a:solidFill>
                            <a:srgbClr val="1B2733"/>
                          </a:solidFill>
                          <a:latin typeface="Arial"/>
                        </a:rPr>
                        <a:t>0,0588</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4,4532</a:t>
                      </a:r>
                    </a:p>
                  </a:txBody>
                  <a:tcPr marL="73152" marR="73152" marT="27432" marB="27432" anchor="ctr">
                    <a:solidFill>
                      <a:srgbClr val="FFFFFF"/>
                    </a:solidFill>
                  </a:tcPr>
                </a:tc>
                <a:tc>
                  <a:txBody>
                    <a:bodyPr wrap="square"/>
                    <a:lstStyle/>
                    <a:p>
                      <a:pPr algn="r"/>
                      <a:r>
                        <a:rPr sz="1100" b="0">
                          <a:solidFill>
                            <a:srgbClr val="1B2733"/>
                          </a:solidFill>
                          <a:latin typeface="Arial"/>
                        </a:rPr>
                        <a:t>0,7285</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Cách đo: độ lệch chuẩn của chênh lệch giữa hai cycle liền kề, tính riêng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với α = 2 / (span + 1) ≈ 0,18 khi span = 10</a:t>
            </a:r>
          </a:p>
          <a:p>
            <a:pPr algn="l">
              <a:spcAft>
                <a:spcPts val="400"/>
              </a:spcAft>
            </a:pPr>
            <a:r>
              <a:rPr sz="1350" b="1">
                <a:solidFill>
                  <a:srgbClr val="21409A"/>
                </a:solidFill>
                <a:latin typeface="Arial"/>
              </a:rPr>
              <a:t>Vai trò: </a:t>
            </a:r>
            <a:r>
              <a:rPr sz="1350" b="0">
                <a:solidFill>
                  <a:srgbClr val="1B2733"/>
                </a:solidFill>
                <a:latin typeface="Arial"/>
              </a:rPr>
              <a:t>tín hiệu đã làm mượt là đầu vào của Health Index và phát hiện bất thường (slide 12); mô hình RUL dùng đặc trưng cửa sổ trên tín hiệu gốc.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Động cơ để lại triệu chứng đo được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SUY GIẢM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30 cycle cuối của mỗi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pic>
        <p:nvPicPr>
          <p:cNvPr id="7" name="Picture 6" descr="image.png"/>
          <p:cNvPicPr>
            <a:picLocks noChangeAspect="1"/>
          </p:cNvPicPr>
          <p:nvPr/>
        </p:nvPicPr>
        <p:blipFill>
          <a:blip r:embed="rId3"/>
          <a:stretch>
            <a:fillRect/>
          </a:stretch>
        </p:blipFill>
        <p:spPr>
          <a:xfrm>
            <a:off x="841248" y="2240280"/>
            <a:ext cx="3886200" cy="3657600"/>
          </a:xfrm>
          <a:prstGeom prst="rect">
            <a:avLst/>
          </a:prstGeom>
        </p:spPr>
      </p:pic>
      <p:sp>
        <p:nvSpPr>
          <p:cNvPr id="8" name="Oval 7"/>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0" name="TextBox 9"/>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1" name="TextBox 10"/>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2" name="Oval 11"/>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4" name="TextBox 13"/>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5" name="TextBox 14"/>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6" name="Oval 15"/>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18" name="TextBox 17"/>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kiểm định bội</a:t>
            </a:r>
          </a:p>
        </p:txBody>
      </p:sp>
      <p:sp>
        <p:nvSpPr>
          <p:cNvPr id="19" name="TextBox 18"/>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(FDR) trên 21 sensor, q = 0,05</a:t>
            </a:r>
          </a:p>
        </p:txBody>
      </p:sp>
      <p:sp>
        <p:nvSpPr>
          <p:cNvPr id="20" name="Rounded Rectangle 19"/>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2" name="TextBox 21"/>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a:t>
            </a:r>
          </a:p>
        </p:txBody>
      </p:sp>
      <p:sp>
        <p:nvSpPr>
          <p:cNvPr id="23" name="Rounded Rectangle 22"/>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800600"/>
            <a:ext cx="2971800" cy="1143000"/>
          </a:xfrm>
          <a:prstGeom prst="rect">
            <a:avLst/>
          </a:prstGeom>
          <a:noFill/>
        </p:spPr>
        <p:txBody>
          <a:bodyPr wrap="square" lIns="0" rIns="0" tIns="0" bIns="0" anchor="ctr"/>
          <a:lstStyle/>
          <a:p>
            <a:pPr algn="l">
              <a:spcAft>
                <a:spcPts val="0"/>
              </a:spcAft>
            </a:pPr>
            <a:r>
              <a:rPr sz="1200" b="0">
                <a:solidFill>
                  <a:srgbClr val="1B2733"/>
                </a:solidFill>
                <a:latin typeface="Arial"/>
              </a:rPr>
              <a:t>12 sensor thay đổi cùng chiều ở 100/100 động cơ, ví dụ sensor 4, 7, 11, 12, 20; 6 sensor không đổi nên không kiểm định được.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Đèn vàng phát hiện suy giảm trước khi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SUY GIẢM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train, trung vị 121 cycle trước khi hỏng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outputs/degradation/tables/anomaly_events.csv;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pic>
        <p:nvPicPr>
          <p:cNvPr id="7" name="Picture 6" descr="image.png"/>
          <p:cNvPicPr>
            <a:picLocks noChangeAspect="1"/>
          </p:cNvPicPr>
          <p:nvPr/>
        </p:nvPicPr>
        <p:blipFill>
          <a:blip r:embed="rId3"/>
          <a:stretch>
            <a:fillRect/>
          </a:stretch>
        </p:blipFill>
        <p:spPr>
          <a:xfrm>
            <a:off x="841248" y="2240280"/>
            <a:ext cx="7452360" cy="2834639"/>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train được phát hiện trước khi hỏng</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báo trước khi hỏng (trung vị); tứ phân vị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đã qua khi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Thử 9 cấu hình (2/3/4σ × 3/5/10 cycle): đều phát hiện 100/100 động cơ, báo trước ít nhất 50 cycle. Nếu không làm mượt: trung vị chỉ còn 72,5 cycle.</a:t>
            </a:r>
          </a:p>
          <a:p>
            <a:pPr algn="l">
              <a:spcAft>
                <a:spcPts val="0"/>
              </a:spcAft>
            </a:pPr>
            <a:r>
              <a:rPr sz="1200" b="0">
                <a:solidFill>
                  <a:srgbClr val="1B2733"/>
                </a:solidFill>
                <a:latin typeface="Arial"/>
              </a:rPr>
              <a:t>Giới hạn: chưa đo được báo động giả vì dữ liệu không ghi thời điểm bắt đầu suy giảm.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Đèn đỏ ước lượng RUL tại điểm cuối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(HGB), chọn bằng cross-validation 5 fold chia theo động cơ (GroupKFold); MAE tập test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 outputs/modeling/tables/final_metrics.json; outputs/modeling/predictions/final_evaluation.parquet</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468880"/>
                <a:gridCol w="914400"/>
                <a:gridCol w="18288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 (5 fold)</a:t>
                      </a:r>
                    </a:p>
                  </a:txBody>
                  <a:tcPr marL="73152" marR="73152" marT="27432" marB="27432" anchor="ctr">
                    <a:solidFill>
                      <a:srgbClr val="21409A"/>
                    </a:solidFill>
                  </a:tcPr>
                </a:tc>
              </a:tr>
              <a:tr h="384048">
                <a:tc>
                  <a:txBody>
                    <a:bodyPr wrap="square"/>
                    <a:lstStyle/>
                    <a:p>
                      <a:r>
                        <a:rPr sz="1250" b="0">
                          <a:solidFill>
                            <a:srgbClr val="1B2733"/>
                          </a:solidFill>
                          <a:latin typeface="Arial"/>
                        </a:rPr>
                        <a:t>Baseline trung vị</a:t>
                      </a:r>
                    </a:p>
                  </a:txBody>
                  <a:tcPr marL="73152" marR="73152" marT="27432" marB="27432" anchor="ctr">
                    <a:solidFill>
                      <a:srgbClr val="FFFFFF"/>
                    </a:solidFill>
                  </a:tcPr>
                </a:tc>
                <a:tc>
                  <a:txBody>
                    <a:bodyPr wrap="square"/>
                    <a:lstStyle/>
                    <a:p>
                      <a:pPr algn="r"/>
                      <a:r>
                        <a:rPr sz="1250" b="0">
                          <a:solidFill>
                            <a:srgbClr val="1B2733"/>
                          </a:solidFill>
                          <a:latin typeface="Arial"/>
                        </a:rPr>
                        <a:t>46,9543</a:t>
                      </a:r>
                    </a:p>
                  </a:txBody>
                  <a:tcPr marL="73152" marR="73152" marT="27432" marB="27432" anchor="ctr">
                    <a:solidFill>
                      <a:srgbClr val="FFFFFF"/>
                    </a:solidFill>
                  </a:tcPr>
                </a:tc>
                <a:tc>
                  <a:txBody>
                    <a:bodyPr wrap="square"/>
                    <a:lstStyle/>
                    <a:p>
                      <a:pPr algn="r"/>
                      <a:r>
                        <a:rPr sz="1250" b="0">
                          <a:solidFill>
                            <a:srgbClr val="1B2733"/>
                          </a:solidFill>
                          <a:latin typeface="Arial"/>
                        </a:rPr>
                        <a:t>0,1193</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23,9922</a:t>
                      </a:r>
                    </a:p>
                  </a:txBody>
                  <a:tcPr marL="73152" marR="73152" marT="27432" marB="27432" anchor="ctr">
                    <a:solidFill>
                      <a:srgbClr val="EAF0FA"/>
                    </a:solidFill>
                  </a:tcPr>
                </a:tc>
                <a:tc>
                  <a:txBody>
                    <a:bodyPr wrap="square"/>
                    <a:lstStyle/>
                    <a:p>
                      <a:pPr algn="r"/>
                      <a:r>
                        <a:rPr sz="1250" b="0">
                          <a:solidFill>
                            <a:srgbClr val="1B2733"/>
                          </a:solidFill>
                          <a:latin typeface="Arial"/>
                        </a:rPr>
                        <a:t>0,9479</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20,2143</a:t>
                      </a:r>
                    </a:p>
                  </a:txBody>
                  <a:tcPr marL="73152" marR="73152" marT="27432" marB="27432" anchor="ctr">
                    <a:solidFill>
                      <a:srgbClr val="FFF4DA"/>
                    </a:solidFill>
                  </a:tcPr>
                </a:tc>
                <a:tc>
                  <a:txBody>
                    <a:bodyPr wrap="square"/>
                    <a:lstStyle/>
                    <a:p>
                      <a:pPr algn="r"/>
                      <a:r>
                        <a:rPr sz="1250" b="1">
                          <a:solidFill>
                            <a:srgbClr val="1B2733"/>
                          </a:solidFill>
                          <a:latin typeface="Arial"/>
                        </a:rPr>
                        <a:t>0,9821</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test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khoảng tin cậy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dự đoán cao hơn thực tế</a:t>
            </a:r>
          </a:p>
        </p:txBody>
      </p:sp>
      <p:pic>
        <p:nvPicPr>
          <p:cNvPr id="20" name="Picture 19" descr="image.png"/>
          <p:cNvPicPr>
            <a:picLocks noChangeAspect="1"/>
          </p:cNvPicPr>
          <p:nvPr/>
        </p:nvPicPr>
        <p:blipFill>
          <a:blip r:embed="rId3"/>
          <a:stretch>
            <a:fillRect/>
          </a:stretch>
        </p:blipFill>
        <p:spPr>
          <a:xfrm>
            <a:off x="6355080" y="2241735"/>
            <a:ext cx="5001768" cy="374612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có điểm yếu: thường lạc quan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Test: 74/100 động cơ được đoán sống lâu hơn thực tế. Train (OOF): ngưỡng 40 nâng báo kịp thời từ 51% lên 94%</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outputs/modeling/tables/warning_events.csv;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5806440" cy="3291839"/>
          </a:xfrm>
          <a:prstGeom prst="rect">
            <a:avLst/>
          </a:prstGeom>
        </p:spPr>
      </p:pic>
      <p:sp>
        <p:nvSpPr>
          <p:cNvPr id="8" name="TextBox 7"/>
          <p:cNvSpPr txBox="1"/>
          <p:nvPr/>
        </p:nvSpPr>
        <p:spPr>
          <a:xfrm>
            <a:off x="841248" y="5586983"/>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tại cycle 192.</a:t>
            </a:r>
          </a:p>
        </p:txBody>
      </p:sp>
      <p:sp>
        <p:nvSpPr>
          <p:cNvPr id="9" name="TextBox 8"/>
          <p:cNvSpPr txBox="1"/>
          <p:nvPr/>
        </p:nvSpPr>
        <p:spPr>
          <a:xfrm>
            <a:off x="6949440" y="2240280"/>
            <a:ext cx="4407408" cy="274320"/>
          </a:xfrm>
          <a:prstGeom prst="rect">
            <a:avLst/>
          </a:prstGeom>
          <a:noFill/>
        </p:spPr>
        <p:txBody>
          <a:bodyPr wrap="square" lIns="0" rIns="0" tIns="0" bIns="0" anchor="t"/>
          <a:lstStyle/>
          <a:p>
            <a:pPr algn="l">
              <a:spcAft>
                <a:spcPts val="0"/>
              </a:spcAft>
            </a:pPr>
            <a:r>
              <a:rPr sz="1300" b="1">
                <a:solidFill>
                  <a:srgbClr val="21409A"/>
                </a:solidFill>
                <a:latin typeface="Arial"/>
              </a:rPr>
              <a:t>Dự đoán OOF trên 100 động cơ train</a:t>
            </a:r>
          </a:p>
        </p:txBody>
      </p:sp>
      <p:graphicFrame>
        <p:nvGraphicFramePr>
          <p:cNvPr id="10" name="Table 9"/>
          <p:cNvGraphicFramePr>
            <a:graphicFrameLocks noGrp="1"/>
          </p:cNvGraphicFramePr>
          <p:nvPr/>
        </p:nvGraphicFramePr>
        <p:xfrm>
          <a:off x="6949440" y="2560320"/>
          <a:ext cx="4407408" cy="1097280"/>
        </p:xfrm>
        <a:graphic>
          <a:graphicData uri="http://schemas.openxmlformats.org/drawingml/2006/table">
            <a:tbl>
              <a:tblPr firstRow="1" bandRow="1">
                <a:tableStyleId>{5C22544A-7EE6-4342-B048-85BDC9FD1C3A}</a:tableStyleId>
              </a:tblPr>
              <a:tblGrid>
                <a:gridCol w="1188720"/>
                <a:gridCol w="914400"/>
                <a:gridCol w="822960"/>
                <a:gridCol w="1481328"/>
              </a:tblGrid>
              <a:tr h="365760">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quá sớm</a:t>
                      </a:r>
                    </a:p>
                  </a:txBody>
                  <a:tcPr marL="73152" marR="73152" marT="27432" marB="27432" anchor="ctr">
                    <a:solidFill>
                      <a:srgbClr val="21409A"/>
                    </a:solidFill>
                  </a:tcPr>
                </a:tc>
              </a:tr>
              <a:tr h="365760">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65760">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1" name="TextBox 10"/>
          <p:cNvSpPr txBox="1"/>
          <p:nvPr/>
        </p:nvSpPr>
        <p:spPr>
          <a:xfrm>
            <a:off x="6949440" y="3694176"/>
            <a:ext cx="4407408" cy="457200"/>
          </a:xfrm>
          <a:prstGeom prst="rect">
            <a:avLst/>
          </a:prstGeom>
          <a:noFill/>
        </p:spPr>
        <p:txBody>
          <a:bodyPr wrap="square" lIns="0" rIns="0" tIns="0" bIns="0" anchor="t"/>
          <a:lstStyle/>
          <a:p>
            <a:pPr algn="l">
              <a:spcAft>
                <a:spcPts val="0"/>
              </a:spcAft>
            </a:pPr>
            <a:r>
              <a:rPr sz="1000" b="0">
                <a:solidFill>
                  <a:srgbClr val="5A6B7B"/>
                </a:solidFill>
                <a:latin typeface="Arial"/>
              </a:rPr>
              <a:t>Kịp thời: báo trước ít nhất 30 cycle. Báo quá sớm: tỷ lệ cycle có cảnh báo khi RUL thực tế còn trên 30. OOF: dự đoán trên động cơ mô hình chưa thấy khi huấn luyện.</a:t>
            </a:r>
          </a:p>
        </p:txBody>
      </p:sp>
      <p:sp>
        <p:nvSpPr>
          <p:cNvPr id="12" name="Rounded Rectangle 11"/>
          <p:cNvSpPr/>
          <p:nvPr/>
        </p:nvSpPr>
        <p:spPr>
          <a:xfrm>
            <a:off x="6949440" y="4224528"/>
            <a:ext cx="4407408" cy="17647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29768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4" name="Rounded Rectangle 13"/>
          <p:cNvSpPr/>
          <p:nvPr/>
        </p:nvSpPr>
        <p:spPr>
          <a:xfrm>
            <a:off x="7150608" y="4681728"/>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0608" y="4681728"/>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6" name="TextBox 15"/>
          <p:cNvSpPr txBox="1"/>
          <p:nvPr/>
        </p:nvSpPr>
        <p:spPr>
          <a:xfrm>
            <a:off x="8138160" y="4681728"/>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7" name="Rounded Rectangle 16"/>
          <p:cNvSpPr/>
          <p:nvPr/>
        </p:nvSpPr>
        <p:spPr>
          <a:xfrm>
            <a:off x="7150608" y="5111496"/>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50608" y="5111496"/>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9" name="TextBox 18"/>
          <p:cNvSpPr txBox="1"/>
          <p:nvPr/>
        </p:nvSpPr>
        <p:spPr>
          <a:xfrm>
            <a:off x="8138160" y="5111496"/>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20" name="Rounded Rectangle 19"/>
          <p:cNvSpPr/>
          <p:nvPr/>
        </p:nvSpPr>
        <p:spPr>
          <a:xfrm>
            <a:off x="7150608" y="5541264"/>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0608" y="5541264"/>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2" name="TextBox 21"/>
          <p:cNvSpPr txBox="1"/>
          <p:nvPr/>
        </p:nvSpPr>
        <p:spPr>
          <a:xfrm>
            <a:off x="8138160" y="5541264"/>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Câu trả lời buổi sáng là một lịch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cần bảo trì đều có RUL thực tế ≤ 30, không báo nhầm; bắt được 21/25 động cơ cần bảo trì</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pic>
        <p:nvPicPr>
          <p:cNvPr id="7" name="Picture 6" descr="image.png"/>
          <p:cNvPicPr>
            <a:picLocks noChangeAspect="1"/>
          </p:cNvPicPr>
          <p:nvPr/>
        </p:nvPicPr>
        <p:blipFill>
          <a:blip r:embed="rId3"/>
          <a:stretch>
            <a:fillRect/>
          </a:stretch>
        </p:blipFill>
        <p:spPr>
          <a:xfrm>
            <a:off x="841248" y="2240280"/>
            <a:ext cx="6812279" cy="1965960"/>
          </a:xfrm>
          <a:prstGeom prst="rect">
            <a:avLst/>
          </a:prstGeom>
        </p:spPr>
      </p:pic>
      <p:graphicFrame>
        <p:nvGraphicFramePr>
          <p:cNvPr id="8" name="Table 7"/>
          <p:cNvGraphicFramePr>
            <a:graphicFrameLocks noGrp="1"/>
          </p:cNvGraphicFramePr>
          <p:nvPr/>
        </p:nvGraphicFramePr>
        <p:xfrm>
          <a:off x="841248" y="4315968"/>
          <a:ext cx="6812280" cy="1645920"/>
        </p:xfrm>
        <a:graphic>
          <a:graphicData uri="http://schemas.openxmlformats.org/drawingml/2006/table">
            <a:tbl>
              <a:tblPr firstRow="1" bandRow="1">
                <a:tableStyleId>{5C22544A-7EE6-4342-B048-85BDC9FD1C3A}</a:tableStyleId>
              </a:tblPr>
              <a:tblGrid>
                <a:gridCol w="868680"/>
                <a:gridCol w="1965960"/>
                <a:gridCol w="1234440"/>
                <a:gridCol w="1188720"/>
                <a:gridCol w="1554480"/>
              </a:tblGrid>
              <a:tr h="274320">
                <a:tc>
                  <a:txBody>
                    <a:bodyPr wrap="square"/>
                    <a:lstStyle/>
                    <a:p>
                      <a:r>
                        <a:rPr sz="1050" b="1">
                          <a:solidFill>
                            <a:srgbClr val="FFFFFF"/>
                          </a:solidFill>
                          <a:latin typeface="Arial"/>
                        </a:rPr>
                        <a:t>Động cơ</a:t>
                      </a:r>
                    </a:p>
                  </a:txBody>
                  <a:tcPr marL="73152" marR="73152" marT="27432" marB="27432" anchor="ctr">
                    <a:solidFill>
                      <a:srgbClr val="21409A"/>
                    </a:solidFill>
                  </a:tcPr>
                </a:tc>
                <a:tc>
                  <a:txBody>
                    <a:bodyPr wrap="square"/>
                    <a:lstStyle/>
                    <a:p>
                      <a:r>
                        <a:rPr sz="1050" b="1">
                          <a:solidFill>
                            <a:srgbClr val="FFFFFF"/>
                          </a:solidFill>
                          <a:latin typeface="Arial"/>
                        </a:rPr>
                        <a:t>Trạng thái</a:t>
                      </a:r>
                    </a:p>
                  </a:txBody>
                  <a:tcPr marL="73152" marR="73152" marT="27432" marB="27432" anchor="ctr">
                    <a:solidFill>
                      <a:srgbClr val="21409A"/>
                    </a:solidFill>
                  </a:tcPr>
                </a:tc>
                <a:tc>
                  <a:txBody>
                    <a:bodyPr wrap="square"/>
                    <a:lstStyle/>
                    <a:p>
                      <a:r>
                        <a:rPr sz="1050" b="1">
                          <a:solidFill>
                            <a:srgbClr val="FFFFFF"/>
                          </a:solidFill>
                          <a:latin typeface="Arial"/>
                        </a:rPr>
                        <a:t>Cycle hiện tại</a:t>
                      </a:r>
                    </a:p>
                  </a:txBody>
                  <a:tcPr marL="73152" marR="73152" marT="27432" marB="27432" anchor="ctr">
                    <a:solidFill>
                      <a:srgbClr val="21409A"/>
                    </a:solidFill>
                  </a:tcPr>
                </a:tc>
                <a:tc>
                  <a:txBody>
                    <a:bodyPr wrap="square"/>
                    <a:lstStyle/>
                    <a:p>
                      <a:r>
                        <a:rPr sz="1050" b="1">
                          <a:solidFill>
                            <a:srgbClr val="FFFFFF"/>
                          </a:solidFill>
                          <a:latin typeface="Arial"/>
                        </a:rPr>
                        <a:t>RUL dự đoán</a:t>
                      </a:r>
                    </a:p>
                  </a:txBody>
                  <a:tcPr marL="73152" marR="73152" marT="27432" marB="27432" anchor="ctr">
                    <a:solidFill>
                      <a:srgbClr val="21409A"/>
                    </a:solidFill>
                  </a:tcPr>
                </a:tc>
                <a:tc>
                  <a:txBody>
                    <a:bodyPr wrap="square"/>
                    <a:lstStyle/>
                    <a:p>
                      <a:r>
                        <a:rPr sz="1050" b="1">
                          <a:solidFill>
                            <a:srgbClr val="FFFFFF"/>
                          </a:solidFill>
                          <a:latin typeface="Arial"/>
                        </a:rPr>
                        <a:t>Cycle cần bảo trì</a:t>
                      </a:r>
                    </a:p>
                  </a:txBody>
                  <a:tcPr marL="73152" marR="73152" marT="27432" marB="27432" anchor="ctr">
                    <a:solidFill>
                      <a:srgbClr val="21409A"/>
                    </a:solidFill>
                  </a:tcPr>
                </a:tc>
              </a:tr>
              <a:tr h="274320">
                <a:tc>
                  <a:txBody>
                    <a:bodyPr wrap="square"/>
                    <a:lstStyle/>
                    <a:p>
                      <a:r>
                        <a:rPr sz="1050" b="0">
                          <a:solidFill>
                            <a:srgbClr val="1B2733"/>
                          </a:solidFill>
                          <a:latin typeface="Arial"/>
                        </a:rPr>
                        <a:t>34</a:t>
                      </a:r>
                    </a:p>
                  </a:txBody>
                  <a:tcPr marL="73152" marR="73152" marT="27432" marB="27432" anchor="ctr">
                    <a:solidFill>
                      <a:srgbClr val="FFFFFF"/>
                    </a:solidFill>
                  </a:tcPr>
                </a:tc>
                <a:tc>
                  <a:txBody>
                    <a:bodyPr wrap="square"/>
                    <a:lstStyle/>
                    <a:p>
                      <a:r>
                        <a:rPr sz="1050" b="0">
                          <a:solidFill>
                            <a:srgbClr val="1B2733"/>
                          </a:solidFill>
                          <a:latin typeface="Arial"/>
                        </a:rPr>
                        <a:t>Cần bảo trì</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c>
                  <a:txBody>
                    <a:bodyPr wrap="square"/>
                    <a:lstStyle/>
                    <a:p>
                      <a:pPr algn="r"/>
                      <a:r>
                        <a:rPr sz="1050" b="0">
                          <a:solidFill>
                            <a:srgbClr val="1B2733"/>
                          </a:solidFill>
                          <a:latin typeface="Arial"/>
                        </a:rPr>
                        <a:t>6,2</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r>
              <a:tr h="274320">
                <a:tc>
                  <a:txBody>
                    <a:bodyPr wrap="square"/>
                    <a:lstStyle/>
                    <a:p>
                      <a:r>
                        <a:rPr sz="1050" b="0">
                          <a:solidFill>
                            <a:srgbClr val="1B2733"/>
                          </a:solidFill>
                          <a:latin typeface="Arial"/>
                        </a:rPr>
                        <a:t>41</a:t>
                      </a:r>
                    </a:p>
                  </a:txBody>
                  <a:tcPr marL="73152" marR="73152" marT="27432" marB="27432" anchor="ctr">
                    <a:solidFill>
                      <a:srgbClr val="EAF0FA"/>
                    </a:solidFill>
                  </a:tcPr>
                </a:tc>
                <a:tc>
                  <a:txBody>
                    <a:bodyPr wrap="square"/>
                    <a:lstStyle/>
                    <a:p>
                      <a:r>
                        <a:rPr sz="1050" b="0">
                          <a:solidFill>
                            <a:srgbClr val="1B2733"/>
                          </a:solidFill>
                          <a:latin typeface="Arial"/>
                        </a:rPr>
                        <a:t>Cần bảo trì</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c>
                  <a:txBody>
                    <a:bodyPr wrap="square"/>
                    <a:lstStyle/>
                    <a:p>
                      <a:pPr algn="r"/>
                      <a:r>
                        <a:rPr sz="1050" b="0">
                          <a:solidFill>
                            <a:srgbClr val="1B2733"/>
                          </a:solidFill>
                          <a:latin typeface="Arial"/>
                        </a:rPr>
                        <a:t>29,6</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r>
              <a:tr h="274320">
                <a:tc>
                  <a:txBody>
                    <a:bodyPr wrap="square"/>
                    <a:lstStyle/>
                    <a:p>
                      <a:r>
                        <a:rPr sz="1050" b="0">
                          <a:solidFill>
                            <a:srgbClr val="1B2733"/>
                          </a:solidFill>
                          <a:latin typeface="Arial"/>
                        </a:rPr>
                        <a:t>90</a:t>
                      </a:r>
                    </a:p>
                  </a:txBody>
                  <a:tcPr marL="73152" marR="73152" marT="27432" marB="27432" anchor="ctr">
                    <a:solidFill>
                      <a:srgbClr val="FFFFFF"/>
                    </a:solidFill>
                  </a:tcPr>
                </a:tc>
                <a:tc>
                  <a:txBody>
                    <a:bodyPr wrap="square"/>
                    <a:lstStyle/>
                    <a:p>
                      <a:r>
                        <a:rPr sz="1050" b="0">
                          <a:solidFill>
                            <a:srgbClr val="1B2733"/>
                          </a:solidFill>
                          <a:latin typeface="Arial"/>
                        </a:rPr>
                        <a:t>Theo dõi tăng cường</a:t>
                      </a:r>
                    </a:p>
                  </a:txBody>
                  <a:tcPr marL="73152" marR="73152" marT="27432" marB="27432" anchor="ctr">
                    <a:solidFill>
                      <a:srgbClr val="FFFFFF"/>
                    </a:solidFill>
                  </a:tcPr>
                </a:tc>
                <a:tc>
                  <a:txBody>
                    <a:bodyPr wrap="square"/>
                    <a:lstStyle/>
                    <a:p>
                      <a:pPr algn="r"/>
                      <a:r>
                        <a:rPr sz="1050" b="0">
                          <a:solidFill>
                            <a:srgbClr val="1B2733"/>
                          </a:solidFill>
                          <a:latin typeface="Arial"/>
                        </a:rPr>
                        <a:t>146</a:t>
                      </a:r>
                    </a:p>
                  </a:txBody>
                  <a:tcPr marL="73152" marR="73152" marT="27432" marB="27432" anchor="ctr">
                    <a:solidFill>
                      <a:srgbClr val="FFFFFF"/>
                    </a:solidFill>
                  </a:tcPr>
                </a:tc>
                <a:tc>
                  <a:txBody>
                    <a:bodyPr wrap="square"/>
                    <a:lstStyle/>
                    <a:p>
                      <a:pPr algn="r"/>
                      <a:r>
                        <a:rPr sz="1050" b="0">
                          <a:solidFill>
                            <a:srgbClr val="1B2733"/>
                          </a:solidFill>
                          <a:latin typeface="Arial"/>
                        </a:rPr>
                        <a:t>31,2</a:t>
                      </a:r>
                    </a:p>
                  </a:txBody>
                  <a:tcPr marL="73152" marR="73152" marT="27432" marB="27432" anchor="ctr">
                    <a:solidFill>
                      <a:srgbClr val="FFFFFF"/>
                    </a:solidFill>
                  </a:tcPr>
                </a:tc>
                <a:tc>
                  <a:txBody>
                    <a:bodyPr wrap="square"/>
                    <a:lstStyle/>
                    <a:p>
                      <a:pPr algn="r"/>
                      <a:r>
                        <a:rPr sz="1050" b="0">
                          <a:solidFill>
                            <a:srgbClr val="1B2733"/>
                          </a:solidFill>
                          <a:latin typeface="Arial"/>
                        </a:rPr>
                        <a:t>147</a:t>
                      </a:r>
                    </a:p>
                  </a:txBody>
                  <a:tcPr marL="73152" marR="73152" marT="27432" marB="27432" anchor="ctr">
                    <a:solidFill>
                      <a:srgbClr val="FFFFFF"/>
                    </a:solidFill>
                  </a:tcPr>
                </a:tc>
              </a:tr>
              <a:tr h="274320">
                <a:tc>
                  <a:txBody>
                    <a:bodyPr wrap="square"/>
                    <a:lstStyle/>
                    <a:p>
                      <a:r>
                        <a:rPr sz="1050" b="0">
                          <a:solidFill>
                            <a:srgbClr val="1B2733"/>
                          </a:solidFill>
                          <a:latin typeface="Arial"/>
                        </a:rPr>
                        <a:t>91</a:t>
                      </a:r>
                    </a:p>
                  </a:txBody>
                  <a:tcPr marL="73152" marR="73152" marT="27432" marB="27432" anchor="ctr">
                    <a:solidFill>
                      <a:srgbClr val="EAF0FA"/>
                    </a:solidFill>
                  </a:tcPr>
                </a:tc>
                <a:tc>
                  <a:txBody>
                    <a:bodyPr wrap="square"/>
                    <a:lstStyle/>
                    <a:p>
                      <a:r>
                        <a:rPr sz="105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050" b="0">
                          <a:solidFill>
                            <a:srgbClr val="1B2733"/>
                          </a:solidFill>
                          <a:latin typeface="Arial"/>
                        </a:rPr>
                        <a:t>234</a:t>
                      </a:r>
                    </a:p>
                  </a:txBody>
                  <a:tcPr marL="73152" marR="73152" marT="27432" marB="27432" anchor="ctr">
                    <a:solidFill>
                      <a:srgbClr val="EAF0FA"/>
                    </a:solidFill>
                  </a:tcPr>
                </a:tc>
                <a:tc>
                  <a:txBody>
                    <a:bodyPr wrap="square"/>
                    <a:lstStyle/>
                    <a:p>
                      <a:pPr algn="r"/>
                      <a:r>
                        <a:rPr sz="1050" b="0">
                          <a:solidFill>
                            <a:srgbClr val="1B2733"/>
                          </a:solidFill>
                          <a:latin typeface="Arial"/>
                        </a:rPr>
                        <a:t>33,4</a:t>
                      </a:r>
                    </a:p>
                  </a:txBody>
                  <a:tcPr marL="73152" marR="73152" marT="27432" marB="27432" anchor="ctr">
                    <a:solidFill>
                      <a:srgbClr val="EAF0FA"/>
                    </a:solidFill>
                  </a:tcPr>
                </a:tc>
                <a:tc>
                  <a:txBody>
                    <a:bodyPr wrap="square"/>
                    <a:lstStyle/>
                    <a:p>
                      <a:pPr algn="r"/>
                      <a:r>
                        <a:rPr sz="1050" b="0">
                          <a:solidFill>
                            <a:srgbClr val="1B2733"/>
                          </a:solidFill>
                          <a:latin typeface="Arial"/>
                        </a:rPr>
                        <a:t>237</a:t>
                      </a:r>
                    </a:p>
                  </a:txBody>
                  <a:tcPr marL="73152" marR="73152" marT="27432" marB="27432" anchor="ctr">
                    <a:solidFill>
                      <a:srgbClr val="EAF0FA"/>
                    </a:solidFill>
                  </a:tcPr>
                </a:tc>
              </a:tr>
              <a:tr h="274320">
                <a:tc>
                  <a:txBody>
                    <a:bodyPr wrap="square"/>
                    <a:lstStyle/>
                    <a:p>
                      <a:r>
                        <a:rPr sz="1050" b="0">
                          <a:solidFill>
                            <a:srgbClr val="1B2733"/>
                          </a:solidFill>
                          <a:latin typeface="Arial"/>
                        </a:rPr>
                        <a:t>11</a:t>
                      </a:r>
                    </a:p>
                  </a:txBody>
                  <a:tcPr marL="73152" marR="73152" marT="27432" marB="27432" anchor="ctr">
                    <a:solidFill>
                      <a:srgbClr val="FFFFFF"/>
                    </a:solidFill>
                  </a:tcPr>
                </a:tc>
                <a:tc>
                  <a:txBody>
                    <a:bodyPr wrap="square"/>
                    <a:lstStyle/>
                    <a:p>
                      <a:r>
                        <a:rPr sz="1050" b="0">
                          <a:solidFill>
                            <a:srgbClr val="1B2733"/>
                          </a:solidFill>
                          <a:latin typeface="Arial"/>
                        </a:rPr>
                        <a:t>Bình thường</a:t>
                      </a:r>
                    </a:p>
                  </a:txBody>
                  <a:tcPr marL="73152" marR="73152" marT="27432" marB="27432" anchor="ctr">
                    <a:solidFill>
                      <a:srgbClr val="FFFFFF"/>
                    </a:solidFill>
                  </a:tcPr>
                </a:tc>
                <a:tc>
                  <a:txBody>
                    <a:bodyPr wrap="square"/>
                    <a:lstStyle/>
                    <a:p>
                      <a:pPr algn="r"/>
                      <a:r>
                        <a:rPr sz="1050" b="0">
                          <a:solidFill>
                            <a:srgbClr val="1B2733"/>
                          </a:solidFill>
                          <a:latin typeface="Arial"/>
                        </a:rPr>
                        <a:t>83</a:t>
                      </a:r>
                    </a:p>
                  </a:txBody>
                  <a:tcPr marL="73152" marR="73152" marT="27432" marB="27432" anchor="ctr">
                    <a:solidFill>
                      <a:srgbClr val="FFFFFF"/>
                    </a:solidFill>
                  </a:tcPr>
                </a:tc>
                <a:tc>
                  <a:txBody>
                    <a:bodyPr wrap="square"/>
                    <a:lstStyle/>
                    <a:p>
                      <a:pPr algn="r"/>
                      <a:r>
                        <a:rPr sz="1050" b="0">
                          <a:solidFill>
                            <a:srgbClr val="1B2733"/>
                          </a:solidFill>
                          <a:latin typeface="Arial"/>
                        </a:rPr>
                        <a:t>114,2</a:t>
                      </a:r>
                    </a:p>
                  </a:txBody>
                  <a:tcPr marL="73152" marR="73152" marT="27432" marB="27432" anchor="ctr">
                    <a:solidFill>
                      <a:srgbClr val="FFFFFF"/>
                    </a:solidFill>
                  </a:tcPr>
                </a:tc>
                <a:tc>
                  <a:txBody>
                    <a:bodyPr wrap="square"/>
                    <a:lstStyle/>
                    <a:p>
                      <a:pPr algn="r"/>
                      <a:r>
                        <a:rPr sz="1050" b="0">
                          <a:solidFill>
                            <a:srgbClr val="1B2733"/>
                          </a:solidFill>
                          <a:latin typeface="Arial"/>
                        </a:rPr>
                        <a:t>167</a:t>
                      </a:r>
                    </a:p>
                  </a:txBody>
                  <a:tcPr marL="73152" marR="73152" marT="27432" marB="27432" anchor="ctr">
                    <a:solidFill>
                      <a:srgbClr val="FFFFFF"/>
                    </a:solidFill>
                  </a:tcPr>
                </a:tc>
              </a:tr>
            </a:tbl>
          </a:graphicData>
        </a:graphic>
      </p:graphicFrame>
      <p:sp>
        <p:nvSpPr>
          <p:cNvPr id="9" name="TextBox 8"/>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0" name="Table 9"/>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1" name="Rounded Rectangle 10"/>
          <p:cNvSpPr/>
          <p:nvPr/>
        </p:nvSpPr>
        <p:spPr>
          <a:xfrm>
            <a:off x="7909560" y="4315968"/>
            <a:ext cx="3447288" cy="167335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389120"/>
            <a:ext cx="3108960" cy="1554480"/>
          </a:xfrm>
          <a:prstGeom prst="rect">
            <a:avLst/>
          </a:prstGeom>
          <a:noFill/>
        </p:spPr>
        <p:txBody>
          <a:bodyPr wrap="square" lIns="0" rIns="0" tIns="0" bIns="0" anchor="t"/>
          <a:lstStyle/>
          <a:p>
            <a:pPr algn="l">
              <a:spcAft>
                <a:spcPts val="600"/>
              </a:spcAft>
            </a:pPr>
            <a:r>
              <a:rPr sz="2000" b="1">
                <a:solidFill>
                  <a:srgbClr val="FCB525"/>
                </a:solidFill>
                <a:latin typeface="Arial"/>
              </a:rPr>
              <a:t>21/25</a:t>
            </a:r>
            <a:r>
              <a:rPr sz="1100" b="0">
                <a:solidFill>
                  <a:srgbClr val="FFFFFF"/>
                </a:solidFill>
                <a:latin typeface="Arial"/>
              </a:rPr>
              <a:t> động cơ có RUL thực tế ≤ 30 được báo; 4 ca sót đều sát ngưỡng (dự đoán 31–38). Ngưỡng 40 (chọn từ train): bắt 25/25, báo sớm 3.</a:t>
            </a:r>
          </a:p>
          <a:p>
            <a:pPr algn="l">
              <a:spcAft>
                <a:spcPts val="600"/>
              </a:spcAft>
            </a:pPr>
            <a:r>
              <a:rPr sz="1100" b="1">
                <a:solidFill>
                  <a:srgbClr val="FCB525"/>
                </a:solidFill>
                <a:latin typeface="Arial"/>
              </a:rPr>
              <a:t>Giới hạn: </a:t>
            </a:r>
            <a:r>
              <a:rPr sz="1100" b="0">
                <a:solidFill>
                  <a:srgbClr val="C9D6F0"/>
                </a:solidFill>
                <a:latin typeface="Arial"/>
              </a:rPr>
              <a:t>12 động cơ còn xa mới hỏng có lịch muộn hơn lúc hỏng 4–27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lớn cần đo bằng giới hạn thật của máy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Ở 100×, Spark tính nhanh hơn Pandas khoảng 5,5 lần; ở 200×, Pandas không xong trong giới hạn 30 phút</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outputs/benchmarks/20261021/compute_only.csv; outputs/benchmarks/20261021/run_info.json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7498079" cy="2927702"/>
          </a:xfrm>
          <a:prstGeom prst="rect">
            <a:avLst/>
          </a:prstGeom>
        </p:spPr>
      </p:pic>
      <p:sp>
        <p:nvSpPr>
          <p:cNvPr id="8" name="Rounded Rectangle 7"/>
          <p:cNvSpPr/>
          <p:nvPr/>
        </p:nvSpPr>
        <p:spPr>
          <a:xfrm>
            <a:off x="8549640" y="2240280"/>
            <a:ext cx="2807208" cy="33375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59952" y="2450592"/>
            <a:ext cx="2395728" cy="320040"/>
          </a:xfrm>
          <a:prstGeom prst="rect">
            <a:avLst/>
          </a:prstGeom>
          <a:noFill/>
        </p:spPr>
        <p:txBody>
          <a:bodyPr wrap="square" lIns="0" rIns="0" tIns="0" bIns="0" anchor="t"/>
          <a:lstStyle/>
          <a:p>
            <a:pPr algn="l">
              <a:spcAft>
                <a:spcPts val="0"/>
              </a:spcAft>
            </a:pPr>
            <a:r>
              <a:rPr sz="1500" b="1">
                <a:solidFill>
                  <a:srgbClr val="FCB525"/>
                </a:solidFill>
                <a:latin typeface="Arial"/>
              </a:rPr>
              <a:t>Cách đọc hình</a:t>
            </a:r>
          </a:p>
        </p:txBody>
      </p:sp>
      <p:sp>
        <p:nvSpPr>
          <p:cNvPr id="10" name="TextBox 9"/>
          <p:cNvSpPr txBox="1"/>
          <p:nvPr/>
        </p:nvSpPr>
        <p:spPr>
          <a:xfrm>
            <a:off x="8759952" y="2926080"/>
            <a:ext cx="2395728" cy="2194560"/>
          </a:xfrm>
          <a:prstGeom prst="rect">
            <a:avLst/>
          </a:prstGeom>
          <a:noFill/>
        </p:spPr>
        <p:txBody>
          <a:bodyPr wrap="square" lIns="0" rIns="0" tIns="0" bIns="0" anchor="t"/>
          <a:lstStyle/>
          <a:p>
            <a:pPr algn="l">
              <a:spcAft>
                <a:spcPts val="1000"/>
              </a:spcAft>
            </a:pPr>
            <a:r>
              <a:rPr sz="1250" b="1">
                <a:solidFill>
                  <a:srgbClr val="FCB525"/>
                </a:solidFill>
                <a:latin typeface="Arial"/>
              </a:rPr>
              <a:t>Đường liền: </a:t>
            </a:r>
            <a:r>
              <a:rPr sz="1250" b="0">
                <a:solidFill>
                  <a:srgbClr val="FFFFFF"/>
                </a:solidFill>
                <a:latin typeface="Arial"/>
              </a:rPr>
              <a:t>lượt hoàn tất.</a:t>
            </a:r>
          </a:p>
          <a:p>
            <a:pPr algn="l">
              <a:spcAft>
                <a:spcPts val="1000"/>
              </a:spcAft>
            </a:pPr>
            <a:r>
              <a:rPr sz="1250" b="1">
                <a:solidFill>
                  <a:srgbClr val="FCB525"/>
                </a:solidFill>
                <a:latin typeface="Arial"/>
              </a:rPr>
              <a:t>Dấu x: </a:t>
            </a:r>
            <a:r>
              <a:rPr sz="1250" b="0">
                <a:solidFill>
                  <a:srgbClr val="FFFFFF"/>
                </a:solidFill>
                <a:latin typeface="Arial"/>
              </a:rPr>
              <a:t>failed hoặc timeout; không thay bằng số 0.</a:t>
            </a:r>
          </a:p>
          <a:p>
            <a:pPr algn="l">
              <a:spcAft>
                <a:spcPts val="1000"/>
              </a:spcAft>
            </a:pPr>
            <a:r>
              <a:rPr sz="1250" b="1">
                <a:solidFill>
                  <a:srgbClr val="FCB525"/>
                </a:solidFill>
                <a:latin typeface="Arial"/>
              </a:rPr>
              <a:t>Phạm vi: </a:t>
            </a:r>
            <a:r>
              <a:rPr sz="1250" b="0">
                <a:solidFill>
                  <a:srgbClr val="FFFFFF"/>
                </a:solidFill>
                <a:latin typeface="Arial"/>
              </a:rPr>
              <a:t>một máy; Pandas 1 luồng, Spark 4 luồng; không gồm ghi file.</a:t>
            </a:r>
          </a:p>
          <a:p>
            <a:pPr algn="l">
              <a:spcAft>
                <a:spcPts val="1000"/>
              </a:spcAft>
            </a:pPr>
            <a:r>
              <a:rPr sz="1250" b="1">
                <a:solidFill>
                  <a:srgbClr val="FCB525"/>
                </a:solidFill>
                <a:latin typeface="Arial"/>
              </a:rPr>
              <a:t>Quyết định: </a:t>
            </a:r>
            <a:r>
              <a:rPr sz="1250" b="0">
                <a:solidFill>
                  <a:srgbClr val="FFFFFF"/>
                </a:solidFill>
                <a:latin typeface="Arial"/>
              </a:rPr>
              <a:t>với 100 động cơ FD001, bỏ Spark thì lịch không đổi; Spark cần khi đội lớn hơn hàng chục lần.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Năm câu hỏi đều có câu trả lời, nhưng phạm vi kết luận là FD001</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Năm câu hỏi nghiên cứu (Mục 1.2 báo cáo) theo đúng thứ tự các cảnh; kết luận chỉ áp dụng cho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4–11</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đạt mọi kiểm tra; Pandas và PySpark khớp; ở 100×, Spark tính nhanh hơn 5,5 lần</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Làm mượt, cửa sổ</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dao động sau EWMA; 126 đặc trưng từ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động cơ train được phát hiện, trung vị 121 cycle trước khi hỏng</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MAE tập test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báo cần bảo trì trên test đều đúng, bắt 21/25; OOF train: 49% muộn</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100 động cơ test (slide 10), kèm biểu đồ xu hướng cảnh báo sớm (slide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Demo dashboard: một dòng trả lời cho động cơ 90</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Động cơ 90: RUL dự đoán 31,2, thật 28; ca sót sát ngưỡng, lịch ở cycle 147, vẫn trước lúc hỏng 27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app.py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pic>
        <p:nvPicPr>
          <p:cNvPr id="7" name="Picture 6" descr="image.png"/>
          <p:cNvPicPr>
            <a:picLocks noChangeAspect="1"/>
          </p:cNvPicPr>
          <p:nvPr/>
        </p:nvPicPr>
        <p:blipFill>
          <a:blip r:embed="rId3"/>
          <a:stretch>
            <a:fillRect/>
          </a:stretch>
        </p:blipFill>
        <p:spPr>
          <a:xfrm>
            <a:off x="841248" y="2331720"/>
            <a:ext cx="6812279" cy="1965960"/>
          </a:xfrm>
          <a:prstGeom prst="rect">
            <a:avLst/>
          </a:prstGeom>
        </p:spPr>
      </p:pic>
      <p:sp>
        <p:nvSpPr>
          <p:cNvPr id="8" name="Rounded Rectangle 7"/>
          <p:cNvSpPr/>
          <p:nvPr/>
        </p:nvSpPr>
        <p:spPr>
          <a:xfrm>
            <a:off x="7909560" y="2331720"/>
            <a:ext cx="3447288" cy="3383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56448" y="2578608"/>
            <a:ext cx="2926080" cy="347472"/>
          </a:xfrm>
          <a:prstGeom prst="rect">
            <a:avLst/>
          </a:prstGeom>
          <a:noFill/>
        </p:spPr>
        <p:txBody>
          <a:bodyPr wrap="square" lIns="0" rIns="0" tIns="0" bIns="0" anchor="t"/>
          <a:lstStyle/>
          <a:p>
            <a:pPr algn="l">
              <a:spcAft>
                <a:spcPts val="0"/>
              </a:spcAft>
            </a:pPr>
            <a:r>
              <a:rPr sz="2000" b="1">
                <a:solidFill>
                  <a:srgbClr val="FCB525"/>
                </a:solidFill>
                <a:latin typeface="Arial"/>
              </a:rPr>
              <a:t>Động cơ 90</a:t>
            </a:r>
          </a:p>
        </p:txBody>
      </p:sp>
      <p:sp>
        <p:nvSpPr>
          <p:cNvPr id="10" name="TextBox 9"/>
          <p:cNvSpPr txBox="1"/>
          <p:nvPr/>
        </p:nvSpPr>
        <p:spPr>
          <a:xfrm>
            <a:off x="8156448" y="3154680"/>
            <a:ext cx="2926080" cy="2057400"/>
          </a:xfrm>
          <a:prstGeom prst="rect">
            <a:avLst/>
          </a:prstGeom>
          <a:noFill/>
        </p:spPr>
        <p:txBody>
          <a:bodyPr wrap="square" lIns="0" rIns="0" tIns="0" bIns="0" anchor="t"/>
          <a:lstStyle/>
          <a:p>
            <a:pPr algn="l">
              <a:spcAft>
                <a:spcPts val="1400"/>
              </a:spcAft>
            </a:pPr>
            <a:r>
              <a:rPr sz="1600" b="1">
                <a:solidFill>
                  <a:srgbClr val="FCB525"/>
                </a:solidFill>
                <a:latin typeface="Arial"/>
              </a:rPr>
              <a:t>Cycle hiện tại: </a:t>
            </a:r>
            <a:r>
              <a:rPr sz="1600" b="0">
                <a:solidFill>
                  <a:srgbClr val="FFFFFF"/>
                </a:solidFill>
                <a:latin typeface="Arial"/>
              </a:rPr>
              <a:t>146</a:t>
            </a:r>
          </a:p>
          <a:p>
            <a:pPr algn="l">
              <a:spcAft>
                <a:spcPts val="1400"/>
              </a:spcAft>
            </a:pPr>
            <a:r>
              <a:rPr sz="1600" b="1">
                <a:solidFill>
                  <a:srgbClr val="FCB525"/>
                </a:solidFill>
                <a:latin typeface="Arial"/>
              </a:rPr>
              <a:t>RUL dự đoán: </a:t>
            </a:r>
            <a:r>
              <a:rPr sz="1600" b="0">
                <a:solidFill>
                  <a:srgbClr val="FFFFFF"/>
                </a:solidFill>
                <a:latin typeface="Arial"/>
              </a:rPr>
              <a:t>31,2 cycle</a:t>
            </a:r>
          </a:p>
          <a:p>
            <a:pPr algn="l">
              <a:spcAft>
                <a:spcPts val="1400"/>
              </a:spcAft>
            </a:pPr>
            <a:r>
              <a:rPr sz="1600" b="1">
                <a:solidFill>
                  <a:srgbClr val="FCB525"/>
                </a:solidFill>
                <a:latin typeface="Arial"/>
              </a:rPr>
              <a:t>Lịch bảo trì: </a:t>
            </a:r>
            <a:r>
              <a:rPr sz="1600" b="0">
                <a:solidFill>
                  <a:srgbClr val="FFFFFF"/>
                </a:solidFill>
                <a:latin typeface="Arial"/>
              </a:rPr>
              <a:t>cycle 147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Xây dựng nhãn RUL và ranh giới tập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CÂU HỎI BẢO TRÌ</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test chỉ được dùng sau khi đã lưu kết quả dự đoán, để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chạy đến khi hỏng</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Chuỗi của 100 động cơ bị cắt trước khi hỏng</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lúc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tổng cộng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test</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dùng sớm</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test không dùng trong EDA, tạo đặc trưng hay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PIPELINE</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Chọn NASA Turbofan (C-MAPSS) trong gợi ý của đề vì có chuỗi cảm biến chạy đến khi hỏng của từng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gồm split (train hoặc test, thêm khi ETL), engine_id và cycle. Không có giá trị thiếu. HPC: máy nén áp suất cao.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TÍN HIỆU VÀ ĐẶC TRƯNG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30 cycle, chỉ dùng quá khứ;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cửa sổ: cycle 141–170</a:t>
            </a:r>
          </a:p>
        </p:txBody>
      </p:sp>
      <p:sp>
        <p:nvSpPr>
          <p:cNvPr id="49" name="TextBox 48"/>
          <p:cNvSpPr txBox="1"/>
          <p:nvPr/>
        </p:nvSpPr>
        <p:spPr>
          <a:xfrm>
            <a:off x="6099048" y="3063240"/>
            <a:ext cx="1691640" cy="274320"/>
          </a:xfrm>
          <a:prstGeom prst="rect">
            <a:avLst/>
          </a:prstGeom>
          <a:noFill/>
        </p:spPr>
        <p:txBody>
          <a:bodyPr wrap="square" lIns="0" rIns="0" tIns="0" bIns="0" anchor="t"/>
          <a:lstStyle/>
          <a:p>
            <a:pPr algn="r">
              <a:spcAft>
                <a:spcPts val="0"/>
              </a:spcAft>
            </a:pPr>
            <a:r>
              <a:rPr sz="1150" b="0">
                <a:solidFill>
                  <a:srgbClr val="5A6B7B"/>
                </a:solidFill>
                <a:latin typeface="Arial"/>
              </a:rPr>
              <a:t>từ 171: không dùng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cuối,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dốc (hệ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cửa sổ train · 10.196 cửa sổ test · 29 cycle đầu bị bỏ, không bù giá trị</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1">
                <a:solidFill>
                  <a:srgbClr val="FCB525"/>
                </a:solidFill>
                <a:latin typeface="Arial"/>
              </a:rPr>
              <a:t>ETL: </a:t>
            </a:r>
            <a:r>
              <a:rPr sz="1300" b="0">
                <a:solidFill>
                  <a:srgbClr val="FFFFFF"/>
                </a:solidFill>
                <a:latin typeface="Arial"/>
              </a:rPr>
              <a:t>thống nhất schema và kiểu dữ liệu.</a:t>
            </a:r>
          </a:p>
          <a:p>
            <a:pPr algn="l">
              <a:spcAft>
                <a:spcPts val="800"/>
              </a:spcAft>
            </a:pPr>
            <a:r>
              <a:rPr sz="1300" b="1">
                <a:solidFill>
                  <a:srgbClr val="FCB525"/>
                </a:solidFill>
                <a:latin typeface="Arial"/>
              </a:rPr>
              <a:t>StandardScaler: </a:t>
            </a:r>
            <a:r>
              <a:rPr sz="1300" b="0">
                <a:solidFill>
                  <a:srgbClr val="FFFFFF"/>
                </a:solidFill>
                <a:latin typeface="Arial"/>
              </a:rPr>
              <a:t>đưa về trung bình 0, độ lệch chuẩn 1; chỉ học trên phần train của từng fold.</a:t>
            </a:r>
          </a:p>
          <a:p>
            <a:pPr algn="l">
              <a:spcAft>
                <a:spcPts val="800"/>
              </a:spcAft>
            </a:pPr>
            <a:r>
              <a:rPr sz="1300" b="1">
                <a:solidFill>
                  <a:srgbClr val="FCB525"/>
                </a:solidFill>
                <a:latin typeface="Arial"/>
              </a:rPr>
              <a:t>Dùng cho: </a:t>
            </a:r>
            <a:r>
              <a:rPr sz="1300" b="0">
                <a:solidFill>
                  <a:srgbClr val="FFFFFF"/>
                </a:solidFill>
                <a:latin typeface="Arial"/>
              </a:rPr>
              <a:t>Ridge và PCA khi tạo Health Index.</a:t>
            </a:r>
          </a:p>
          <a:p>
            <a:pPr algn="l">
              <a:spcAft>
                <a:spcPts val="800"/>
              </a:spcAft>
            </a:pPr>
            <a:r>
              <a:rPr sz="1300" b="1">
                <a:solidFill>
                  <a:srgbClr val="FCB525"/>
                </a:solidFill>
                <a:latin typeface="Arial"/>
              </a:rPr>
              <a:t>HGB: </a:t>
            </a:r>
            <a:r>
              <a:rPr sz="1300" b="0">
                <a:solidFill>
                  <a:srgbClr val="FFFFFF"/>
                </a:solidFill>
                <a:latin typeface="Arial"/>
              </a:rPr>
              <a:t>giữ thang đo gốc vì cây quyết định không phụ thuộc thang đo.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RUL, CẢNH BÁO VÀ LỊCH</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nhỏ hơn khi RUL thực tế nhỏ; mô hình hay dự đoán cao hơn thực tế, nên dễ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outputs/modeling/predictions/final_evaluation.parquet;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pic>
        <p:nvPicPr>
          <p:cNvPr id="7" name="Picture 6" descr="image.png"/>
          <p:cNvPicPr>
            <a:picLocks noChangeAspect="1"/>
          </p:cNvPicPr>
          <p:nvPr/>
        </p:nvPicPr>
        <p:blipFill>
          <a:blip r:embed="rId3"/>
          <a:stretch>
            <a:fillRect/>
          </a:stretch>
        </p:blipFill>
        <p:spPr>
          <a:xfrm>
            <a:off x="841248" y="2240280"/>
            <a:ext cx="5394960" cy="3744883"/>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Chiều của sai số (100 động cơ test)</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3108960" cy="502920"/>
          </a:xfrm>
          <a:prstGeom prst="rect">
            <a:avLst/>
          </a:prstGeom>
          <a:noFill/>
        </p:spPr>
        <p:txBody>
          <a:bodyPr wrap="square" lIns="0" rIns="0" tIns="0" bIns="0" anchor="ctr"/>
          <a:lstStyle/>
          <a:p>
            <a:pPr algn="l">
              <a:spcAft>
                <a:spcPts val="0"/>
              </a:spcAft>
            </a:pPr>
            <a:r>
              <a:rPr sz="1300" b="1">
                <a:solidFill>
                  <a:srgbClr val="1B2733"/>
                </a:solidFill>
                <a:latin typeface="Arial"/>
              </a:rPr>
              <a:t>74 dự đoán cao hơn thực tế</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 hơn</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thực tế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250" b="0">
                <a:solidFill>
                  <a:srgbClr val="5A6B7B"/>
                </a:solidFill>
                <a:latin typeface="Arial"/>
              </a:rPr>
              <a:t>MAE 4,38 cycle khi RUL thực tế ≤ 30. 10 động cơ sai nhiều nhất đóng góp 75,5% tổng NASA score.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Mô hình FD001 không dùng tốt được cho FD002–FD004 (cửa sổ 10 cycle); ba hướng cải tiến không thay mô hình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cửa sổ,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Chọn lại đúng cấu hình gốc; số cảnh báo muộn tăng từ 49 lên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cột cycle và 42 đặc trưng lịch sử</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169 đặc trưng: MAE OOF 20,21 → 17,00; tỷ lệ kịp thời (ngưỡng 30) 51,00% → 45,00%.</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drift; tốt hơn ở 7/10 động cơ.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Dự phòng: 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QUY MÔ, KẾT LUẬN VÀ GIỚI HẠN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20 / 20</a:t>
            </a:r>
          </a:p>
        </p:txBody>
      </p:sp>
      <p:graphicFrame>
        <p:nvGraphicFramePr>
          <p:cNvPr id="7" name="Table 6"/>
          <p:cNvGraphicFramePr>
            <a:graphicFrameLocks noGrp="1"/>
          </p:cNvGraphicFramePr>
          <p:nvPr/>
        </p:nvGraphicFramePr>
        <p:xfrm>
          <a:off x="841248" y="2286000"/>
          <a:ext cx="10515600" cy="2834640"/>
        </p:xfrm>
        <a:graphic>
          <a:graphicData uri="http://schemas.openxmlformats.org/drawingml/2006/table">
            <a:tbl>
              <a:tblPr firstRow="1" bandRow="1">
                <a:tableStyleId>{5C22544A-7EE6-4342-B048-85BDC9FD1C3A}</a:tableStyleId>
              </a:tblPr>
              <a:tblGrid>
                <a:gridCol w="2468880"/>
                <a:gridCol w="3931920"/>
                <a:gridCol w="4114800"/>
              </a:tblGrid>
              <a:tr h="566928">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566928">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mức tham chiếu</a:t>
                      </a:r>
                    </a:p>
                  </a:txBody>
                  <a:tcPr marL="73152" marR="73152" marT="27432" marB="27432" anchor="ctr">
                    <a:solidFill>
                      <a:srgbClr val="FFFFFF"/>
                    </a:solidFill>
                  </a:tcPr>
                </a:tc>
                <a:tc>
                  <a:txBody>
                    <a:bodyPr wrap="square"/>
                    <a:lstStyle/>
                    <a:p>
                      <a:r>
                        <a:rPr sz="1200" b="0">
                          <a:solidFill>
                            <a:srgbClr val="1B2733"/>
                          </a:solidFill>
                          <a:latin typeface="Arial"/>
                        </a:rPr>
                        <a:t>Nói rõ mức tham chiếu và phần chưa kiểm chứng được</a:t>
                      </a:r>
                    </a:p>
                  </a:txBody>
                  <a:tcPr marL="73152" marR="73152" marT="27432" marB="27432" anchor="ctr">
                    <a:solidFill>
                      <a:srgbClr val="FFFFFF"/>
                    </a:solidFill>
                  </a:tcPr>
                </a:tc>
              </a:tr>
              <a:tr h="566928">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cửa sổ và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Chia tập theo từng động cơ, không chia theo từng dòng</a:t>
                      </a:r>
                    </a:p>
                  </a:txBody>
                  <a:tcPr marL="73152" marR="73152" marT="27432" marB="27432" anchor="ctr">
                    <a:solidFill>
                      <a:srgbClr val="EAF0FA"/>
                    </a:solidFill>
                  </a:tcPr>
                </a:tc>
              </a:tr>
              <a:tr h="566928">
                <a:tc>
                  <a:txBody>
                    <a:bodyPr wrap="square"/>
                    <a:lstStyle/>
                    <a:p>
                      <a:r>
                        <a:rPr sz="1200" b="0">
                          <a:solidFill>
                            <a:srgbClr val="1B2733"/>
                          </a:solidFill>
                          <a:latin typeface="Arial"/>
                        </a:rPr>
                        <a:t>PySpark thiếu winutils trên Windows; Hadoop một node</a:t>
                      </a:r>
                    </a:p>
                  </a:txBody>
                  <a:tcPr marL="73152" marR="73152" marT="27432" marB="27432" anchor="ctr">
                    <a:solidFill>
                      <a:srgbClr val="FFFFFF"/>
                    </a:solidFill>
                  </a:tcPr>
                </a:tc>
                <a:tc>
                  <a:txBody>
                    <a:bodyPr wrap="square"/>
                    <a:lstStyle/>
                    <a:p>
                      <a:r>
                        <a:rPr sz="1200" b="0">
                          <a:solidFill>
                            <a:srgbClr val="1B2733"/>
                          </a:solidFill>
                          <a:latin typeface="Arial"/>
                        </a:rPr>
                        <a:t>Ghi Parquet qua Arrow; image Hadoop có sẵn Python; replication = 1</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làm; kiểm tra HDFS bằng fsck sau khi ghi</a:t>
                      </a:r>
                    </a:p>
                  </a:txBody>
                  <a:tcPr marL="73152" marR="73152" marT="27432" marB="27432" anchor="ctr">
                    <a:solidFill>
                      <a:srgbClr val="FFFFFF"/>
                    </a:solidFill>
                  </a:tcPr>
                </a:tc>
              </a:tr>
              <a:tr h="566928">
                <a:tc>
                  <a:txBody>
                    <a:bodyPr wrap="square"/>
                    <a:lstStyle/>
                    <a:p>
                      <a:r>
                        <a:rPr sz="1200" b="0">
                          <a:solidFill>
                            <a:srgbClr val="1B2733"/>
                          </a:solidFill>
                          <a:latin typeface="Arial"/>
                        </a:rPr>
                        <a:t>Dễ sa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Ưu tiên pipeline đúng và cảnh báo dễ hiểu hơn việc giảm thêm vài cycle MAE</a:t>
                      </a:r>
                    </a:p>
                  </a:txBody>
                  <a:tcPr marL="73152" marR="73152" marT="27432" marB="27432" anchor="ctr">
                    <a:solidFill>
                      <a:srgbClr val="EAF0FA"/>
                    </a:solidFill>
                  </a:tcPr>
                </a:tc>
              </a:tr>
            </a:tbl>
          </a:graphicData>
        </a:graphic>
      </p:graphicFrame>
      <p:sp>
        <p:nvSpPr>
          <p:cNvPr id="8" name="Rounded Rectangle 7"/>
          <p:cNvSpPr/>
          <p:nvPr/>
        </p:nvSpPr>
        <p:spPr>
          <a:xfrm>
            <a:off x="841248" y="5303520"/>
            <a:ext cx="10515600" cy="68580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303520"/>
            <a:ext cx="10104120" cy="685800"/>
          </a:xfrm>
          <a:prstGeom prst="rect">
            <a:avLst/>
          </a:prstGeom>
          <a:noFill/>
        </p:spPr>
        <p:txBody>
          <a:bodyPr wrap="square" lIns="0" rIns="0" tIns="0" bIns="0" anchor="ctr"/>
          <a:lstStyle/>
          <a:p>
            <a:pPr algn="l">
              <a:spcAft>
                <a:spcPts val="0"/>
              </a:spcAft>
            </a:pPr>
            <a:r>
              <a:rPr sz="1200" b="1">
                <a:solidFill>
                  <a:srgbClr val="21409A"/>
                </a:solidFill>
                <a:latin typeface="Arial"/>
              </a:rPr>
              <a:t>Giới hạn: </a:t>
            </a:r>
            <a:r>
              <a:rPr sz="1200" b="0">
                <a:solidFill>
                  <a:srgbClr val="1B2733"/>
                </a:solidFill>
                <a:latin typeface="Arial"/>
              </a:rPr>
              <a:t>dữ liệu mô phỏng; chưa có chi phí bảo trì để chọn ngưỡng; Hadoop và Spark chạy trên một máy, chưa có cluster nhiều node hay streaming; kết quả cảnh báo trên OOF train hơi lạc quan.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