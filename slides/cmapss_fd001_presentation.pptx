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I/O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11</c:v>
                </c:pt>
                <c:pt idx="1">
                  <c:v>112</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15</c:v>
                </c:pt>
                <c:pt idx="1">
                  <c:v>33</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kiểm tra (cycle)</a:t>
            </a:r>
          </a:p>
        </c:rich>
      </c:tx>
      <c:layout/>
      <c:overlay val="0"/>
    </c:title>
    <c:autoTitleDeleted val="0"/>
    <c:plotArea>
      <c:barChart>
        <c:barDir val="col"/>
        <c:grouping val="clustered"/>
        <c:ser>
          <c:idx val="0"/>
          <c:order val="0"/>
          <c:tx>
            <c:strRef>
              <c:f>Sheet1!$B$1</c:f>
              <c:strCache>
                <c:ptCount val="1"/>
                <c:pt idx="0">
                  <c:v>Huấn luyện nội bộ</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Áp dụng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Chào thầy/cô.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EWMA giảm khoảng 86,3% dao động ngắn hạn; bất thường được phát hiện trung vị 121 cycle trước khi hỏng; MAE RUL trên 100 động cơ test là 15,3490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Thứ tự bám quy trình của môn học: thu thập, làm sạch, lưu trữ trước; rồi khử nhiễu, xu hướng và bất thường; sau cùng là dự đoán RUL và cảnh báo. Năm câu hỏi bên phải sẽ được trả lời lại ở slide 18. Demo dashboard khoảng 3 phút ở cuối.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Remaining Useful Life (RUL, tuổi thọ hữu ích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khử nhiễu ở slide 9, window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C-MAPSS là dữ liệu mô phỏng động cơ turbofan của NASA, có tên trong gợi ý dữ liệu của đề tài. Mỗi subset có train (chạy đến khi hỏng), test (bị cắt trước khi hỏng) và file nhãn RUL test.</a:t>
            </a:r>
          </a:p>
          <a:p>
            <a:r>
              <a:t>FD001: 1 điều kiện vận hành, 1 dạng lỗi, 100 train và 100 test engines,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Bronze là file text gốc, tải bằng script từ cổng dữ liệu NASA, kiểm tra MD5 và SHA-256, đồng thời được đưa lên HDFS. Reader kiểm tra đúng 26 trường, kiểu dữ liệu, khóa duy nhất và cycle liên tục; train và test được union theo dòng.</a:t>
            </a:r>
          </a:p>
          <a:p>
            <a:r>
              <a:t>Silver lưu observations và train_targets dạng Parquet. Gold lưu engine_summary dạng Parquet và SQLite. Từ Silver, bước đặc trưng tạo window 30 cycle; mô hình dùng GroupKFold, refit và tạo 100 dự đoán test.</a:t>
            </a:r>
          </a:p>
          <a:p>
            <a:r>
              <a:t>Nhánh dưới bên trái là phân tích tín hiệu: khử nhiễu, Health Index, bất thường, chỉ dùng train. Đây là phần thu thập, làm sạch, chuẩn hóa, tích hợp, lưu trữ mà rubric chấm 40%.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Bảng trái: cùng input, Pandas và PySpark cho cùng schema, khóa, số dòng và giá trị ở ba boundary; sai khác bằng 0. Hai dòng cuối là bảng engine_summary tính lại trên cụm Hadoop: một job MapReduce chạy trên YARN và một job Spark đọc dữ liệu từ HDFS; cả hai khớp 200/200 động cơ.</a:t>
            </a:r>
          </a:p>
          <a:p>
            <a:r>
              <a:t>Ô dưới: cụm Hadoop 3.4.3 một node trong Docker; HDFS ở trạng thái HEALTHY.</a:t>
            </a:r>
          </a:p>
          <a:p>
            <a:r>
              <a:t>Biểu đồ phải: trung vị ba lượt. Pandas tăng từ 10,5 lên 111,7 giây; Spark từ 14,6 lên 32,7 giây.</a:t>
            </a:r>
          </a:p>
          <a:p>
            <a:r>
              <a:t>Giới hạn: một máy, chưa phải cluster nhiều node.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Tuổi thọ train từ 128 đến 362 cycle, trung vị 199, lệch phải vì có vài động cơ sống rất lâu.</a:t>
            </a:r>
          </a:p>
          <a:p>
            <a:r>
              <a:t>Bảy cột không đổi trong cả 100 động cơ: sensor 1, 5, 10, 16, 18, 19 và setting_3. Vì vậy bước khử nhiễu chỉ áp dụng cho 14 sensor có xu hướng. Không làm feature selection từ EDA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Đây là bước xử lý nhiễu tín hiệu mà đề tài yêu cầu. Đường xám là tín hiệu gốc của động cơ train 1, nhảy mạnh giữa hai cycle liền kề. Đường xanh là sau EWMA span 10.</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window gồm cycle 141–170; cycle 171 trở đi không được dùng.</a:t>
            </a:r>
          </a:p>
          <a:p>
            <a:r>
              <a:t>Với mỗi sensor tính 6 thống kê: giá trị cuối, trung bình, độ lệch chuẩn, min, max và độ dốc. 21 × 6 = 126 cột. 29 cycle đầu mỗi động cơ chưa đủ window nên không tạo dòng; FD001 có 17.731 window train và 10.196 window test.</a:t>
            </a:r>
          </a:p>
          <a:p>
            <a:r>
              <a:t>Về chuẩn hóa: StandardScaler fit trong training fold cho Ridge và trước PCA khi tạo Health Index; HGB dùng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Benjamini–Hochberg q = 0,05 trên 21 sensor.</a:t>
            </a:r>
          </a:p>
          <a:p>
            <a:r>
              <a:t>Kết quả: 15 sensor có thay đổi; năm sensor 4, 7, 11, 12, 20 thay đổi cùng hướng ở cả 100 động cơ; 6 sensor hằng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phần phát hiện dấu hiệu bất thường của đề tài. Health Index gộp 21 sensor đã khử nhiễu bằng StandardScaler rồi PCA một thành phần;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window của một động cơ nằm cùng một phía; chia ngẫu nhiên theo dòng sẽ làm metric đẹp giả tạo vì hai window liền kề trùng 29/30 cycle. Mỗi động cơ có tổng trọng số bằng 1.</a:t>
            </a:r>
          </a:p>
          <a:p>
            <a:r>
              <a:t>Bảng trên: so sánh ba mô hình bằng GroupKFold. HGB có MAE 20,21 cycle, thấp hơn Ridge 3,78 cycle và thấp hơn median baseline hơn một nửa.</a:t>
            </a:r>
          </a:p>
          <a:p>
            <a:r>
              <a:t>Trên test: MAE 15,3490 cycle, khoảng tin cậy 95% [12,73; 18,09], RMSE 20,54, NASA score 1.513.</a:t>
            </a:r>
          </a:p>
          <a:p>
            <a:r>
              <a:t>MAE test thấp hơn MAE cross-validation vì test chỉ có một điểm cuối mỗi chuỗi, RUL thật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sai số bằng dự đoán trừ thật, theo RUL thật. MAE chỉ 4,38 cycle với 25 động cơ có RUL thật ≤ 30, tức đúng vùng cần cảnh báo; khoảng 21 cycle khi RUL trên 60.</a:t>
            </a:r>
          </a:p>
          <a:p>
            <a:r>
              <a:t>74 dự đoán cao hơn thật, 26 thấp hơn. Ví dụ động cơ 23: RUL thật 113, dự đoán 170,5, sai 57,5 cycle. Mười trường hợp sai lớn nhất chiếm 75,5% NASA score.</a:t>
            </a:r>
          </a:p>
          <a:p>
            <a:r>
              <a:t>Nguyên nhân: khi động cơ còn khỏe, Health Index đi ngang nên khó phân biệt còn 160 hay 300 cycle; trên OOF dự đoán dừng quanh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30 giây.</a:t>
            </a:r>
          </a:p>
          <a:p>
            <a:r>
              <a:t>Đây là biểu đồ xu hướng cảnh báo sớm, sản phẩm đặc thù của đề tài. Đường xanh là RUL thật, đường đỏ là RUL dự đoán OOF, đường cam là ngưỡng 30 cycle; động cơ 1 được cảnh báo ở cycle 162, hỏng ở 192.</a:t>
            </a:r>
          </a:p>
          <a:p>
            <a:r>
              <a:t>Ngưỡng 30 trên 100 động cơ: 44 cảnh báo trước khi RUL thật chạm 30, 7 đúng lúc, 49 trễ nhưng vẫn trước khi hỏng, không bỏ lỡ. Lead time trung vị 30 cycle, ngắn nhất 19.</a:t>
            </a:r>
          </a:p>
          <a:p>
            <a:r>
              <a:t>Cảnh báo trễ tập trung ở động cơ suy giảm nhanh. Ngưỡng 40 nâng tỷ lệ kịp thời từ 51% lên 94%, đổi lại thời gian báo sớm tăng khoảng bốn lần. Chọn ngưỡng thật cần chi phí bảo trì, dữ liệu không có.</a:t>
            </a:r>
          </a:p>
          <a:p>
            <a:r>
              <a:t>Ghép hai mức trên động cơ 1: cycle 84 bất thường, cycle 162 RUL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dự kiến cần bảo trì (lúc RUL dự đoán chạm 30) và trạng thái.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21 cần bảo trì ngay, 59 theo dõi, 20 bình thường. Kế hoạch: thêm 14 động cơ đến hạn trong 25 cycle tới và 8 trong 26–50 cycle.</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thật trên 60. Giới hạn: mức theo dõi còn rộng, 41/59 động cơ có RUL thật trên 60.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Biểu đồ: cùng pipeline với window 10 vì FD004 có động cơ test ngắn nhất 19 cycle. Cột xanh là huấn luyện và test trong cùng subset; cột vàng là giữ mô hình FD001 áp dụng sang subset khác. MAE tăng khoảng 2–3 lần. Với FD002 và FD004 chỉ khoảng 15% giá trị sensor nằm trong miền FD001 nên dự đoán gần như hằng số; FD003 có thêm dạng lỗi Fan.</a:t>
            </a:r>
          </a:p>
          <a:p>
            <a:r>
              <a:t>Bên phải là ba thử nghiệm cải thiện, không cái nào thay mô hình chính: nested CV quay về cấu hình gốc, cảnh báo trễ 49 → 53; thêm 42 đặc trưng lịch sử giảm MAE OOF 20,21 → 17,00 nhưng tỷ lệ cảnh báo kịp thời ở ngưỡng 30 giảm 51% → 45%; ARIMA dự báo Health Index MAE 0,41 nhưng chỉ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Q1: dữ liệu đạt mọi kiểm tra; Pandas và PySpark khớp tuyệt đối.</a:t>
            </a:r>
          </a:p>
          <a:p>
            <a:r>
              <a:t>Q2: EWMA giảm khoảng 86% dao động; window 30 tạo 126 đặc trưng.</a:t>
            </a:r>
          </a:p>
          <a:p>
            <a:r>
              <a:t>Q3: 15/21 sensor thay đổi; Health Index phát hiện bất thường ở 100/100 động cơ, trung vị 121 cycle trước khi hỏng.</a:t>
            </a:r>
          </a:p>
          <a:p>
            <a:r>
              <a:t>Q4: MAE test 15,35 cycle, nhỏ nhất ở vùng gần hỏng.</a:t>
            </a:r>
          </a:p>
          <a:p>
            <a:r>
              <a:t>Q5: không bỏ lỡ, lead time trung vị 30 cycle, nhưng 49% trễ; ngưỡng 40 giảm trễ xuống 6%. Lịch bảo trì báo cần bảo trì 21 động cơ, đúng cả 21.</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Một: dữ liệu không ghi lúc bắt đầu hỏng, nên so mỗi động cơ với chính nó lúc khỏe và nói rõ chưa đo được báo động giả.</a:t>
            </a:r>
          </a:p>
          <a:p>
            <a:r>
              <a:t>Hai: dữ liệu chuỗi thời gian dễ rò rỉ khi chia tập; đơn vị chia phải là động cơ, window và EWMA chỉ dùng quá khứ.</a:t>
            </a:r>
          </a:p>
          <a:p>
            <a:r>
              <a:t>Ba: PySpark trên Windows thiếu winutils nên ghi qua Arrow, và luôn đối chiếu từng giá trị với Pandas. Khi dựng Hadoop trong Docker, image 3.3.6 thiếu Python nên đổi sang 3.4.3; Spark ghi với replication 3 trên một DataNode nên phải đặt replication 1, và kiểm tra lại bằng fsck.</a:t>
            </a:r>
          </a:p>
          <a:p>
            <a:r>
              <a:t>Bốn: dễ sa vào tối ưu mô hình; với bảo trì dự đoán, pipeline đúng và cảnh báo dễ hiểu quan trọng hơn vài cycle MAE.</a:t>
            </a:r>
          </a:p>
          <a:p>
            <a:r>
              <a:t>Giới hạn: dữ liệu mô phỏng, chưa có chi phí bảo trì, Spark chỉ chạy trên một máy.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thầy/cô. Nếu còn thời gian, mở dashboard theo phần demo trong handoff/SPEECH_SCRIPT_VI.pdf (khoảng 3 phút);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20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mức giảm độ dao động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phát hiện trước hỏng hóc</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MAE trên tập kiểm tra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Trình bày theo trình tự pipeline quản lý dữ liệu: xử lý, phân tích tín hiệu, dự đoán và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ràng buộc chất lượng; hai cách triển khai ETL có tương đương?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Mức giảm nhiễu đạt được; dữ liệu được tổng hợp theo cửa sổ thời gian thế nào?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Xu hướng biến đổi của tín hiệu; khả năng phát hiện bất thường trước hỏng hóc?</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Độ chính xác dự đoán RUL trên tập kiểm tra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Hiệu quả của cảnh báo sớm và lịch bảo trì dựa trên dự đoán?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hóc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hỏng hóc của động cơ. Đầu vào: chuỗi 21 tín hiệu cảm biến theo cycle. Đầu ra: dấu hiệu bất thường, ước lượng RUL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2057400"/>
                <a:gridCol w="2743200"/>
                <a:gridCol w="56692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Phương pháp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schema, khóa, cycle liên tục; ETL Pandas–PySpark</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window</a:t>
                      </a:r>
                    </a:p>
                  </a:txBody>
                  <a:tcPr marL="73152" marR="73152" marT="27432" marB="27432" anchor="ctr">
                    <a:solidFill>
                      <a:srgbClr val="FFFFFF"/>
                    </a:solidFill>
                  </a:tcPr>
                </a:tc>
                <a:tc>
                  <a:txBody>
                    <a:bodyPr wrap="square"/>
                    <a:lstStyle/>
                    <a:p>
                      <a:r>
                        <a:rPr sz="1150" b="0">
                          <a:solidFill>
                            <a:srgbClr val="1B2733"/>
                          </a:solidFill>
                          <a:latin typeface="Arial"/>
                        </a:rPr>
                        <a:t>StandardScaler cho Health Index; window 30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Bốn subset khác nhau về số điều kiện vận hành và số dạng lỗi; FD001 là đối tượng phân tích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(split, engine_id, cycle). Dữ liệu không có giá trị thiếu.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kiểm tra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kiểm tra chỉ được sử dụng sau khi đã lưu kết quả dự đoán, nhằm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vận hành đến hỏng hóc</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 hóc</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bị cắt trước hỏng hóc</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thời điểm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kiểm tra</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sử dụng</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trong EDA, xây dựng đặc trưng và lựa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Mỗi tầng lưu kết quả kèm mã băm và metadata, bảo đảm khả năng truy vết và tái lập</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4345228" y="2286000"/>
            <a:ext cx="3507638" cy="310896"/>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5228" y="2286000"/>
            <a:ext cx="3507638" cy="310896"/>
          </a:xfrm>
          <a:prstGeom prst="rect">
            <a:avLst/>
          </a:prstGeom>
          <a:noFill/>
        </p:spPr>
        <p:txBody>
          <a:bodyPr wrap="square" lIns="0" rIns="0" tIns="0" bIns="0" anchor="ctr"/>
          <a:lstStyle/>
          <a:p>
            <a:pPr algn="ctr">
              <a:spcAft>
                <a:spcPts val="0"/>
              </a:spcAft>
            </a:pPr>
            <a:r>
              <a:rPr sz="1200" b="1">
                <a:solidFill>
                  <a:srgbClr val="B37800"/>
                </a:solidFill>
                <a:latin typeface="Arial"/>
              </a:rPr>
              <a:t>Pandas = PySpark = MapReduce</a:t>
            </a:r>
          </a:p>
        </p:txBody>
      </p:sp>
      <p:sp>
        <p:nvSpPr>
          <p:cNvPr id="9" name="Rounded Rectangle 8"/>
          <p:cNvSpPr/>
          <p:nvPr/>
        </p:nvSpPr>
        <p:spPr>
          <a:xfrm>
            <a:off x="841248"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Bronze</a:t>
            </a:r>
          </a:p>
        </p:txBody>
      </p:sp>
      <p:sp>
        <p:nvSpPr>
          <p:cNvPr id="11" name="TextBox 10"/>
          <p:cNvSpPr txBox="1"/>
          <p:nvPr/>
        </p:nvSpPr>
        <p:spPr>
          <a:xfrm>
            <a:off x="950976"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Text gốc + HDFS</a:t>
            </a:r>
          </a:p>
        </p:txBody>
      </p:sp>
      <p:sp>
        <p:nvSpPr>
          <p:cNvPr id="12" name="TextBox 11"/>
          <p:cNvSpPr txBox="1"/>
          <p:nvPr/>
        </p:nvSpPr>
        <p:spPr>
          <a:xfrm>
            <a:off x="950976"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tải từ NASA,
MD5 + SHA-256</a:t>
            </a:r>
          </a:p>
        </p:txBody>
      </p:sp>
      <p:cxnSp>
        <p:nvCxnSpPr>
          <p:cNvPr id="13" name="Connector 12"/>
          <p:cNvCxnSpPr/>
          <p:nvPr/>
        </p:nvCxnSpPr>
        <p:spPr>
          <a:xfrm>
            <a:off x="2432304"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29814"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9542"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Kiểm tra</a:t>
            </a:r>
          </a:p>
        </p:txBody>
      </p:sp>
      <p:sp>
        <p:nvSpPr>
          <p:cNvPr id="16" name="TextBox 15"/>
          <p:cNvSpPr txBox="1"/>
          <p:nvPr/>
        </p:nvSpPr>
        <p:spPr>
          <a:xfrm>
            <a:off x="2739542"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Reader</a:t>
            </a:r>
          </a:p>
        </p:txBody>
      </p:sp>
      <p:sp>
        <p:nvSpPr>
          <p:cNvPr id="17" name="TextBox 16"/>
          <p:cNvSpPr txBox="1"/>
          <p:nvPr/>
        </p:nvSpPr>
        <p:spPr>
          <a:xfrm>
            <a:off x="2739542"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26 trường, kiểu,
khóa, cycle</a:t>
            </a:r>
          </a:p>
        </p:txBody>
      </p:sp>
      <p:cxnSp>
        <p:nvCxnSpPr>
          <p:cNvPr id="18" name="Connector 17"/>
          <p:cNvCxnSpPr/>
          <p:nvPr/>
        </p:nvCxnSpPr>
        <p:spPr>
          <a:xfrm>
            <a:off x="4220870"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418380"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8108"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Silver</a:t>
            </a:r>
          </a:p>
        </p:txBody>
      </p:sp>
      <p:sp>
        <p:nvSpPr>
          <p:cNvPr id="21" name="TextBox 20"/>
          <p:cNvSpPr txBox="1"/>
          <p:nvPr/>
        </p:nvSpPr>
        <p:spPr>
          <a:xfrm>
            <a:off x="4528108"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a:t>
            </a:r>
          </a:p>
        </p:txBody>
      </p:sp>
      <p:sp>
        <p:nvSpPr>
          <p:cNvPr id="22" name="TextBox 21"/>
          <p:cNvSpPr txBox="1"/>
          <p:nvPr/>
        </p:nvSpPr>
        <p:spPr>
          <a:xfrm>
            <a:off x="4528108"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observations
33.727 dòng</a:t>
            </a:r>
          </a:p>
        </p:txBody>
      </p:sp>
      <p:cxnSp>
        <p:nvCxnSpPr>
          <p:cNvPr id="23" name="Connector 22"/>
          <p:cNvCxnSpPr/>
          <p:nvPr/>
        </p:nvCxnSpPr>
        <p:spPr>
          <a:xfrm>
            <a:off x="6009436"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06947"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6675"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Gold</a:t>
            </a:r>
          </a:p>
        </p:txBody>
      </p:sp>
      <p:sp>
        <p:nvSpPr>
          <p:cNvPr id="26" name="TextBox 25"/>
          <p:cNvSpPr txBox="1"/>
          <p:nvPr/>
        </p:nvSpPr>
        <p:spPr>
          <a:xfrm>
            <a:off x="6316675"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 + SQLite</a:t>
            </a:r>
          </a:p>
        </p:txBody>
      </p:sp>
      <p:sp>
        <p:nvSpPr>
          <p:cNvPr id="27" name="TextBox 26"/>
          <p:cNvSpPr txBox="1"/>
          <p:nvPr/>
        </p:nvSpPr>
        <p:spPr>
          <a:xfrm>
            <a:off x="6316675"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engine_summary
200 dòng</a:t>
            </a:r>
          </a:p>
        </p:txBody>
      </p:sp>
      <p:cxnSp>
        <p:nvCxnSpPr>
          <p:cNvPr id="28" name="Connector 27"/>
          <p:cNvCxnSpPr/>
          <p:nvPr/>
        </p:nvCxnSpPr>
        <p:spPr>
          <a:xfrm>
            <a:off x="7798003"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995513" y="2697480"/>
            <a:ext cx="1572768" cy="1508760"/>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05241"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Đặc trưng</a:t>
            </a:r>
          </a:p>
        </p:txBody>
      </p:sp>
      <p:sp>
        <p:nvSpPr>
          <p:cNvPr id="31" name="TextBox 30"/>
          <p:cNvSpPr txBox="1"/>
          <p:nvPr/>
        </p:nvSpPr>
        <p:spPr>
          <a:xfrm>
            <a:off x="8105241"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Window 30</a:t>
            </a:r>
          </a:p>
        </p:txBody>
      </p:sp>
      <p:sp>
        <p:nvSpPr>
          <p:cNvPr id="32" name="TextBox 31"/>
          <p:cNvSpPr txBox="1"/>
          <p:nvPr/>
        </p:nvSpPr>
        <p:spPr>
          <a:xfrm>
            <a:off x="8105241"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27.927 dòng
126 đặc trưng</a:t>
            </a:r>
          </a:p>
        </p:txBody>
      </p:sp>
      <p:cxnSp>
        <p:nvCxnSpPr>
          <p:cNvPr id="33" name="Connector 32"/>
          <p:cNvCxnSpPr/>
          <p:nvPr/>
        </p:nvCxnSpPr>
        <p:spPr>
          <a:xfrm>
            <a:off x="9586569"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784080" y="2697480"/>
            <a:ext cx="1572768" cy="15087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93807"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Mô hình</a:t>
            </a:r>
          </a:p>
        </p:txBody>
      </p:sp>
      <p:sp>
        <p:nvSpPr>
          <p:cNvPr id="36" name="TextBox 35"/>
          <p:cNvSpPr txBox="1"/>
          <p:nvPr/>
        </p:nvSpPr>
        <p:spPr>
          <a:xfrm>
            <a:off x="9893807"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HGB</a:t>
            </a:r>
          </a:p>
        </p:txBody>
      </p:sp>
      <p:sp>
        <p:nvSpPr>
          <p:cNvPr id="37" name="TextBox 36"/>
          <p:cNvSpPr txBox="1"/>
          <p:nvPr/>
        </p:nvSpPr>
        <p:spPr>
          <a:xfrm>
            <a:off x="9893807"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GroupKFold →
refit → test</a:t>
            </a:r>
          </a:p>
        </p:txBody>
      </p:sp>
      <p:cxnSp>
        <p:nvCxnSpPr>
          <p:cNvPr id="38" name="Connector 37"/>
          <p:cNvCxnSpPr/>
          <p:nvPr/>
        </p:nvCxnSpPr>
        <p:spPr>
          <a:xfrm>
            <a:off x="3416198"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450238" y="4773168"/>
            <a:ext cx="393192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87398" y="4846320"/>
            <a:ext cx="3657600" cy="347472"/>
          </a:xfrm>
          <a:prstGeom prst="rect">
            <a:avLst/>
          </a:prstGeom>
          <a:noFill/>
        </p:spPr>
        <p:txBody>
          <a:bodyPr wrap="square" lIns="0" rIns="0" tIns="0" bIns="0" anchor="t"/>
          <a:lstStyle/>
          <a:p>
            <a:pPr algn="l">
              <a:spcAft>
                <a:spcPts val="0"/>
              </a:spcAft>
            </a:pPr>
            <a:r>
              <a:rPr sz="1300" b="1">
                <a:solidFill>
                  <a:srgbClr val="21409A"/>
                </a:solidFill>
                <a:latin typeface="Arial"/>
              </a:rPr>
              <a:t>Khử nhiễu → Health Index → bất thường</a:t>
            </a:r>
          </a:p>
        </p:txBody>
      </p:sp>
      <p:sp>
        <p:nvSpPr>
          <p:cNvPr id="41" name="TextBox 40"/>
          <p:cNvSpPr txBox="1"/>
          <p:nvPr/>
        </p:nvSpPr>
        <p:spPr>
          <a:xfrm>
            <a:off x="1587398" y="5193792"/>
            <a:ext cx="3657600" cy="274320"/>
          </a:xfrm>
          <a:prstGeom prst="rect">
            <a:avLst/>
          </a:prstGeom>
          <a:noFill/>
        </p:spPr>
        <p:txBody>
          <a:bodyPr wrap="square" lIns="0" rIns="0" tIns="0" bIns="0" anchor="t"/>
          <a:lstStyle/>
          <a:p>
            <a:pPr algn="l">
              <a:spcAft>
                <a:spcPts val="0"/>
              </a:spcAft>
            </a:pPr>
            <a:r>
              <a:rPr sz="1150" b="0">
                <a:solidFill>
                  <a:srgbClr val="5A6B7B"/>
                </a:solidFill>
                <a:latin typeface="Arial"/>
              </a:rPr>
              <a:t>chỉ dùng tập train · slide 9–12</a:t>
            </a:r>
          </a:p>
        </p:txBody>
      </p:sp>
      <p:cxnSp>
        <p:nvCxnSpPr>
          <p:cNvPr id="42" name="Connector 41"/>
          <p:cNvCxnSpPr/>
          <p:nvPr/>
        </p:nvCxnSpPr>
        <p:spPr>
          <a:xfrm>
            <a:off x="10570463"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8705088" y="4773168"/>
            <a:ext cx="265176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42248" y="4846320"/>
            <a:ext cx="2377440" cy="347472"/>
          </a:xfrm>
          <a:prstGeom prst="rect">
            <a:avLst/>
          </a:prstGeom>
          <a:noFill/>
        </p:spPr>
        <p:txBody>
          <a:bodyPr wrap="square" lIns="0" rIns="0" tIns="0" bIns="0" anchor="t"/>
          <a:lstStyle/>
          <a:p>
            <a:pPr algn="l">
              <a:spcAft>
                <a:spcPts val="0"/>
              </a:spcAft>
            </a:pPr>
            <a:r>
              <a:rPr sz="1300" b="1">
                <a:solidFill>
                  <a:srgbClr val="21409A"/>
                </a:solidFill>
                <a:latin typeface="Arial"/>
              </a:rPr>
              <a:t>Cảnh báo, lịch bảo trì</a:t>
            </a:r>
          </a:p>
        </p:txBody>
      </p:sp>
      <p:sp>
        <p:nvSpPr>
          <p:cNvPr id="45" name="TextBox 44"/>
          <p:cNvSpPr txBox="1"/>
          <p:nvPr/>
        </p:nvSpPr>
        <p:spPr>
          <a:xfrm>
            <a:off x="8842248" y="5193792"/>
            <a:ext cx="2377440" cy="274320"/>
          </a:xfrm>
          <a:prstGeom prst="rect">
            <a:avLst/>
          </a:prstGeom>
          <a:noFill/>
        </p:spPr>
        <p:txBody>
          <a:bodyPr wrap="square" lIns="0" rIns="0" tIns="0" bIns="0" anchor="t"/>
          <a:lstStyle/>
          <a:p>
            <a:pPr algn="l">
              <a:spcAft>
                <a:spcPts val="0"/>
              </a:spcAft>
            </a:pPr>
            <a:r>
              <a:rPr sz="1150" b="0">
                <a:solidFill>
                  <a:srgbClr val="5A6B7B"/>
                </a:solidFill>
                <a:latin typeface="Arial"/>
              </a:rPr>
              <a:t>slide 13–16</a:t>
            </a:r>
          </a:p>
        </p:txBody>
      </p:sp>
      <p:sp>
        <p:nvSpPr>
          <p:cNvPr id="46" name="TextBox 45"/>
          <p:cNvSpPr txBox="1"/>
          <p:nvPr/>
        </p:nvSpPr>
        <p:spPr>
          <a:xfrm>
            <a:off x="841248" y="5687568"/>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Đặc trưng và nhãn được ghép bằng đủ ba cột khóa, kiểm tra quan hệ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Pandas, PySpark và Hadoop</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Ba cách triển khai trùng khớp ở mọi tầng; ở quy mô 10×, PySpark nhanh hơn Pandas khoảng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outputs/hdfs/summary.json;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40280"/>
          <a:ext cx="5577840" cy="2304288"/>
        </p:xfrm>
        <a:graphic>
          <a:graphicData uri="http://schemas.openxmlformats.org/drawingml/2006/table">
            <a:tbl>
              <a:tblPr firstRow="1" bandRow="1">
                <a:tableStyleId>{5C22544A-7EE6-4342-B048-85BDC9FD1C3A}</a:tableStyleId>
              </a:tblPr>
              <a:tblGrid>
                <a:gridCol w="2514600"/>
                <a:gridCol w="960120"/>
                <a:gridCol w="1188720"/>
                <a:gridCol w="914400"/>
              </a:tblGrid>
              <a:tr h="384048">
                <a:tc>
                  <a:txBody>
                    <a:bodyPr wrap="square"/>
                    <a:lstStyle/>
                    <a:p>
                      <a:r>
                        <a:rPr sz="1200" b="1">
                          <a:solidFill>
                            <a:srgbClr val="FFFFFF"/>
                          </a:solidFill>
                          <a:latin typeface="Arial"/>
                        </a:rPr>
                        <a:t>Bảng so với Pandas</a:t>
                      </a:r>
                    </a:p>
                  </a:txBody>
                  <a:tcPr marL="73152" marR="73152" marT="27432" marB="27432" anchor="ctr">
                    <a:solidFill>
                      <a:srgbClr val="21409A"/>
                    </a:solidFill>
                  </a:tcPr>
                </a:tc>
                <a:tc>
                  <a:txBody>
                    <a:bodyPr wrap="square"/>
                    <a:lstStyle/>
                    <a:p>
                      <a:r>
                        <a:rPr sz="1200" b="1">
                          <a:solidFill>
                            <a:srgbClr val="FFFFFF"/>
                          </a:solidFill>
                          <a:latin typeface="Arial"/>
                        </a:rPr>
                        <a:t>Số dòng</a:t>
                      </a:r>
                    </a:p>
                  </a:txBody>
                  <a:tcPr marL="73152" marR="73152" marT="27432" marB="27432" anchor="ctr">
                    <a:solidFill>
                      <a:srgbClr val="21409A"/>
                    </a:solidFill>
                  </a:tcPr>
                </a:tc>
                <a:tc>
                  <a:txBody>
                    <a:bodyPr wrap="square"/>
                    <a:lstStyle/>
                    <a:p>
                      <a:r>
                        <a:rPr sz="1200" b="1">
                          <a:solidFill>
                            <a:srgbClr val="FFFFFF"/>
                          </a:solidFill>
                          <a:latin typeface="Arial"/>
                        </a:rPr>
                        <a:t>Sai khác</a:t>
                      </a:r>
                    </a:p>
                  </a:txBody>
                  <a:tcPr marL="73152" marR="73152" marT="27432" marB="27432" anchor="ctr">
                    <a:solidFill>
                      <a:srgbClr val="21409A"/>
                    </a:solidFill>
                  </a:tcPr>
                </a:tc>
                <a:tc>
                  <a:txBody>
                    <a:bodyPr wrap="square"/>
                    <a:lstStyle/>
                    <a:p>
                      <a:r>
                        <a:rPr sz="1200" b="1">
                          <a:solidFill>
                            <a:srgbClr val="FFFFFF"/>
                          </a:solidFill>
                          <a:latin typeface="Arial"/>
                        </a:rPr>
                        <a:t>Kết quả</a:t>
                      </a:r>
                    </a:p>
                  </a:txBody>
                  <a:tcPr marL="73152" marR="73152" marT="27432" marB="27432" anchor="ctr">
                    <a:solidFill>
                      <a:srgbClr val="21409A"/>
                    </a:solidFill>
                  </a:tcPr>
                </a:tc>
              </a:tr>
              <a:tr h="384048">
                <a:tc>
                  <a:txBody>
                    <a:bodyPr wrap="square"/>
                    <a:lstStyle/>
                    <a:p>
                      <a:r>
                        <a:rPr sz="1200" b="0">
                          <a:solidFill>
                            <a:srgbClr val="1B2733"/>
                          </a:solidFill>
                          <a:latin typeface="Arial"/>
                        </a:rPr>
                        <a:t>Silver observations</a:t>
                      </a:r>
                    </a:p>
                  </a:txBody>
                  <a:tcPr marL="73152" marR="73152" marT="27432" marB="27432" anchor="ctr">
                    <a:solidFill>
                      <a:srgbClr val="FFFFFF"/>
                    </a:solidFill>
                  </a:tcPr>
                </a:tc>
                <a:tc>
                  <a:txBody>
                    <a:bodyPr wrap="square"/>
                    <a:lstStyle/>
                    <a:p>
                      <a:r>
                        <a:rPr sz="1200" b="0">
                          <a:solidFill>
                            <a:srgbClr val="1B2733"/>
                          </a:solidFill>
                          <a:latin typeface="Arial"/>
                        </a:rPr>
                        <a:t>33.727</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r h="384048">
                <a:tc>
                  <a:txBody>
                    <a:bodyPr wrap="square"/>
                    <a:lstStyle/>
                    <a:p>
                      <a:r>
                        <a:rPr sz="1200" b="0">
                          <a:solidFill>
                            <a:srgbClr val="1B2733"/>
                          </a:solidFill>
                          <a:latin typeface="Arial"/>
                        </a:rPr>
                        <a:t>Silver train_targets</a:t>
                      </a:r>
                    </a:p>
                  </a:txBody>
                  <a:tcPr marL="73152" marR="73152" marT="27432" marB="27432" anchor="ctr">
                    <a:solidFill>
                      <a:srgbClr val="EAF0FA"/>
                    </a:solidFill>
                  </a:tcPr>
                </a:tc>
                <a:tc>
                  <a:txBody>
                    <a:bodyPr wrap="square"/>
                    <a:lstStyle/>
                    <a:p>
                      <a:r>
                        <a:rPr sz="1200" b="0">
                          <a:solidFill>
                            <a:srgbClr val="1B2733"/>
                          </a:solidFill>
                          <a:latin typeface="Arial"/>
                        </a:rPr>
                        <a:t>20.631</a:t>
                      </a:r>
                    </a:p>
                  </a:txBody>
                  <a:tcPr marL="73152" marR="73152" marT="27432" marB="27432" anchor="ctr">
                    <a:solidFill>
                      <a:srgbClr val="EAF0FA"/>
                    </a:solidFill>
                  </a:tcPr>
                </a:tc>
                <a:tc>
                  <a:txBody>
                    <a:bodyPr wrap="square"/>
                    <a:lstStyle/>
                    <a:p>
                      <a:r>
                        <a:rPr sz="1200" b="0">
                          <a:solidFill>
                            <a:srgbClr val="1B2733"/>
                          </a:solidFill>
                          <a:latin typeface="Arial"/>
                        </a:rPr>
                        <a:t>0</a:t>
                      </a:r>
                    </a:p>
                  </a:txBody>
                  <a:tcPr marL="73152" marR="73152" marT="27432" marB="27432" anchor="ctr">
                    <a:solidFill>
                      <a:srgbClr val="EAF0FA"/>
                    </a:solidFill>
                  </a:tcPr>
                </a:tc>
                <a:tc>
                  <a:txBody>
                    <a:bodyPr wrap="square"/>
                    <a:lstStyle/>
                    <a:p>
                      <a:r>
                        <a:rPr sz="1200" b="0">
                          <a:solidFill>
                            <a:srgbClr val="1B2733"/>
                          </a:solidFill>
                          <a:latin typeface="Arial"/>
                        </a:rPr>
                        <a:t>Khớp</a:t>
                      </a:r>
                    </a:p>
                  </a:txBody>
                  <a:tcPr marL="73152" marR="73152" marT="27432" marB="27432" anchor="ctr">
                    <a:solidFill>
                      <a:srgbClr val="EAF0FA"/>
                    </a:solidFill>
                  </a:tcPr>
                </a:tc>
              </a:tr>
              <a:tr h="384048">
                <a:tc>
                  <a:txBody>
                    <a:bodyPr wrap="square"/>
                    <a:lstStyle/>
                    <a:p>
                      <a:r>
                        <a:rPr sz="1200" b="0">
                          <a:solidFill>
                            <a:srgbClr val="1B2733"/>
                          </a:solidFill>
                          <a:latin typeface="Arial"/>
                        </a:rPr>
                        <a:t>Gold engine_summary</a:t>
                      </a:r>
                    </a:p>
                  </a:txBody>
                  <a:tcPr marL="73152" marR="73152" marT="27432" marB="27432" anchor="ctr">
                    <a:solidFill>
                      <a:srgbClr val="FFFFFF"/>
                    </a:solidFill>
                  </a:tcPr>
                </a:tc>
                <a:tc>
                  <a:txBody>
                    <a:bodyPr wrap="square"/>
                    <a:lstStyle/>
                    <a:p>
                      <a:r>
                        <a:rPr sz="1200" b="0">
                          <a:solidFill>
                            <a:srgbClr val="1B2733"/>
                          </a:solidFill>
                          <a:latin typeface="Arial"/>
                        </a:rPr>
                        <a:t>200</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r h="384048">
                <a:tc>
                  <a:txBody>
                    <a:bodyPr wrap="square"/>
                    <a:lstStyle/>
                    <a:p>
                      <a:r>
                        <a:rPr sz="1200" b="0">
                          <a:solidFill>
                            <a:srgbClr val="1B2733"/>
                          </a:solidFill>
                          <a:latin typeface="Arial"/>
                        </a:rPr>
                        <a:t>Gold · MapReduce trên HDFS</a:t>
                      </a:r>
                    </a:p>
                  </a:txBody>
                  <a:tcPr marL="73152" marR="73152" marT="27432" marB="27432" anchor="ctr">
                    <a:solidFill>
                      <a:srgbClr val="EAF0FA"/>
                    </a:solidFill>
                  </a:tcPr>
                </a:tc>
                <a:tc>
                  <a:txBody>
                    <a:bodyPr wrap="square"/>
                    <a:lstStyle/>
                    <a:p>
                      <a:r>
                        <a:rPr sz="1200" b="0">
                          <a:solidFill>
                            <a:srgbClr val="1B2733"/>
                          </a:solidFill>
                          <a:latin typeface="Arial"/>
                        </a:rPr>
                        <a:t>200</a:t>
                      </a:r>
                    </a:p>
                  </a:txBody>
                  <a:tcPr marL="73152" marR="73152" marT="27432" marB="27432" anchor="ctr">
                    <a:solidFill>
                      <a:srgbClr val="EAF0FA"/>
                    </a:solidFill>
                  </a:tcPr>
                </a:tc>
                <a:tc>
                  <a:txBody>
                    <a:bodyPr wrap="square"/>
                    <a:lstStyle/>
                    <a:p>
                      <a:r>
                        <a:rPr sz="1200" b="0">
                          <a:solidFill>
                            <a:srgbClr val="1B2733"/>
                          </a:solidFill>
                          <a:latin typeface="Arial"/>
                        </a:rPr>
                        <a:t>0</a:t>
                      </a:r>
                    </a:p>
                  </a:txBody>
                  <a:tcPr marL="73152" marR="73152" marT="27432" marB="27432" anchor="ctr">
                    <a:solidFill>
                      <a:srgbClr val="EAF0FA"/>
                    </a:solidFill>
                  </a:tcPr>
                </a:tc>
                <a:tc>
                  <a:txBody>
                    <a:bodyPr wrap="square"/>
                    <a:lstStyle/>
                    <a:p>
                      <a:r>
                        <a:rPr sz="1200" b="0">
                          <a:solidFill>
                            <a:srgbClr val="1B2733"/>
                          </a:solidFill>
                          <a:latin typeface="Arial"/>
                        </a:rPr>
                        <a:t>Khớp</a:t>
                      </a:r>
                    </a:p>
                  </a:txBody>
                  <a:tcPr marL="73152" marR="73152" marT="27432" marB="27432" anchor="ctr">
                    <a:solidFill>
                      <a:srgbClr val="EAF0FA"/>
                    </a:solidFill>
                  </a:tcPr>
                </a:tc>
              </a:tr>
              <a:tr h="384048">
                <a:tc>
                  <a:txBody>
                    <a:bodyPr wrap="square"/>
                    <a:lstStyle/>
                    <a:p>
                      <a:r>
                        <a:rPr sz="1200" b="0">
                          <a:solidFill>
                            <a:srgbClr val="1B2733"/>
                          </a:solidFill>
                          <a:latin typeface="Arial"/>
                        </a:rPr>
                        <a:t>Gold · Spark trên HDFS</a:t>
                      </a:r>
                    </a:p>
                  </a:txBody>
                  <a:tcPr marL="73152" marR="73152" marT="27432" marB="27432" anchor="ctr">
                    <a:solidFill>
                      <a:srgbClr val="FFFFFF"/>
                    </a:solidFill>
                  </a:tcPr>
                </a:tc>
                <a:tc>
                  <a:txBody>
                    <a:bodyPr wrap="square"/>
                    <a:lstStyle/>
                    <a:p>
                      <a:r>
                        <a:rPr sz="1200" b="0">
                          <a:solidFill>
                            <a:srgbClr val="1B2733"/>
                          </a:solidFill>
                          <a:latin typeface="Arial"/>
                        </a:rPr>
                        <a:t>200</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bl>
          </a:graphicData>
        </a:graphic>
      </p:graphicFrame>
      <p:sp>
        <p:nvSpPr>
          <p:cNvPr id="8" name="Rounded Rectangle 7"/>
          <p:cNvSpPr/>
          <p:nvPr/>
        </p:nvSpPr>
        <p:spPr>
          <a:xfrm>
            <a:off x="841248" y="4663440"/>
            <a:ext cx="557784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75488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Cụm Hadoop 3.4.3 một node trong Docker</a:t>
            </a:r>
          </a:p>
        </p:txBody>
      </p:sp>
      <p:sp>
        <p:nvSpPr>
          <p:cNvPr id="10" name="TextBox 9"/>
          <p:cNvSpPr txBox="1"/>
          <p:nvPr/>
        </p:nvSpPr>
        <p:spPr>
          <a:xfrm>
            <a:off x="1051560" y="5102352"/>
            <a:ext cx="5212080" cy="868680"/>
          </a:xfrm>
          <a:prstGeom prst="rect">
            <a:avLst/>
          </a:prstGeom>
          <a:noFill/>
        </p:spPr>
        <p:txBody>
          <a:bodyPr wrap="square" lIns="0" rIns="0" tIns="0" bIns="0" anchor="t"/>
          <a:lstStyle/>
          <a:p>
            <a:pPr algn="l">
              <a:spcAft>
                <a:spcPts val="0"/>
              </a:spcAft>
            </a:pPr>
            <a:r>
              <a:rPr sz="1250" b="0">
                <a:solidFill>
                  <a:srgbClr val="1B2733"/>
                </a:solidFill>
                <a:latin typeface="Arial"/>
              </a:rPr>
              <a:t>Raw lên HDFS; MapReduce trên YARN: 3 map, 1 reduce; Spark ghi Silver Parquet 33.727 dòng lên HDFS; fsck: HEALTHY.</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200" b="1">
                <a:solidFill>
                  <a:srgbClr val="21409A"/>
                </a:solidFill>
                <a:latin typeface="Arial"/>
              </a:rPr>
              <a:t>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dao động từ 128 đến 362 cycle; bảy cột không biến thiên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outputs/eda/figures/engine_lifetimes.png; outputs/eda/tables/constant_engine_counts.csv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60" cy="2297725"/>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hằng trên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50" b="0">
                <a:solidFill>
                  <a:srgbClr val="5A6B7B"/>
                </a:solidFill>
                <a:latin typeface="Arial"/>
              </a:rPr>
              <a:t>Khử nhiễu được áp dụng cho 14 sensor còn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outputs/degradation/figures/denoise_before_after.png;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39" cy="2563585"/>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Độ lệch chuẩn bước nhảy giữa hai cycle liền kề, trong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α = 2 / (span + 1) ≈ 0,18</a:t>
            </a:r>
          </a:p>
          <a:p>
            <a:pPr algn="l">
              <a:spcAft>
                <a:spcPts val="400"/>
              </a:spcAft>
            </a:pPr>
            <a:r>
              <a:rPr sz="1350" b="1">
                <a:solidFill>
                  <a:srgbClr val="21409A"/>
                </a:solidFill>
                <a:latin typeface="Arial"/>
              </a:rPr>
              <a:t>Vai trò: </a:t>
            </a:r>
            <a:r>
              <a:rPr sz="1350" b="0">
                <a:solidFill>
                  <a:srgbClr val="1B2733"/>
                </a:solidFill>
                <a:latin typeface="Arial"/>
              </a:rPr>
              <a:t>tín hiệu EWMA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nhân quả 30 cycle;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window: cycle 141–170</a:t>
            </a:r>
          </a:p>
        </p:txBody>
      </p:sp>
      <p:sp>
        <p:nvSpPr>
          <p:cNvPr id="49" name="TextBox 48"/>
          <p:cNvSpPr txBox="1"/>
          <p:nvPr/>
        </p:nvSpPr>
        <p:spPr>
          <a:xfrm>
            <a:off x="6281928" y="3063240"/>
            <a:ext cx="1508760" cy="274320"/>
          </a:xfrm>
          <a:prstGeom prst="rect">
            <a:avLst/>
          </a:prstGeom>
          <a:noFill/>
        </p:spPr>
        <p:txBody>
          <a:bodyPr wrap="square" lIns="0" rIns="0" tIns="0" bIns="0" anchor="t"/>
          <a:lstStyle/>
          <a:p>
            <a:pPr algn="r">
              <a:spcAft>
                <a:spcPts val="0"/>
              </a:spcAft>
            </a:pPr>
            <a:r>
              <a:rPr sz="1150" b="0">
                <a:solidFill>
                  <a:srgbClr val="5A6B7B"/>
                </a:solidFill>
                <a:latin typeface="Arial"/>
              </a:rPr>
              <a:t>171+: không sử dụng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window train · 10.196 window test · không padding 29 cycle đầu</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0">
                <a:solidFill>
                  <a:srgbClr val="FFFFFF"/>
                </a:solidFill>
                <a:latin typeface="Arial"/>
              </a:rPr>
              <a:t>• ETL chuẩn hóa schema và kiểu dữ liệu.</a:t>
            </a:r>
          </a:p>
          <a:p>
            <a:pPr algn="l">
              <a:spcAft>
                <a:spcPts val="800"/>
              </a:spcAft>
            </a:pPr>
            <a:r>
              <a:rPr sz="1300" b="0">
                <a:solidFill>
                  <a:srgbClr val="FFFFFF"/>
                </a:solidFill>
                <a:latin typeface="Arial"/>
              </a:rPr>
              <a:t>• StandardScaler fit trong training fold (Ridge) và trước PCA (Health Index).</a:t>
            </a:r>
          </a:p>
          <a:p>
            <a:pPr algn="l">
              <a:spcAft>
                <a:spcPts val="800"/>
              </a:spcAft>
            </a:pPr>
            <a:r>
              <a:rPr sz="1300" b="0">
                <a:solidFill>
                  <a:srgbClr val="FFFFFF"/>
                </a:solidFill>
                <a:latin typeface="Arial"/>
              </a:rPr>
              <a:t>• HGB dùng thang đo gốc do mô hình cây bất biến với phép biến đổi đơn điệu.</a:t>
            </a:r>
          </a:p>
          <a:p>
            <a:pPr algn="l">
              <a:spcAft>
                <a:spcPts val="800"/>
              </a:spcAft>
            </a:pPr>
            <a:r>
              <a:rPr sz="1300" b="0">
                <a:solidFill>
                  <a:srgbClr val="FFFFFF"/>
                </a:solidFill>
                <a:latin typeface="Arial"/>
              </a:rPr>
              <a:t>• Các thống kê trên cửa sổ có tác dụng làm trơn bổ sung.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cuối vòng đời (Wilcoxon, hiệu chỉnh FDR)</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outputs/eda/figures/sensor_trajectories_1.png;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703320" cy="1778568"/>
          </a:xfrm>
          <a:prstGeom prst="rect">
            <a:avLst/>
          </a:prstGeom>
        </p:spPr>
      </p:pic>
      <p:pic>
        <p:nvPicPr>
          <p:cNvPr id="8" name="Picture 7" descr="image.png"/>
          <p:cNvPicPr>
            <a:picLocks noChangeAspect="1"/>
          </p:cNvPicPr>
          <p:nvPr/>
        </p:nvPicPr>
        <p:blipFill>
          <a:blip r:embed="rId4"/>
          <a:stretch>
            <a:fillRect/>
          </a:stretch>
        </p:blipFill>
        <p:spPr>
          <a:xfrm>
            <a:off x="841248" y="4073712"/>
            <a:ext cx="3703320" cy="1820969"/>
          </a:xfrm>
          <a:prstGeom prst="rect">
            <a:avLst/>
          </a:prstGeom>
        </p:spPr>
      </p:pic>
      <p:sp>
        <p:nvSpPr>
          <p:cNvPr id="9" name="TextBox 8"/>
          <p:cNvSpPr txBox="1"/>
          <p:nvPr/>
        </p:nvSpPr>
        <p:spPr>
          <a:xfrm>
            <a:off x="841248" y="5833872"/>
            <a:ext cx="4023360" cy="228600"/>
          </a:xfrm>
          <a:prstGeom prst="rect">
            <a:avLst/>
          </a:prstGeom>
          <a:noFill/>
        </p:spPr>
        <p:txBody>
          <a:bodyPr wrap="square" lIns="0" rIns="0" tIns="0" bIns="0" anchor="t"/>
          <a:lstStyle/>
          <a:p>
            <a:pPr algn="l">
              <a:spcAft>
                <a:spcPts val="0"/>
              </a:spcAft>
            </a:pPr>
            <a:r>
              <a:rPr sz="1000" b="0">
                <a:solidFill>
                  <a:srgbClr val="5A6B7B"/>
                </a:solidFill>
                <a:latin typeface="Arial"/>
              </a:rPr>
              <a:t>Động cơ 87 (178 cycle), 26 (199), 75 (229); giá trị gốc.</a:t>
            </a:r>
          </a:p>
        </p:txBody>
      </p:sp>
      <p:sp>
        <p:nvSpPr>
          <p:cNvPr id="10" name="Oval 9"/>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2" name="TextBox 11"/>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3" name="TextBox 12"/>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4" name="Oval 13"/>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6" name="TextBox 15"/>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7" name="TextBox 16"/>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8" name="Oval 17"/>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20" name="TextBox 19"/>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đa kiểm định</a:t>
            </a:r>
          </a:p>
        </p:txBody>
      </p:sp>
      <p:sp>
        <p:nvSpPr>
          <p:cNvPr id="21" name="TextBox 20"/>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trên 21 sensor, q = 0,05</a:t>
            </a:r>
          </a:p>
        </p:txBody>
      </p:sp>
      <p:sp>
        <p:nvSpPr>
          <p:cNvPr id="22" name="Rounded Rectangle 21"/>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4" name="TextBox 23"/>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 (q = 0,05)</a:t>
            </a:r>
          </a:p>
        </p:txBody>
      </p:sp>
      <p:sp>
        <p:nvSpPr>
          <p:cNvPr id="25" name="Rounded Rectangle 24"/>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800600"/>
            <a:ext cx="2971800" cy="1143000"/>
          </a:xfrm>
          <a:prstGeom prst="rect">
            <a:avLst/>
          </a:prstGeom>
          <a:noFill/>
        </p:spPr>
        <p:txBody>
          <a:bodyPr wrap="square" lIns="0" rIns="0" tIns="0" bIns="0" anchor="ctr"/>
          <a:lstStyle/>
          <a:p>
            <a:pPr algn="l">
              <a:spcAft>
                <a:spcPts val="0"/>
              </a:spcAft>
            </a:pPr>
            <a:r>
              <a:rPr sz="1250" b="0">
                <a:solidFill>
                  <a:srgbClr val="1B2733"/>
                </a:solidFill>
                <a:latin typeface="Arial"/>
              </a:rPr>
              <a:t>Sensor 4, 7, 11, 12, 20 thay đổi cùng chiều ở 100/100 động cơ; 6 sensor hằng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trung vị 121 cycle trước hỏng hóc</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outputs/degradation/figures/anomaly_health_index.png;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750275"/>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được phát hiện trước hỏng hóc</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phát hiện trước hỏng hóc (trung vị); IQR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tại thời điểm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Độ nhạy: với 9 cấu hình (2/3/4σ × 3/5/10 cycle), quy tắc đều phát hiện 100/100 động cơ, lead time nhỏ nhất ≥ 50 cycle. Không khử nhiễu: trung vị còn 72,5 cycle. Giới hạn: chưa ước lượng được tỷ lệ dương tính giả do thiếu nhãn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lựa chọn bằng GroupKFold 5 fold theo động cơ; MAE trên tập kiểm tra: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outputs/modeling/tables/{model_metrics.csv,final_metrics.json}; figures/final_true_vs_predicted.png</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743200"/>
                <a:gridCol w="1097280"/>
                <a:gridCol w="13716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a:t>
                      </a:r>
                    </a:p>
                  </a:txBody>
                  <a:tcPr marL="73152" marR="73152" marT="27432" marB="27432" anchor="ctr">
                    <a:solidFill>
                      <a:srgbClr val="21409A"/>
                    </a:solidFill>
                  </a:tcPr>
                </a:tc>
              </a:tr>
              <a:tr h="384048">
                <a:tc>
                  <a:txBody>
                    <a:bodyPr wrap="square"/>
                    <a:lstStyle/>
                    <a:p>
                      <a:r>
                        <a:rPr sz="1250" b="0">
                          <a:solidFill>
                            <a:srgbClr val="1B2733"/>
                          </a:solidFill>
                          <a:latin typeface="Arial"/>
                        </a:rPr>
                        <a:t>Median baseline</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CI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ước lượng cao</a:t>
            </a:r>
          </a:p>
        </p:txBody>
      </p:sp>
      <p:pic>
        <p:nvPicPr>
          <p:cNvPr id="20" name="Picture 19" descr="image.png"/>
          <p:cNvPicPr>
            <a:picLocks noChangeAspect="1"/>
          </p:cNvPicPr>
          <p:nvPr/>
        </p:nvPicPr>
        <p:blipFill>
          <a:blip r:embed="rId3"/>
          <a:stretch>
            <a:fillRect/>
          </a:stretch>
        </p:blipFill>
        <p:spPr>
          <a:xfrm>
            <a:off x="6355080" y="2328454"/>
            <a:ext cx="5001768" cy="357269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giảm khi RUL nhỏ; mô hình có xu hướng ước lượng cao, tương ứng với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outputs/modeling/figures/final_residuals_by_rul.png;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248655" cy="3749039"/>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Phân bố dấu của sai số (100 động cơ kiểm tra)</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2377440" cy="502920"/>
          </a:xfrm>
          <a:prstGeom prst="rect">
            <a:avLst/>
          </a:prstGeom>
          <a:noFill/>
        </p:spPr>
        <p:txBody>
          <a:bodyPr wrap="square" lIns="0" rIns="0" tIns="0" bIns="0" anchor="ctr"/>
          <a:lstStyle/>
          <a:p>
            <a:pPr algn="l">
              <a:spcAft>
                <a:spcPts val="0"/>
              </a:spcAft>
            </a:pPr>
            <a:r>
              <a:rPr sz="1400" b="1">
                <a:solidFill>
                  <a:srgbClr val="1B2733"/>
                </a:solidFill>
                <a:latin typeface="Arial"/>
              </a:rPr>
              <a:t>74 ước lượng cao</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thật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300" b="1">
                <a:solidFill>
                  <a:srgbClr val="21409A"/>
                </a:solidFill>
                <a:latin typeface="Arial"/>
              </a:rPr>
              <a:t>MAE 4,38 cycle khi RUL thật ≤ 30. Mười sai số lớn nhất chiếm 75,5%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 30: không bỏ sót động cơ, lead time trung vị 30 cycle; 49% cảnh báo muộn so với ngưỡng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outputs/modeling/figures/warning_trajectory.png;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66122"/>
          </a:xfrm>
          <a:prstGeom prst="rect">
            <a:avLst/>
          </a:prstGeom>
        </p:spPr>
      </p:pic>
      <p:sp>
        <p:nvSpPr>
          <p:cNvPr id="8" name="TextBox 7"/>
          <p:cNvSpPr txBox="1"/>
          <p:nvPr/>
        </p:nvSpPr>
        <p:spPr>
          <a:xfrm>
            <a:off x="841248" y="5561266"/>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hóc tại cycle 192.</a:t>
            </a:r>
          </a:p>
        </p:txBody>
      </p:sp>
      <p:graphicFrame>
        <p:nvGraphicFramePr>
          <p:cNvPr id="9" name="Table 8"/>
          <p:cNvGraphicFramePr>
            <a:graphicFrameLocks noGrp="1"/>
          </p:cNvGraphicFramePr>
          <p:nvPr/>
        </p:nvGraphicFramePr>
        <p:xfrm>
          <a:off x="6949440" y="2286000"/>
          <a:ext cx="4407408" cy="1152144"/>
        </p:xfrm>
        <a:graphic>
          <a:graphicData uri="http://schemas.openxmlformats.org/drawingml/2006/table">
            <a:tbl>
              <a:tblPr firstRow="1" bandRow="1">
                <a:tableStyleId>{5C22544A-7EE6-4342-B048-85BDC9FD1C3A}</a:tableStyleId>
              </a:tblPr>
              <a:tblGrid>
                <a:gridCol w="1280160"/>
                <a:gridCol w="1005840"/>
                <a:gridCol w="868680"/>
                <a:gridCol w="1252728"/>
              </a:tblGrid>
              <a:tr h="384048">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sớm</a:t>
                      </a:r>
                    </a:p>
                  </a:txBody>
                  <a:tcPr marL="73152" marR="73152" marT="27432" marB="27432" anchor="ctr">
                    <a:solidFill>
                      <a:srgbClr val="21409A"/>
                    </a:solidFill>
                  </a:tcPr>
                </a:tc>
              </a:tr>
              <a:tr h="384048">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84048">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0" name="TextBox 9"/>
          <p:cNvSpPr txBox="1"/>
          <p:nvPr/>
        </p:nvSpPr>
        <p:spPr>
          <a:xfrm>
            <a:off x="6949440" y="3493008"/>
            <a:ext cx="4407408" cy="411480"/>
          </a:xfrm>
          <a:prstGeom prst="rect">
            <a:avLst/>
          </a:prstGeom>
          <a:noFill/>
        </p:spPr>
        <p:txBody>
          <a:bodyPr wrap="square" lIns="0" rIns="0" tIns="0" bIns="0" anchor="t"/>
          <a:lstStyle/>
          <a:p>
            <a:pPr algn="l">
              <a:spcAft>
                <a:spcPts val="0"/>
              </a:spcAft>
            </a:pPr>
            <a:r>
              <a:rPr sz="1050" b="0">
                <a:solidFill>
                  <a:srgbClr val="5A6B7B"/>
                </a:solidFill>
                <a:latin typeface="Arial"/>
              </a:rPr>
              <a:t>Kịp thời: lead time ≥ 30 cycle. Báo sớm: tỷ lệ cycle có cảnh báo khi RUL thực tế lớn hơn 30.</a:t>
            </a:r>
          </a:p>
        </p:txBody>
      </p:sp>
      <p:sp>
        <p:nvSpPr>
          <p:cNvPr id="11" name="Rounded Rectangle 10"/>
          <p:cNvSpPr/>
          <p:nvPr/>
        </p:nvSpPr>
        <p:spPr>
          <a:xfrm>
            <a:off x="6949440" y="4023360"/>
            <a:ext cx="4407408" cy="19659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50608" y="411480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3" name="Rounded Rectangle 12"/>
          <p:cNvSpPr/>
          <p:nvPr/>
        </p:nvSpPr>
        <p:spPr>
          <a:xfrm>
            <a:off x="7150608" y="4526280"/>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50608" y="4526280"/>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5" name="TextBox 14"/>
          <p:cNvSpPr txBox="1"/>
          <p:nvPr/>
        </p:nvSpPr>
        <p:spPr>
          <a:xfrm>
            <a:off x="8138160" y="45262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6" name="Rounded Rectangle 15"/>
          <p:cNvSpPr/>
          <p:nvPr/>
        </p:nvSpPr>
        <p:spPr>
          <a:xfrm>
            <a:off x="7150608" y="4983480"/>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0608" y="49834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8" name="TextBox 17"/>
          <p:cNvSpPr txBox="1"/>
          <p:nvPr/>
        </p:nvSpPr>
        <p:spPr>
          <a:xfrm>
            <a:off x="8138160" y="49834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19" name="Rounded Rectangle 18"/>
          <p:cNvSpPr/>
          <p:nvPr/>
        </p:nvSpPr>
        <p:spPr>
          <a:xfrm>
            <a:off x="7150608" y="5440680"/>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50608" y="54406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1" name="TextBox 20"/>
          <p:cNvSpPr txBox="1"/>
          <p:nvPr/>
        </p:nvSpPr>
        <p:spPr>
          <a:xfrm>
            <a:off x="8138160" y="54406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 hóc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mức cần bảo trì có RUL thực tế ≤ 30; không có trường hợp dương tính giả</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80" cy="2534801"/>
          </a:xfrm>
          <a:prstGeom prst="rect">
            <a:avLst/>
          </a:prstGeom>
        </p:spPr>
      </p:pic>
      <p:sp>
        <p:nvSpPr>
          <p:cNvPr id="8" name="Rounded Rectangle 7"/>
          <p:cNvSpPr/>
          <p:nvPr/>
        </p:nvSpPr>
        <p:spPr>
          <a:xfrm>
            <a:off x="841248" y="4937760"/>
            <a:ext cx="2148840" cy="1051560"/>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001768"/>
            <a:ext cx="1828800" cy="502920"/>
          </a:xfrm>
          <a:prstGeom prst="rect">
            <a:avLst/>
          </a:prstGeom>
          <a:noFill/>
        </p:spPr>
        <p:txBody>
          <a:bodyPr wrap="square" lIns="0" rIns="0" tIns="0" bIns="0" anchor="t"/>
          <a:lstStyle/>
          <a:p>
            <a:pPr algn="l">
              <a:spcAft>
                <a:spcPts val="0"/>
              </a:spcAft>
            </a:pPr>
            <a:r>
              <a:rPr sz="2600" b="1">
                <a:solidFill>
                  <a:srgbClr val="1B2733"/>
                </a:solidFill>
                <a:latin typeface="Arial"/>
              </a:rPr>
              <a:t>21</a:t>
            </a:r>
          </a:p>
        </p:txBody>
      </p:sp>
      <p:sp>
        <p:nvSpPr>
          <p:cNvPr id="10" name="TextBox 9"/>
          <p:cNvSpPr txBox="1"/>
          <p:nvPr/>
        </p:nvSpPr>
        <p:spPr>
          <a:xfrm>
            <a:off x="1005840" y="5504688"/>
            <a:ext cx="1874519" cy="411480"/>
          </a:xfrm>
          <a:prstGeom prst="rect">
            <a:avLst/>
          </a:prstGeom>
          <a:noFill/>
        </p:spPr>
        <p:txBody>
          <a:bodyPr wrap="square" lIns="0" rIns="0" tIns="0" bIns="0" anchor="t"/>
          <a:lstStyle/>
          <a:p>
            <a:pPr algn="l">
              <a:spcAft>
                <a:spcPts val="0"/>
              </a:spcAft>
            </a:pPr>
            <a:r>
              <a:rPr sz="1150" b="0">
                <a:solidFill>
                  <a:srgbClr val="1B2733"/>
                </a:solidFill>
                <a:latin typeface="Arial"/>
              </a:rPr>
              <a:t>cần bảo trì ngay</a:t>
            </a:r>
          </a:p>
        </p:txBody>
      </p:sp>
      <p:sp>
        <p:nvSpPr>
          <p:cNvPr id="11" name="Rounded Rectangle 10"/>
          <p:cNvSpPr/>
          <p:nvPr/>
        </p:nvSpPr>
        <p:spPr>
          <a:xfrm>
            <a:off x="3127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14</a:t>
            </a:r>
          </a:p>
        </p:txBody>
      </p:sp>
      <p:sp>
        <p:nvSpPr>
          <p:cNvPr id="13" name="TextBox 12"/>
          <p:cNvSpPr txBox="1"/>
          <p:nvPr/>
        </p:nvSpPr>
        <p:spPr>
          <a:xfrm>
            <a:off x="3291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1–25 cycle tới</a:t>
            </a:r>
          </a:p>
        </p:txBody>
      </p:sp>
      <p:sp>
        <p:nvSpPr>
          <p:cNvPr id="14" name="Rounded Rectangle 13"/>
          <p:cNvSpPr/>
          <p:nvPr/>
        </p:nvSpPr>
        <p:spPr>
          <a:xfrm>
            <a:off x="5413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8</a:t>
            </a:r>
          </a:p>
        </p:txBody>
      </p:sp>
      <p:sp>
        <p:nvSpPr>
          <p:cNvPr id="16" name="TextBox 15"/>
          <p:cNvSpPr txBox="1"/>
          <p:nvPr/>
        </p:nvSpPr>
        <p:spPr>
          <a:xfrm>
            <a:off x="5577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26–50 cycle</a:t>
            </a:r>
          </a:p>
        </p:txBody>
      </p:sp>
      <p:sp>
        <p:nvSpPr>
          <p:cNvPr id="17" name="TextBox 16"/>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8" name="Table 17"/>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9" name="Rounded Rectangle 18"/>
          <p:cNvSpPr/>
          <p:nvPr/>
        </p:nvSpPr>
        <p:spPr>
          <a:xfrm>
            <a:off x="7909560" y="4434840"/>
            <a:ext cx="3447288" cy="15544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4526280"/>
            <a:ext cx="3108960" cy="1417320"/>
          </a:xfrm>
          <a:prstGeom prst="rect">
            <a:avLst/>
          </a:prstGeom>
          <a:noFill/>
        </p:spPr>
        <p:txBody>
          <a:bodyPr wrap="square" lIns="0" rIns="0" tIns="0" bIns="0" anchor="t"/>
          <a:lstStyle/>
          <a:p>
            <a:pPr algn="l">
              <a:spcAft>
                <a:spcPts val="600"/>
              </a:spcAft>
            </a:pPr>
            <a:r>
              <a:rPr sz="2200" b="1">
                <a:solidFill>
                  <a:srgbClr val="FCB525"/>
                </a:solidFill>
                <a:latin typeface="Arial"/>
              </a:rPr>
              <a:t>21/25</a:t>
            </a:r>
            <a:r>
              <a:rPr sz="1200" b="0">
                <a:solidFill>
                  <a:srgbClr val="FFFFFF"/>
                </a:solidFill>
                <a:latin typeface="Arial"/>
              </a:rPr>
              <a:t>  động cơ có RUL thực tế ≤ 30 được xếp mức cần bảo trì</a:t>
            </a:r>
          </a:p>
          <a:p>
            <a:pPr algn="l">
              <a:spcAft>
                <a:spcPts val="600"/>
              </a:spcAft>
            </a:pPr>
            <a:r>
              <a:rPr sz="1200" b="0">
                <a:solidFill>
                  <a:srgbClr val="C9D6F0"/>
                </a:solidFill>
                <a:latin typeface="Arial"/>
              </a:rPr>
              <a:t>4 trường hợp còn lại được xếp đến hạn sau 1–8 cycle, ở mức theo dõi tăng cường.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Khả năng tổng quát hóa sang FD002–FD004 (cửa sổ 10 cycle) và các phương án cải tiến; kết luận chính không đổi</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window,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Quy trình lựa chọn hội tụ về cấu hình gốc; số cảnh báo muộn 49 →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42 đặc trưng lịch sử (169 đặc trưng)</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OOF 20,21 → 17,00; tỷ lệ cảnh báo kịp thời (ngưỡng 30) giảm 51% →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phương pháp drift; vượt trội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giới hạn trong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Pandas và PySpark trùng khớp; PySpark nhanh hơn ~3,4× ở quy mô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Khử nhiễu, window</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 dao động sau EWMA; 126 đặc trưng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động cơ được phát hiện, trung vị 121 cycle trước hỏng hóc</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MAE trên tập kiểm tra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dự báo cần bảo trì chính xác; không bỏ sót; lead time trung vị 30 cycle</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từng động cơ, kèm biểu đồ xu hướng cảnh báo sớm.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3017520"/>
        </p:xfrm>
        <a:graphic>
          <a:graphicData uri="http://schemas.openxmlformats.org/drawingml/2006/table">
            <a:tbl>
              <a:tblPr firstRow="1" bandRow="1">
                <a:tableStyleId>{5C22544A-7EE6-4342-B048-85BDC9FD1C3A}</a:tableStyleId>
              </a:tblPr>
              <a:tblGrid>
                <a:gridCol w="2468880"/>
                <a:gridCol w="3931920"/>
                <a:gridCol w="4114800"/>
              </a:tblGrid>
              <a:tr h="603504">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603504">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tham chiếu</a:t>
                      </a:r>
                    </a:p>
                  </a:txBody>
                  <a:tcPr marL="73152" marR="73152" marT="27432" marB="27432" anchor="ctr">
                    <a:solidFill>
                      <a:srgbClr val="FFFFFF"/>
                    </a:solidFill>
                  </a:tcPr>
                </a:tc>
                <a:tc>
                  <a:txBody>
                    <a:bodyPr wrap="square"/>
                    <a:lstStyle/>
                    <a:p>
                      <a:r>
                        <a:rPr sz="1200" b="0">
                          <a:solidFill>
                            <a:srgbClr val="1B2733"/>
                          </a:solidFill>
                          <a:latin typeface="Arial"/>
                        </a:rPr>
                        <a:t>Xác định rõ trạng thái tham chiếu; nêu rõ phần chưa kiểm chứng được</a:t>
                      </a:r>
                    </a:p>
                  </a:txBody>
                  <a:tcPr marL="73152" marR="73152" marT="27432" marB="27432" anchor="ctr">
                    <a:solidFill>
                      <a:srgbClr val="FFFFFF"/>
                    </a:solidFill>
                  </a:tcPr>
                </a:tc>
              </a:tr>
              <a:tr h="603504">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window,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Với dữ liệu chuỗi thời gian, đơn vị phân chia là thực thể, không phải bản ghi</a:t>
                      </a:r>
                    </a:p>
                  </a:txBody>
                  <a:tcPr marL="73152" marR="73152" marT="27432" marB="27432" anchor="ctr">
                    <a:solidFill>
                      <a:srgbClr val="EAF0FA"/>
                    </a:solidFill>
                  </a:tcPr>
                </a:tc>
              </a:tr>
              <a:tr h="603504">
                <a:tc>
                  <a:txBody>
                    <a:bodyPr wrap="square"/>
                    <a:lstStyle/>
                    <a:p>
                      <a:r>
                        <a:rPr sz="1200" b="0">
                          <a:solidFill>
                            <a:srgbClr val="1B2733"/>
                          </a:solidFill>
                          <a:latin typeface="Arial"/>
                        </a:rPr>
                        <a:t>Hạ tầng: PySpark trên Windows, Hadoop trong Docker</a:t>
                      </a:r>
                    </a:p>
                  </a:txBody>
                  <a:tcPr marL="73152" marR="73152" marT="27432" marB="27432" anchor="ctr">
                    <a:solidFill>
                      <a:srgbClr val="FFFFFF"/>
                    </a:solidFill>
                  </a:tcPr>
                </a:tc>
                <a:tc>
                  <a:txBody>
                    <a:bodyPr wrap="square"/>
                    <a:lstStyle/>
                    <a:p>
                      <a:r>
                        <a:rPr sz="1200" b="0">
                          <a:solidFill>
                            <a:srgbClr val="1B2733"/>
                          </a:solidFill>
                          <a:latin typeface="Arial"/>
                        </a:rPr>
                        <a:t>Ghi qua Arrow; dùng image Hadoop có Python; đặt replication 1 cho Spark</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triển khai; kiểm tra HDFS bằng fsck sau khi ghi</a:t>
                      </a:r>
                    </a:p>
                  </a:txBody>
                  <a:tcPr marL="73152" marR="73152" marT="27432" marB="27432" anchor="ctr">
                    <a:solidFill>
                      <a:srgbClr val="FFFFFF"/>
                    </a:solidFill>
                  </a:tcPr>
                </a:tc>
              </a:tr>
              <a:tr h="603504">
                <a:tc>
                  <a:txBody>
                    <a:bodyPr wrap="square"/>
                    <a:lstStyle/>
                    <a:p>
                      <a:r>
                        <a:rPr sz="1200" b="0">
                          <a:solidFill>
                            <a:srgbClr val="1B2733"/>
                          </a:solidFill>
                          <a:latin typeface="Arial"/>
                        </a:rPr>
                        <a:t>Nguy cơ tập trung quá mức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Tính đúng đắn của pipeline và khả năng diễn giải cảnh báo được ưu tiên hơn mức giảm nhỏ của MAE</a:t>
                      </a:r>
                    </a:p>
                  </a:txBody>
                  <a:tcPr marL="73152" marR="73152" marT="27432" marB="27432" anchor="ctr">
                    <a:solidFill>
                      <a:srgbClr val="EAF0FA"/>
                    </a:solidFill>
                  </a:tcPr>
                </a:tc>
              </a:tr>
            </a:tbl>
          </a:graphicData>
        </a:graphic>
      </p:graphicFrame>
      <p:sp>
        <p:nvSpPr>
          <p:cNvPr id="8" name="Rounded Rectangle 7"/>
          <p:cNvSpPr/>
          <p:nvPr/>
        </p:nvSpPr>
        <p:spPr>
          <a:xfrm>
            <a:off x="841248" y="5440680"/>
            <a:ext cx="10515600"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440680"/>
            <a:ext cx="10104120" cy="548640"/>
          </a:xfrm>
          <a:prstGeom prst="rect">
            <a:avLst/>
          </a:prstGeom>
          <a:noFill/>
        </p:spPr>
        <p:txBody>
          <a:bodyPr wrap="square" lIns="0" rIns="0" tIns="0" bIns="0" anchor="ctr"/>
          <a:lstStyle/>
          <a:p>
            <a:pPr algn="l">
              <a:spcAft>
                <a:spcPts val="0"/>
              </a:spcAft>
            </a:pPr>
            <a:r>
              <a:rPr sz="1250" b="1">
                <a:solidFill>
                  <a:srgbClr val="21409A"/>
                </a:solidFill>
                <a:latin typeface="Arial"/>
              </a:rPr>
              <a:t>Giới hạn: </a:t>
            </a:r>
            <a:r>
              <a:rPr sz="1250" b="0">
                <a:solidFill>
                  <a:srgbClr val="1B2733"/>
                </a:solidFill>
                <a:latin typeface="Arial"/>
              </a:rPr>
              <a:t>dữ liệu mô phỏng; chưa có dữ liệu chi phí để tối ưu ngưỡng cảnh báo; Hadoop và Spark chạy trên một máy, chưa triển khai cluster nhiều node hay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