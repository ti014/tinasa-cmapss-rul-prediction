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3d83d442f94e33" /><Relationship Type="http://schemas.openxmlformats.org/officeDocument/2006/relationships/extended-properties" Target="/docProps/app.xml" Id="Ree78ab201b4147a8" /><Relationship Type="http://schemas.openxmlformats.org/officeDocument/2006/relationships/officeDocument" Target="/ppt/presentation.xml" Id="R2ba4e8f70a4443a4" /></Relationships>
</file>

<file path=ppt/presentation.xml><?xml version="1.0" encoding="utf-8"?>
<p:presentation xmlns:p="http://schemas.openxmlformats.org/presentationml/2006/main">
  <p:sldMasterIdLst>
    <p:sldMasterId xmlns:r="http://schemas.openxmlformats.org/officeDocument/2006/relationships" id="2147483648" r:id="R6d83ffc9427b4609"/>
  </p:sldMasterIdLst>
  <p:notesMasterIdLst>
    <p:notesMasterId xmlns:r="http://schemas.openxmlformats.org/officeDocument/2006/relationships" r:id="R368d7bcfbc84409f"/>
  </p:notesMasterIdLst>
  <p:sldIdLst>
    <p:sldId xmlns:r="http://schemas.openxmlformats.org/officeDocument/2006/relationships" id="256" r:id="Rd54d077314004da9"/>
    <p:sldId xmlns:r="http://schemas.openxmlformats.org/officeDocument/2006/relationships" id="257" r:id="R4cee36f90df044d6"/>
    <p:sldId xmlns:r="http://schemas.openxmlformats.org/officeDocument/2006/relationships" id="258" r:id="R3dfba38464034b63"/>
    <p:sldId xmlns:r="http://schemas.openxmlformats.org/officeDocument/2006/relationships" id="259" r:id="R9bb64f180be94731"/>
    <p:sldId xmlns:r="http://schemas.openxmlformats.org/officeDocument/2006/relationships" id="260" r:id="R03cad2d5ee94493d"/>
    <p:sldId xmlns:r="http://schemas.openxmlformats.org/officeDocument/2006/relationships" id="261" r:id="Rb8835c3056bf4248"/>
    <p:sldId xmlns:r="http://schemas.openxmlformats.org/officeDocument/2006/relationships" id="262" r:id="Rf1518297c5514d9b"/>
    <p:sldId xmlns:r="http://schemas.openxmlformats.org/officeDocument/2006/relationships" id="263" r:id="R961749b9b4724fb3"/>
    <p:sldId xmlns:r="http://schemas.openxmlformats.org/officeDocument/2006/relationships" id="264" r:id="Rb2fa93c3a71f4e8b"/>
    <p:sldId xmlns:r="http://schemas.openxmlformats.org/officeDocument/2006/relationships" id="265" r:id="R4e763877e33542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f148300fec4a29" /><Relationship Type="http://schemas.openxmlformats.org/officeDocument/2006/relationships/slideMaster" Target="/ppt/slideMasters/slideMaster1.xml" Id="R6d83ffc9427b4609" /><Relationship Type="http://schemas.openxmlformats.org/officeDocument/2006/relationships/notesMaster" Target="/ppt/notesMasters/notesMaster1.xml" Id="R368d7bcfbc84409f" /><Relationship Type="http://schemas.openxmlformats.org/officeDocument/2006/relationships/presProps" Target="/ppt/presProps.xml" Id="Rae1c67b25b064450" /><Relationship Type="http://schemas.openxmlformats.org/officeDocument/2006/relationships/tableStyles" Target="/ppt/tableStyles.xml" Id="R6116a316ddeb4beb" /><Relationship Type="http://schemas.openxmlformats.org/officeDocument/2006/relationships/slide" Target="/ppt/slides/slide1.xml" Id="Rd54d077314004da9" /><Relationship Type="http://schemas.openxmlformats.org/officeDocument/2006/relationships/slide" Target="/ppt/slides/slide2.xml" Id="R4cee36f90df044d6" /><Relationship Type="http://schemas.openxmlformats.org/officeDocument/2006/relationships/slide" Target="/ppt/slides/slide3.xml" Id="R3dfba38464034b63" /><Relationship Type="http://schemas.openxmlformats.org/officeDocument/2006/relationships/slide" Target="/ppt/slides/slide4.xml" Id="R9bb64f180be94731" /><Relationship Type="http://schemas.openxmlformats.org/officeDocument/2006/relationships/slide" Target="/ppt/slides/slide5.xml" Id="R03cad2d5ee94493d" /><Relationship Type="http://schemas.openxmlformats.org/officeDocument/2006/relationships/slide" Target="/ppt/slides/slide6.xml" Id="Rb8835c3056bf4248" /><Relationship Type="http://schemas.openxmlformats.org/officeDocument/2006/relationships/slide" Target="/ppt/slides/slide7.xml" Id="Rf1518297c5514d9b" /><Relationship Type="http://schemas.openxmlformats.org/officeDocument/2006/relationships/slide" Target="/ppt/slides/slide8.xml" Id="R961749b9b4724fb3" /><Relationship Type="http://schemas.openxmlformats.org/officeDocument/2006/relationships/slide" Target="/ppt/slides/slide9.xml" Id="Rb2fa93c3a71f4e8b" /><Relationship Type="http://schemas.openxmlformats.org/officeDocument/2006/relationships/slide" Target="/ppt/slides/slide10.xml" Id="R4e763877e33542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c76abbb46d45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83a593f07d4639" /><Relationship Type="http://schemas.openxmlformats.org/officeDocument/2006/relationships/notesMaster" Target="/ppt/notesMasters/notesMaster1.xml" Id="Rc0047e7e14b841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591e8b10ec495d" /><Relationship Type="http://schemas.openxmlformats.org/officeDocument/2006/relationships/notesMaster" Target="/ppt/notesMasters/notesMaster1.xml" Id="Rd306d77657fc4d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8f933d9de14c93" /><Relationship Type="http://schemas.openxmlformats.org/officeDocument/2006/relationships/notesMaster" Target="/ppt/notesMasters/notesMaster1.xml" Id="R2b812960fb414b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72c92efa604d74" /><Relationship Type="http://schemas.openxmlformats.org/officeDocument/2006/relationships/notesMaster" Target="/ppt/notesMasters/notesMaster1.xml" Id="R3829e7c6a6d441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f7d7ddae3f49b0" /><Relationship Type="http://schemas.openxmlformats.org/officeDocument/2006/relationships/notesMaster" Target="/ppt/notesMasters/notesMaster1.xml" Id="Rb030ae54752c48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992d3a058e4d25" /><Relationship Type="http://schemas.openxmlformats.org/officeDocument/2006/relationships/notesMaster" Target="/ppt/notesMasters/notesMaster1.xml" Id="R40c4776ef4ad41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c82e841da14582" /><Relationship Type="http://schemas.openxmlformats.org/officeDocument/2006/relationships/notesMaster" Target="/ppt/notesMasters/notesMaster1.xml" Id="Rbadbfe85a6bd4c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65d753de344848" /><Relationship Type="http://schemas.openxmlformats.org/officeDocument/2006/relationships/notesMaster" Target="/ppt/notesMasters/notesMaster1.xml" Id="Rc98e16f7abe94a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59f8072f244a05" /><Relationship Type="http://schemas.openxmlformats.org/officeDocument/2006/relationships/notesMaster" Target="/ppt/notesMasters/notesMaster1.xml" Id="R898fdca0bdf14e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2b73f089a64f35" /><Relationship Type="http://schemas.openxmlformats.org/officeDocument/2006/relationships/notesMaster" Target="/ppt/notesMasters/notesMaster1.xml" Id="Re13941c658f447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report/main.pdf, outputs/modeling/tables/final_metrics.json. Deck chỉ sử dụng kết quả đã kiểm chứng trong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outputs/etl/run_info.json, outputs/features/run_info.json, data/CONTRACTS.md và report/sections/problem-data.tex.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data/CONTRACTS.md; outputs/etl, outputs/features, outputs/modeling, outputs/timeseries; tmp/e2e-repro-final2/validation.json.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outputs/eda/figures/engine_lifetimes.png; outputs/statistics/figures/effect_size_ci.png; outputs/statistics/tables/sensor_inference.csv; report/sections/statistical-protocol.tex.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outputs/features/run_info.json; src/cmapss/features; outputs/modeling/run_info.json; data/CONTRACTS.md.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outputs/modeling/tables/model_metrics.csv; outputs/modeling/tables/fold_metrics.csv; outputs/modeling/run_info.json.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outputs/modeling/tables/final_metrics.json; outputs/modeling/figures/final_true_vs_predicted.png; outputs/modeling/figures/final_residuals_by_rul.png.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outputs/timeseries/run_info.json; outputs/timeseries/tables/forecast_metrics.csv; outputs/timeseries/tables/diagnostics.csv; report/sections/theory.tex.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tmp/e2e-repro-final2/validation.json; report/evidence/report-checks.txt; app.py;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data/CONTRACTS.md; README.md; report/sections/discussion.tex; docs/handoff/FINAL_HANDOFF.md.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641399623446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4927f324fe48b4" /><Relationship Type="http://schemas.openxmlformats.org/officeDocument/2006/relationships/slideLayout" Target="/ppt/slideLayouts/slideLayout1.xml" Id="Ra79e704efcf343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9e704efcf343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8ec6891ae14107" /><Relationship Type="http://schemas.openxmlformats.org/officeDocument/2006/relationships/notesSlide" Target="/ppt/notesSlides/notesSlide1.xml" Id="R72f2699438e046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0c758e42ab4080" /><Relationship Type="http://schemas.openxmlformats.org/officeDocument/2006/relationships/notesSlide" Target="/ppt/notesSlides/notesSlide2.xml" Id="Rd10ae7fda86543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edaa20d8014007" /><Relationship Type="http://schemas.openxmlformats.org/officeDocument/2006/relationships/notesSlide" Target="/ppt/notesSlides/notesSlide3.xml" Id="R293400e614fd43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238be971514a96" /><Relationship Type="http://schemas.openxmlformats.org/officeDocument/2006/relationships/image" Target="/ppt/media/image.png" Id="R76d89f443c4d4e90" /><Relationship Type="http://schemas.openxmlformats.org/officeDocument/2006/relationships/image" Target="/ppt/media/image2.png" Id="Rebb0b1a6bfd34105" /><Relationship Type="http://schemas.openxmlformats.org/officeDocument/2006/relationships/notesSlide" Target="/ppt/notesSlides/notesSlide4.xml" Id="Ref07511ead4744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41cf65c3bb454f" /><Relationship Type="http://schemas.openxmlformats.org/officeDocument/2006/relationships/notesSlide" Target="/ppt/notesSlides/notesSlide5.xml" Id="R218c6cc514bf45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0ae51bf3fa4850" /><Relationship Type="http://schemas.openxmlformats.org/officeDocument/2006/relationships/notesSlide" Target="/ppt/notesSlides/notesSlide6.xml" Id="R331bca100c4b41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59814926714202" /><Relationship Type="http://schemas.openxmlformats.org/officeDocument/2006/relationships/image" Target="/ppt/media/image3.png" Id="R406fedbbe8e6465d" /><Relationship Type="http://schemas.openxmlformats.org/officeDocument/2006/relationships/image" Target="/ppt/media/image4.png" Id="R7e3210b0d2df4852" /><Relationship Type="http://schemas.openxmlformats.org/officeDocument/2006/relationships/notesSlide" Target="/ppt/notesSlides/notesSlide7.xml" Id="R93ab69e94ba54b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18b289ddaf4e59" /><Relationship Type="http://schemas.openxmlformats.org/officeDocument/2006/relationships/image" Target="/ppt/media/image5.png" Id="R31fea4a0021a490d" /><Relationship Type="http://schemas.openxmlformats.org/officeDocument/2006/relationships/image" Target="/ppt/media/image6.png" Id="R686acef6a697420a" /><Relationship Type="http://schemas.openxmlformats.org/officeDocument/2006/relationships/notesSlide" Target="/ppt/notesSlides/notesSlide8.xml" Id="Rd94b7891c4934f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841b63dfd14c07" /><Relationship Type="http://schemas.openxmlformats.org/officeDocument/2006/relationships/notesSlide" Target="/ppt/notesSlides/notesSlide9.xml" Id="R01ea02fe846840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b12257c56f483a" /><Relationship Type="http://schemas.openxmlformats.org/officeDocument/2006/relationships/notesSlide" Target="/ppt/notesSlides/notesSlide10.xml" Id="R46d426a74d914e0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B67E82-86DF-4890-B6BB-619036CBA0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0F243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39500D-9E1E-4B91-BC3A-8DB28451F0AC}"/>
              </a:ext>
            </a:extLst>
          </p:cNvPr>
          <p:cNvSpPr>
            <a:spLocks xmlns:a="http://schemas.openxmlformats.org/drawingml/2006/main" noGrp="1"/>
          </p:cNvSpPr>
          <p:nvPr/>
        </p:nvSpPr>
        <p:spPr>
          <a:xfrm xmlns:a="http://schemas.openxmlformats.org/drawingml/2006/main">
            <a:off x="0" y="5334000"/>
            <a:ext cx="12192000" cy="1524000"/>
          </a:xfrm>
          <a:prstGeom xmlns:a="http://schemas.openxmlformats.org/drawingml/2006/main" prst="roundRect">
            <a:avLst>
              <a:gd name="adj" fmla="val 0"/>
            </a:avLst>
          </a:prstGeom>
          <a:solidFill xmlns:a="http://schemas.openxmlformats.org/drawingml/2006/main">
            <a:srgbClr val="1F7A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0BE0D9-FDE7-46AF-9B17-56BC063E756B}"/>
              </a:ext>
            </a:extLst>
          </p:cNvPr>
          <p:cNvSpPr>
            <a:spLocks xmlns:a="http://schemas.openxmlformats.org/drawingml/2006/main" noGrp="1"/>
          </p:cNvSpPr>
          <p:nvPr/>
        </p:nvSpPr>
        <p:spPr>
          <a:xfrm xmlns:a="http://schemas.openxmlformats.org/drawingml/2006/main">
            <a:off x="781050" y="1200150"/>
            <a:ext cx="904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Dự đoán Remaining Useful Life</a:t>
            </a:r>
          </a:p>
        </p:txBody>
      </p:sp>
      <p:sp>
        <p:nvSpPr>
          <p:cNvPr id="4" name="">
            <a:extLst xmlns:a="http://schemas.openxmlformats.org/drawingml/2006/main">
              <a:ext uri="{FF2B5EF4-FFF2-40B4-BE49-F238E27FC236}">
                <a16:creationId xmlns:a16="http://schemas.microsoft.com/office/drawing/2014/main" id="{D6F0CF9F-CD0E-4750-AA29-5F28A979E137}"/>
              </a:ext>
            </a:extLst>
          </p:cNvPr>
          <p:cNvSpPr>
            <a:spLocks xmlns:a="http://schemas.openxmlformats.org/drawingml/2006/main" noGrp="1"/>
          </p:cNvSpPr>
          <p:nvPr/>
        </p:nvSpPr>
        <p:spPr>
          <a:xfrm xmlns:a="http://schemas.openxmlformats.org/drawingml/2006/main">
            <a:off x="800100" y="194310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BFE7EA"/>
                </a:solidFill>
                <a:latin typeface="Arial"/>
                <a:ea typeface="Arial"/>
                <a:cs typeface="Arial"/>
              </a:defRPr>
            </a:pPr>
            <a:r>
              <a:rPr sz="2400" b="0">
                <a:solidFill>
                  <a:srgbClr val="BFE7EA"/>
                </a:solidFill>
                <a:latin typeface="Arial"/>
                <a:ea typeface="Arial"/>
                <a:cs typeface="Arial"/>
              </a:rPr>
              <a:t>NASA C-MAPSS FD001</a:t>
            </a:r>
          </a:p>
        </p:txBody>
      </p:sp>
      <p:sp>
        <p:nvSpPr>
          <p:cNvPr id="5" name="">
            <a:extLst xmlns:a="http://schemas.openxmlformats.org/drawingml/2006/main">
              <a:ext uri="{FF2B5EF4-FFF2-40B4-BE49-F238E27FC236}">
                <a16:creationId xmlns:a16="http://schemas.microsoft.com/office/drawing/2014/main" id="{AE4A9110-818E-4477-A7AF-A81EC067D4BB}"/>
              </a:ext>
            </a:extLst>
          </p:cNvPr>
          <p:cNvSpPr>
            <a:spLocks xmlns:a="http://schemas.openxmlformats.org/drawingml/2006/main" noGrp="1"/>
          </p:cNvSpPr>
          <p:nvPr/>
        </p:nvSpPr>
        <p:spPr>
          <a:xfrm xmlns:a="http://schemas.openxmlformats.org/drawingml/2006/main">
            <a:off x="819150" y="272415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Pipeline dữ liệu tái lập, đánh giá theo engine và phân tích Health Index</a:t>
            </a:r>
          </a:p>
        </p:txBody>
      </p:sp>
      <p:sp>
        <p:nvSpPr>
          <p:cNvPr id="6" name="">
            <a:extLst xmlns:a="http://schemas.openxmlformats.org/drawingml/2006/main">
              <a:ext uri="{FF2B5EF4-FFF2-40B4-BE49-F238E27FC236}">
                <a16:creationId xmlns:a16="http://schemas.microsoft.com/office/drawing/2014/main" id="{D2D05EEF-14F2-427D-B69F-DE1BA36652C7}"/>
              </a:ext>
            </a:extLst>
          </p:cNvPr>
          <p:cNvSpPr>
            <a:spLocks xmlns:a="http://schemas.openxmlformats.org/drawingml/2006/main" noGrp="1"/>
          </p:cNvSpPr>
          <p:nvPr/>
        </p:nvSpPr>
        <p:spPr>
          <a:xfrm xmlns:a="http://schemas.openxmlformats.org/drawingml/2006/main">
            <a:off x="819150" y="565785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Phan Nguyễn Mai Phương · MSHV 25002711</a:t>
            </a:r>
          </a:p>
        </p:txBody>
      </p:sp>
      <p:sp>
        <p:nvSpPr>
          <p:cNvPr id="7" name="">
            <a:extLst xmlns:a="http://schemas.openxmlformats.org/drawingml/2006/main">
              <a:ext uri="{FF2B5EF4-FFF2-40B4-BE49-F238E27FC236}">
                <a16:creationId xmlns:a16="http://schemas.microsoft.com/office/drawing/2014/main" id="{1927108B-EC08-41F9-9CF0-BB6FF489AC5F}"/>
              </a:ext>
            </a:extLst>
          </p:cNvPr>
          <p:cNvSpPr>
            <a:spLocks xmlns:a="http://schemas.openxmlformats.org/drawingml/2006/main" noGrp="1"/>
          </p:cNvSpPr>
          <p:nvPr/>
        </p:nvSpPr>
        <p:spPr>
          <a:xfrm xmlns:a="http://schemas.openxmlformats.org/drawingml/2006/main">
            <a:off x="819150" y="600075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8F2F3"/>
                </a:solidFill>
                <a:latin typeface="Arial"/>
                <a:ea typeface="Arial"/>
                <a:cs typeface="Arial"/>
              </a:defRPr>
            </a:pPr>
            <a:r>
              <a:rPr sz="1200" b="0">
                <a:solidFill>
                  <a:srgbClr val="D8F2F3"/>
                </a:solidFill>
                <a:latin typeface="Arial"/>
                <a:ea typeface="Arial"/>
                <a:cs typeface="Arial"/>
              </a:rPr>
              <a:t>Phân tích dữ liệu lớn</a:t>
            </a:r>
          </a:p>
        </p:txBody>
      </p:sp>
    </p:spTree>
    <p:extLst>
      <p:ext uri="{BB962C8B-B14F-4D97-AF65-F5344CB8AC3E}">
        <p14:creationId xmlns:p14="http://schemas.microsoft.com/office/powerpoint/2010/main" val="2513119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1AD0755-296D-4BAF-AC3E-2D964F738D94}"/>
              </a:ext>
            </a:extLst>
          </p:cNvPr>
          <p:cNvSpPr>
            <a:spLocks xmlns:a="http://schemas.openxmlformats.org/drawingml/2006/main" noGrp="1"/>
          </p:cNvSpPr>
          <p:nvPr/>
        </p:nvSpPr>
        <p:spPr>
          <a:xfrm xmlns:a="http://schemas.openxmlformats.org/drawingml/2006/main">
            <a:off x="609600" y="361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F243E"/>
                </a:solidFill>
                <a:latin typeface="Arial"/>
                <a:ea typeface="Arial"/>
                <a:cs typeface="Arial"/>
              </a:defRPr>
            </a:pPr>
            <a:r>
              <a:rPr sz="2400" b="1">
                <a:solidFill>
                  <a:srgbClr val="0F243E"/>
                </a:solidFill>
                <a:latin typeface="Arial"/>
                <a:ea typeface="Arial"/>
                <a:cs typeface="Arial"/>
              </a:rPr>
              <a:t>Phạm vi và dữ liệu FD001</a:t>
            </a:r>
          </a:p>
        </p:txBody>
      </p:sp>
      <p:sp>
        <p:nvSpPr>
          <p:cNvPr id="2" name="">
            <a:extLst xmlns:a="http://schemas.openxmlformats.org/drawingml/2006/main">
              <a:ext uri="{FF2B5EF4-FFF2-40B4-BE49-F238E27FC236}">
                <a16:creationId xmlns:a16="http://schemas.microsoft.com/office/drawing/2014/main" id="{B2A19AA3-1D22-4C8D-9499-E4E6BAA98E24}"/>
              </a:ext>
            </a:extLst>
          </p:cNvPr>
          <p:cNvSpPr>
            <a:spLocks xmlns:a="http://schemas.openxmlformats.org/drawingml/2006/main" noGrp="1"/>
          </p:cNvSpPr>
          <p:nvPr/>
        </p:nvSpPr>
        <p:spPr>
          <a:xfrm xmlns:a="http://schemas.openxmlformats.org/drawingml/2006/main">
            <a:off x="628650" y="8382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Bài toán supervised regression trên chuỗi cảm biến theo engine</a:t>
            </a:r>
          </a:p>
        </p:txBody>
      </p:sp>
      <p:sp>
        <p:nvSpPr>
          <p:cNvPr id="3" name="">
            <a:extLst xmlns:a="http://schemas.openxmlformats.org/drawingml/2006/main">
              <a:ext uri="{FF2B5EF4-FFF2-40B4-BE49-F238E27FC236}">
                <a16:creationId xmlns:a16="http://schemas.microsoft.com/office/drawing/2014/main" id="{4A0F480B-62B4-4F5C-966B-E5E34763C921}"/>
              </a:ext>
            </a:extLst>
          </p:cNvPr>
          <p:cNvSpPr>
            <a:spLocks xmlns:a="http://schemas.openxmlformats.org/drawingml/2006/main" noGrp="1"/>
          </p:cNvSpPr>
          <p:nvPr/>
        </p:nvSpPr>
        <p:spPr>
          <a:xfrm xmlns:a="http://schemas.openxmlformats.org/drawingml/2006/main">
            <a:off x="685800" y="1428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F7A8C"/>
                </a:solidFill>
                <a:latin typeface="Arial"/>
                <a:ea typeface="Arial"/>
                <a:cs typeface="Arial"/>
              </a:defRPr>
            </a:pPr>
            <a:r>
              <a:rPr sz="1500" b="1">
                <a:solidFill>
                  <a:srgbClr val="1F7A8C"/>
                </a:solidFill>
                <a:latin typeface="Arial"/>
                <a:ea typeface="Arial"/>
                <a:cs typeface="Arial"/>
              </a:rPr>
              <a:t>Mục tiêu</a:t>
            </a:r>
          </a:p>
        </p:txBody>
      </p:sp>
      <p:sp>
        <p:nvSpPr>
          <p:cNvPr id="4" name="">
            <a:extLst xmlns:a="http://schemas.openxmlformats.org/drawingml/2006/main">
              <a:ext uri="{FF2B5EF4-FFF2-40B4-BE49-F238E27FC236}">
                <a16:creationId xmlns:a16="http://schemas.microsoft.com/office/drawing/2014/main" id="{E74B4093-F513-43D2-ABAE-C30EAD6699CE}"/>
              </a:ext>
            </a:extLst>
          </p:cNvPr>
          <p:cNvSpPr>
            <a:spLocks xmlns:a="http://schemas.openxmlformats.org/drawingml/2006/main" noGrp="1"/>
          </p:cNvSpPr>
          <p:nvPr/>
        </p:nvSpPr>
        <p:spPr>
          <a:xfrm xmlns:a="http://schemas.openxmlformats.org/drawingml/2006/main">
            <a:off x="685800" y="1790700"/>
            <a:ext cx="4810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202A"/>
                </a:solidFill>
                <a:latin typeface="Arial"/>
                <a:ea typeface="Arial"/>
                <a:cs typeface="Arial"/>
              </a:defRPr>
            </a:pPr>
            <a:r>
              <a:rPr sz="1800" b="1">
                <a:solidFill>
                  <a:srgbClr val="16202A"/>
                </a:solidFill>
                <a:latin typeface="Arial"/>
                <a:ea typeface="Arial"/>
                <a:cs typeface="Arial"/>
              </a:rPr>
              <a:t>Dự đoán RUL tại cycle cuối của 100 test engines, sau khi học từ 100 train engines có nhãn RUL.</a:t>
            </a:r>
          </a:p>
        </p:txBody>
      </p:sp>
      <p:sp>
        <p:nvSpPr>
          <p:cNvPr id="5" name="">
            <a:extLst xmlns:a="http://schemas.openxmlformats.org/drawingml/2006/main">
              <a:ext uri="{FF2B5EF4-FFF2-40B4-BE49-F238E27FC236}">
                <a16:creationId xmlns:a16="http://schemas.microsoft.com/office/drawing/2014/main" id="{1C08CA1E-DDC3-410C-82A4-4F511F13B7C1}"/>
              </a:ext>
            </a:extLst>
          </p:cNvPr>
          <p:cNvSpPr>
            <a:spLocks xmlns:a="http://schemas.openxmlformats.org/drawingml/2006/main" noGrp="1"/>
          </p:cNvSpPr>
          <p:nvPr/>
        </p:nvSpPr>
        <p:spPr>
          <a:xfrm xmlns:a="http://schemas.openxmlformats.org/drawingml/2006/main">
            <a:off x="685800" y="30480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F7A8C"/>
                </a:solidFill>
                <a:latin typeface="Arial"/>
                <a:ea typeface="Arial"/>
                <a:cs typeface="Arial"/>
              </a:defRPr>
            </a:pPr>
            <a:r>
              <a:rPr sz="1350" b="1">
                <a:solidFill>
                  <a:srgbClr val="1F7A8C"/>
                </a:solidFill>
                <a:latin typeface="Arial"/>
                <a:ea typeface="Arial"/>
                <a:cs typeface="Arial"/>
              </a:rPr>
              <a:t>Phạm vi diễn giải</a:t>
            </a:r>
          </a:p>
        </p:txBody>
      </p:sp>
      <p:sp>
        <p:nvSpPr>
          <p:cNvPr id="6" name="">
            <a:extLst xmlns:a="http://schemas.openxmlformats.org/drawingml/2006/main">
              <a:ext uri="{FF2B5EF4-FFF2-40B4-BE49-F238E27FC236}">
                <a16:creationId xmlns:a16="http://schemas.microsoft.com/office/drawing/2014/main" id="{18C23D8D-EE65-4F96-B6BE-A8E6E49CEFD7}"/>
              </a:ext>
            </a:extLst>
          </p:cNvPr>
          <p:cNvSpPr>
            <a:spLocks xmlns:a="http://schemas.openxmlformats.org/drawingml/2006/main" noGrp="1"/>
          </p:cNvSpPr>
          <p:nvPr/>
        </p:nvSpPr>
        <p:spPr>
          <a:xfrm xmlns:a="http://schemas.openxmlformats.org/drawingml/2006/main">
            <a:off x="685800" y="3390900"/>
            <a:ext cx="4810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6202A"/>
                </a:solidFill>
                <a:latin typeface="Arial"/>
                <a:ea typeface="Arial"/>
                <a:cs typeface="Arial"/>
              </a:defRPr>
            </a:pPr>
            <a:r>
              <a:rPr sz="1500" b="0">
                <a:solidFill>
                  <a:srgbClr val="16202A"/>
                </a:solidFill>
                <a:latin typeface="Arial"/>
                <a:ea typeface="Arial"/>
                <a:cs typeface="Arial"/>
              </a:rPr>
              <a:t>FD001 mô phỏng một điều kiện vận hành và một dạng lỗi. Kết quả không được mở rộng trực tiếp sang động cơ thực tế hoặc bộ dữ liệu khác.</a:t>
            </a:r>
          </a:p>
        </p:txBody>
      </p:sp>
      <p:sp>
        <p:nvSpPr>
          <p:cNvPr id="7" name="">
            <a:extLst xmlns:a="http://schemas.openxmlformats.org/drawingml/2006/main">
              <a:ext uri="{FF2B5EF4-FFF2-40B4-BE49-F238E27FC236}">
                <a16:creationId xmlns:a16="http://schemas.microsoft.com/office/drawing/2014/main" id="{F97DB4BE-BD77-4823-B6F9-D7636ECC3DE3}"/>
              </a:ext>
            </a:extLst>
          </p:cNvPr>
          <p:cNvSpPr>
            <a:spLocks xmlns:a="http://schemas.openxmlformats.org/drawingml/2006/main" noGrp="1"/>
          </p:cNvSpPr>
          <p:nvPr/>
        </p:nvSpPr>
        <p:spPr>
          <a:xfrm xmlns:a="http://schemas.openxmlformats.org/drawingml/2006/main">
            <a:off x="6286500" y="1428750"/>
            <a:ext cx="4572000" cy="3143250"/>
          </a:xfrm>
          <a:prstGeom xmlns:a="http://schemas.openxmlformats.org/drawingml/2006/main" prst="roundRect">
            <a:avLst>
              <a:gd name="adj" fmla="val 6667"/>
            </a:avLst>
          </a:prstGeom>
          <a:solidFill xmlns:a="http://schemas.openxmlformats.org/drawingml/2006/main">
            <a:srgbClr val="F4F7FA"/>
          </a:solidFill>
          <a:ln xmlns:a="http://schemas.openxmlformats.org/drawingml/2006/main" w="9525">
            <a:solidFill>
              <a:srgbClr val="D7E0E8"/>
            </a:solidFill>
          </a:ln>
        </p:spPr>
      </p:sp>
      <p:sp>
        <p:nvSpPr>
          <p:cNvPr id="8" name="">
            <a:extLst xmlns:a="http://schemas.openxmlformats.org/drawingml/2006/main">
              <a:ext uri="{FF2B5EF4-FFF2-40B4-BE49-F238E27FC236}">
                <a16:creationId xmlns:a16="http://schemas.microsoft.com/office/drawing/2014/main" id="{AF15B374-B120-4A87-AE11-0A95B4B8ECE1}"/>
              </a:ext>
            </a:extLst>
          </p:cNvPr>
          <p:cNvSpPr>
            <a:spLocks xmlns:a="http://schemas.openxmlformats.org/drawingml/2006/main" noGrp="1"/>
          </p:cNvSpPr>
          <p:nvPr/>
        </p:nvSpPr>
        <p:spPr>
          <a:xfrm xmlns:a="http://schemas.openxmlformats.org/drawingml/2006/main">
            <a:off x="6619875" y="16954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F243E"/>
                </a:solidFill>
                <a:latin typeface="Arial"/>
                <a:ea typeface="Arial"/>
                <a:cs typeface="Arial"/>
              </a:defRPr>
            </a:pPr>
            <a:r>
              <a:rPr sz="2175" b="1">
                <a:solidFill>
                  <a:srgbClr val="0F243E"/>
                </a:solidFill>
                <a:latin typeface="Arial"/>
                <a:ea typeface="Arial"/>
                <a:cs typeface="Arial"/>
              </a:rPr>
              <a:t>200</a:t>
            </a:r>
          </a:p>
        </p:txBody>
      </p:sp>
      <p:sp>
        <p:nvSpPr>
          <p:cNvPr id="9" name="">
            <a:extLst xmlns:a="http://schemas.openxmlformats.org/drawingml/2006/main">
              <a:ext uri="{FF2B5EF4-FFF2-40B4-BE49-F238E27FC236}">
                <a16:creationId xmlns:a16="http://schemas.microsoft.com/office/drawing/2014/main" id="{6B204D94-8432-4A2D-BCED-553CD78A8333}"/>
              </a:ext>
            </a:extLst>
          </p:cNvPr>
          <p:cNvSpPr>
            <a:spLocks xmlns:a="http://schemas.openxmlformats.org/drawingml/2006/main" noGrp="1"/>
          </p:cNvSpPr>
          <p:nvPr/>
        </p:nvSpPr>
        <p:spPr>
          <a:xfrm xmlns:a="http://schemas.openxmlformats.org/drawingml/2006/main">
            <a:off x="6619875" y="205740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06D"/>
                </a:solidFill>
                <a:latin typeface="Arial"/>
                <a:ea typeface="Arial"/>
                <a:cs typeface="Arial"/>
              </a:defRPr>
            </a:pPr>
            <a:r>
              <a:rPr sz="1125" b="0">
                <a:solidFill>
                  <a:srgbClr val="52606D"/>
                </a:solidFill>
                <a:latin typeface="Arial"/>
                <a:ea typeface="Arial"/>
                <a:cs typeface="Arial"/>
              </a:rPr>
              <a:t>engines tổng cộng</a:t>
            </a:r>
          </a:p>
        </p:txBody>
      </p:sp>
      <p:sp>
        <p:nvSpPr>
          <p:cNvPr id="10" name="">
            <a:extLst xmlns:a="http://schemas.openxmlformats.org/drawingml/2006/main">
              <a:ext uri="{FF2B5EF4-FFF2-40B4-BE49-F238E27FC236}">
                <a16:creationId xmlns:a16="http://schemas.microsoft.com/office/drawing/2014/main" id="{4D377402-0495-4DCA-945F-45A948BA13DB}"/>
              </a:ext>
            </a:extLst>
          </p:cNvPr>
          <p:cNvSpPr>
            <a:spLocks xmlns:a="http://schemas.openxmlformats.org/drawingml/2006/main" noGrp="1"/>
          </p:cNvSpPr>
          <p:nvPr/>
        </p:nvSpPr>
        <p:spPr>
          <a:xfrm xmlns:a="http://schemas.openxmlformats.org/drawingml/2006/main">
            <a:off x="8715375" y="16954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F243E"/>
                </a:solidFill>
                <a:latin typeface="Arial"/>
                <a:ea typeface="Arial"/>
                <a:cs typeface="Arial"/>
              </a:defRPr>
            </a:pPr>
            <a:r>
              <a:rPr sz="2175" b="1">
                <a:solidFill>
                  <a:srgbClr val="0F243E"/>
                </a:solidFill>
                <a:latin typeface="Arial"/>
                <a:ea typeface="Arial"/>
                <a:cs typeface="Arial"/>
              </a:rPr>
              <a:t>33,727</a:t>
            </a:r>
          </a:p>
        </p:txBody>
      </p:sp>
      <p:sp>
        <p:nvSpPr>
          <p:cNvPr id="11" name="">
            <a:extLst xmlns:a="http://schemas.openxmlformats.org/drawingml/2006/main">
              <a:ext uri="{FF2B5EF4-FFF2-40B4-BE49-F238E27FC236}">
                <a16:creationId xmlns:a16="http://schemas.microsoft.com/office/drawing/2014/main" id="{9E398F59-6D82-4C59-BF53-B3E965FDC75F}"/>
              </a:ext>
            </a:extLst>
          </p:cNvPr>
          <p:cNvSpPr>
            <a:spLocks xmlns:a="http://schemas.openxmlformats.org/drawingml/2006/main" noGrp="1"/>
          </p:cNvSpPr>
          <p:nvPr/>
        </p:nvSpPr>
        <p:spPr>
          <a:xfrm xmlns:a="http://schemas.openxmlformats.org/drawingml/2006/main">
            <a:off x="8715375" y="205740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06D"/>
                </a:solidFill>
                <a:latin typeface="Arial"/>
                <a:ea typeface="Arial"/>
                <a:cs typeface="Arial"/>
              </a:defRPr>
            </a:pPr>
            <a:r>
              <a:rPr sz="1125" b="0">
                <a:solidFill>
                  <a:srgbClr val="52606D"/>
                </a:solidFill>
                <a:latin typeface="Arial"/>
                <a:ea typeface="Arial"/>
                <a:cs typeface="Arial"/>
              </a:rPr>
              <a:t>observation rows</a:t>
            </a:r>
          </a:p>
        </p:txBody>
      </p:sp>
      <p:sp>
        <p:nvSpPr>
          <p:cNvPr id="12" name="">
            <a:extLst xmlns:a="http://schemas.openxmlformats.org/drawingml/2006/main">
              <a:ext uri="{FF2B5EF4-FFF2-40B4-BE49-F238E27FC236}">
                <a16:creationId xmlns:a16="http://schemas.microsoft.com/office/drawing/2014/main" id="{C9C2DA48-C5D3-4107-9272-D1BA36FC48B6}"/>
              </a:ext>
            </a:extLst>
          </p:cNvPr>
          <p:cNvSpPr>
            <a:spLocks xmlns:a="http://schemas.openxmlformats.org/drawingml/2006/main" noGrp="1"/>
          </p:cNvSpPr>
          <p:nvPr/>
        </p:nvSpPr>
        <p:spPr>
          <a:xfrm xmlns:a="http://schemas.openxmlformats.org/drawingml/2006/main">
            <a:off x="6619875" y="25717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F243E"/>
                </a:solidFill>
                <a:latin typeface="Arial"/>
                <a:ea typeface="Arial"/>
                <a:cs typeface="Arial"/>
              </a:defRPr>
            </a:pPr>
            <a:r>
              <a:rPr sz="2175" b="1">
                <a:solidFill>
                  <a:srgbClr val="0F243E"/>
                </a:solidFill>
                <a:latin typeface="Arial"/>
                <a:ea typeface="Arial"/>
                <a:cs typeface="Arial"/>
              </a:rPr>
              <a:t>21</a:t>
            </a:r>
          </a:p>
        </p:txBody>
      </p:sp>
      <p:sp>
        <p:nvSpPr>
          <p:cNvPr id="13" name="">
            <a:extLst xmlns:a="http://schemas.openxmlformats.org/drawingml/2006/main">
              <a:ext uri="{FF2B5EF4-FFF2-40B4-BE49-F238E27FC236}">
                <a16:creationId xmlns:a16="http://schemas.microsoft.com/office/drawing/2014/main" id="{ADF6BF7D-5C1F-4604-B58B-AF9FC0675F0C}"/>
              </a:ext>
            </a:extLst>
          </p:cNvPr>
          <p:cNvSpPr>
            <a:spLocks xmlns:a="http://schemas.openxmlformats.org/drawingml/2006/main" noGrp="1"/>
          </p:cNvSpPr>
          <p:nvPr/>
        </p:nvSpPr>
        <p:spPr>
          <a:xfrm xmlns:a="http://schemas.openxmlformats.org/drawingml/2006/main">
            <a:off x="6619875" y="293370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06D"/>
                </a:solidFill>
                <a:latin typeface="Arial"/>
                <a:ea typeface="Arial"/>
                <a:cs typeface="Arial"/>
              </a:defRPr>
            </a:pPr>
            <a:r>
              <a:rPr sz="1125" b="0">
                <a:solidFill>
                  <a:srgbClr val="52606D"/>
                </a:solidFill>
                <a:latin typeface="Arial"/>
                <a:ea typeface="Arial"/>
                <a:cs typeface="Arial"/>
              </a:rPr>
              <a:t>sensor columns</a:t>
            </a:r>
          </a:p>
        </p:txBody>
      </p:sp>
      <p:sp>
        <p:nvSpPr>
          <p:cNvPr id="14" name="">
            <a:extLst xmlns:a="http://schemas.openxmlformats.org/drawingml/2006/main">
              <a:ext uri="{FF2B5EF4-FFF2-40B4-BE49-F238E27FC236}">
                <a16:creationId xmlns:a16="http://schemas.microsoft.com/office/drawing/2014/main" id="{C02FCD37-221A-4D92-A994-90FDF95C37EF}"/>
              </a:ext>
            </a:extLst>
          </p:cNvPr>
          <p:cNvSpPr>
            <a:spLocks xmlns:a="http://schemas.openxmlformats.org/drawingml/2006/main" noGrp="1"/>
          </p:cNvSpPr>
          <p:nvPr/>
        </p:nvSpPr>
        <p:spPr>
          <a:xfrm xmlns:a="http://schemas.openxmlformats.org/drawingml/2006/main">
            <a:off x="8715375" y="25717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F243E"/>
                </a:solidFill>
                <a:latin typeface="Arial"/>
                <a:ea typeface="Arial"/>
                <a:cs typeface="Arial"/>
              </a:defRPr>
            </a:pPr>
            <a:r>
              <a:rPr sz="2175" b="1">
                <a:solidFill>
                  <a:srgbClr val="0F243E"/>
                </a:solidFill>
                <a:latin typeface="Arial"/>
                <a:ea typeface="Arial"/>
                <a:cs typeface="Arial"/>
              </a:rPr>
              <a:t>30</a:t>
            </a:r>
          </a:p>
        </p:txBody>
      </p:sp>
      <p:sp>
        <p:nvSpPr>
          <p:cNvPr id="15" name="">
            <a:extLst xmlns:a="http://schemas.openxmlformats.org/drawingml/2006/main">
              <a:ext uri="{FF2B5EF4-FFF2-40B4-BE49-F238E27FC236}">
                <a16:creationId xmlns:a16="http://schemas.microsoft.com/office/drawing/2014/main" id="{2F3A230E-12D5-486B-9C97-99068F905634}"/>
              </a:ext>
            </a:extLst>
          </p:cNvPr>
          <p:cNvSpPr>
            <a:spLocks xmlns:a="http://schemas.openxmlformats.org/drawingml/2006/main" noGrp="1"/>
          </p:cNvSpPr>
          <p:nvPr/>
        </p:nvSpPr>
        <p:spPr>
          <a:xfrm xmlns:a="http://schemas.openxmlformats.org/drawingml/2006/main">
            <a:off x="8715375" y="293370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06D"/>
                </a:solidFill>
                <a:latin typeface="Arial"/>
                <a:ea typeface="Arial"/>
                <a:cs typeface="Arial"/>
              </a:defRPr>
            </a:pPr>
            <a:r>
              <a:rPr sz="1125" b="0">
                <a:solidFill>
                  <a:srgbClr val="52606D"/>
                </a:solidFill>
                <a:latin typeface="Arial"/>
                <a:ea typeface="Arial"/>
                <a:cs typeface="Arial"/>
              </a:rPr>
              <a:t>cycle window</a:t>
            </a:r>
          </a:p>
        </p:txBody>
      </p:sp>
      <p:sp>
        <p:nvSpPr>
          <p:cNvPr id="16" name="">
            <a:extLst xmlns:a="http://schemas.openxmlformats.org/drawingml/2006/main">
              <a:ext uri="{FF2B5EF4-FFF2-40B4-BE49-F238E27FC236}">
                <a16:creationId xmlns:a16="http://schemas.microsoft.com/office/drawing/2014/main" id="{05DAEEFA-7CEC-4C18-A078-C0ED7B1F138A}"/>
              </a:ext>
            </a:extLst>
          </p:cNvPr>
          <p:cNvSpPr>
            <a:spLocks xmlns:a="http://schemas.openxmlformats.org/drawingml/2006/main" noGrp="1"/>
          </p:cNvSpPr>
          <p:nvPr/>
        </p:nvSpPr>
        <p:spPr>
          <a:xfrm xmlns:a="http://schemas.openxmlformats.org/drawingml/2006/main">
            <a:off x="6619875" y="34480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F243E"/>
                </a:solidFill>
                <a:latin typeface="Arial"/>
                <a:ea typeface="Arial"/>
                <a:cs typeface="Arial"/>
              </a:defRPr>
            </a:pPr>
            <a:r>
              <a:rPr sz="2175" b="1">
                <a:solidFill>
                  <a:srgbClr val="0F243E"/>
                </a:solidFill>
                <a:latin typeface="Arial"/>
                <a:ea typeface="Arial"/>
                <a:cs typeface="Arial"/>
              </a:rPr>
              <a:t>126</a:t>
            </a:r>
          </a:p>
        </p:txBody>
      </p:sp>
      <p:sp>
        <p:nvSpPr>
          <p:cNvPr id="17" name="">
            <a:extLst xmlns:a="http://schemas.openxmlformats.org/drawingml/2006/main">
              <a:ext uri="{FF2B5EF4-FFF2-40B4-BE49-F238E27FC236}">
                <a16:creationId xmlns:a16="http://schemas.microsoft.com/office/drawing/2014/main" id="{66F8F29B-51DE-4772-921C-3BAE1998AC42}"/>
              </a:ext>
            </a:extLst>
          </p:cNvPr>
          <p:cNvSpPr>
            <a:spLocks xmlns:a="http://schemas.openxmlformats.org/drawingml/2006/main" noGrp="1"/>
          </p:cNvSpPr>
          <p:nvPr/>
        </p:nvSpPr>
        <p:spPr>
          <a:xfrm xmlns:a="http://schemas.openxmlformats.org/drawingml/2006/main">
            <a:off x="6619875" y="381000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06D"/>
                </a:solidFill>
                <a:latin typeface="Arial"/>
                <a:ea typeface="Arial"/>
                <a:cs typeface="Arial"/>
              </a:defRPr>
            </a:pPr>
            <a:r>
              <a:rPr sz="1125" b="0">
                <a:solidFill>
                  <a:srgbClr val="52606D"/>
                </a:solidFill>
                <a:latin typeface="Arial"/>
                <a:ea typeface="Arial"/>
                <a:cs typeface="Arial"/>
              </a:rPr>
              <a:t>rolling features</a:t>
            </a:r>
          </a:p>
        </p:txBody>
      </p:sp>
      <p:sp>
        <p:nvSpPr>
          <p:cNvPr id="18" name="">
            <a:extLst xmlns:a="http://schemas.openxmlformats.org/drawingml/2006/main">
              <a:ext uri="{FF2B5EF4-FFF2-40B4-BE49-F238E27FC236}">
                <a16:creationId xmlns:a16="http://schemas.microsoft.com/office/drawing/2014/main" id="{5A15F2BC-2B7C-4384-BEBE-1F3543957B78}"/>
              </a:ext>
            </a:extLst>
          </p:cNvPr>
          <p:cNvSpPr>
            <a:spLocks xmlns:a="http://schemas.openxmlformats.org/drawingml/2006/main" noGrp="1"/>
          </p:cNvSpPr>
          <p:nvPr/>
        </p:nvSpPr>
        <p:spPr>
          <a:xfrm xmlns:a="http://schemas.openxmlformats.org/drawingml/2006/main">
            <a:off x="8715375" y="34480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F243E"/>
                </a:solidFill>
                <a:latin typeface="Arial"/>
                <a:ea typeface="Arial"/>
                <a:cs typeface="Arial"/>
              </a:defRPr>
            </a:pPr>
            <a:r>
              <a:rPr sz="2175" b="1">
                <a:solidFill>
                  <a:srgbClr val="0F243E"/>
                </a:solidFill>
                <a:latin typeface="Arial"/>
                <a:ea typeface="Arial"/>
                <a:cs typeface="Arial"/>
              </a:rPr>
              <a:t>100</a:t>
            </a:r>
          </a:p>
        </p:txBody>
      </p:sp>
      <p:sp>
        <p:nvSpPr>
          <p:cNvPr id="19" name="">
            <a:extLst xmlns:a="http://schemas.openxmlformats.org/drawingml/2006/main">
              <a:ext uri="{FF2B5EF4-FFF2-40B4-BE49-F238E27FC236}">
                <a16:creationId xmlns:a16="http://schemas.microsoft.com/office/drawing/2014/main" id="{EDA55E03-6D52-43DD-97CF-E9810C403CD1}"/>
              </a:ext>
            </a:extLst>
          </p:cNvPr>
          <p:cNvSpPr>
            <a:spLocks xmlns:a="http://schemas.openxmlformats.org/drawingml/2006/main" noGrp="1"/>
          </p:cNvSpPr>
          <p:nvPr/>
        </p:nvSpPr>
        <p:spPr>
          <a:xfrm xmlns:a="http://schemas.openxmlformats.org/drawingml/2006/main">
            <a:off x="8715375" y="381000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06D"/>
                </a:solidFill>
                <a:latin typeface="Arial"/>
                <a:ea typeface="Arial"/>
                <a:cs typeface="Arial"/>
              </a:defRPr>
            </a:pPr>
            <a:r>
              <a:rPr sz="1125" b="0">
                <a:solidFill>
                  <a:srgbClr val="52606D"/>
                </a:solidFill>
                <a:latin typeface="Arial"/>
                <a:ea typeface="Arial"/>
                <a:cs typeface="Arial"/>
              </a:rPr>
              <a:t>test predictions</a:t>
            </a:r>
          </a:p>
        </p:txBody>
      </p:sp>
      <p:sp>
        <p:nvSpPr>
          <p:cNvPr id="20" name="">
            <a:extLst xmlns:a="http://schemas.openxmlformats.org/drawingml/2006/main">
              <a:ext uri="{FF2B5EF4-FFF2-40B4-BE49-F238E27FC236}">
                <a16:creationId xmlns:a16="http://schemas.microsoft.com/office/drawing/2014/main" id="{CC8BBA8F-56BA-42D6-A609-8949AF71FC5E}"/>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52606D"/>
                </a:solidFill>
                <a:latin typeface="Arial"/>
                <a:ea typeface="Arial"/>
                <a:cs typeface="Arial"/>
              </a:defRPr>
            </a:pPr>
            <a:r>
              <a:rPr sz="825" b="0">
                <a:solidFill>
                  <a:srgbClr val="52606D"/>
                </a:solidFill>
                <a:latin typeface="Arial"/>
                <a:ea typeface="Arial"/>
                <a:cs typeface="Arial"/>
              </a:rPr>
              <a:t>NASA C-MAPSS FD001 · Phan Nguyễn Mai Phương · 2026</a:t>
            </a:r>
          </a:p>
        </p:txBody>
      </p:sp>
      <p:sp>
        <p:nvSpPr>
          <p:cNvPr id="21" name="">
            <a:extLst xmlns:a="http://schemas.openxmlformats.org/drawingml/2006/main">
              <a:ext uri="{FF2B5EF4-FFF2-40B4-BE49-F238E27FC236}">
                <a16:creationId xmlns:a16="http://schemas.microsoft.com/office/drawing/2014/main" id="{40D0B5AF-D62C-4471-AAEE-DB79EC6EE99D}"/>
              </a:ext>
            </a:extLst>
          </p:cNvPr>
          <p:cNvSpPr>
            <a:spLocks xmlns:a="http://schemas.openxmlformats.org/drawingml/2006/main" noGrp="1"/>
          </p:cNvSpPr>
          <p:nvPr/>
        </p:nvSpPr>
        <p:spPr>
          <a:xfrm xmlns:a="http://schemas.openxmlformats.org/drawingml/2006/main">
            <a:off x="11287125" y="65151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52606D"/>
                </a:solidFill>
                <a:latin typeface="Arial"/>
                <a:ea typeface="Arial"/>
                <a:cs typeface="Arial"/>
              </a:defRPr>
            </a:pPr>
            <a:r>
              <a:rPr sz="825" b="1">
                <a:solidFill>
                  <a:srgbClr val="52606D"/>
                </a:solidFill>
                <a:latin typeface="Arial"/>
                <a:ea typeface="Arial"/>
                <a:cs typeface="Arial"/>
              </a:rPr>
              <a:t>02</a:t>
            </a:r>
          </a:p>
        </p:txBody>
      </p:sp>
    </p:spTree>
    <p:extLst>
      <p:ext uri="{BB962C8B-B14F-4D97-AF65-F5344CB8AC3E}">
        <p14:creationId xmlns:p14="http://schemas.microsoft.com/office/powerpoint/2010/main" val="1104595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3E202D8-0B98-454D-B3A0-49CB8A2BF182}"/>
              </a:ext>
            </a:extLst>
          </p:cNvPr>
          <p:cNvSpPr>
            <a:spLocks xmlns:a="http://schemas.openxmlformats.org/drawingml/2006/main" noGrp="1"/>
          </p:cNvSpPr>
          <p:nvPr/>
        </p:nvSpPr>
        <p:spPr>
          <a:xfrm xmlns:a="http://schemas.openxmlformats.org/drawingml/2006/main">
            <a:off x="609600" y="361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F243E"/>
                </a:solidFill>
                <a:latin typeface="Arial"/>
                <a:ea typeface="Arial"/>
                <a:cs typeface="Arial"/>
              </a:defRPr>
            </a:pPr>
            <a:r>
              <a:rPr sz="2400" b="1">
                <a:solidFill>
                  <a:srgbClr val="0F243E"/>
                </a:solidFill>
                <a:latin typeface="Arial"/>
                <a:ea typeface="Arial"/>
                <a:cs typeface="Arial"/>
              </a:rPr>
              <a:t>Pipeline dữ liệu và artifact</a:t>
            </a:r>
          </a:p>
        </p:txBody>
      </p:sp>
      <p:sp>
        <p:nvSpPr>
          <p:cNvPr id="2" name="">
            <a:extLst xmlns:a="http://schemas.openxmlformats.org/drawingml/2006/main">
              <a:ext uri="{FF2B5EF4-FFF2-40B4-BE49-F238E27FC236}">
                <a16:creationId xmlns:a16="http://schemas.microsoft.com/office/drawing/2014/main" id="{6526179C-8FBD-456B-B33A-91BE55434FB2}"/>
              </a:ext>
            </a:extLst>
          </p:cNvPr>
          <p:cNvSpPr>
            <a:spLocks xmlns:a="http://schemas.openxmlformats.org/drawingml/2006/main" noGrp="1"/>
          </p:cNvSpPr>
          <p:nvPr/>
        </p:nvSpPr>
        <p:spPr>
          <a:xfrm xmlns:a="http://schemas.openxmlformats.org/drawingml/2006/main">
            <a:off x="628650" y="8382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Mỗi boundary ghi schema, row count, hash và kiểm tra khóa</a:t>
            </a:r>
          </a:p>
        </p:txBody>
      </p:sp>
      <p:sp>
        <p:nvSpPr>
          <p:cNvPr id="3" name="">
            <a:extLst xmlns:a="http://schemas.openxmlformats.org/drawingml/2006/main">
              <a:ext uri="{FF2B5EF4-FFF2-40B4-BE49-F238E27FC236}">
                <a16:creationId xmlns:a16="http://schemas.microsoft.com/office/drawing/2014/main" id="{4234E89F-2A03-47EB-95C2-A8FFF93AEC12}"/>
              </a:ext>
            </a:extLst>
          </p:cNvPr>
          <p:cNvSpPr>
            <a:spLocks xmlns:a="http://schemas.openxmlformats.org/drawingml/2006/main" noGrp="1"/>
          </p:cNvSpPr>
          <p:nvPr/>
        </p:nvSpPr>
        <p:spPr>
          <a:xfrm xmlns:a="http://schemas.openxmlformats.org/drawingml/2006/main">
            <a:off x="523875" y="2095500"/>
            <a:ext cx="1809750" cy="1428750"/>
          </a:xfrm>
          <a:prstGeom xmlns:a="http://schemas.openxmlformats.org/drawingml/2006/main" prst="roundRect">
            <a:avLst>
              <a:gd name="adj" fmla="val 13333"/>
            </a:avLst>
          </a:prstGeom>
          <a:solidFill xmlns:a="http://schemas.openxmlformats.org/drawingml/2006/main">
            <a:srgbClr val="0F243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B0199E-5FA1-4E8A-A9A1-02DE6AE99317}"/>
              </a:ext>
            </a:extLst>
          </p:cNvPr>
          <p:cNvSpPr>
            <a:spLocks xmlns:a="http://schemas.openxmlformats.org/drawingml/2006/main" noGrp="1"/>
          </p:cNvSpPr>
          <p:nvPr/>
        </p:nvSpPr>
        <p:spPr>
          <a:xfrm xmlns:a="http://schemas.openxmlformats.org/drawingml/2006/main">
            <a:off x="695325" y="23050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Raw</a:t>
            </a:r>
          </a:p>
        </p:txBody>
      </p:sp>
      <p:sp>
        <p:nvSpPr>
          <p:cNvPr id="5" name="">
            <a:extLst xmlns:a="http://schemas.openxmlformats.org/drawingml/2006/main">
              <a:ext uri="{FF2B5EF4-FFF2-40B4-BE49-F238E27FC236}">
                <a16:creationId xmlns:a16="http://schemas.microsoft.com/office/drawing/2014/main" id="{EDFE562F-3DDA-4096-BC0E-C3AF8C72212C}"/>
              </a:ext>
            </a:extLst>
          </p:cNvPr>
          <p:cNvSpPr>
            <a:spLocks xmlns:a="http://schemas.openxmlformats.org/drawingml/2006/main" noGrp="1"/>
          </p:cNvSpPr>
          <p:nvPr/>
        </p:nvSpPr>
        <p:spPr>
          <a:xfrm xmlns:a="http://schemas.openxmlformats.org/drawingml/2006/main">
            <a:off x="695325" y="2724150"/>
            <a:ext cx="147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train/test</a:t>
            </a:r>
          </a:p>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RUL labels</a:t>
            </a:r>
          </a:p>
        </p:txBody>
      </p:sp>
      <p:sp>
        <p:nvSpPr>
          <p:cNvPr id="6" name="">
            <a:extLst xmlns:a="http://schemas.openxmlformats.org/drawingml/2006/main">
              <a:ext uri="{FF2B5EF4-FFF2-40B4-BE49-F238E27FC236}">
                <a16:creationId xmlns:a16="http://schemas.microsoft.com/office/drawing/2014/main" id="{E815B1DF-2905-4CA2-BA53-BCA3785AAD8F}"/>
              </a:ext>
            </a:extLst>
          </p:cNvPr>
          <p:cNvSpPr>
            <a:spLocks xmlns:a="http://schemas.openxmlformats.org/drawingml/2006/main" noGrp="1"/>
          </p:cNvSpPr>
          <p:nvPr/>
        </p:nvSpPr>
        <p:spPr>
          <a:xfrm xmlns:a="http://schemas.openxmlformats.org/drawingml/2006/main">
            <a:off x="2390775" y="2619375"/>
            <a:ext cx="381000" cy="381000"/>
          </a:xfrm>
          <a:prstGeom xmlns:a="http://schemas.openxmlformats.org/drawingml/2006/main" prst="rightArrow">
            <a:avLst/>
          </a:prstGeom>
          <a:solidFill xmlns:a="http://schemas.openxmlformats.org/drawingml/2006/main">
            <a:srgbClr val="D7E0E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AFF4BF0E-1577-4C13-92DB-E3CDF475396C}"/>
              </a:ext>
            </a:extLst>
          </p:cNvPr>
          <p:cNvSpPr>
            <a:spLocks xmlns:a="http://schemas.openxmlformats.org/drawingml/2006/main" noGrp="1"/>
          </p:cNvSpPr>
          <p:nvPr/>
        </p:nvSpPr>
        <p:spPr>
          <a:xfrm xmlns:a="http://schemas.openxmlformats.org/drawingml/2006/main">
            <a:off x="2857500" y="2095500"/>
            <a:ext cx="1809750" cy="1428750"/>
          </a:xfrm>
          <a:prstGeom xmlns:a="http://schemas.openxmlformats.org/drawingml/2006/main" prst="roundRect">
            <a:avLst>
              <a:gd name="adj" fmla="val 13333"/>
            </a:avLst>
          </a:prstGeom>
          <a:solidFill xmlns:a="http://schemas.openxmlformats.org/drawingml/2006/main">
            <a:srgbClr val="245B8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7796AF0-B7AD-4B98-ACDE-3F3441737B24}"/>
              </a:ext>
            </a:extLst>
          </p:cNvPr>
          <p:cNvSpPr>
            <a:spLocks xmlns:a="http://schemas.openxmlformats.org/drawingml/2006/main" noGrp="1"/>
          </p:cNvSpPr>
          <p:nvPr/>
        </p:nvSpPr>
        <p:spPr>
          <a:xfrm xmlns:a="http://schemas.openxmlformats.org/drawingml/2006/main">
            <a:off x="3028950" y="23050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Silver</a:t>
            </a:r>
          </a:p>
        </p:txBody>
      </p:sp>
      <p:sp>
        <p:nvSpPr>
          <p:cNvPr id="9" name="">
            <a:extLst xmlns:a="http://schemas.openxmlformats.org/drawingml/2006/main">
              <a:ext uri="{FF2B5EF4-FFF2-40B4-BE49-F238E27FC236}">
                <a16:creationId xmlns:a16="http://schemas.microsoft.com/office/drawing/2014/main" id="{94F11E28-7261-4CAC-BF12-F7CA3AC41BE3}"/>
              </a:ext>
            </a:extLst>
          </p:cNvPr>
          <p:cNvSpPr>
            <a:spLocks xmlns:a="http://schemas.openxmlformats.org/drawingml/2006/main" noGrp="1"/>
          </p:cNvSpPr>
          <p:nvPr/>
        </p:nvSpPr>
        <p:spPr>
          <a:xfrm xmlns:a="http://schemas.openxmlformats.org/drawingml/2006/main">
            <a:off x="3028950" y="2724150"/>
            <a:ext cx="147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observations</a:t>
            </a:r>
          </a:p>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train targets</a:t>
            </a:r>
          </a:p>
        </p:txBody>
      </p:sp>
      <p:sp>
        <p:nvSpPr>
          <p:cNvPr id="10" name="">
            <a:extLst xmlns:a="http://schemas.openxmlformats.org/drawingml/2006/main">
              <a:ext uri="{FF2B5EF4-FFF2-40B4-BE49-F238E27FC236}">
                <a16:creationId xmlns:a16="http://schemas.microsoft.com/office/drawing/2014/main" id="{951E79E6-E882-4A1E-814C-0A59A517B0EB}"/>
              </a:ext>
            </a:extLst>
          </p:cNvPr>
          <p:cNvSpPr>
            <a:spLocks xmlns:a="http://schemas.openxmlformats.org/drawingml/2006/main" noGrp="1"/>
          </p:cNvSpPr>
          <p:nvPr/>
        </p:nvSpPr>
        <p:spPr>
          <a:xfrm xmlns:a="http://schemas.openxmlformats.org/drawingml/2006/main">
            <a:off x="4724400" y="2619375"/>
            <a:ext cx="381000" cy="381000"/>
          </a:xfrm>
          <a:prstGeom xmlns:a="http://schemas.openxmlformats.org/drawingml/2006/main" prst="rightArrow">
            <a:avLst/>
          </a:prstGeom>
          <a:solidFill xmlns:a="http://schemas.openxmlformats.org/drawingml/2006/main">
            <a:srgbClr val="D7E0E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C9707E2C-2A1F-4AB7-92E5-F7C873C0677F}"/>
              </a:ext>
            </a:extLst>
          </p:cNvPr>
          <p:cNvSpPr>
            <a:spLocks xmlns:a="http://schemas.openxmlformats.org/drawingml/2006/main" noGrp="1"/>
          </p:cNvSpPr>
          <p:nvPr/>
        </p:nvSpPr>
        <p:spPr>
          <a:xfrm xmlns:a="http://schemas.openxmlformats.org/drawingml/2006/main">
            <a:off x="5191125" y="2095500"/>
            <a:ext cx="1809750" cy="1428750"/>
          </a:xfrm>
          <a:prstGeom xmlns:a="http://schemas.openxmlformats.org/drawingml/2006/main" prst="roundRect">
            <a:avLst>
              <a:gd name="adj" fmla="val 13333"/>
            </a:avLst>
          </a:prstGeom>
          <a:solidFill xmlns:a="http://schemas.openxmlformats.org/drawingml/2006/main">
            <a:srgbClr val="1F7A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5C20AD8-EAB8-498A-8B8E-8A639F6620C5}"/>
              </a:ext>
            </a:extLst>
          </p:cNvPr>
          <p:cNvSpPr>
            <a:spLocks xmlns:a="http://schemas.openxmlformats.org/drawingml/2006/main" noGrp="1"/>
          </p:cNvSpPr>
          <p:nvPr/>
        </p:nvSpPr>
        <p:spPr>
          <a:xfrm xmlns:a="http://schemas.openxmlformats.org/drawingml/2006/main">
            <a:off x="5362575" y="23050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Gold</a:t>
            </a:r>
          </a:p>
        </p:txBody>
      </p:sp>
      <p:sp>
        <p:nvSpPr>
          <p:cNvPr id="13" name="">
            <a:extLst xmlns:a="http://schemas.openxmlformats.org/drawingml/2006/main">
              <a:ext uri="{FF2B5EF4-FFF2-40B4-BE49-F238E27FC236}">
                <a16:creationId xmlns:a16="http://schemas.microsoft.com/office/drawing/2014/main" id="{9CD151F5-B89E-4683-9E3E-9A3711CA5640}"/>
              </a:ext>
            </a:extLst>
          </p:cNvPr>
          <p:cNvSpPr>
            <a:spLocks xmlns:a="http://schemas.openxmlformats.org/drawingml/2006/main" noGrp="1"/>
          </p:cNvSpPr>
          <p:nvPr/>
        </p:nvSpPr>
        <p:spPr>
          <a:xfrm xmlns:a="http://schemas.openxmlformats.org/drawingml/2006/main">
            <a:off x="5362575" y="2724150"/>
            <a:ext cx="147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engine summary</a:t>
            </a:r>
          </a:p>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rolling features</a:t>
            </a:r>
          </a:p>
        </p:txBody>
      </p:sp>
      <p:sp>
        <p:nvSpPr>
          <p:cNvPr id="14" name="">
            <a:extLst xmlns:a="http://schemas.openxmlformats.org/drawingml/2006/main">
              <a:ext uri="{FF2B5EF4-FFF2-40B4-BE49-F238E27FC236}">
                <a16:creationId xmlns:a16="http://schemas.microsoft.com/office/drawing/2014/main" id="{4F8902B1-4AFA-4942-8928-FA8A4315C57A}"/>
              </a:ext>
            </a:extLst>
          </p:cNvPr>
          <p:cNvSpPr>
            <a:spLocks xmlns:a="http://schemas.openxmlformats.org/drawingml/2006/main" noGrp="1"/>
          </p:cNvSpPr>
          <p:nvPr/>
        </p:nvSpPr>
        <p:spPr>
          <a:xfrm xmlns:a="http://schemas.openxmlformats.org/drawingml/2006/main">
            <a:off x="7058025" y="2619375"/>
            <a:ext cx="381000" cy="381000"/>
          </a:xfrm>
          <a:prstGeom xmlns:a="http://schemas.openxmlformats.org/drawingml/2006/main" prst="rightArrow">
            <a:avLst/>
          </a:prstGeom>
          <a:solidFill xmlns:a="http://schemas.openxmlformats.org/drawingml/2006/main">
            <a:srgbClr val="D7E0E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711B7848-B049-4BFD-9A2A-E087A2943BE6}"/>
              </a:ext>
            </a:extLst>
          </p:cNvPr>
          <p:cNvSpPr>
            <a:spLocks xmlns:a="http://schemas.openxmlformats.org/drawingml/2006/main" noGrp="1"/>
          </p:cNvSpPr>
          <p:nvPr/>
        </p:nvSpPr>
        <p:spPr>
          <a:xfrm xmlns:a="http://schemas.openxmlformats.org/drawingml/2006/main">
            <a:off x="7524750" y="2095500"/>
            <a:ext cx="1809750" cy="1428750"/>
          </a:xfrm>
          <a:prstGeom xmlns:a="http://schemas.openxmlformats.org/drawingml/2006/main" prst="roundRect">
            <a:avLst>
              <a:gd name="adj" fmla="val 13333"/>
            </a:avLst>
          </a:prstGeom>
          <a:solidFill xmlns:a="http://schemas.openxmlformats.org/drawingml/2006/main">
            <a:srgbClr val="F28E2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698E7C7-89B8-474D-85F1-D7FF3DC9168C}"/>
              </a:ext>
            </a:extLst>
          </p:cNvPr>
          <p:cNvSpPr>
            <a:spLocks xmlns:a="http://schemas.openxmlformats.org/drawingml/2006/main" noGrp="1"/>
          </p:cNvSpPr>
          <p:nvPr/>
        </p:nvSpPr>
        <p:spPr>
          <a:xfrm xmlns:a="http://schemas.openxmlformats.org/drawingml/2006/main">
            <a:off x="7696200" y="23050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Modeling</a:t>
            </a:r>
          </a:p>
        </p:txBody>
      </p:sp>
      <p:sp>
        <p:nvSpPr>
          <p:cNvPr id="17" name="">
            <a:extLst xmlns:a="http://schemas.openxmlformats.org/drawingml/2006/main">
              <a:ext uri="{FF2B5EF4-FFF2-40B4-BE49-F238E27FC236}">
                <a16:creationId xmlns:a16="http://schemas.microsoft.com/office/drawing/2014/main" id="{F877CE42-EF42-4E9D-9E86-A7F940B652A7}"/>
              </a:ext>
            </a:extLst>
          </p:cNvPr>
          <p:cNvSpPr>
            <a:spLocks xmlns:a="http://schemas.openxmlformats.org/drawingml/2006/main" noGrp="1"/>
          </p:cNvSpPr>
          <p:nvPr/>
        </p:nvSpPr>
        <p:spPr>
          <a:xfrm xmlns:a="http://schemas.openxmlformats.org/drawingml/2006/main">
            <a:off x="7696200" y="2724150"/>
            <a:ext cx="147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GroupKFold</a:t>
            </a:r>
          </a:p>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Ridge/HGB</a:t>
            </a:r>
          </a:p>
        </p:txBody>
      </p:sp>
      <p:sp>
        <p:nvSpPr>
          <p:cNvPr id="18" name="">
            <a:extLst xmlns:a="http://schemas.openxmlformats.org/drawingml/2006/main">
              <a:ext uri="{FF2B5EF4-FFF2-40B4-BE49-F238E27FC236}">
                <a16:creationId xmlns:a16="http://schemas.microsoft.com/office/drawing/2014/main" id="{7EB44BB2-92B6-4238-ABCF-AC5EA42D9CCE}"/>
              </a:ext>
            </a:extLst>
          </p:cNvPr>
          <p:cNvSpPr>
            <a:spLocks xmlns:a="http://schemas.openxmlformats.org/drawingml/2006/main" noGrp="1"/>
          </p:cNvSpPr>
          <p:nvPr/>
        </p:nvSpPr>
        <p:spPr>
          <a:xfrm xmlns:a="http://schemas.openxmlformats.org/drawingml/2006/main">
            <a:off x="9391650" y="2619375"/>
            <a:ext cx="381000" cy="381000"/>
          </a:xfrm>
          <a:prstGeom xmlns:a="http://schemas.openxmlformats.org/drawingml/2006/main" prst="rightArrow">
            <a:avLst/>
          </a:prstGeom>
          <a:solidFill xmlns:a="http://schemas.openxmlformats.org/drawingml/2006/main">
            <a:srgbClr val="D7E0E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4F306F54-C477-4F31-B62F-FBACE8B57B24}"/>
              </a:ext>
            </a:extLst>
          </p:cNvPr>
          <p:cNvSpPr>
            <a:spLocks xmlns:a="http://schemas.openxmlformats.org/drawingml/2006/main" noGrp="1"/>
          </p:cNvSpPr>
          <p:nvPr/>
        </p:nvSpPr>
        <p:spPr>
          <a:xfrm xmlns:a="http://schemas.openxmlformats.org/drawingml/2006/main">
            <a:off x="9858375" y="2095500"/>
            <a:ext cx="1809750" cy="1428750"/>
          </a:xfrm>
          <a:prstGeom xmlns:a="http://schemas.openxmlformats.org/drawingml/2006/main" prst="roundRect">
            <a:avLst>
              <a:gd name="adj" fmla="val 13333"/>
            </a:avLst>
          </a:prstGeom>
          <a:solidFill xmlns:a="http://schemas.openxmlformats.org/drawingml/2006/main">
            <a:srgbClr val="3A8D5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D44BCCF-462A-45B3-8382-E25FE25B7DCC}"/>
              </a:ext>
            </a:extLst>
          </p:cNvPr>
          <p:cNvSpPr>
            <a:spLocks xmlns:a="http://schemas.openxmlformats.org/drawingml/2006/main" noGrp="1"/>
          </p:cNvSpPr>
          <p:nvPr/>
        </p:nvSpPr>
        <p:spPr>
          <a:xfrm xmlns:a="http://schemas.openxmlformats.org/drawingml/2006/main">
            <a:off x="10029825" y="23050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Outputs</a:t>
            </a:r>
          </a:p>
        </p:txBody>
      </p:sp>
      <p:sp>
        <p:nvSpPr>
          <p:cNvPr id="21" name="">
            <a:extLst xmlns:a="http://schemas.openxmlformats.org/drawingml/2006/main">
              <a:ext uri="{FF2B5EF4-FFF2-40B4-BE49-F238E27FC236}">
                <a16:creationId xmlns:a16="http://schemas.microsoft.com/office/drawing/2014/main" id="{1BB80771-3255-4AF1-90AE-F59059895226}"/>
              </a:ext>
            </a:extLst>
          </p:cNvPr>
          <p:cNvSpPr>
            <a:spLocks xmlns:a="http://schemas.openxmlformats.org/drawingml/2006/main" noGrp="1"/>
          </p:cNvSpPr>
          <p:nvPr/>
        </p:nvSpPr>
        <p:spPr>
          <a:xfrm xmlns:a="http://schemas.openxmlformats.org/drawingml/2006/main">
            <a:off x="10029825" y="2724150"/>
            <a:ext cx="147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RUL metrics</a:t>
            </a:r>
          </a:p>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Health Index</a:t>
            </a:r>
          </a:p>
        </p:txBody>
      </p:sp>
      <p:sp>
        <p:nvSpPr>
          <p:cNvPr id="22" name="">
            <a:extLst xmlns:a="http://schemas.openxmlformats.org/drawingml/2006/main">
              <a:ext uri="{FF2B5EF4-FFF2-40B4-BE49-F238E27FC236}">
                <a16:creationId xmlns:a16="http://schemas.microsoft.com/office/drawing/2014/main" id="{03268B00-F26A-435A-ADC0-3AFAE89C8A27}"/>
              </a:ext>
            </a:extLst>
          </p:cNvPr>
          <p:cNvSpPr>
            <a:spLocks xmlns:a="http://schemas.openxmlformats.org/drawingml/2006/main" noGrp="1"/>
          </p:cNvSpPr>
          <p:nvPr/>
        </p:nvSpPr>
        <p:spPr>
          <a:xfrm xmlns:a="http://schemas.openxmlformats.org/drawingml/2006/main">
            <a:off x="1504950" y="4362450"/>
            <a:ext cx="9191625" cy="876300"/>
          </a:xfrm>
          <a:prstGeom xmlns:a="http://schemas.openxmlformats.org/drawingml/2006/main" prst="roundRect">
            <a:avLst>
              <a:gd name="adj" fmla="val 17391"/>
            </a:avLst>
          </a:prstGeom>
          <a:solidFill xmlns:a="http://schemas.openxmlformats.org/drawingml/2006/main">
            <a:srgbClr val="EAF4F5"/>
          </a:solidFill>
          <a:ln xmlns:a="http://schemas.openxmlformats.org/drawingml/2006/main" w="9525">
            <a:solidFill>
              <a:srgbClr val="D7E0E8"/>
            </a:solidFill>
          </a:ln>
        </p:spPr>
      </p:sp>
      <p:sp>
        <p:nvSpPr>
          <p:cNvPr id="23" name="">
            <a:extLst xmlns:a="http://schemas.openxmlformats.org/drawingml/2006/main">
              <a:ext uri="{FF2B5EF4-FFF2-40B4-BE49-F238E27FC236}">
                <a16:creationId xmlns:a16="http://schemas.microsoft.com/office/drawing/2014/main" id="{6068BF02-CB76-44C4-8A93-1210DD71A5E9}"/>
              </a:ext>
            </a:extLst>
          </p:cNvPr>
          <p:cNvSpPr>
            <a:spLocks xmlns:a="http://schemas.openxmlformats.org/drawingml/2006/main" noGrp="1"/>
          </p:cNvSpPr>
          <p:nvPr/>
        </p:nvSpPr>
        <p:spPr>
          <a:xfrm xmlns:a="http://schemas.openxmlformats.org/drawingml/2006/main">
            <a:off x="1762125" y="45720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F7A8C"/>
                </a:solidFill>
                <a:latin typeface="Arial"/>
                <a:ea typeface="Arial"/>
                <a:cs typeface="Arial"/>
              </a:defRPr>
            </a:pPr>
            <a:r>
              <a:rPr sz="1425" b="1">
                <a:solidFill>
                  <a:srgbClr val="1F7A8C"/>
                </a:solidFill>
                <a:latin typeface="Arial"/>
                <a:ea typeface="Arial"/>
                <a:cs typeface="Arial"/>
              </a:rPr>
              <a:t>End-to-end check</a:t>
            </a:r>
          </a:p>
        </p:txBody>
      </p:sp>
      <p:sp>
        <p:nvSpPr>
          <p:cNvPr id="24" name="">
            <a:extLst xmlns:a="http://schemas.openxmlformats.org/drawingml/2006/main">
              <a:ext uri="{FF2B5EF4-FFF2-40B4-BE49-F238E27FC236}">
                <a16:creationId xmlns:a16="http://schemas.microsoft.com/office/drawing/2014/main" id="{AD9BADF0-C2C9-4211-B1EF-D20A3D416E8D}"/>
              </a:ext>
            </a:extLst>
          </p:cNvPr>
          <p:cNvSpPr>
            <a:spLocks xmlns:a="http://schemas.openxmlformats.org/drawingml/2006/main" noGrp="1"/>
          </p:cNvSpPr>
          <p:nvPr/>
        </p:nvSpPr>
        <p:spPr>
          <a:xfrm xmlns:a="http://schemas.openxmlformats.org/drawingml/2006/main">
            <a:off x="3886200" y="45720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202A"/>
                </a:solidFill>
                <a:latin typeface="Arial"/>
                <a:ea typeface="Arial"/>
                <a:cs typeface="Arial"/>
              </a:defRPr>
            </a:pPr>
            <a:r>
              <a:rPr sz="1350" b="0">
                <a:solidFill>
                  <a:srgbClr val="16202A"/>
                </a:solidFill>
                <a:latin typeface="Arial"/>
                <a:ea typeface="Arial"/>
                <a:cs typeface="Arial"/>
              </a:rPr>
              <a:t>15 bảng · metrics · 4 hình byte-identical · raw hashes bất biến · dashboard loader 100/704 rows</a:t>
            </a:r>
          </a:p>
        </p:txBody>
      </p:sp>
      <p:sp>
        <p:nvSpPr>
          <p:cNvPr id="25" name="">
            <a:extLst xmlns:a="http://schemas.openxmlformats.org/drawingml/2006/main">
              <a:ext uri="{FF2B5EF4-FFF2-40B4-BE49-F238E27FC236}">
                <a16:creationId xmlns:a16="http://schemas.microsoft.com/office/drawing/2014/main" id="{21B10CC9-E5C1-46A6-A0EE-1093E7D81014}"/>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52606D"/>
                </a:solidFill>
                <a:latin typeface="Arial"/>
                <a:ea typeface="Arial"/>
                <a:cs typeface="Arial"/>
              </a:defRPr>
            </a:pPr>
            <a:r>
              <a:rPr sz="825" b="0">
                <a:solidFill>
                  <a:srgbClr val="52606D"/>
                </a:solidFill>
                <a:latin typeface="Arial"/>
                <a:ea typeface="Arial"/>
                <a:cs typeface="Arial"/>
              </a:rPr>
              <a:t>NASA C-MAPSS FD001 · Phan Nguyễn Mai Phương · 2026</a:t>
            </a:r>
          </a:p>
        </p:txBody>
      </p:sp>
      <p:sp>
        <p:nvSpPr>
          <p:cNvPr id="26" name="">
            <a:extLst xmlns:a="http://schemas.openxmlformats.org/drawingml/2006/main">
              <a:ext uri="{FF2B5EF4-FFF2-40B4-BE49-F238E27FC236}">
                <a16:creationId xmlns:a16="http://schemas.microsoft.com/office/drawing/2014/main" id="{50EDBCC0-D3C5-4172-931B-1233A53A5866}"/>
              </a:ext>
            </a:extLst>
          </p:cNvPr>
          <p:cNvSpPr>
            <a:spLocks xmlns:a="http://schemas.openxmlformats.org/drawingml/2006/main" noGrp="1"/>
          </p:cNvSpPr>
          <p:nvPr/>
        </p:nvSpPr>
        <p:spPr>
          <a:xfrm xmlns:a="http://schemas.openxmlformats.org/drawingml/2006/main">
            <a:off x="11287125" y="65151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52606D"/>
                </a:solidFill>
                <a:latin typeface="Arial"/>
                <a:ea typeface="Arial"/>
                <a:cs typeface="Arial"/>
              </a:defRPr>
            </a:pPr>
            <a:r>
              <a:rPr sz="825" b="1">
                <a:solidFill>
                  <a:srgbClr val="52606D"/>
                </a:solidFill>
                <a:latin typeface="Arial"/>
                <a:ea typeface="Arial"/>
                <a:cs typeface="Arial"/>
              </a:rPr>
              <a:t>03</a:t>
            </a:r>
          </a:p>
        </p:txBody>
      </p:sp>
    </p:spTree>
    <p:extLst>
      <p:ext uri="{BB962C8B-B14F-4D97-AF65-F5344CB8AC3E}">
        <p14:creationId xmlns:p14="http://schemas.microsoft.com/office/powerpoint/2010/main" val="3283645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B561A6-7C37-4026-8502-4CE17391A562}"/>
              </a:ext>
            </a:extLst>
          </p:cNvPr>
          <p:cNvSpPr>
            <a:spLocks xmlns:a="http://schemas.openxmlformats.org/drawingml/2006/main" noGrp="1"/>
          </p:cNvSpPr>
          <p:nvPr/>
        </p:nvSpPr>
        <p:spPr>
          <a:xfrm xmlns:a="http://schemas.openxmlformats.org/drawingml/2006/main">
            <a:off x="609600" y="361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F243E"/>
                </a:solidFill>
                <a:latin typeface="Arial"/>
                <a:ea typeface="Arial"/>
                <a:cs typeface="Arial"/>
              </a:defRPr>
            </a:pPr>
            <a:r>
              <a:rPr sz="2400" b="1">
                <a:solidFill>
                  <a:srgbClr val="0F243E"/>
                </a:solidFill>
                <a:latin typeface="Arial"/>
                <a:ea typeface="Arial"/>
                <a:cs typeface="Arial"/>
              </a:rPr>
              <a:t>Tín hiệu từ EDA và thống kê</a:t>
            </a:r>
          </a:p>
        </p:txBody>
      </p:sp>
      <p:sp>
        <p:nvSpPr>
          <p:cNvPr id="2" name="">
            <a:extLst xmlns:a="http://schemas.openxmlformats.org/drawingml/2006/main">
              <a:ext uri="{FF2B5EF4-FFF2-40B4-BE49-F238E27FC236}">
                <a16:creationId xmlns:a16="http://schemas.microsoft.com/office/drawing/2014/main" id="{574761FB-0997-4178-BA93-4AA82C9E48E2}"/>
              </a:ext>
            </a:extLst>
          </p:cNvPr>
          <p:cNvSpPr>
            <a:spLocks xmlns:a="http://schemas.openxmlformats.org/drawingml/2006/main" noGrp="1"/>
          </p:cNvSpPr>
          <p:nvPr/>
        </p:nvSpPr>
        <p:spPr>
          <a:xfrm xmlns:a="http://schemas.openxmlformats.org/drawingml/2006/main">
            <a:off x="628650" y="8382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Phân tích train-only mô tả xu hướng trước khi modeling</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6d89f443c4d4e90"/>
          <a:stretch xmlns:a="http://schemas.openxmlformats.org/drawingml/2006/main"/>
        </p:blipFill>
        <p:spPr>
          <a:xfrm xmlns:a="http://schemas.openxmlformats.org/drawingml/2006/main">
            <a:off x="666750" y="1499427"/>
            <a:ext cx="5334000" cy="181127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bb0b1a6bfd34105"/>
          <a:stretch xmlns:a="http://schemas.openxmlformats.org/drawingml/2006/main"/>
        </p:blipFill>
        <p:spPr>
          <a:xfrm xmlns:a="http://schemas.openxmlformats.org/drawingml/2006/main">
            <a:off x="7932208" y="1285875"/>
            <a:ext cx="1994958" cy="2762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404B53D-E673-4F84-A5A9-9AA9EF5175B5}"/>
              </a:ext>
            </a:extLst>
          </p:cNvPr>
          <p:cNvSpPr>
            <a:spLocks xmlns:a="http://schemas.openxmlformats.org/drawingml/2006/main" noGrp="1"/>
          </p:cNvSpPr>
          <p:nvPr/>
        </p:nvSpPr>
        <p:spPr>
          <a:xfrm xmlns:a="http://schemas.openxmlformats.org/drawingml/2006/main">
            <a:off x="685800" y="3905250"/>
            <a:ext cx="10810875" cy="1000125"/>
          </a:xfrm>
          <a:prstGeom xmlns:a="http://schemas.openxmlformats.org/drawingml/2006/main" prst="roundRect">
            <a:avLst>
              <a:gd name="adj" fmla="val 17143"/>
            </a:avLst>
          </a:prstGeom>
          <a:solidFill xmlns:a="http://schemas.openxmlformats.org/drawingml/2006/main">
            <a:srgbClr val="F4F7FA"/>
          </a:solidFill>
          <a:ln xmlns:a="http://schemas.openxmlformats.org/drawingml/2006/main" w="9525">
            <a:solidFill>
              <a:srgbClr val="D7E0E8"/>
            </a:solidFill>
          </a:ln>
        </p:spPr>
      </p:sp>
      <p:sp>
        <p:nvSpPr>
          <p:cNvPr id="6" name="">
            <a:extLst xmlns:a="http://schemas.openxmlformats.org/drawingml/2006/main">
              <a:ext uri="{FF2B5EF4-FFF2-40B4-BE49-F238E27FC236}">
                <a16:creationId xmlns:a16="http://schemas.microsoft.com/office/drawing/2014/main" id="{E66D62DB-0282-4F11-B428-E2FA2E500CB7}"/>
              </a:ext>
            </a:extLst>
          </p:cNvPr>
          <p:cNvSpPr>
            <a:spLocks xmlns:a="http://schemas.openxmlformats.org/drawingml/2006/main" noGrp="1"/>
          </p:cNvSpPr>
          <p:nvPr/>
        </p:nvSpPr>
        <p:spPr>
          <a:xfrm xmlns:a="http://schemas.openxmlformats.org/drawingml/2006/main">
            <a:off x="933450" y="41148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F7A8C"/>
                </a:solidFill>
                <a:latin typeface="Arial"/>
                <a:ea typeface="Arial"/>
                <a:cs typeface="Arial"/>
              </a:defRPr>
            </a:pPr>
            <a:r>
              <a:rPr sz="1425" b="1">
                <a:solidFill>
                  <a:srgbClr val="1F7A8C"/>
                </a:solidFill>
                <a:latin typeface="Arial"/>
                <a:ea typeface="Arial"/>
                <a:cs typeface="Arial"/>
              </a:rPr>
              <a:t>Diễn giải</a:t>
            </a:r>
          </a:p>
        </p:txBody>
      </p:sp>
      <p:sp>
        <p:nvSpPr>
          <p:cNvPr id="7" name="">
            <a:extLst xmlns:a="http://schemas.openxmlformats.org/drawingml/2006/main">
              <a:ext uri="{FF2B5EF4-FFF2-40B4-BE49-F238E27FC236}">
                <a16:creationId xmlns:a16="http://schemas.microsoft.com/office/drawing/2014/main" id="{22BD1C0B-DF34-4C3A-A2D8-506B85312C0A}"/>
              </a:ext>
            </a:extLst>
          </p:cNvPr>
          <p:cNvSpPr>
            <a:spLocks xmlns:a="http://schemas.openxmlformats.org/drawingml/2006/main" noGrp="1"/>
          </p:cNvSpPr>
          <p:nvPr/>
        </p:nvSpPr>
        <p:spPr>
          <a:xfrm xmlns:a="http://schemas.openxmlformats.org/drawingml/2006/main">
            <a:off x="2333625" y="40957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Các sensor có mức thay đổi khác nhau giữa đầu và cuối vòng đời. Khoảng tin cậy và FDR được giữ trong artifact để tránh biến mô tả thành claim nhân quả.</a:t>
            </a:r>
          </a:p>
        </p:txBody>
      </p:sp>
      <p:sp>
        <p:nvSpPr>
          <p:cNvPr id="8" name="">
            <a:extLst xmlns:a="http://schemas.openxmlformats.org/drawingml/2006/main">
              <a:ext uri="{FF2B5EF4-FFF2-40B4-BE49-F238E27FC236}">
                <a16:creationId xmlns:a16="http://schemas.microsoft.com/office/drawing/2014/main" id="{E0028872-C15D-4C00-8966-F0BE66545868}"/>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52606D"/>
                </a:solidFill>
                <a:latin typeface="Arial"/>
                <a:ea typeface="Arial"/>
                <a:cs typeface="Arial"/>
              </a:defRPr>
            </a:pPr>
            <a:r>
              <a:rPr sz="825" b="0">
                <a:solidFill>
                  <a:srgbClr val="52606D"/>
                </a:solidFill>
                <a:latin typeface="Arial"/>
                <a:ea typeface="Arial"/>
                <a:cs typeface="Arial"/>
              </a:rPr>
              <a:t>NASA C-MAPSS FD001 · Phan Nguyễn Mai Phương · 2026</a:t>
            </a:r>
          </a:p>
        </p:txBody>
      </p:sp>
      <p:sp>
        <p:nvSpPr>
          <p:cNvPr id="9" name="">
            <a:extLst xmlns:a="http://schemas.openxmlformats.org/drawingml/2006/main">
              <a:ext uri="{FF2B5EF4-FFF2-40B4-BE49-F238E27FC236}">
                <a16:creationId xmlns:a16="http://schemas.microsoft.com/office/drawing/2014/main" id="{48BB7A77-9572-451D-B389-EEAF8B113586}"/>
              </a:ext>
            </a:extLst>
          </p:cNvPr>
          <p:cNvSpPr>
            <a:spLocks xmlns:a="http://schemas.openxmlformats.org/drawingml/2006/main" noGrp="1"/>
          </p:cNvSpPr>
          <p:nvPr/>
        </p:nvSpPr>
        <p:spPr>
          <a:xfrm xmlns:a="http://schemas.openxmlformats.org/drawingml/2006/main">
            <a:off x="11287125" y="65151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52606D"/>
                </a:solidFill>
                <a:latin typeface="Arial"/>
                <a:ea typeface="Arial"/>
                <a:cs typeface="Arial"/>
              </a:defRPr>
            </a:pPr>
            <a:r>
              <a:rPr sz="825" b="1">
                <a:solidFill>
                  <a:srgbClr val="52606D"/>
                </a:solidFill>
                <a:latin typeface="Arial"/>
                <a:ea typeface="Arial"/>
                <a:cs typeface="Arial"/>
              </a:rPr>
              <a:t>04</a:t>
            </a:r>
          </a:p>
        </p:txBody>
      </p:sp>
    </p:spTree>
    <p:extLst>
      <p:ext uri="{BB962C8B-B14F-4D97-AF65-F5344CB8AC3E}">
        <p14:creationId xmlns:p14="http://schemas.microsoft.com/office/powerpoint/2010/main" val="1776840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3D5789A-E275-46E2-BDAA-1DE02DF3F69B}"/>
              </a:ext>
            </a:extLst>
          </p:cNvPr>
          <p:cNvSpPr>
            <a:spLocks xmlns:a="http://schemas.openxmlformats.org/drawingml/2006/main" noGrp="1"/>
          </p:cNvSpPr>
          <p:nvPr/>
        </p:nvSpPr>
        <p:spPr>
          <a:xfrm xmlns:a="http://schemas.openxmlformats.org/drawingml/2006/main">
            <a:off x="609600" y="361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F243E"/>
                </a:solidFill>
                <a:latin typeface="Arial"/>
                <a:ea typeface="Arial"/>
                <a:cs typeface="Arial"/>
              </a:defRPr>
            </a:pPr>
            <a:r>
              <a:rPr sz="2400" b="1">
                <a:solidFill>
                  <a:srgbClr val="0F243E"/>
                </a:solidFill>
                <a:latin typeface="Arial"/>
                <a:ea typeface="Arial"/>
                <a:cs typeface="Arial"/>
              </a:rPr>
              <a:t>Rolling features và kiểm soát data leakage</a:t>
            </a:r>
          </a:p>
        </p:txBody>
      </p:sp>
      <p:sp>
        <p:nvSpPr>
          <p:cNvPr id="2" name="">
            <a:extLst xmlns:a="http://schemas.openxmlformats.org/drawingml/2006/main">
              <a:ext uri="{FF2B5EF4-FFF2-40B4-BE49-F238E27FC236}">
                <a16:creationId xmlns:a16="http://schemas.microsoft.com/office/drawing/2014/main" id="{2B2B448D-9FB6-4794-86AC-9378FD2EF971}"/>
              </a:ext>
            </a:extLst>
          </p:cNvPr>
          <p:cNvSpPr>
            <a:spLocks xmlns:a="http://schemas.openxmlformats.org/drawingml/2006/main" noGrp="1"/>
          </p:cNvSpPr>
          <p:nvPr/>
        </p:nvSpPr>
        <p:spPr>
          <a:xfrm xmlns:a="http://schemas.openxmlformats.org/drawingml/2006/main">
            <a:off x="628650" y="8382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Cửa sổ 30 cycles chỉ nhìn về quá khứ trong cùng engine</a:t>
            </a:r>
          </a:p>
        </p:txBody>
      </p:sp>
      <p:sp>
        <p:nvSpPr>
          <p:cNvPr id="3" name="">
            <a:extLst xmlns:a="http://schemas.openxmlformats.org/drawingml/2006/main">
              <a:ext uri="{FF2B5EF4-FFF2-40B4-BE49-F238E27FC236}">
                <a16:creationId xmlns:a16="http://schemas.microsoft.com/office/drawing/2014/main" id="{00F36F7A-F2D4-4426-B22D-1680ACB70142}"/>
              </a:ext>
            </a:extLst>
          </p:cNvPr>
          <p:cNvSpPr>
            <a:spLocks xmlns:a="http://schemas.openxmlformats.org/drawingml/2006/main" noGrp="1"/>
          </p:cNvSpPr>
          <p:nvPr/>
        </p:nvSpPr>
        <p:spPr>
          <a:xfrm xmlns:a="http://schemas.openxmlformats.org/drawingml/2006/main">
            <a:off x="666750" y="1476375"/>
            <a:ext cx="4857750" cy="3429000"/>
          </a:xfrm>
          <a:prstGeom xmlns:a="http://schemas.openxmlformats.org/drawingml/2006/main" prst="roundRect">
            <a:avLst>
              <a:gd name="adj" fmla="val 6111"/>
            </a:avLst>
          </a:prstGeom>
          <a:solidFill xmlns:a="http://schemas.openxmlformats.org/drawingml/2006/main">
            <a:srgbClr val="F4F7FA"/>
          </a:solidFill>
          <a:ln xmlns:a="http://schemas.openxmlformats.org/drawingml/2006/main" w="9525">
            <a:solidFill>
              <a:srgbClr val="D7E0E8"/>
            </a:solidFill>
          </a:ln>
        </p:spPr>
      </p:sp>
      <p:sp>
        <p:nvSpPr>
          <p:cNvPr id="4" name="">
            <a:extLst xmlns:a="http://schemas.openxmlformats.org/drawingml/2006/main">
              <a:ext uri="{FF2B5EF4-FFF2-40B4-BE49-F238E27FC236}">
                <a16:creationId xmlns:a16="http://schemas.microsoft.com/office/drawing/2014/main" id="{480D06A8-E90E-499B-826A-392344773873}"/>
              </a:ext>
            </a:extLst>
          </p:cNvPr>
          <p:cNvSpPr>
            <a:spLocks xmlns:a="http://schemas.openxmlformats.org/drawingml/2006/main" noGrp="1"/>
          </p:cNvSpPr>
          <p:nvPr/>
        </p:nvSpPr>
        <p:spPr>
          <a:xfrm xmlns:a="http://schemas.openxmlformats.org/drawingml/2006/main">
            <a:off x="933450" y="17526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F243E"/>
                </a:solidFill>
                <a:latin typeface="Arial"/>
                <a:ea typeface="Arial"/>
                <a:cs typeface="Arial"/>
              </a:defRPr>
            </a:pPr>
            <a:r>
              <a:rPr sz="1650" b="1">
                <a:solidFill>
                  <a:srgbClr val="0F243E"/>
                </a:solidFill>
                <a:latin typeface="Arial"/>
                <a:ea typeface="Arial"/>
                <a:cs typeface="Arial"/>
              </a:rPr>
              <a:t>Một window hợp lệ</a:t>
            </a:r>
          </a:p>
        </p:txBody>
      </p:sp>
      <p:sp>
        <p:nvSpPr>
          <p:cNvPr id="5" name="">
            <a:extLst xmlns:a="http://schemas.openxmlformats.org/drawingml/2006/main">
              <a:ext uri="{FF2B5EF4-FFF2-40B4-BE49-F238E27FC236}">
                <a16:creationId xmlns:a16="http://schemas.microsoft.com/office/drawing/2014/main" id="{7F4A7E84-823B-4017-BCFE-ED90707D97EA}"/>
              </a:ext>
            </a:extLst>
          </p:cNvPr>
          <p:cNvSpPr>
            <a:spLocks xmlns:a="http://schemas.openxmlformats.org/drawingml/2006/main" noGrp="1"/>
          </p:cNvSpPr>
          <p:nvPr/>
        </p:nvSpPr>
        <p:spPr>
          <a:xfrm xmlns:a="http://schemas.openxmlformats.org/drawingml/2006/main">
            <a:off x="933450" y="237172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F7A8C"/>
                </a:solidFill>
                <a:latin typeface="Arial"/>
                <a:ea typeface="Arial"/>
                <a:cs typeface="Arial"/>
              </a:defRPr>
            </a:pPr>
            <a:r>
              <a:rPr sz="1950" b="1">
                <a:solidFill>
                  <a:srgbClr val="1F7A8C"/>
                </a:solidFill>
                <a:latin typeface="Arial"/>
                <a:ea typeface="Arial"/>
                <a:cs typeface="Arial"/>
              </a:rPr>
              <a:t>cycle 141  ·  ·  ·  cycle 170</a:t>
            </a:r>
          </a:p>
        </p:txBody>
      </p:sp>
      <p:sp>
        <p:nvSpPr>
          <p:cNvPr id="6" name="">
            <a:extLst xmlns:a="http://schemas.openxmlformats.org/drawingml/2006/main">
              <a:ext uri="{FF2B5EF4-FFF2-40B4-BE49-F238E27FC236}">
                <a16:creationId xmlns:a16="http://schemas.microsoft.com/office/drawing/2014/main" id="{CD42C32D-6026-476D-B771-120C25868300}"/>
              </a:ext>
            </a:extLst>
          </p:cNvPr>
          <p:cNvSpPr>
            <a:spLocks xmlns:a="http://schemas.openxmlformats.org/drawingml/2006/main" noGrp="1"/>
          </p:cNvSpPr>
          <p:nvPr/>
        </p:nvSpPr>
        <p:spPr>
          <a:xfrm xmlns:a="http://schemas.openxmlformats.org/drawingml/2006/main">
            <a:off x="933450" y="300037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last · mean · std · min · max · linear slope</a:t>
            </a:r>
          </a:p>
        </p:txBody>
      </p:sp>
      <p:sp>
        <p:nvSpPr>
          <p:cNvPr id="7" name="">
            <a:extLst xmlns:a="http://schemas.openxmlformats.org/drawingml/2006/main">
              <a:ext uri="{FF2B5EF4-FFF2-40B4-BE49-F238E27FC236}">
                <a16:creationId xmlns:a16="http://schemas.microsoft.com/office/drawing/2014/main" id="{31E34F51-DA67-489A-AC70-33BB8A1540A6}"/>
              </a:ext>
            </a:extLst>
          </p:cNvPr>
          <p:cNvSpPr>
            <a:spLocks xmlns:a="http://schemas.openxmlformats.org/drawingml/2006/main" noGrp="1"/>
          </p:cNvSpPr>
          <p:nvPr/>
        </p:nvSpPr>
        <p:spPr>
          <a:xfrm xmlns:a="http://schemas.openxmlformats.org/drawingml/2006/main">
            <a:off x="933450" y="3619500"/>
            <a:ext cx="3857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Full window required</a:t>
            </a:r>
          </a:p>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Không nối qua engine</a:t>
            </a:r>
          </a:p>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Không dùng future observations</a:t>
            </a:r>
          </a:p>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Không join test labels</a:t>
            </a:r>
          </a:p>
        </p:txBody>
      </p:sp>
      <p:sp>
        <p:nvSpPr>
          <p:cNvPr id="8" name="">
            <a:extLst xmlns:a="http://schemas.openxmlformats.org/drawingml/2006/main">
              <a:ext uri="{FF2B5EF4-FFF2-40B4-BE49-F238E27FC236}">
                <a16:creationId xmlns:a16="http://schemas.microsoft.com/office/drawing/2014/main" id="{97009B98-C402-436F-B18C-E4EA47CBFA20}"/>
              </a:ext>
            </a:extLst>
          </p:cNvPr>
          <p:cNvSpPr>
            <a:spLocks xmlns:a="http://schemas.openxmlformats.org/drawingml/2006/main" noGrp="1"/>
          </p:cNvSpPr>
          <p:nvPr/>
        </p:nvSpPr>
        <p:spPr>
          <a:xfrm xmlns:a="http://schemas.openxmlformats.org/drawingml/2006/main">
            <a:off x="6524625" y="180975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8E2B"/>
                </a:solidFill>
                <a:latin typeface="Arial"/>
                <a:ea typeface="Arial"/>
                <a:cs typeface="Arial"/>
              </a:defRPr>
            </a:pPr>
            <a:r>
              <a:rPr sz="3300" b="1">
                <a:solidFill>
                  <a:srgbClr val="F28E2B"/>
                </a:solidFill>
                <a:latin typeface="Arial"/>
                <a:ea typeface="Arial"/>
                <a:cs typeface="Arial"/>
              </a:rPr>
              <a:t>126</a:t>
            </a:r>
          </a:p>
        </p:txBody>
      </p:sp>
      <p:sp>
        <p:nvSpPr>
          <p:cNvPr id="9" name="">
            <a:extLst xmlns:a="http://schemas.openxmlformats.org/drawingml/2006/main">
              <a:ext uri="{FF2B5EF4-FFF2-40B4-BE49-F238E27FC236}">
                <a16:creationId xmlns:a16="http://schemas.microsoft.com/office/drawing/2014/main" id="{35CDEF43-9D4C-4486-96AE-F7E4FCF602E0}"/>
              </a:ext>
            </a:extLst>
          </p:cNvPr>
          <p:cNvSpPr>
            <a:spLocks xmlns:a="http://schemas.openxmlformats.org/drawingml/2006/main" noGrp="1"/>
          </p:cNvSpPr>
          <p:nvPr/>
        </p:nvSpPr>
        <p:spPr>
          <a:xfrm xmlns:a="http://schemas.openxmlformats.org/drawingml/2006/main">
            <a:off x="8096250" y="19431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Arial"/>
                <a:ea typeface="Arial"/>
                <a:cs typeface="Arial"/>
              </a:defRPr>
            </a:pPr>
            <a:r>
              <a:rPr sz="1500" b="0">
                <a:solidFill>
                  <a:srgbClr val="52606D"/>
                </a:solidFill>
                <a:latin typeface="Arial"/>
                <a:ea typeface="Arial"/>
                <a:cs typeface="Arial"/>
              </a:rPr>
              <a:t>feature columns</a:t>
            </a:r>
          </a:p>
        </p:txBody>
      </p:sp>
      <p:sp>
        <p:nvSpPr>
          <p:cNvPr id="10" name="">
            <a:extLst xmlns:a="http://schemas.openxmlformats.org/drawingml/2006/main">
              <a:ext uri="{FF2B5EF4-FFF2-40B4-BE49-F238E27FC236}">
                <a16:creationId xmlns:a16="http://schemas.microsoft.com/office/drawing/2014/main" id="{730B7543-920B-4F07-8BC8-DF1562C77074}"/>
              </a:ext>
            </a:extLst>
          </p:cNvPr>
          <p:cNvSpPr>
            <a:spLocks xmlns:a="http://schemas.openxmlformats.org/drawingml/2006/main" noGrp="1"/>
          </p:cNvSpPr>
          <p:nvPr/>
        </p:nvSpPr>
        <p:spPr>
          <a:xfrm xmlns:a="http://schemas.openxmlformats.org/drawingml/2006/main">
            <a:off x="6524625" y="276225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45B8F"/>
                </a:solidFill>
                <a:latin typeface="Arial"/>
                <a:ea typeface="Arial"/>
                <a:cs typeface="Arial"/>
              </a:defRPr>
            </a:pPr>
            <a:r>
              <a:rPr sz="3000" b="1">
                <a:solidFill>
                  <a:srgbClr val="245B8F"/>
                </a:solidFill>
                <a:latin typeface="Arial"/>
                <a:ea typeface="Arial"/>
                <a:cs typeface="Arial"/>
              </a:rPr>
              <a:t>27,927</a:t>
            </a:r>
          </a:p>
        </p:txBody>
      </p:sp>
      <p:sp>
        <p:nvSpPr>
          <p:cNvPr id="11" name="">
            <a:extLst xmlns:a="http://schemas.openxmlformats.org/drawingml/2006/main">
              <a:ext uri="{FF2B5EF4-FFF2-40B4-BE49-F238E27FC236}">
                <a16:creationId xmlns:a16="http://schemas.microsoft.com/office/drawing/2014/main" id="{42C1B09E-094C-4E99-A825-765250EAD183}"/>
              </a:ext>
            </a:extLst>
          </p:cNvPr>
          <p:cNvSpPr>
            <a:spLocks xmlns:a="http://schemas.openxmlformats.org/drawingml/2006/main" noGrp="1"/>
          </p:cNvSpPr>
          <p:nvPr/>
        </p:nvSpPr>
        <p:spPr>
          <a:xfrm xmlns:a="http://schemas.openxmlformats.org/drawingml/2006/main">
            <a:off x="8382000" y="29051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Arial"/>
                <a:ea typeface="Arial"/>
                <a:cs typeface="Arial"/>
              </a:defRPr>
            </a:pPr>
            <a:r>
              <a:rPr sz="1500" b="0">
                <a:solidFill>
                  <a:srgbClr val="52606D"/>
                </a:solidFill>
                <a:latin typeface="Arial"/>
                <a:ea typeface="Arial"/>
                <a:cs typeface="Arial"/>
              </a:rPr>
              <a:t>windows được tạo</a:t>
            </a:r>
          </a:p>
        </p:txBody>
      </p:sp>
      <p:sp>
        <p:nvSpPr>
          <p:cNvPr id="12" name="">
            <a:extLst xmlns:a="http://schemas.openxmlformats.org/drawingml/2006/main">
              <a:ext uri="{FF2B5EF4-FFF2-40B4-BE49-F238E27FC236}">
                <a16:creationId xmlns:a16="http://schemas.microsoft.com/office/drawing/2014/main" id="{1DFD22E3-F31E-4C47-A5A6-B085E41342F5}"/>
              </a:ext>
            </a:extLst>
          </p:cNvPr>
          <p:cNvSpPr>
            <a:spLocks xmlns:a="http://schemas.openxmlformats.org/drawingml/2006/main" noGrp="1"/>
          </p:cNvSpPr>
          <p:nvPr/>
        </p:nvSpPr>
        <p:spPr>
          <a:xfrm xmlns:a="http://schemas.openxmlformats.org/drawingml/2006/main">
            <a:off x="6524625" y="37909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A8D5D"/>
                </a:solidFill>
                <a:latin typeface="Arial"/>
                <a:ea typeface="Arial"/>
                <a:cs typeface="Arial"/>
              </a:defRPr>
            </a:pPr>
            <a:r>
              <a:rPr sz="2025" b="1">
                <a:solidFill>
                  <a:srgbClr val="3A8D5D"/>
                </a:solidFill>
                <a:latin typeface="Arial"/>
                <a:ea typeface="Arial"/>
                <a:cs typeface="Arial"/>
              </a:rPr>
              <a:t>GroupKFold theo engine</a:t>
            </a:r>
          </a:p>
        </p:txBody>
      </p:sp>
      <p:sp>
        <p:nvSpPr>
          <p:cNvPr id="13" name="">
            <a:extLst xmlns:a="http://schemas.openxmlformats.org/drawingml/2006/main">
              <a:ext uri="{FF2B5EF4-FFF2-40B4-BE49-F238E27FC236}">
                <a16:creationId xmlns:a16="http://schemas.microsoft.com/office/drawing/2014/main" id="{C703AE4B-3DA5-4296-8B19-F65AA52F6FE2}"/>
              </a:ext>
            </a:extLst>
          </p:cNvPr>
          <p:cNvSpPr>
            <a:spLocks xmlns:a="http://schemas.openxmlformats.org/drawingml/2006/main" noGrp="1"/>
          </p:cNvSpPr>
          <p:nvPr/>
        </p:nvSpPr>
        <p:spPr>
          <a:xfrm xmlns:a="http://schemas.openxmlformats.org/drawingml/2006/main">
            <a:off x="6524625" y="42386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Mọi preprocessing và model selection nằm trong training folds.</a:t>
            </a:r>
          </a:p>
        </p:txBody>
      </p:sp>
      <p:sp>
        <p:nvSpPr>
          <p:cNvPr id="14" name="">
            <a:extLst xmlns:a="http://schemas.openxmlformats.org/drawingml/2006/main">
              <a:ext uri="{FF2B5EF4-FFF2-40B4-BE49-F238E27FC236}">
                <a16:creationId xmlns:a16="http://schemas.microsoft.com/office/drawing/2014/main" id="{234F8A08-A806-4EB5-9023-7BD4EC72D056}"/>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52606D"/>
                </a:solidFill>
                <a:latin typeface="Arial"/>
                <a:ea typeface="Arial"/>
                <a:cs typeface="Arial"/>
              </a:defRPr>
            </a:pPr>
            <a:r>
              <a:rPr sz="825" b="0">
                <a:solidFill>
                  <a:srgbClr val="52606D"/>
                </a:solidFill>
                <a:latin typeface="Arial"/>
                <a:ea typeface="Arial"/>
                <a:cs typeface="Arial"/>
              </a:rPr>
              <a:t>NASA C-MAPSS FD001 · Phan Nguyễn Mai Phương · 2026</a:t>
            </a:r>
          </a:p>
        </p:txBody>
      </p:sp>
      <p:sp>
        <p:nvSpPr>
          <p:cNvPr id="15" name="">
            <a:extLst xmlns:a="http://schemas.openxmlformats.org/drawingml/2006/main">
              <a:ext uri="{FF2B5EF4-FFF2-40B4-BE49-F238E27FC236}">
                <a16:creationId xmlns:a16="http://schemas.microsoft.com/office/drawing/2014/main" id="{CCE0F681-4594-4877-BDC9-FF842AF07B59}"/>
              </a:ext>
            </a:extLst>
          </p:cNvPr>
          <p:cNvSpPr>
            <a:spLocks xmlns:a="http://schemas.openxmlformats.org/drawingml/2006/main" noGrp="1"/>
          </p:cNvSpPr>
          <p:nvPr/>
        </p:nvSpPr>
        <p:spPr>
          <a:xfrm xmlns:a="http://schemas.openxmlformats.org/drawingml/2006/main">
            <a:off x="11287125" y="65151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52606D"/>
                </a:solidFill>
                <a:latin typeface="Arial"/>
                <a:ea typeface="Arial"/>
                <a:cs typeface="Arial"/>
              </a:defRPr>
            </a:pPr>
            <a:r>
              <a:rPr sz="825" b="1">
                <a:solidFill>
                  <a:srgbClr val="52606D"/>
                </a:solidFill>
                <a:latin typeface="Arial"/>
                <a:ea typeface="Arial"/>
                <a:cs typeface="Arial"/>
              </a:rPr>
              <a:t>05</a:t>
            </a:r>
          </a:p>
        </p:txBody>
      </p:sp>
    </p:spTree>
    <p:extLst>
      <p:ext uri="{BB962C8B-B14F-4D97-AF65-F5344CB8AC3E}">
        <p14:creationId xmlns:p14="http://schemas.microsoft.com/office/powerpoint/2010/main" val="13437344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325945-BC4B-4A51-A04C-C7D48B037786}"/>
              </a:ext>
            </a:extLst>
          </p:cNvPr>
          <p:cNvSpPr>
            <a:spLocks xmlns:a="http://schemas.openxmlformats.org/drawingml/2006/main" noGrp="1"/>
          </p:cNvSpPr>
          <p:nvPr/>
        </p:nvSpPr>
        <p:spPr>
          <a:xfrm xmlns:a="http://schemas.openxmlformats.org/drawingml/2006/main">
            <a:off x="609600" y="361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F243E"/>
                </a:solidFill>
                <a:latin typeface="Arial"/>
                <a:ea typeface="Arial"/>
                <a:cs typeface="Arial"/>
              </a:defRPr>
            </a:pPr>
            <a:r>
              <a:rPr sz="2400" b="1">
                <a:solidFill>
                  <a:srgbClr val="0F243E"/>
                </a:solidFill>
                <a:latin typeface="Arial"/>
                <a:ea typeface="Arial"/>
                <a:cs typeface="Arial"/>
              </a:rPr>
              <a:t>Model selection theo engine</a:t>
            </a:r>
          </a:p>
        </p:txBody>
      </p:sp>
      <p:sp>
        <p:nvSpPr>
          <p:cNvPr id="2" name="">
            <a:extLst xmlns:a="http://schemas.openxmlformats.org/drawingml/2006/main">
              <a:ext uri="{FF2B5EF4-FFF2-40B4-BE49-F238E27FC236}">
                <a16:creationId xmlns:a16="http://schemas.microsoft.com/office/drawing/2014/main" id="{9ED89532-B4BF-4527-96D9-EDE6D6725269}"/>
              </a:ext>
            </a:extLst>
          </p:cNvPr>
          <p:cNvSpPr>
            <a:spLocks xmlns:a="http://schemas.openxmlformats.org/drawingml/2006/main" noGrp="1"/>
          </p:cNvSpPr>
          <p:nvPr/>
        </p:nvSpPr>
        <p:spPr>
          <a:xfrm xmlns:a="http://schemas.openxmlformats.org/drawingml/2006/main">
            <a:off x="628650" y="8382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Primary metric là mean engine-level MAE trên 5-fold GroupKFold</a:t>
            </a:r>
          </a:p>
        </p:txBody>
      </p:sp>
      <p:graphicFrame>
        <p:nvGraphicFramePr>
          <p:cNvPr id="13" name=""/>
          <p:cNvGraphicFramePr/>
          <p:nvPr/>
        </p:nvGraphicFramePr>
        <p:xfrm>
          <a:off xmlns:a="http://schemas.openxmlformats.org/drawingml/2006/main" x="762000" y="1666875"/>
          <a:ext xmlns:a="http://schemas.openxmlformats.org/drawingml/2006/main" cx="6191250" cy="2857500"/>
        </p:xfrm>
        <a:graphic xmlns:a="http://schemas.openxmlformats.org/drawingml/2006/main">
          <a:graphicData uri="http://schemas.openxmlformats.org/drawingml/2006/table">
            <a:tbl>
              <a:tblPr/>
              <a:tblGrid>
                <a:gridCol w="2063750"/>
                <a:gridCol w="2063750"/>
                <a:gridCol w="2063750"/>
              </a:tblGrid>
              <a:tr h="714375">
                <a:tc>
                  <a:txBody>
                    <a:bodyPr/>
                    <a:lstStyle/>
                    <a:p>
                      <a:r>
                        <a:rPr sz="1350" b="1">
                          <a:solidFill>
                            <a:srgbClr val="FFFFFF"/>
                          </a:solidFill>
                          <a:latin typeface="Arial"/>
                          <a:ea typeface="Arial"/>
                          <a:cs typeface="Arial"/>
                        </a:rPr>
                        <a:t>Model</a:t>
                      </a:r>
                    </a:p>
                  </a:txBody>
                  <a:tcPr marL="91440" marR="91440" marT="45720" marB="45720">
                    <a:solidFill>
                      <a:srgbClr val="0F243E"/>
                    </a:solidFill>
                  </a:tcPr>
                </a:tc>
                <a:tc>
                  <a:txBody>
                    <a:bodyPr/>
                    <a:lstStyle/>
                    <a:p>
                      <a:r>
                        <a:rPr sz="1350" b="1">
                          <a:solidFill>
                            <a:srgbClr val="FFFFFF"/>
                          </a:solidFill>
                          <a:latin typeface="Arial"/>
                          <a:ea typeface="Arial"/>
                          <a:cs typeface="Arial"/>
                        </a:rPr>
                        <a:t>Mean engine MAE</a:t>
                      </a:r>
                    </a:p>
                  </a:txBody>
                  <a:tcPr marL="91440" marR="91440" marT="45720" marB="45720">
                    <a:solidFill>
                      <a:srgbClr val="0F243E"/>
                    </a:solidFill>
                  </a:tcPr>
                </a:tc>
                <a:tc>
                  <a:txBody>
                    <a:bodyPr/>
                    <a:lstStyle/>
                    <a:p>
                      <a:r>
                        <a:rPr sz="1350" b="1">
                          <a:solidFill>
                            <a:srgbClr val="FFFFFF"/>
                          </a:solidFill>
                          <a:latin typeface="Arial"/>
                          <a:ea typeface="Arial"/>
                          <a:cs typeface="Arial"/>
                        </a:rPr>
                        <a:t>Selected</a:t>
                      </a:r>
                    </a:p>
                  </a:txBody>
                  <a:tcPr marL="91440" marR="91440" marT="45720" marB="45720">
                    <a:solidFill>
                      <a:srgbClr val="0F243E"/>
                    </a:solidFill>
                  </a:tcPr>
                </a:tc>
              </a:tr>
              <a:tr h="714375">
                <a:tc>
                  <a:txBody>
                    <a:bodyPr/>
                    <a:lstStyle/>
                    <a:p>
                      <a:r>
                        <a:rPr sz="1275" b="0">
                          <a:solidFill>
                            <a:srgbClr val="16202A"/>
                          </a:solidFill>
                          <a:latin typeface="Arial"/>
                          <a:ea typeface="Arial"/>
                          <a:cs typeface="Arial"/>
                        </a:rPr>
                        <a:t>Median baseline</a:t>
                      </a:r>
                    </a:p>
                  </a:txBody>
                  <a:tcPr marL="91440" marR="91440" marT="45720" marB="45720"/>
                </a:tc>
                <a:tc>
                  <a:txBody>
                    <a:bodyPr/>
                    <a:lstStyle/>
                    <a:p>
                      <a:r>
                        <a:rPr sz="1275" b="0">
                          <a:solidFill>
                            <a:srgbClr val="16202A"/>
                          </a:solidFill>
                          <a:latin typeface="Arial"/>
                          <a:ea typeface="Arial"/>
                          <a:cs typeface="Arial"/>
                        </a:rPr>
                        <a:t>46.9543</a:t>
                      </a:r>
                    </a:p>
                  </a:txBody>
                  <a:tcPr marL="91440" marR="91440" marT="45720" marB="45720"/>
                </a:tc>
                <a:tc>
                  <a:txBody>
                    <a:bodyPr/>
                    <a:lstStyle/>
                    <a:p>
                      <a:r>
                        <a:rPr sz="1275" b="1">
                          <a:solidFill>
                            <a:srgbClr val="16202A"/>
                          </a:solidFill>
                          <a:latin typeface="Arial"/>
                          <a:ea typeface="Arial"/>
                          <a:cs typeface="Arial"/>
                        </a:rPr>
                        <a:t>No</a:t>
                      </a:r>
                    </a:p>
                  </a:txBody>
                  <a:tcPr marL="91440" marR="91440" marT="45720" marB="45720"/>
                </a:tc>
              </a:tr>
              <a:tr h="714375">
                <a:tc>
                  <a:txBody>
                    <a:bodyPr/>
                    <a:lstStyle/>
                    <a:p>
                      <a:r>
                        <a:rPr sz="1275" b="0">
                          <a:solidFill>
                            <a:srgbClr val="16202A"/>
                          </a:solidFill>
                          <a:latin typeface="Arial"/>
                          <a:ea typeface="Arial"/>
                          <a:cs typeface="Arial"/>
                        </a:rPr>
                        <a:t>Ridge</a:t>
                      </a:r>
                    </a:p>
                  </a:txBody>
                  <a:tcPr marL="91440" marR="91440" marT="45720" marB="45720"/>
                </a:tc>
                <a:tc>
                  <a:txBody>
                    <a:bodyPr/>
                    <a:lstStyle/>
                    <a:p>
                      <a:r>
                        <a:rPr sz="1275" b="0">
                          <a:solidFill>
                            <a:srgbClr val="16202A"/>
                          </a:solidFill>
                          <a:latin typeface="Arial"/>
                          <a:ea typeface="Arial"/>
                          <a:cs typeface="Arial"/>
                        </a:rPr>
                        <a:t>23.9922</a:t>
                      </a:r>
                    </a:p>
                  </a:txBody>
                  <a:tcPr marL="91440" marR="91440" marT="45720" marB="45720"/>
                </a:tc>
                <a:tc>
                  <a:txBody>
                    <a:bodyPr/>
                    <a:lstStyle/>
                    <a:p>
                      <a:r>
                        <a:rPr sz="1275" b="1">
                          <a:solidFill>
                            <a:srgbClr val="16202A"/>
                          </a:solidFill>
                          <a:latin typeface="Arial"/>
                          <a:ea typeface="Arial"/>
                          <a:cs typeface="Arial"/>
                        </a:rPr>
                        <a:t>No</a:t>
                      </a:r>
                    </a:p>
                  </a:txBody>
                  <a:tcPr marL="91440" marR="91440" marT="45720" marB="45720"/>
                </a:tc>
              </a:tr>
              <a:tr h="714375">
                <a:tc>
                  <a:txBody>
                    <a:bodyPr/>
                    <a:lstStyle/>
                    <a:p>
                      <a:r>
                        <a:rPr sz="1275" b="0">
                          <a:solidFill>
                            <a:srgbClr val="16202A"/>
                          </a:solidFill>
                          <a:latin typeface="Arial"/>
                          <a:ea typeface="Arial"/>
                          <a:cs typeface="Arial"/>
                        </a:rPr>
                        <a:t>HistGradientBoosting</a:t>
                      </a:r>
                    </a:p>
                  </a:txBody>
                  <a:tcPr marL="91440" marR="91440" marT="45720" marB="45720"/>
                </a:tc>
                <a:tc>
                  <a:txBody>
                    <a:bodyPr/>
                    <a:lstStyle/>
                    <a:p>
                      <a:r>
                        <a:rPr sz="1275" b="0">
                          <a:solidFill>
                            <a:srgbClr val="16202A"/>
                          </a:solidFill>
                          <a:latin typeface="Arial"/>
                          <a:ea typeface="Arial"/>
                          <a:cs typeface="Arial"/>
                        </a:rPr>
                        <a:t>20.2143</a:t>
                      </a:r>
                    </a:p>
                  </a:txBody>
                  <a:tcPr marL="91440" marR="91440" marT="45720" marB="45720"/>
                </a:tc>
                <a:tc>
                  <a:txBody>
                    <a:bodyPr/>
                    <a:lstStyle/>
                    <a:p>
                      <a:r>
                        <a:rPr sz="1275" b="1">
                          <a:solidFill>
                            <a:srgbClr val="16202A"/>
                          </a:solidFill>
                          <a:latin typeface="Arial"/>
                          <a:ea typeface="Arial"/>
                          <a:cs typeface="Arial"/>
                        </a:rPr>
                        <a:t>Yes</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63580EBA-8528-4657-9917-9F808CF21C5E}"/>
              </a:ext>
            </a:extLst>
          </p:cNvPr>
          <p:cNvSpPr>
            <a:spLocks xmlns:a="http://schemas.openxmlformats.org/drawingml/2006/main" noGrp="1"/>
          </p:cNvSpPr>
          <p:nvPr/>
        </p:nvSpPr>
        <p:spPr>
          <a:xfrm xmlns:a="http://schemas.openxmlformats.org/drawingml/2006/main">
            <a:off x="7524750" y="1571625"/>
            <a:ext cx="3667125" cy="3143250"/>
          </a:xfrm>
          <a:prstGeom xmlns:a="http://schemas.openxmlformats.org/drawingml/2006/main" prst="roundRect">
            <a:avLst>
              <a:gd name="adj" fmla="val 6667"/>
            </a:avLst>
          </a:prstGeom>
          <a:solidFill xmlns:a="http://schemas.openxmlformats.org/drawingml/2006/main">
            <a:srgbClr val="F4F7FA"/>
          </a:solidFill>
          <a:ln xmlns:a="http://schemas.openxmlformats.org/drawingml/2006/main" w="9525">
            <a:solidFill>
              <a:srgbClr val="D7E0E8"/>
            </a:solidFill>
          </a:ln>
        </p:spPr>
      </p:sp>
      <p:sp>
        <p:nvSpPr>
          <p:cNvPr id="5" name="">
            <a:extLst xmlns:a="http://schemas.openxmlformats.org/drawingml/2006/main">
              <a:ext uri="{FF2B5EF4-FFF2-40B4-BE49-F238E27FC236}">
                <a16:creationId xmlns:a16="http://schemas.microsoft.com/office/drawing/2014/main" id="{2B59A43F-2FB8-4532-82B5-8BD9D788C37E}"/>
              </a:ext>
            </a:extLst>
          </p:cNvPr>
          <p:cNvSpPr>
            <a:spLocks xmlns:a="http://schemas.openxmlformats.org/drawingml/2006/main" noGrp="1"/>
          </p:cNvSpPr>
          <p:nvPr/>
        </p:nvSpPr>
        <p:spPr>
          <a:xfrm xmlns:a="http://schemas.openxmlformats.org/drawingml/2006/main">
            <a:off x="7810500" y="185737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F7A8C"/>
                </a:solidFill>
                <a:latin typeface="Arial"/>
                <a:ea typeface="Arial"/>
                <a:cs typeface="Arial"/>
              </a:defRPr>
            </a:pPr>
            <a:r>
              <a:rPr sz="1650" b="1">
                <a:solidFill>
                  <a:srgbClr val="1F7A8C"/>
                </a:solidFill>
                <a:latin typeface="Arial"/>
                <a:ea typeface="Arial"/>
                <a:cs typeface="Arial"/>
              </a:rPr>
              <a:t>Protocol</a:t>
            </a:r>
          </a:p>
        </p:txBody>
      </p:sp>
      <p:sp>
        <p:nvSpPr>
          <p:cNvPr id="6" name="">
            <a:extLst xmlns:a="http://schemas.openxmlformats.org/drawingml/2006/main">
              <a:ext uri="{FF2B5EF4-FFF2-40B4-BE49-F238E27FC236}">
                <a16:creationId xmlns:a16="http://schemas.microsoft.com/office/drawing/2014/main" id="{62412C4D-8FA4-4EE2-8510-4B2FA8145001}"/>
              </a:ext>
            </a:extLst>
          </p:cNvPr>
          <p:cNvSpPr>
            <a:spLocks xmlns:a="http://schemas.openxmlformats.org/drawingml/2006/main" noGrp="1"/>
          </p:cNvSpPr>
          <p:nvPr/>
        </p:nvSpPr>
        <p:spPr>
          <a:xfrm xmlns:a="http://schemas.openxmlformats.org/drawingml/2006/main">
            <a:off x="7810500" y="2381250"/>
            <a:ext cx="295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6202A"/>
                </a:solidFill>
                <a:latin typeface="Arial"/>
                <a:ea typeface="Arial"/>
                <a:cs typeface="Arial"/>
              </a:defRPr>
            </a:pPr>
            <a:r>
              <a:rPr sz="1500" b="0">
                <a:solidFill>
                  <a:srgbClr val="16202A"/>
                </a:solidFill>
                <a:latin typeface="Arial"/>
                <a:ea typeface="Arial"/>
                <a:cs typeface="Arial"/>
              </a:rPr>
              <a:t>5 folds theo engine</a:t>
            </a:r>
          </a:p>
          <a:p xmlns:a="http://schemas.openxmlformats.org/drawingml/2006/main">
            <a:pPr>
              <a:defRPr sz="1500" b="0">
                <a:solidFill>
                  <a:srgbClr val="16202A"/>
                </a:solidFill>
                <a:latin typeface="Arial"/>
                <a:ea typeface="Arial"/>
                <a:cs typeface="Arial"/>
              </a:defRPr>
            </a:pPr>
            <a:r>
              <a:rPr sz="1500" b="0">
                <a:solidFill>
                  <a:srgbClr val="16202A"/>
                </a:solidFill>
                <a:latin typeface="Arial"/>
                <a:ea typeface="Arial"/>
                <a:cs typeface="Arial"/>
              </a:rPr>
              <a:t>Engine-equal sample weighting</a:t>
            </a:r>
          </a:p>
          <a:p xmlns:a="http://schemas.openxmlformats.org/drawingml/2006/main">
            <a:pPr>
              <a:defRPr sz="1500" b="0">
                <a:solidFill>
                  <a:srgbClr val="16202A"/>
                </a:solidFill>
                <a:latin typeface="Arial"/>
                <a:ea typeface="Arial"/>
                <a:cs typeface="Arial"/>
              </a:defRPr>
            </a:pPr>
            <a:r>
              <a:rPr sz="1500" b="0">
                <a:solidFill>
                  <a:srgbClr val="16202A"/>
                </a:solidFill>
                <a:latin typeface="Arial"/>
                <a:ea typeface="Arial"/>
                <a:cs typeface="Arial"/>
              </a:rPr>
              <a:t>Ridge có scaler trong pipeline</a:t>
            </a:r>
          </a:p>
          <a:p xmlns:a="http://schemas.openxmlformats.org/drawingml/2006/main">
            <a:pPr>
              <a:defRPr sz="1500" b="0">
                <a:solidFill>
                  <a:srgbClr val="16202A"/>
                </a:solidFill>
                <a:latin typeface="Arial"/>
                <a:ea typeface="Arial"/>
                <a:cs typeface="Arial"/>
              </a:defRPr>
            </a:pPr>
            <a:r>
              <a:rPr sz="1500" b="0">
                <a:solidFill>
                  <a:srgbClr val="16202A"/>
                </a:solidFill>
                <a:latin typeface="Arial"/>
                <a:ea typeface="Arial"/>
                <a:cs typeface="Arial"/>
              </a:rPr>
              <a:t>Chọn theo mean_engine_mae</a:t>
            </a:r>
          </a:p>
        </p:txBody>
      </p:sp>
      <p:sp>
        <p:nvSpPr>
          <p:cNvPr id="7" name="">
            <a:extLst xmlns:a="http://schemas.openxmlformats.org/drawingml/2006/main">
              <a:ext uri="{FF2B5EF4-FFF2-40B4-BE49-F238E27FC236}">
                <a16:creationId xmlns:a16="http://schemas.microsoft.com/office/drawing/2014/main" id="{4C99C657-EFBC-4488-B789-03FE1E83E91F}"/>
              </a:ext>
            </a:extLst>
          </p:cNvPr>
          <p:cNvSpPr>
            <a:spLocks xmlns:a="http://schemas.openxmlformats.org/drawingml/2006/main" noGrp="1"/>
          </p:cNvSpPr>
          <p:nvPr/>
        </p:nvSpPr>
        <p:spPr>
          <a:xfrm xmlns:a="http://schemas.openxmlformats.org/drawingml/2006/main">
            <a:off x="7810500" y="3952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Arial"/>
                <a:ea typeface="Arial"/>
                <a:cs typeface="Arial"/>
              </a:defRPr>
            </a:pPr>
            <a:r>
              <a:rPr sz="1275" b="0">
                <a:solidFill>
                  <a:srgbClr val="52606D"/>
                </a:solidFill>
                <a:latin typeface="Arial"/>
                <a:ea typeface="Arial"/>
                <a:cs typeface="Arial"/>
              </a:rPr>
              <a:t>Model được chọn</a:t>
            </a:r>
          </a:p>
        </p:txBody>
      </p:sp>
      <p:sp>
        <p:nvSpPr>
          <p:cNvPr id="8" name="">
            <a:extLst xmlns:a="http://schemas.openxmlformats.org/drawingml/2006/main">
              <a:ext uri="{FF2B5EF4-FFF2-40B4-BE49-F238E27FC236}">
                <a16:creationId xmlns:a16="http://schemas.microsoft.com/office/drawing/2014/main" id="{9AE35C84-426A-4BE9-9730-4DC85C70F654}"/>
              </a:ext>
            </a:extLst>
          </p:cNvPr>
          <p:cNvSpPr>
            <a:spLocks xmlns:a="http://schemas.openxmlformats.org/drawingml/2006/main" noGrp="1"/>
          </p:cNvSpPr>
          <p:nvPr/>
        </p:nvSpPr>
        <p:spPr>
          <a:xfrm xmlns:a="http://schemas.openxmlformats.org/drawingml/2006/main">
            <a:off x="7810500" y="423862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28E2B"/>
                </a:solidFill>
                <a:latin typeface="Arial"/>
                <a:ea typeface="Arial"/>
                <a:cs typeface="Arial"/>
              </a:defRPr>
            </a:pPr>
            <a:r>
              <a:rPr sz="1800" b="1">
                <a:solidFill>
                  <a:srgbClr val="F28E2B"/>
                </a:solidFill>
                <a:latin typeface="Arial"/>
                <a:ea typeface="Arial"/>
                <a:cs typeface="Arial"/>
              </a:rPr>
              <a:t>hist_gradient_boosting</a:t>
            </a:r>
          </a:p>
        </p:txBody>
      </p:sp>
      <p:sp>
        <p:nvSpPr>
          <p:cNvPr id="9" name="">
            <a:extLst xmlns:a="http://schemas.openxmlformats.org/drawingml/2006/main">
              <a:ext uri="{FF2B5EF4-FFF2-40B4-BE49-F238E27FC236}">
                <a16:creationId xmlns:a16="http://schemas.microsoft.com/office/drawing/2014/main" id="{4CBCAC96-9A7E-4F71-BA94-A323A850D970}"/>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52606D"/>
                </a:solidFill>
                <a:latin typeface="Arial"/>
                <a:ea typeface="Arial"/>
                <a:cs typeface="Arial"/>
              </a:defRPr>
            </a:pPr>
            <a:r>
              <a:rPr sz="825" b="0">
                <a:solidFill>
                  <a:srgbClr val="52606D"/>
                </a:solidFill>
                <a:latin typeface="Arial"/>
                <a:ea typeface="Arial"/>
                <a:cs typeface="Arial"/>
              </a:rPr>
              <a:t>NASA C-MAPSS FD001 · Phan Nguyễn Mai Phương · 2026</a:t>
            </a:r>
          </a:p>
        </p:txBody>
      </p:sp>
      <p:sp>
        <p:nvSpPr>
          <p:cNvPr id="10" name="">
            <a:extLst xmlns:a="http://schemas.openxmlformats.org/drawingml/2006/main">
              <a:ext uri="{FF2B5EF4-FFF2-40B4-BE49-F238E27FC236}">
                <a16:creationId xmlns:a16="http://schemas.microsoft.com/office/drawing/2014/main" id="{87BAD582-7602-401C-9411-DA5CEDD53924}"/>
              </a:ext>
            </a:extLst>
          </p:cNvPr>
          <p:cNvSpPr>
            <a:spLocks xmlns:a="http://schemas.openxmlformats.org/drawingml/2006/main" noGrp="1"/>
          </p:cNvSpPr>
          <p:nvPr/>
        </p:nvSpPr>
        <p:spPr>
          <a:xfrm xmlns:a="http://schemas.openxmlformats.org/drawingml/2006/main">
            <a:off x="11287125" y="65151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52606D"/>
                </a:solidFill>
                <a:latin typeface="Arial"/>
                <a:ea typeface="Arial"/>
                <a:cs typeface="Arial"/>
              </a:defRPr>
            </a:pPr>
            <a:r>
              <a:rPr sz="825" b="1">
                <a:solidFill>
                  <a:srgbClr val="52606D"/>
                </a:solidFill>
                <a:latin typeface="Arial"/>
                <a:ea typeface="Arial"/>
                <a:cs typeface="Arial"/>
              </a:rPr>
              <a:t>06</a:t>
            </a:r>
          </a:p>
        </p:txBody>
      </p:sp>
    </p:spTree>
    <p:extLst>
      <p:ext uri="{BB962C8B-B14F-4D97-AF65-F5344CB8AC3E}">
        <p14:creationId xmlns:p14="http://schemas.microsoft.com/office/powerpoint/2010/main" val="6037283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6D74174-EAE2-4372-93F5-CEAAC4588CB7}"/>
              </a:ext>
            </a:extLst>
          </p:cNvPr>
          <p:cNvSpPr>
            <a:spLocks xmlns:a="http://schemas.openxmlformats.org/drawingml/2006/main" noGrp="1"/>
          </p:cNvSpPr>
          <p:nvPr/>
        </p:nvSpPr>
        <p:spPr>
          <a:xfrm xmlns:a="http://schemas.openxmlformats.org/drawingml/2006/main">
            <a:off x="609600" y="361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F243E"/>
                </a:solidFill>
                <a:latin typeface="Arial"/>
                <a:ea typeface="Arial"/>
                <a:cs typeface="Arial"/>
              </a:defRPr>
            </a:pPr>
            <a:r>
              <a:rPr sz="2400" b="1">
                <a:solidFill>
                  <a:srgbClr val="0F243E"/>
                </a:solidFill>
                <a:latin typeface="Arial"/>
                <a:ea typeface="Arial"/>
                <a:cs typeface="Arial"/>
              </a:rPr>
              <a:t>Đánh giá cuối trên 100 test engines</a:t>
            </a:r>
          </a:p>
        </p:txBody>
      </p:sp>
      <p:sp>
        <p:nvSpPr>
          <p:cNvPr id="2" name="">
            <a:extLst xmlns:a="http://schemas.openxmlformats.org/drawingml/2006/main">
              <a:ext uri="{FF2B5EF4-FFF2-40B4-BE49-F238E27FC236}">
                <a16:creationId xmlns:a16="http://schemas.microsoft.com/office/drawing/2014/main" id="{4A74B8E3-309E-4EA3-B4C0-CE28EA2791D7}"/>
              </a:ext>
            </a:extLst>
          </p:cNvPr>
          <p:cNvSpPr>
            <a:spLocks xmlns:a="http://schemas.openxmlformats.org/drawingml/2006/main" noGrp="1"/>
          </p:cNvSpPr>
          <p:nvPr/>
        </p:nvSpPr>
        <p:spPr>
          <a:xfrm xmlns:a="http://schemas.openxmlformats.org/drawingml/2006/main">
            <a:off x="628650" y="8382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Predictions được tạo trước khi join test labels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06fedbbe8e6465d"/>
          <a:stretch xmlns:a="http://schemas.openxmlformats.org/drawingml/2006/main"/>
        </p:blipFill>
        <p:spPr>
          <a:xfrm xmlns:a="http://schemas.openxmlformats.org/drawingml/2006/main">
            <a:off x="709613" y="1285875"/>
            <a:ext cx="4867275" cy="347662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e3210b0d2df4852"/>
          <a:stretch xmlns:a="http://schemas.openxmlformats.org/drawingml/2006/main"/>
        </p:blipFill>
        <p:spPr>
          <a:xfrm xmlns:a="http://schemas.openxmlformats.org/drawingml/2006/main">
            <a:off x="5853113" y="1285875"/>
            <a:ext cx="4867275" cy="3476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3178309-9D20-4821-9832-1A9D1E2A3C6A}"/>
              </a:ext>
            </a:extLst>
          </p:cNvPr>
          <p:cNvSpPr>
            <a:spLocks xmlns:a="http://schemas.openxmlformats.org/drawingml/2006/main" noGrp="1"/>
          </p:cNvSpPr>
          <p:nvPr/>
        </p:nvSpPr>
        <p:spPr>
          <a:xfrm xmlns:a="http://schemas.openxmlformats.org/drawingml/2006/main">
            <a:off x="666750" y="5095875"/>
            <a:ext cx="10096500" cy="838200"/>
          </a:xfrm>
          <a:prstGeom xmlns:a="http://schemas.openxmlformats.org/drawingml/2006/main" prst="roundRect">
            <a:avLst>
              <a:gd name="adj" fmla="val 20455"/>
            </a:avLst>
          </a:prstGeom>
          <a:solidFill xmlns:a="http://schemas.openxmlformats.org/drawingml/2006/main">
            <a:srgbClr val="0F243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AE6532-21C5-4C48-8132-DFBA7D4313D8}"/>
              </a:ext>
            </a:extLst>
          </p:cNvPr>
          <p:cNvSpPr>
            <a:spLocks xmlns:a="http://schemas.openxmlformats.org/drawingml/2006/main" noGrp="1"/>
          </p:cNvSpPr>
          <p:nvPr/>
        </p:nvSpPr>
        <p:spPr>
          <a:xfrm xmlns:a="http://schemas.openxmlformats.org/drawingml/2006/main">
            <a:off x="952500" y="52673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E7EA"/>
                </a:solidFill>
                <a:latin typeface="Arial"/>
                <a:ea typeface="Arial"/>
                <a:cs typeface="Arial"/>
              </a:defRPr>
            </a:pPr>
            <a:r>
              <a:rPr sz="1125" b="0">
                <a:solidFill>
                  <a:srgbClr val="BFE7EA"/>
                </a:solidFill>
                <a:latin typeface="Arial"/>
                <a:ea typeface="Arial"/>
                <a:cs typeface="Arial"/>
              </a:rPr>
              <a:t>MAE</a:t>
            </a:r>
          </a:p>
        </p:txBody>
      </p:sp>
      <p:sp>
        <p:nvSpPr>
          <p:cNvPr id="7" name="">
            <a:extLst xmlns:a="http://schemas.openxmlformats.org/drawingml/2006/main">
              <a:ext uri="{FF2B5EF4-FFF2-40B4-BE49-F238E27FC236}">
                <a16:creationId xmlns:a16="http://schemas.microsoft.com/office/drawing/2014/main" id="{E1A835AA-359E-495F-A028-66F2AAB57BEB}"/>
              </a:ext>
            </a:extLst>
          </p:cNvPr>
          <p:cNvSpPr>
            <a:spLocks xmlns:a="http://schemas.openxmlformats.org/drawingml/2006/main" noGrp="1"/>
          </p:cNvSpPr>
          <p:nvPr/>
        </p:nvSpPr>
        <p:spPr>
          <a:xfrm xmlns:a="http://schemas.openxmlformats.org/drawingml/2006/main">
            <a:off x="952500" y="55054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15.3490</a:t>
            </a:r>
          </a:p>
        </p:txBody>
      </p:sp>
      <p:sp>
        <p:nvSpPr>
          <p:cNvPr id="8" name="">
            <a:extLst xmlns:a="http://schemas.openxmlformats.org/drawingml/2006/main">
              <a:ext uri="{FF2B5EF4-FFF2-40B4-BE49-F238E27FC236}">
                <a16:creationId xmlns:a16="http://schemas.microsoft.com/office/drawing/2014/main" id="{59FF30E0-BFAB-4D22-98B4-44F75B75DC89}"/>
              </a:ext>
            </a:extLst>
          </p:cNvPr>
          <p:cNvSpPr>
            <a:spLocks xmlns:a="http://schemas.openxmlformats.org/drawingml/2006/main" noGrp="1"/>
          </p:cNvSpPr>
          <p:nvPr/>
        </p:nvSpPr>
        <p:spPr>
          <a:xfrm xmlns:a="http://schemas.openxmlformats.org/drawingml/2006/main">
            <a:off x="3333750" y="52673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E7EA"/>
                </a:solidFill>
                <a:latin typeface="Arial"/>
                <a:ea typeface="Arial"/>
                <a:cs typeface="Arial"/>
              </a:defRPr>
            </a:pPr>
            <a:r>
              <a:rPr sz="1125" b="0">
                <a:solidFill>
                  <a:srgbClr val="BFE7EA"/>
                </a:solidFill>
                <a:latin typeface="Arial"/>
                <a:ea typeface="Arial"/>
                <a:cs typeface="Arial"/>
              </a:rPr>
              <a:t>RMSE</a:t>
            </a:r>
          </a:p>
        </p:txBody>
      </p:sp>
      <p:sp>
        <p:nvSpPr>
          <p:cNvPr id="9" name="">
            <a:extLst xmlns:a="http://schemas.openxmlformats.org/drawingml/2006/main">
              <a:ext uri="{FF2B5EF4-FFF2-40B4-BE49-F238E27FC236}">
                <a16:creationId xmlns:a16="http://schemas.microsoft.com/office/drawing/2014/main" id="{BDC0F9F2-1FDE-4343-81D6-E0A6F884EC89}"/>
              </a:ext>
            </a:extLst>
          </p:cNvPr>
          <p:cNvSpPr>
            <a:spLocks xmlns:a="http://schemas.openxmlformats.org/drawingml/2006/main" noGrp="1"/>
          </p:cNvSpPr>
          <p:nvPr/>
        </p:nvSpPr>
        <p:spPr>
          <a:xfrm xmlns:a="http://schemas.openxmlformats.org/drawingml/2006/main">
            <a:off x="3333750" y="55054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20.5413</a:t>
            </a:r>
          </a:p>
        </p:txBody>
      </p:sp>
      <p:sp>
        <p:nvSpPr>
          <p:cNvPr id="10" name="">
            <a:extLst xmlns:a="http://schemas.openxmlformats.org/drawingml/2006/main">
              <a:ext uri="{FF2B5EF4-FFF2-40B4-BE49-F238E27FC236}">
                <a16:creationId xmlns:a16="http://schemas.microsoft.com/office/drawing/2014/main" id="{F6B62EDF-2D53-40DC-82C2-B5F4D456D72B}"/>
              </a:ext>
            </a:extLst>
          </p:cNvPr>
          <p:cNvSpPr>
            <a:spLocks xmlns:a="http://schemas.openxmlformats.org/drawingml/2006/main" noGrp="1"/>
          </p:cNvSpPr>
          <p:nvPr/>
        </p:nvSpPr>
        <p:spPr>
          <a:xfrm xmlns:a="http://schemas.openxmlformats.org/drawingml/2006/main">
            <a:off x="5715000" y="526732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E7EA"/>
                </a:solidFill>
                <a:latin typeface="Arial"/>
                <a:ea typeface="Arial"/>
                <a:cs typeface="Arial"/>
              </a:defRPr>
            </a:pPr>
            <a:r>
              <a:rPr sz="1125" b="0">
                <a:solidFill>
                  <a:srgbClr val="BFE7EA"/>
                </a:solidFill>
                <a:latin typeface="Arial"/>
                <a:ea typeface="Arial"/>
                <a:cs typeface="Arial"/>
              </a:rPr>
              <a:t>NASA score</a:t>
            </a:r>
          </a:p>
        </p:txBody>
      </p:sp>
      <p:sp>
        <p:nvSpPr>
          <p:cNvPr id="11" name="">
            <a:extLst xmlns:a="http://schemas.openxmlformats.org/drawingml/2006/main">
              <a:ext uri="{FF2B5EF4-FFF2-40B4-BE49-F238E27FC236}">
                <a16:creationId xmlns:a16="http://schemas.microsoft.com/office/drawing/2014/main" id="{638679AE-A164-4A3F-9320-EEF480CBE428}"/>
              </a:ext>
            </a:extLst>
          </p:cNvPr>
          <p:cNvSpPr>
            <a:spLocks xmlns:a="http://schemas.openxmlformats.org/drawingml/2006/main" noGrp="1"/>
          </p:cNvSpPr>
          <p:nvPr/>
        </p:nvSpPr>
        <p:spPr>
          <a:xfrm xmlns:a="http://schemas.openxmlformats.org/drawingml/2006/main">
            <a:off x="5715000" y="55054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1513.2577</a:t>
            </a:r>
          </a:p>
        </p:txBody>
      </p:sp>
      <p:sp>
        <p:nvSpPr>
          <p:cNvPr id="12" name="">
            <a:extLst xmlns:a="http://schemas.openxmlformats.org/drawingml/2006/main">
              <a:ext uri="{FF2B5EF4-FFF2-40B4-BE49-F238E27FC236}">
                <a16:creationId xmlns:a16="http://schemas.microsoft.com/office/drawing/2014/main" id="{14685E60-1003-4D85-9EFF-7F3F01BE6954}"/>
              </a:ext>
            </a:extLst>
          </p:cNvPr>
          <p:cNvSpPr>
            <a:spLocks xmlns:a="http://schemas.openxmlformats.org/drawingml/2006/main" noGrp="1"/>
          </p:cNvSpPr>
          <p:nvPr/>
        </p:nvSpPr>
        <p:spPr>
          <a:xfrm xmlns:a="http://schemas.openxmlformats.org/drawingml/2006/main">
            <a:off x="7953375" y="53149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FFFFFF"/>
                </a:solidFill>
                <a:latin typeface="Arial"/>
                <a:ea typeface="Arial"/>
                <a:cs typeface="Arial"/>
              </a:defRPr>
            </a:pPr>
            <a:r>
              <a:rPr sz="1125" b="0">
                <a:solidFill>
                  <a:srgbClr val="FFFFFF"/>
                </a:solidFill>
                <a:latin typeface="Arial"/>
                <a:ea typeface="Arial"/>
                <a:cs typeface="Arial"/>
              </a:rPr>
              <a:t>95% bootstrap CI cho MAE:</a:t>
            </a:r>
          </a:p>
          <a:p xmlns:a="http://schemas.openxmlformats.org/drawingml/2006/main">
            <a:pPr>
              <a:defRPr sz="1125" b="0">
                <a:solidFill>
                  <a:srgbClr val="FFFFFF"/>
                </a:solidFill>
                <a:latin typeface="Arial"/>
                <a:ea typeface="Arial"/>
                <a:cs typeface="Arial"/>
              </a:defRPr>
            </a:pPr>
            <a:r>
              <a:rPr sz="1125" b="0">
                <a:solidFill>
                  <a:srgbClr val="FFFFFF"/>
                </a:solidFill>
                <a:latin typeface="Arial"/>
                <a:ea typeface="Arial"/>
                <a:cs typeface="Arial"/>
              </a:rPr>
              <a:t>[13.2594, 17.3941]</a:t>
            </a:r>
          </a:p>
        </p:txBody>
      </p:sp>
      <p:sp>
        <p:nvSpPr>
          <p:cNvPr id="13" name="">
            <a:extLst xmlns:a="http://schemas.openxmlformats.org/drawingml/2006/main">
              <a:ext uri="{FF2B5EF4-FFF2-40B4-BE49-F238E27FC236}">
                <a16:creationId xmlns:a16="http://schemas.microsoft.com/office/drawing/2014/main" id="{C0E7901E-3337-4DE6-A861-40F97143F43F}"/>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52606D"/>
                </a:solidFill>
                <a:latin typeface="Arial"/>
                <a:ea typeface="Arial"/>
                <a:cs typeface="Arial"/>
              </a:defRPr>
            </a:pPr>
            <a:r>
              <a:rPr sz="825" b="0">
                <a:solidFill>
                  <a:srgbClr val="52606D"/>
                </a:solidFill>
                <a:latin typeface="Arial"/>
                <a:ea typeface="Arial"/>
                <a:cs typeface="Arial"/>
              </a:rPr>
              <a:t>NASA C-MAPSS FD001 · Phan Nguyễn Mai Phương · 2026</a:t>
            </a:r>
          </a:p>
        </p:txBody>
      </p:sp>
      <p:sp>
        <p:nvSpPr>
          <p:cNvPr id="14" name="">
            <a:extLst xmlns:a="http://schemas.openxmlformats.org/drawingml/2006/main">
              <a:ext uri="{FF2B5EF4-FFF2-40B4-BE49-F238E27FC236}">
                <a16:creationId xmlns:a16="http://schemas.microsoft.com/office/drawing/2014/main" id="{8CA4D749-DF5E-48A3-81CF-48F7A0778221}"/>
              </a:ext>
            </a:extLst>
          </p:cNvPr>
          <p:cNvSpPr>
            <a:spLocks xmlns:a="http://schemas.openxmlformats.org/drawingml/2006/main" noGrp="1"/>
          </p:cNvSpPr>
          <p:nvPr/>
        </p:nvSpPr>
        <p:spPr>
          <a:xfrm xmlns:a="http://schemas.openxmlformats.org/drawingml/2006/main">
            <a:off x="11287125" y="65151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52606D"/>
                </a:solidFill>
                <a:latin typeface="Arial"/>
                <a:ea typeface="Arial"/>
                <a:cs typeface="Arial"/>
              </a:defRPr>
            </a:pPr>
            <a:r>
              <a:rPr sz="825" b="1">
                <a:solidFill>
                  <a:srgbClr val="52606D"/>
                </a:solidFill>
                <a:latin typeface="Arial"/>
                <a:ea typeface="Arial"/>
                <a:cs typeface="Arial"/>
              </a:rPr>
              <a:t>07</a:t>
            </a:r>
          </a:p>
        </p:txBody>
      </p:sp>
    </p:spTree>
    <p:extLst>
      <p:ext uri="{BB962C8B-B14F-4D97-AF65-F5344CB8AC3E}">
        <p14:creationId xmlns:p14="http://schemas.microsoft.com/office/powerpoint/2010/main" val="3314838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1724BB-7565-49C6-8EF7-B3BFE216012F}"/>
              </a:ext>
            </a:extLst>
          </p:cNvPr>
          <p:cNvSpPr>
            <a:spLocks xmlns:a="http://schemas.openxmlformats.org/drawingml/2006/main" noGrp="1"/>
          </p:cNvSpPr>
          <p:nvPr/>
        </p:nvSpPr>
        <p:spPr>
          <a:xfrm xmlns:a="http://schemas.openxmlformats.org/drawingml/2006/main">
            <a:off x="609600" y="361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F243E"/>
                </a:solidFill>
                <a:latin typeface="Arial"/>
                <a:ea typeface="Arial"/>
                <a:cs typeface="Arial"/>
              </a:defRPr>
            </a:pPr>
            <a:r>
              <a:rPr sz="2400" b="1">
                <a:solidFill>
                  <a:srgbClr val="0F243E"/>
                </a:solidFill>
                <a:latin typeface="Arial"/>
                <a:ea typeface="Arial"/>
                <a:cs typeface="Arial"/>
              </a:rPr>
              <a:t>PCA–ARIMA trên Health Index</a:t>
            </a:r>
          </a:p>
        </p:txBody>
      </p:sp>
      <p:sp>
        <p:nvSpPr>
          <p:cNvPr id="2" name="">
            <a:extLst xmlns:a="http://schemas.openxmlformats.org/drawingml/2006/main">
              <a:ext uri="{FF2B5EF4-FFF2-40B4-BE49-F238E27FC236}">
                <a16:creationId xmlns:a16="http://schemas.microsoft.com/office/drawing/2014/main" id="{4C028D2B-C7E6-4300-833A-CC8CEC54F34F}"/>
              </a:ext>
            </a:extLst>
          </p:cNvPr>
          <p:cNvSpPr>
            <a:spLocks xmlns:a="http://schemas.openxmlformats.org/drawingml/2006/main" noGrp="1"/>
          </p:cNvSpPr>
          <p:nvPr/>
        </p:nvSpPr>
        <p:spPr>
          <a:xfrm xmlns:a="http://schemas.openxmlformats.org/drawingml/2006/main">
            <a:off x="628650" y="8382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Phân tích time-series phụ, không thay thế mô hình RUL</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1fea4a0021a490d"/>
          <a:stretch xmlns:a="http://schemas.openxmlformats.org/drawingml/2006/main"/>
        </p:blipFill>
        <p:spPr>
          <a:xfrm xmlns:a="http://schemas.openxmlformats.org/drawingml/2006/main">
            <a:off x="666750" y="1333500"/>
            <a:ext cx="5238750" cy="28575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86acef6a697420a"/>
          <a:stretch xmlns:a="http://schemas.openxmlformats.org/drawingml/2006/main"/>
        </p:blipFill>
        <p:spPr>
          <a:xfrm xmlns:a="http://schemas.openxmlformats.org/drawingml/2006/main">
            <a:off x="6334125" y="1441011"/>
            <a:ext cx="5238750" cy="264247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573437E-710F-4D75-BF0A-001E95C8C2A7}"/>
              </a:ext>
            </a:extLst>
          </p:cNvPr>
          <p:cNvSpPr>
            <a:spLocks xmlns:a="http://schemas.openxmlformats.org/drawingml/2006/main" noGrp="1"/>
          </p:cNvSpPr>
          <p:nvPr/>
        </p:nvSpPr>
        <p:spPr>
          <a:xfrm xmlns:a="http://schemas.openxmlformats.org/drawingml/2006/main">
            <a:off x="666750" y="4476750"/>
            <a:ext cx="10810875" cy="1143000"/>
          </a:xfrm>
          <a:prstGeom xmlns:a="http://schemas.openxmlformats.org/drawingml/2006/main" prst="roundRect">
            <a:avLst>
              <a:gd name="adj" fmla="val 15000"/>
            </a:avLst>
          </a:prstGeom>
          <a:solidFill xmlns:a="http://schemas.openxmlformats.org/drawingml/2006/main">
            <a:srgbClr val="FFF4E8"/>
          </a:solidFill>
          <a:ln xmlns:a="http://schemas.openxmlformats.org/drawingml/2006/main" w="9525">
            <a:solidFill>
              <a:srgbClr val="F7C98B"/>
            </a:solidFill>
          </a:ln>
        </p:spPr>
      </p:sp>
      <p:sp>
        <p:nvSpPr>
          <p:cNvPr id="6" name="">
            <a:extLst xmlns:a="http://schemas.openxmlformats.org/drawingml/2006/main">
              <a:ext uri="{FF2B5EF4-FFF2-40B4-BE49-F238E27FC236}">
                <a16:creationId xmlns:a16="http://schemas.microsoft.com/office/drawing/2014/main" id="{B5A5F4B1-3FAD-4841-BC93-A1805EE30B2A}"/>
              </a:ext>
            </a:extLst>
          </p:cNvPr>
          <p:cNvSpPr>
            <a:spLocks xmlns:a="http://schemas.openxmlformats.org/drawingml/2006/main" noGrp="1"/>
          </p:cNvSpPr>
          <p:nvPr/>
        </p:nvSpPr>
        <p:spPr>
          <a:xfrm xmlns:a="http://schemas.openxmlformats.org/drawingml/2006/main">
            <a:off x="933450" y="4686300"/>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28E2B"/>
                </a:solidFill>
                <a:latin typeface="Arial"/>
                <a:ea typeface="Arial"/>
                <a:cs typeface="Arial"/>
              </a:defRPr>
            </a:pPr>
            <a:r>
              <a:rPr sz="1350" b="1">
                <a:solidFill>
                  <a:srgbClr val="F28E2B"/>
                </a:solidFill>
                <a:latin typeface="Arial"/>
                <a:ea typeface="Arial"/>
                <a:cs typeface="Arial"/>
              </a:rPr>
              <a:t>Thiết kế</a:t>
            </a:r>
          </a:p>
        </p:txBody>
      </p:sp>
      <p:sp>
        <p:nvSpPr>
          <p:cNvPr id="7" name="">
            <a:extLst xmlns:a="http://schemas.openxmlformats.org/drawingml/2006/main">
              <a:ext uri="{FF2B5EF4-FFF2-40B4-BE49-F238E27FC236}">
                <a16:creationId xmlns:a16="http://schemas.microsoft.com/office/drawing/2014/main" id="{C69AD8F3-4E99-42B2-8F32-9ED4BD48827D}"/>
              </a:ext>
            </a:extLst>
          </p:cNvPr>
          <p:cNvSpPr>
            <a:spLocks xmlns:a="http://schemas.openxmlformats.org/drawingml/2006/main" noGrp="1"/>
          </p:cNvSpPr>
          <p:nvPr/>
        </p:nvSpPr>
        <p:spPr>
          <a:xfrm xmlns:a="http://schemas.openxmlformats.org/drawingml/2006/main">
            <a:off x="2143125" y="4667250"/>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202A"/>
                </a:solidFill>
                <a:latin typeface="Arial"/>
                <a:ea typeface="Arial"/>
                <a:cs typeface="Arial"/>
              </a:defRPr>
            </a:pPr>
            <a:r>
              <a:rPr sz="1350" b="0">
                <a:solidFill>
                  <a:srgbClr val="16202A"/>
                </a:solidFill>
                <a:latin typeface="Arial"/>
                <a:ea typeface="Arial"/>
                <a:cs typeface="Arial"/>
              </a:rPr>
              <a:t>PCA fit trên train · 10 engines chọn trước forecast · split 70/30 · ARIMA order chọn bằng AIC trên fit segment · 704 forecast rows</a:t>
            </a:r>
          </a:p>
        </p:txBody>
      </p:sp>
      <p:sp>
        <p:nvSpPr>
          <p:cNvPr id="8" name="">
            <a:extLst xmlns:a="http://schemas.openxmlformats.org/drawingml/2006/main">
              <a:ext uri="{FF2B5EF4-FFF2-40B4-BE49-F238E27FC236}">
                <a16:creationId xmlns:a16="http://schemas.microsoft.com/office/drawing/2014/main" id="{8D4DB182-C856-4A61-934F-51D288427247}"/>
              </a:ext>
            </a:extLst>
          </p:cNvPr>
          <p:cNvSpPr>
            <a:spLocks xmlns:a="http://schemas.openxmlformats.org/drawingml/2006/main" noGrp="1"/>
          </p:cNvSpPr>
          <p:nvPr/>
        </p:nvSpPr>
        <p:spPr>
          <a:xfrm xmlns:a="http://schemas.openxmlformats.org/drawingml/2006/main">
            <a:off x="2143125" y="5191125"/>
            <a:ext cx="781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Arial"/>
                <a:ea typeface="Arial"/>
                <a:cs typeface="Arial"/>
              </a:defRPr>
            </a:pPr>
            <a:r>
              <a:rPr sz="1275" b="0">
                <a:solidFill>
                  <a:srgbClr val="52606D"/>
                </a:solidFill>
                <a:latin typeface="Arial"/>
                <a:ea typeface="Arial"/>
                <a:cs typeface="Arial"/>
              </a:rPr>
              <a:t>Diagnostics được lưu cùng artifact: ADF, Ljung–Box và coverage 95%.</a:t>
            </a:r>
          </a:p>
        </p:txBody>
      </p:sp>
      <p:sp>
        <p:nvSpPr>
          <p:cNvPr id="9" name="">
            <a:extLst xmlns:a="http://schemas.openxmlformats.org/drawingml/2006/main">
              <a:ext uri="{FF2B5EF4-FFF2-40B4-BE49-F238E27FC236}">
                <a16:creationId xmlns:a16="http://schemas.microsoft.com/office/drawing/2014/main" id="{14A4465D-316E-442F-802D-BC15D2B87A76}"/>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52606D"/>
                </a:solidFill>
                <a:latin typeface="Arial"/>
                <a:ea typeface="Arial"/>
                <a:cs typeface="Arial"/>
              </a:defRPr>
            </a:pPr>
            <a:r>
              <a:rPr sz="825" b="0">
                <a:solidFill>
                  <a:srgbClr val="52606D"/>
                </a:solidFill>
                <a:latin typeface="Arial"/>
                <a:ea typeface="Arial"/>
                <a:cs typeface="Arial"/>
              </a:rPr>
              <a:t>NASA C-MAPSS FD001 · Phan Nguyễn Mai Phương · 2026</a:t>
            </a:r>
          </a:p>
        </p:txBody>
      </p:sp>
      <p:sp>
        <p:nvSpPr>
          <p:cNvPr id="10" name="">
            <a:extLst xmlns:a="http://schemas.openxmlformats.org/drawingml/2006/main">
              <a:ext uri="{FF2B5EF4-FFF2-40B4-BE49-F238E27FC236}">
                <a16:creationId xmlns:a16="http://schemas.microsoft.com/office/drawing/2014/main" id="{A4D3C5F2-AE46-408E-A37F-C4330FEFCCE6}"/>
              </a:ext>
            </a:extLst>
          </p:cNvPr>
          <p:cNvSpPr>
            <a:spLocks xmlns:a="http://schemas.openxmlformats.org/drawingml/2006/main" noGrp="1"/>
          </p:cNvSpPr>
          <p:nvPr/>
        </p:nvSpPr>
        <p:spPr>
          <a:xfrm xmlns:a="http://schemas.openxmlformats.org/drawingml/2006/main">
            <a:off x="11287125" y="65151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52606D"/>
                </a:solidFill>
                <a:latin typeface="Arial"/>
                <a:ea typeface="Arial"/>
                <a:cs typeface="Arial"/>
              </a:defRPr>
            </a:pPr>
            <a:r>
              <a:rPr sz="825" b="1">
                <a:solidFill>
                  <a:srgbClr val="52606D"/>
                </a:solidFill>
                <a:latin typeface="Arial"/>
                <a:ea typeface="Arial"/>
                <a:cs typeface="Arial"/>
              </a:rPr>
              <a:t>08</a:t>
            </a:r>
          </a:p>
        </p:txBody>
      </p:sp>
    </p:spTree>
    <p:extLst>
      <p:ext uri="{BB962C8B-B14F-4D97-AF65-F5344CB8AC3E}">
        <p14:creationId xmlns:p14="http://schemas.microsoft.com/office/powerpoint/2010/main" val="1922950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0EB0779-9179-4F27-8E6F-86A7D0A9D805}"/>
              </a:ext>
            </a:extLst>
          </p:cNvPr>
          <p:cNvSpPr>
            <a:spLocks xmlns:a="http://schemas.openxmlformats.org/drawingml/2006/main" noGrp="1"/>
          </p:cNvSpPr>
          <p:nvPr/>
        </p:nvSpPr>
        <p:spPr>
          <a:xfrm xmlns:a="http://schemas.openxmlformats.org/drawingml/2006/main">
            <a:off x="609600" y="361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F243E"/>
                </a:solidFill>
                <a:latin typeface="Arial"/>
                <a:ea typeface="Arial"/>
                <a:cs typeface="Arial"/>
              </a:defRPr>
            </a:pPr>
            <a:r>
              <a:rPr sz="2400" b="1">
                <a:solidFill>
                  <a:srgbClr val="0F243E"/>
                </a:solidFill>
                <a:latin typeface="Arial"/>
                <a:ea typeface="Arial"/>
                <a:cs typeface="Arial"/>
              </a:rPr>
              <a:t>Dashboard và kiểm tra tái lập</a:t>
            </a:r>
          </a:p>
        </p:txBody>
      </p:sp>
      <p:sp>
        <p:nvSpPr>
          <p:cNvPr id="2" name="">
            <a:extLst xmlns:a="http://schemas.openxmlformats.org/drawingml/2006/main">
              <a:ext uri="{FF2B5EF4-FFF2-40B4-BE49-F238E27FC236}">
                <a16:creationId xmlns:a16="http://schemas.microsoft.com/office/drawing/2014/main" id="{608392CF-7CFB-4200-BD86-18FC6959082A}"/>
              </a:ext>
            </a:extLst>
          </p:cNvPr>
          <p:cNvSpPr>
            <a:spLocks xmlns:a="http://schemas.openxmlformats.org/drawingml/2006/main" noGrp="1"/>
          </p:cNvSpPr>
          <p:nvPr/>
        </p:nvSpPr>
        <p:spPr>
          <a:xfrm xmlns:a="http://schemas.openxmlformats.org/drawingml/2006/main">
            <a:off x="628650" y="8382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Consumer read-only đọc artifact đã sinh</a:t>
            </a:r>
          </a:p>
        </p:txBody>
      </p:sp>
      <p:sp>
        <p:nvSpPr>
          <p:cNvPr id="3" name="">
            <a:extLst xmlns:a="http://schemas.openxmlformats.org/drawingml/2006/main">
              <a:ext uri="{FF2B5EF4-FFF2-40B4-BE49-F238E27FC236}">
                <a16:creationId xmlns:a16="http://schemas.microsoft.com/office/drawing/2014/main" id="{D6B0558C-BBE1-4211-BE84-377DC3E4A5DA}"/>
              </a:ext>
            </a:extLst>
          </p:cNvPr>
          <p:cNvSpPr>
            <a:spLocks xmlns:a="http://schemas.openxmlformats.org/drawingml/2006/main" noGrp="1"/>
          </p:cNvSpPr>
          <p:nvPr/>
        </p:nvSpPr>
        <p:spPr>
          <a:xfrm xmlns:a="http://schemas.openxmlformats.org/drawingml/2006/main">
            <a:off x="714375" y="1571625"/>
            <a:ext cx="2238375" cy="1428750"/>
          </a:xfrm>
          <a:prstGeom xmlns:a="http://schemas.openxmlformats.org/drawingml/2006/main" prst="roundRect">
            <a:avLst>
              <a:gd name="adj" fmla="val 13333"/>
            </a:avLst>
          </a:prstGeom>
          <a:solidFill xmlns:a="http://schemas.openxmlformats.org/drawingml/2006/main">
            <a:srgbClr val="F4F7FA"/>
          </a:solidFill>
          <a:ln xmlns:a="http://schemas.openxmlformats.org/drawingml/2006/main" w="9525">
            <a:solidFill>
              <a:srgbClr val="D7E0E8"/>
            </a:solidFill>
          </a:ln>
        </p:spPr>
      </p:sp>
      <p:sp>
        <p:nvSpPr>
          <p:cNvPr id="4" name="">
            <a:extLst xmlns:a="http://schemas.openxmlformats.org/drawingml/2006/main">
              <a:ext uri="{FF2B5EF4-FFF2-40B4-BE49-F238E27FC236}">
                <a16:creationId xmlns:a16="http://schemas.microsoft.com/office/drawing/2014/main" id="{2528803B-84F4-4745-8595-A77FC3C3119D}"/>
              </a:ext>
            </a:extLst>
          </p:cNvPr>
          <p:cNvSpPr>
            <a:spLocks xmlns:a="http://schemas.openxmlformats.org/drawingml/2006/main" noGrp="1"/>
          </p:cNvSpPr>
          <p:nvPr/>
        </p:nvSpPr>
        <p:spPr>
          <a:xfrm xmlns:a="http://schemas.openxmlformats.org/drawingml/2006/main">
            <a:off x="923925" y="1809750"/>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45B8F"/>
                </a:solidFill>
                <a:latin typeface="Arial"/>
                <a:ea typeface="Arial"/>
                <a:cs typeface="Arial"/>
              </a:defRPr>
            </a:pPr>
            <a:r>
              <a:rPr sz="3000" b="1">
                <a:solidFill>
                  <a:srgbClr val="245B8F"/>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EA1BB213-16D9-4B48-95DA-DAB69C67387A}"/>
              </a:ext>
            </a:extLst>
          </p:cNvPr>
          <p:cNvSpPr>
            <a:spLocks xmlns:a="http://schemas.openxmlformats.org/drawingml/2006/main" noGrp="1"/>
          </p:cNvSpPr>
          <p:nvPr/>
        </p:nvSpPr>
        <p:spPr>
          <a:xfrm xmlns:a="http://schemas.openxmlformats.org/drawingml/2006/main">
            <a:off x="923925" y="238125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tables semantic-equal</a:t>
            </a:r>
          </a:p>
        </p:txBody>
      </p:sp>
      <p:sp>
        <p:nvSpPr>
          <p:cNvPr id="6" name="">
            <a:extLst xmlns:a="http://schemas.openxmlformats.org/drawingml/2006/main">
              <a:ext uri="{FF2B5EF4-FFF2-40B4-BE49-F238E27FC236}">
                <a16:creationId xmlns:a16="http://schemas.microsoft.com/office/drawing/2014/main" id="{32171426-536F-4CCC-960C-6D909A40AD03}"/>
              </a:ext>
            </a:extLst>
          </p:cNvPr>
          <p:cNvSpPr>
            <a:spLocks xmlns:a="http://schemas.openxmlformats.org/drawingml/2006/main" noGrp="1"/>
          </p:cNvSpPr>
          <p:nvPr/>
        </p:nvSpPr>
        <p:spPr>
          <a:xfrm xmlns:a="http://schemas.openxmlformats.org/drawingml/2006/main">
            <a:off x="3429000" y="1571625"/>
            <a:ext cx="2238375" cy="1428750"/>
          </a:xfrm>
          <a:prstGeom xmlns:a="http://schemas.openxmlformats.org/drawingml/2006/main" prst="roundRect">
            <a:avLst>
              <a:gd name="adj" fmla="val 13333"/>
            </a:avLst>
          </a:prstGeom>
          <a:solidFill xmlns:a="http://schemas.openxmlformats.org/drawingml/2006/main">
            <a:srgbClr val="F4F7FA"/>
          </a:solidFill>
          <a:ln xmlns:a="http://schemas.openxmlformats.org/drawingml/2006/main" w="9525">
            <a:solidFill>
              <a:srgbClr val="D7E0E8"/>
            </a:solidFill>
          </a:ln>
        </p:spPr>
      </p:sp>
      <p:sp>
        <p:nvSpPr>
          <p:cNvPr id="7" name="">
            <a:extLst xmlns:a="http://schemas.openxmlformats.org/drawingml/2006/main">
              <a:ext uri="{FF2B5EF4-FFF2-40B4-BE49-F238E27FC236}">
                <a16:creationId xmlns:a16="http://schemas.microsoft.com/office/drawing/2014/main" id="{239D347F-576B-4E6D-8B48-CDFB75F9B7D8}"/>
              </a:ext>
            </a:extLst>
          </p:cNvPr>
          <p:cNvSpPr>
            <a:spLocks xmlns:a="http://schemas.openxmlformats.org/drawingml/2006/main" noGrp="1"/>
          </p:cNvSpPr>
          <p:nvPr/>
        </p:nvSpPr>
        <p:spPr>
          <a:xfrm xmlns:a="http://schemas.openxmlformats.org/drawingml/2006/main">
            <a:off x="3638550" y="1809750"/>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7A8C"/>
                </a:solidFill>
                <a:latin typeface="Arial"/>
                <a:ea typeface="Arial"/>
                <a:cs typeface="Arial"/>
              </a:defRPr>
            </a:pPr>
            <a:r>
              <a:rPr sz="3000" b="1">
                <a:solidFill>
                  <a:srgbClr val="1F7A8C"/>
                </a:solidFill>
                <a:latin typeface="Arial"/>
                <a:ea typeface="Arial"/>
                <a:cs typeface="Arial"/>
              </a:rPr>
              <a:t>4</a:t>
            </a:r>
          </a:p>
        </p:txBody>
      </p:sp>
      <p:sp>
        <p:nvSpPr>
          <p:cNvPr id="8" name="">
            <a:extLst xmlns:a="http://schemas.openxmlformats.org/drawingml/2006/main">
              <a:ext uri="{FF2B5EF4-FFF2-40B4-BE49-F238E27FC236}">
                <a16:creationId xmlns:a16="http://schemas.microsoft.com/office/drawing/2014/main" id="{94E98AD1-FF26-4868-B394-C1D2AB1A3AA5}"/>
              </a:ext>
            </a:extLst>
          </p:cNvPr>
          <p:cNvSpPr>
            <a:spLocks xmlns:a="http://schemas.openxmlformats.org/drawingml/2006/main" noGrp="1"/>
          </p:cNvSpPr>
          <p:nvPr/>
        </p:nvSpPr>
        <p:spPr>
          <a:xfrm xmlns:a="http://schemas.openxmlformats.org/drawingml/2006/main">
            <a:off x="3638550" y="238125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figures byte-identical</a:t>
            </a:r>
          </a:p>
        </p:txBody>
      </p:sp>
      <p:sp>
        <p:nvSpPr>
          <p:cNvPr id="9" name="">
            <a:extLst xmlns:a="http://schemas.openxmlformats.org/drawingml/2006/main">
              <a:ext uri="{FF2B5EF4-FFF2-40B4-BE49-F238E27FC236}">
                <a16:creationId xmlns:a16="http://schemas.microsoft.com/office/drawing/2014/main" id="{C3142EA1-4F1D-47CC-B7D6-6A6BE859442E}"/>
              </a:ext>
            </a:extLst>
          </p:cNvPr>
          <p:cNvSpPr>
            <a:spLocks xmlns:a="http://schemas.openxmlformats.org/drawingml/2006/main" noGrp="1"/>
          </p:cNvSpPr>
          <p:nvPr/>
        </p:nvSpPr>
        <p:spPr>
          <a:xfrm xmlns:a="http://schemas.openxmlformats.org/drawingml/2006/main">
            <a:off x="6143625" y="1571625"/>
            <a:ext cx="2238375" cy="1428750"/>
          </a:xfrm>
          <a:prstGeom xmlns:a="http://schemas.openxmlformats.org/drawingml/2006/main" prst="roundRect">
            <a:avLst>
              <a:gd name="adj" fmla="val 13333"/>
            </a:avLst>
          </a:prstGeom>
          <a:solidFill xmlns:a="http://schemas.openxmlformats.org/drawingml/2006/main">
            <a:srgbClr val="F4F7FA"/>
          </a:solidFill>
          <a:ln xmlns:a="http://schemas.openxmlformats.org/drawingml/2006/main" w="9525">
            <a:solidFill>
              <a:srgbClr val="D7E0E8"/>
            </a:solidFill>
          </a:ln>
        </p:spPr>
      </p:sp>
      <p:sp>
        <p:nvSpPr>
          <p:cNvPr id="10" name="">
            <a:extLst xmlns:a="http://schemas.openxmlformats.org/drawingml/2006/main">
              <a:ext uri="{FF2B5EF4-FFF2-40B4-BE49-F238E27FC236}">
                <a16:creationId xmlns:a16="http://schemas.microsoft.com/office/drawing/2014/main" id="{57926CB1-A08F-4A7E-AC0B-FD08DAEA9503}"/>
              </a:ext>
            </a:extLst>
          </p:cNvPr>
          <p:cNvSpPr>
            <a:spLocks xmlns:a="http://schemas.openxmlformats.org/drawingml/2006/main" noGrp="1"/>
          </p:cNvSpPr>
          <p:nvPr/>
        </p:nvSpPr>
        <p:spPr>
          <a:xfrm xmlns:a="http://schemas.openxmlformats.org/drawingml/2006/main">
            <a:off x="6353175" y="1809750"/>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3A8D5D"/>
                </a:solidFill>
                <a:latin typeface="Arial"/>
                <a:ea typeface="Arial"/>
                <a:cs typeface="Arial"/>
              </a:defRPr>
            </a:pPr>
            <a:r>
              <a:rPr sz="3000" b="1">
                <a:solidFill>
                  <a:srgbClr val="3A8D5D"/>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28E77342-D825-4E7C-BD0B-A20A1940AD5F}"/>
              </a:ext>
            </a:extLst>
          </p:cNvPr>
          <p:cNvSpPr>
            <a:spLocks xmlns:a="http://schemas.openxmlformats.org/drawingml/2006/main" noGrp="1"/>
          </p:cNvSpPr>
          <p:nvPr/>
        </p:nvSpPr>
        <p:spPr>
          <a:xfrm xmlns:a="http://schemas.openxmlformats.org/drawingml/2006/main">
            <a:off x="6353175" y="238125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raw hashes unchanged</a:t>
            </a:r>
          </a:p>
        </p:txBody>
      </p:sp>
      <p:sp>
        <p:nvSpPr>
          <p:cNvPr id="12" name="">
            <a:extLst xmlns:a="http://schemas.openxmlformats.org/drawingml/2006/main">
              <a:ext uri="{FF2B5EF4-FFF2-40B4-BE49-F238E27FC236}">
                <a16:creationId xmlns:a16="http://schemas.microsoft.com/office/drawing/2014/main" id="{7668DD55-A9F7-4236-8898-69751CD53B9C}"/>
              </a:ext>
            </a:extLst>
          </p:cNvPr>
          <p:cNvSpPr>
            <a:spLocks xmlns:a="http://schemas.openxmlformats.org/drawingml/2006/main" noGrp="1"/>
          </p:cNvSpPr>
          <p:nvPr/>
        </p:nvSpPr>
        <p:spPr>
          <a:xfrm xmlns:a="http://schemas.openxmlformats.org/drawingml/2006/main">
            <a:off x="8858250" y="1571625"/>
            <a:ext cx="2238375" cy="1428750"/>
          </a:xfrm>
          <a:prstGeom xmlns:a="http://schemas.openxmlformats.org/drawingml/2006/main" prst="roundRect">
            <a:avLst>
              <a:gd name="adj" fmla="val 13333"/>
            </a:avLst>
          </a:prstGeom>
          <a:solidFill xmlns:a="http://schemas.openxmlformats.org/drawingml/2006/main">
            <a:srgbClr val="F4F7FA"/>
          </a:solidFill>
          <a:ln xmlns:a="http://schemas.openxmlformats.org/drawingml/2006/main" w="9525">
            <a:solidFill>
              <a:srgbClr val="D7E0E8"/>
            </a:solidFill>
          </a:ln>
        </p:spPr>
      </p:sp>
      <p:sp>
        <p:nvSpPr>
          <p:cNvPr id="13" name="">
            <a:extLst xmlns:a="http://schemas.openxmlformats.org/drawingml/2006/main">
              <a:ext uri="{FF2B5EF4-FFF2-40B4-BE49-F238E27FC236}">
                <a16:creationId xmlns:a16="http://schemas.microsoft.com/office/drawing/2014/main" id="{25B3F3F4-4A41-4233-819B-F7CDB46F0BA5}"/>
              </a:ext>
            </a:extLst>
          </p:cNvPr>
          <p:cNvSpPr>
            <a:spLocks xmlns:a="http://schemas.openxmlformats.org/drawingml/2006/main" noGrp="1"/>
          </p:cNvSpPr>
          <p:nvPr/>
        </p:nvSpPr>
        <p:spPr>
          <a:xfrm xmlns:a="http://schemas.openxmlformats.org/drawingml/2006/main">
            <a:off x="9067800" y="1809750"/>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8E2B"/>
                </a:solidFill>
                <a:latin typeface="Arial"/>
                <a:ea typeface="Arial"/>
                <a:cs typeface="Arial"/>
              </a:defRPr>
            </a:pPr>
            <a:r>
              <a:rPr sz="3000" b="1">
                <a:solidFill>
                  <a:srgbClr val="F28E2B"/>
                </a:solidFill>
                <a:latin typeface="Arial"/>
                <a:ea typeface="Arial"/>
                <a:cs typeface="Arial"/>
              </a:rPr>
              <a:t>123</a:t>
            </a:r>
          </a:p>
        </p:txBody>
      </p:sp>
      <p:sp>
        <p:nvSpPr>
          <p:cNvPr id="14" name="">
            <a:extLst xmlns:a="http://schemas.openxmlformats.org/drawingml/2006/main">
              <a:ext uri="{FF2B5EF4-FFF2-40B4-BE49-F238E27FC236}">
                <a16:creationId xmlns:a16="http://schemas.microsoft.com/office/drawing/2014/main" id="{DB30A81F-BA28-48E0-81CB-E9D2D9C3A98F}"/>
              </a:ext>
            </a:extLst>
          </p:cNvPr>
          <p:cNvSpPr>
            <a:spLocks xmlns:a="http://schemas.openxmlformats.org/drawingml/2006/main" noGrp="1"/>
          </p:cNvSpPr>
          <p:nvPr/>
        </p:nvSpPr>
        <p:spPr>
          <a:xfrm xmlns:a="http://schemas.openxmlformats.org/drawingml/2006/main">
            <a:off x="9067800" y="238125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tests passed</a:t>
            </a:r>
          </a:p>
        </p:txBody>
      </p:sp>
      <p:sp>
        <p:nvSpPr>
          <p:cNvPr id="15" name="">
            <a:extLst xmlns:a="http://schemas.openxmlformats.org/drawingml/2006/main">
              <a:ext uri="{FF2B5EF4-FFF2-40B4-BE49-F238E27FC236}">
                <a16:creationId xmlns:a16="http://schemas.microsoft.com/office/drawing/2014/main" id="{EF9E3749-97B3-402B-9873-B563EE2D6B91}"/>
              </a:ext>
            </a:extLst>
          </p:cNvPr>
          <p:cNvSpPr>
            <a:spLocks xmlns:a="http://schemas.openxmlformats.org/drawingml/2006/main" noGrp="1"/>
          </p:cNvSpPr>
          <p:nvPr/>
        </p:nvSpPr>
        <p:spPr>
          <a:xfrm xmlns:a="http://schemas.openxmlformats.org/drawingml/2006/main">
            <a:off x="714375" y="3476625"/>
            <a:ext cx="10287000" cy="1571625"/>
          </a:xfrm>
          <a:prstGeom xmlns:a="http://schemas.openxmlformats.org/drawingml/2006/main" prst="roundRect">
            <a:avLst>
              <a:gd name="adj" fmla="val 13333"/>
            </a:avLst>
          </a:prstGeom>
          <a:solidFill xmlns:a="http://schemas.openxmlformats.org/drawingml/2006/main">
            <a:srgbClr val="0F243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D029D4B-1BE9-4039-8B0E-7FF85B7F4E0F}"/>
              </a:ext>
            </a:extLst>
          </p:cNvPr>
          <p:cNvSpPr>
            <a:spLocks xmlns:a="http://schemas.openxmlformats.org/drawingml/2006/main" noGrp="1"/>
          </p:cNvSpPr>
          <p:nvPr/>
        </p:nvSpPr>
        <p:spPr>
          <a:xfrm xmlns:a="http://schemas.openxmlformats.org/drawingml/2006/main">
            <a:off x="1000125" y="37623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FE7EA"/>
                </a:solidFill>
                <a:latin typeface="Arial"/>
                <a:ea typeface="Arial"/>
                <a:cs typeface="Arial"/>
              </a:defRPr>
            </a:pPr>
            <a:r>
              <a:rPr sz="1500" b="1">
                <a:solidFill>
                  <a:srgbClr val="BFE7EA"/>
                </a:solidFill>
                <a:latin typeface="Arial"/>
                <a:ea typeface="Arial"/>
                <a:cs typeface="Arial"/>
              </a:rPr>
              <a:t>Lệnh tái lập</a:t>
            </a:r>
          </a:p>
        </p:txBody>
      </p:sp>
      <p:sp>
        <p:nvSpPr>
          <p:cNvPr id="17" name="">
            <a:extLst xmlns:a="http://schemas.openxmlformats.org/drawingml/2006/main">
              <a:ext uri="{FF2B5EF4-FFF2-40B4-BE49-F238E27FC236}">
                <a16:creationId xmlns:a16="http://schemas.microsoft.com/office/drawing/2014/main" id="{455063B2-2EFC-4783-994C-4A6344CA9B57}"/>
              </a:ext>
            </a:extLst>
          </p:cNvPr>
          <p:cNvSpPr>
            <a:spLocks xmlns:a="http://schemas.openxmlformats.org/drawingml/2006/main" noGrp="1"/>
          </p:cNvSpPr>
          <p:nvPr/>
        </p:nvSpPr>
        <p:spPr>
          <a:xfrm xmlns:a="http://schemas.openxmlformats.org/drawingml/2006/main">
            <a:off x="1000125" y="4143375"/>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uv run python -m cmapss.reproducibility</a:t>
            </a:r>
          </a:p>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  --output-root tmp/e2e-repro-final --repo-root .</a:t>
            </a:r>
          </a:p>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  --evidence-path tmp/e2e-repro-final/validation.json</a:t>
            </a:r>
          </a:p>
        </p:txBody>
      </p:sp>
      <p:sp>
        <p:nvSpPr>
          <p:cNvPr id="18" name="">
            <a:extLst xmlns:a="http://schemas.openxmlformats.org/drawingml/2006/main">
              <a:ext uri="{FF2B5EF4-FFF2-40B4-BE49-F238E27FC236}">
                <a16:creationId xmlns:a16="http://schemas.microsoft.com/office/drawing/2014/main" id="{7DAEA7D4-7CEC-4875-BE75-F457D9202FB5}"/>
              </a:ext>
            </a:extLst>
          </p:cNvPr>
          <p:cNvSpPr>
            <a:spLocks xmlns:a="http://schemas.openxmlformats.org/drawingml/2006/main" noGrp="1"/>
          </p:cNvSpPr>
          <p:nvPr/>
        </p:nvSpPr>
        <p:spPr>
          <a:xfrm xmlns:a="http://schemas.openxmlformats.org/drawingml/2006/main">
            <a:off x="1000125" y="5286375"/>
            <a:ext cx="971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Arial"/>
                <a:ea typeface="Arial"/>
                <a:cs typeface="Arial"/>
              </a:defRPr>
            </a:pPr>
            <a:r>
              <a:rPr sz="1275" b="0">
                <a:solidFill>
                  <a:srgbClr val="52606D"/>
                </a:solidFill>
                <a:latin typeface="Arial"/>
                <a:ea typeface="Arial"/>
                <a:cs typeface="Arial"/>
              </a:rPr>
              <a:t>Pandas path được kiểm tra end-to-end; PySpark parity và notebook reproducibility có evidence riêng.</a:t>
            </a:r>
          </a:p>
        </p:txBody>
      </p:sp>
      <p:sp>
        <p:nvSpPr>
          <p:cNvPr id="19" name="">
            <a:extLst xmlns:a="http://schemas.openxmlformats.org/drawingml/2006/main">
              <a:ext uri="{FF2B5EF4-FFF2-40B4-BE49-F238E27FC236}">
                <a16:creationId xmlns:a16="http://schemas.microsoft.com/office/drawing/2014/main" id="{E0895C5D-F7B0-42FC-8F85-EB8EDDBA5B5A}"/>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52606D"/>
                </a:solidFill>
                <a:latin typeface="Arial"/>
                <a:ea typeface="Arial"/>
                <a:cs typeface="Arial"/>
              </a:defRPr>
            </a:pPr>
            <a:r>
              <a:rPr sz="825" b="0">
                <a:solidFill>
                  <a:srgbClr val="52606D"/>
                </a:solidFill>
                <a:latin typeface="Arial"/>
                <a:ea typeface="Arial"/>
                <a:cs typeface="Arial"/>
              </a:rPr>
              <a:t>NASA C-MAPSS FD001 · Phan Nguyễn Mai Phương · 2026</a:t>
            </a:r>
          </a:p>
        </p:txBody>
      </p:sp>
      <p:sp>
        <p:nvSpPr>
          <p:cNvPr id="20" name="">
            <a:extLst xmlns:a="http://schemas.openxmlformats.org/drawingml/2006/main">
              <a:ext uri="{FF2B5EF4-FFF2-40B4-BE49-F238E27FC236}">
                <a16:creationId xmlns:a16="http://schemas.microsoft.com/office/drawing/2014/main" id="{C13AD0A4-FFE1-4FCE-B1AC-61EF43FE7F84}"/>
              </a:ext>
            </a:extLst>
          </p:cNvPr>
          <p:cNvSpPr>
            <a:spLocks xmlns:a="http://schemas.openxmlformats.org/drawingml/2006/main" noGrp="1"/>
          </p:cNvSpPr>
          <p:nvPr/>
        </p:nvSpPr>
        <p:spPr>
          <a:xfrm xmlns:a="http://schemas.openxmlformats.org/drawingml/2006/main">
            <a:off x="11287125" y="65151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52606D"/>
                </a:solidFill>
                <a:latin typeface="Arial"/>
                <a:ea typeface="Arial"/>
                <a:cs typeface="Arial"/>
              </a:defRPr>
            </a:pPr>
            <a:r>
              <a:rPr sz="825" b="1">
                <a:solidFill>
                  <a:srgbClr val="52606D"/>
                </a:solidFill>
                <a:latin typeface="Arial"/>
                <a:ea typeface="Arial"/>
                <a:cs typeface="Arial"/>
              </a:rPr>
              <a:t>09</a:t>
            </a:r>
          </a:p>
        </p:txBody>
      </p:sp>
    </p:spTree>
    <p:extLst>
      <p:ext uri="{BB962C8B-B14F-4D97-AF65-F5344CB8AC3E}">
        <p14:creationId xmlns:p14="http://schemas.microsoft.com/office/powerpoint/2010/main" val="6933115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B9A340-EAC8-41DE-8A6E-5064009A0552}"/>
              </a:ext>
            </a:extLst>
          </p:cNvPr>
          <p:cNvSpPr>
            <a:spLocks xmlns:a="http://schemas.openxmlformats.org/drawingml/2006/main" noGrp="1"/>
          </p:cNvSpPr>
          <p:nvPr/>
        </p:nvSpPr>
        <p:spPr>
          <a:xfrm xmlns:a="http://schemas.openxmlformats.org/drawingml/2006/main">
            <a:off x="609600" y="361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F243E"/>
                </a:solidFill>
                <a:latin typeface="Arial"/>
                <a:ea typeface="Arial"/>
                <a:cs typeface="Arial"/>
              </a:defRPr>
            </a:pPr>
            <a:r>
              <a:rPr sz="2400" b="1">
                <a:solidFill>
                  <a:srgbClr val="0F243E"/>
                </a:solidFill>
                <a:latin typeface="Arial"/>
                <a:ea typeface="Arial"/>
                <a:cs typeface="Arial"/>
              </a:rPr>
              <a:t>Giới hạn và gói bàn giao</a:t>
            </a:r>
          </a:p>
        </p:txBody>
      </p:sp>
      <p:sp>
        <p:nvSpPr>
          <p:cNvPr id="2" name="">
            <a:extLst xmlns:a="http://schemas.openxmlformats.org/drawingml/2006/main">
              <a:ext uri="{FF2B5EF4-FFF2-40B4-BE49-F238E27FC236}">
                <a16:creationId xmlns:a16="http://schemas.microsoft.com/office/drawing/2014/main" id="{12D63226-DA04-415A-A12E-7F7F1724CF4A}"/>
              </a:ext>
            </a:extLst>
          </p:cNvPr>
          <p:cNvSpPr>
            <a:spLocks xmlns:a="http://schemas.openxmlformats.org/drawingml/2006/main" noGrp="1"/>
          </p:cNvSpPr>
          <p:nvPr/>
        </p:nvSpPr>
        <p:spPr>
          <a:xfrm xmlns:a="http://schemas.openxmlformats.org/drawingml/2006/main">
            <a:off x="628650" y="8382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Kết quả đã đủ để trình bày trong phạm vi FD001</a:t>
            </a:r>
          </a:p>
        </p:txBody>
      </p:sp>
      <p:sp>
        <p:nvSpPr>
          <p:cNvPr id="3" name="">
            <a:extLst xmlns:a="http://schemas.openxmlformats.org/drawingml/2006/main">
              <a:ext uri="{FF2B5EF4-FFF2-40B4-BE49-F238E27FC236}">
                <a16:creationId xmlns:a16="http://schemas.microsoft.com/office/drawing/2014/main" id="{11B3484D-D49D-47C2-A5E7-7DDC6F25C7B6}"/>
              </a:ext>
            </a:extLst>
          </p:cNvPr>
          <p:cNvSpPr>
            <a:spLocks xmlns:a="http://schemas.openxmlformats.org/drawingml/2006/main" noGrp="1"/>
          </p:cNvSpPr>
          <p:nvPr/>
        </p:nvSpPr>
        <p:spPr>
          <a:xfrm xmlns:a="http://schemas.openxmlformats.org/drawingml/2006/main">
            <a:off x="666750" y="1428750"/>
            <a:ext cx="4953000" cy="3714750"/>
          </a:xfrm>
          <a:prstGeom xmlns:a="http://schemas.openxmlformats.org/drawingml/2006/main" prst="roundRect">
            <a:avLst>
              <a:gd name="adj" fmla="val 5641"/>
            </a:avLst>
          </a:prstGeom>
          <a:solidFill xmlns:a="http://schemas.openxmlformats.org/drawingml/2006/main">
            <a:srgbClr val="F4F7FA"/>
          </a:solidFill>
          <a:ln xmlns:a="http://schemas.openxmlformats.org/drawingml/2006/main" w="9525">
            <a:solidFill>
              <a:srgbClr val="D7E0E8"/>
            </a:solidFill>
          </a:ln>
        </p:spPr>
      </p:sp>
      <p:sp>
        <p:nvSpPr>
          <p:cNvPr id="4" name="">
            <a:extLst xmlns:a="http://schemas.openxmlformats.org/drawingml/2006/main">
              <a:ext uri="{FF2B5EF4-FFF2-40B4-BE49-F238E27FC236}">
                <a16:creationId xmlns:a16="http://schemas.microsoft.com/office/drawing/2014/main" id="{8EF650DF-455E-4CEE-BABD-DB4345F544FB}"/>
              </a:ext>
            </a:extLst>
          </p:cNvPr>
          <p:cNvSpPr>
            <a:spLocks xmlns:a="http://schemas.openxmlformats.org/drawingml/2006/main" noGrp="1"/>
          </p:cNvSpPr>
          <p:nvPr/>
        </p:nvSpPr>
        <p:spPr>
          <a:xfrm xmlns:a="http://schemas.openxmlformats.org/drawingml/2006/main">
            <a:off x="933450" y="17335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F243E"/>
                </a:solidFill>
                <a:latin typeface="Arial"/>
                <a:ea typeface="Arial"/>
                <a:cs typeface="Arial"/>
              </a:defRPr>
            </a:pPr>
            <a:r>
              <a:rPr sz="1650" b="1">
                <a:solidFill>
                  <a:srgbClr val="0F243E"/>
                </a:solidFill>
                <a:latin typeface="Arial"/>
                <a:ea typeface="Arial"/>
                <a:cs typeface="Arial"/>
              </a:rPr>
              <a:t>Giới hạn cần nói rõ</a:t>
            </a:r>
          </a:p>
        </p:txBody>
      </p:sp>
      <p:sp>
        <p:nvSpPr>
          <p:cNvPr id="5" name="">
            <a:extLst xmlns:a="http://schemas.openxmlformats.org/drawingml/2006/main">
              <a:ext uri="{FF2B5EF4-FFF2-40B4-BE49-F238E27FC236}">
                <a16:creationId xmlns:a16="http://schemas.microsoft.com/office/drawing/2014/main" id="{B924E74F-6B7E-4F4A-9683-6FFE08DFCE67}"/>
              </a:ext>
            </a:extLst>
          </p:cNvPr>
          <p:cNvSpPr>
            <a:spLocks xmlns:a="http://schemas.openxmlformats.org/drawingml/2006/main" noGrp="1"/>
          </p:cNvSpPr>
          <p:nvPr/>
        </p:nvSpPr>
        <p:spPr>
          <a:xfrm xmlns:a="http://schemas.openxmlformats.org/drawingml/2006/main">
            <a:off x="933450" y="2266950"/>
            <a:ext cx="4000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FD001 chỉ có một điều kiện vận hành và một dạng lỗi.</a:t>
            </a:r>
          </a:p>
          <a:p xmlns:a="http://schemas.openxmlformats.org/drawingml/2006/main">
            <a:r>
              <a:t/>
            </a:r>
          </a:p>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Health Index forecast không phải RUL forecast.</a:t>
            </a:r>
          </a:p>
          <a:p xmlns:a="http://schemas.openxmlformats.org/drawingml/2006/main">
            <a:r>
              <a:t/>
            </a:r>
          </a:p>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Chưa có serving API hoặc đánh giá trên bộ dữ liệu độc lập.</a:t>
            </a:r>
          </a:p>
          <a:p xmlns:a="http://schemas.openxmlformats.org/drawingml/2006/main">
            <a:r>
              <a:t/>
            </a:r>
          </a:p>
          <a:p xmlns:a="http://schemas.openxmlformats.org/drawingml/2006/main">
            <a:pPr>
              <a:defRPr sz="1425" b="0">
                <a:solidFill>
                  <a:srgbClr val="16202A"/>
                </a:solidFill>
                <a:latin typeface="Arial"/>
                <a:ea typeface="Arial"/>
                <a:cs typeface="Arial"/>
              </a:defRPr>
            </a:pPr>
            <a:r>
              <a:rPr sz="1425" b="0">
                <a:solidFill>
                  <a:srgbClr val="16202A"/>
                </a:solidFill>
                <a:latin typeface="Arial"/>
                <a:ea typeface="Arial"/>
                <a:cs typeface="Arial"/>
              </a:rPr>
              <a:t>PySpark và notebook có validation riêng.</a:t>
            </a:r>
          </a:p>
        </p:txBody>
      </p:sp>
      <p:sp>
        <p:nvSpPr>
          <p:cNvPr id="6" name="">
            <a:extLst xmlns:a="http://schemas.openxmlformats.org/drawingml/2006/main">
              <a:ext uri="{FF2B5EF4-FFF2-40B4-BE49-F238E27FC236}">
                <a16:creationId xmlns:a16="http://schemas.microsoft.com/office/drawing/2014/main" id="{F85B0EDB-F61B-41BE-AB62-25A71DC94325}"/>
              </a:ext>
            </a:extLst>
          </p:cNvPr>
          <p:cNvSpPr>
            <a:spLocks xmlns:a="http://schemas.openxmlformats.org/drawingml/2006/main" noGrp="1"/>
          </p:cNvSpPr>
          <p:nvPr/>
        </p:nvSpPr>
        <p:spPr>
          <a:xfrm xmlns:a="http://schemas.openxmlformats.org/drawingml/2006/main">
            <a:off x="6191250" y="1428750"/>
            <a:ext cx="4953000" cy="3714750"/>
          </a:xfrm>
          <a:prstGeom xmlns:a="http://schemas.openxmlformats.org/drawingml/2006/main" prst="roundRect">
            <a:avLst>
              <a:gd name="adj" fmla="val 5641"/>
            </a:avLst>
          </a:prstGeom>
          <a:solidFill xmlns:a="http://schemas.openxmlformats.org/drawingml/2006/main">
            <a:srgbClr val="EAF4F5"/>
          </a:solidFill>
          <a:ln xmlns:a="http://schemas.openxmlformats.org/drawingml/2006/main" w="9525">
            <a:solidFill>
              <a:srgbClr val="D7E0E8"/>
            </a:solidFill>
          </a:ln>
        </p:spPr>
      </p:sp>
      <p:sp>
        <p:nvSpPr>
          <p:cNvPr id="7" name="">
            <a:extLst xmlns:a="http://schemas.openxmlformats.org/drawingml/2006/main">
              <a:ext uri="{FF2B5EF4-FFF2-40B4-BE49-F238E27FC236}">
                <a16:creationId xmlns:a16="http://schemas.microsoft.com/office/drawing/2014/main" id="{8DABE42F-5125-4463-AD15-9A445A7D3748}"/>
              </a:ext>
            </a:extLst>
          </p:cNvPr>
          <p:cNvSpPr>
            <a:spLocks xmlns:a="http://schemas.openxmlformats.org/drawingml/2006/main" noGrp="1"/>
          </p:cNvSpPr>
          <p:nvPr/>
        </p:nvSpPr>
        <p:spPr>
          <a:xfrm xmlns:a="http://schemas.openxmlformats.org/drawingml/2006/main">
            <a:off x="6457950" y="17335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F7A8C"/>
                </a:solidFill>
                <a:latin typeface="Arial"/>
                <a:ea typeface="Arial"/>
                <a:cs typeface="Arial"/>
              </a:defRPr>
            </a:pPr>
            <a:r>
              <a:rPr sz="1650" b="1">
                <a:solidFill>
                  <a:srgbClr val="1F7A8C"/>
                </a:solidFill>
                <a:latin typeface="Arial"/>
                <a:ea typeface="Arial"/>
                <a:cs typeface="Arial"/>
              </a:rPr>
              <a:t>Thành phần bàn giao</a:t>
            </a:r>
          </a:p>
        </p:txBody>
      </p:sp>
      <p:sp>
        <p:nvSpPr>
          <p:cNvPr id="8" name="">
            <a:extLst xmlns:a="http://schemas.openxmlformats.org/drawingml/2006/main">
              <a:ext uri="{FF2B5EF4-FFF2-40B4-BE49-F238E27FC236}">
                <a16:creationId xmlns:a16="http://schemas.microsoft.com/office/drawing/2014/main" id="{113381EE-B3EA-4A25-9259-2DCFCB5DB5D3}"/>
              </a:ext>
            </a:extLst>
          </p:cNvPr>
          <p:cNvSpPr>
            <a:spLocks xmlns:a="http://schemas.openxmlformats.org/drawingml/2006/main" noGrp="1"/>
          </p:cNvSpPr>
          <p:nvPr/>
        </p:nvSpPr>
        <p:spPr>
          <a:xfrm xmlns:a="http://schemas.openxmlformats.org/drawingml/2006/main">
            <a:off x="6457950" y="2305050"/>
            <a:ext cx="4191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6202A"/>
                </a:solidFill>
                <a:latin typeface="Arial"/>
                <a:ea typeface="Arial"/>
                <a:cs typeface="Arial"/>
              </a:defRPr>
            </a:pPr>
            <a:r>
              <a:rPr sz="1500" b="0">
                <a:solidFill>
                  <a:srgbClr val="16202A"/>
                </a:solidFill>
                <a:latin typeface="Arial"/>
                <a:ea typeface="Arial"/>
                <a:cs typeface="Arial"/>
              </a:rPr>
              <a:t>slides/cmapss_fd001_presentation.pptx</a:t>
            </a:r>
          </a:p>
          <a:p xmlns:a="http://schemas.openxmlformats.org/drawingml/2006/main">
            <a:pPr>
              <a:defRPr sz="1500" b="0">
                <a:solidFill>
                  <a:srgbClr val="16202A"/>
                </a:solidFill>
                <a:latin typeface="Arial"/>
                <a:ea typeface="Arial"/>
                <a:cs typeface="Arial"/>
              </a:defRPr>
            </a:pPr>
            <a:r>
              <a:rPr sz="1500" b="0">
                <a:solidFill>
                  <a:srgbClr val="16202A"/>
                </a:solidFill>
                <a:latin typeface="Arial"/>
                <a:ea typeface="Arial"/>
                <a:cs typeface="Arial"/>
              </a:rPr>
              <a:t>docs/handoff/FINAL_HANDOFF.md</a:t>
            </a:r>
          </a:p>
          <a:p xmlns:a="http://schemas.openxmlformats.org/drawingml/2006/main">
            <a:pPr>
              <a:defRPr sz="1500" b="0">
                <a:solidFill>
                  <a:srgbClr val="16202A"/>
                </a:solidFill>
                <a:latin typeface="Arial"/>
                <a:ea typeface="Arial"/>
                <a:cs typeface="Arial"/>
              </a:defRPr>
            </a:pPr>
            <a:r>
              <a:rPr sz="1500" b="0">
                <a:solidFill>
                  <a:srgbClr val="16202A"/>
                </a:solidFill>
                <a:latin typeface="Arial"/>
                <a:ea typeface="Arial"/>
                <a:cs typeface="Arial"/>
              </a:rPr>
              <a:t>report/main.pdf</a:t>
            </a:r>
          </a:p>
          <a:p xmlns:a="http://schemas.openxmlformats.org/drawingml/2006/main">
            <a:pPr>
              <a:defRPr sz="1500" b="0">
                <a:solidFill>
                  <a:srgbClr val="16202A"/>
                </a:solidFill>
                <a:latin typeface="Arial"/>
                <a:ea typeface="Arial"/>
                <a:cs typeface="Arial"/>
              </a:defRPr>
            </a:pPr>
            <a:r>
              <a:rPr sz="1500" b="0">
                <a:solidFill>
                  <a:srgbClr val="16202A"/>
                </a:solidFill>
                <a:latin typeface="Arial"/>
                <a:ea typeface="Arial"/>
                <a:cs typeface="Arial"/>
              </a:rPr>
              <a:t>tmp/e2e-repro-final2/validation.json</a:t>
            </a:r>
          </a:p>
          <a:p xmlns:a="http://schemas.openxmlformats.org/drawingml/2006/main">
            <a:pPr>
              <a:defRPr sz="1500" b="0">
                <a:solidFill>
                  <a:srgbClr val="16202A"/>
                </a:solidFill>
                <a:latin typeface="Arial"/>
                <a:ea typeface="Arial"/>
                <a:cs typeface="Arial"/>
              </a:defRPr>
            </a:pPr>
            <a:r>
              <a:rPr sz="1500" b="0">
                <a:solidFill>
                  <a:srgbClr val="16202A"/>
                </a:solidFill>
                <a:latin typeface="Arial"/>
                <a:ea typeface="Arial"/>
                <a:cs typeface="Arial"/>
              </a:rPr>
              <a:t>src/cmapss/ và tests/</a:t>
            </a:r>
          </a:p>
        </p:txBody>
      </p:sp>
      <p:sp>
        <p:nvSpPr>
          <p:cNvPr id="9" name="">
            <a:extLst xmlns:a="http://schemas.openxmlformats.org/drawingml/2006/main">
              <a:ext uri="{FF2B5EF4-FFF2-40B4-BE49-F238E27FC236}">
                <a16:creationId xmlns:a16="http://schemas.microsoft.com/office/drawing/2014/main" id="{DE389506-4BB5-4AE0-835D-785D07791FE5}"/>
              </a:ext>
            </a:extLst>
          </p:cNvPr>
          <p:cNvSpPr>
            <a:spLocks xmlns:a="http://schemas.openxmlformats.org/drawingml/2006/main" noGrp="1"/>
          </p:cNvSpPr>
          <p:nvPr/>
        </p:nvSpPr>
        <p:spPr>
          <a:xfrm xmlns:a="http://schemas.openxmlformats.org/drawingml/2006/main">
            <a:off x="6457950" y="45910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28E2B"/>
                </a:solidFill>
                <a:latin typeface="Arial"/>
                <a:ea typeface="Arial"/>
                <a:cs typeface="Arial"/>
              </a:defRPr>
            </a:pPr>
            <a:r>
              <a:rPr sz="1350" b="1">
                <a:solidFill>
                  <a:srgbClr val="F28E2B"/>
                </a:solidFill>
                <a:latin typeface="Arial"/>
                <a:ea typeface="Arial"/>
                <a:cs typeface="Arial"/>
              </a:rPr>
              <a:t>Bước sau: demo dashboard và chốt câu hỏi phản biện.</a:t>
            </a:r>
          </a:p>
        </p:txBody>
      </p:sp>
      <p:sp>
        <p:nvSpPr>
          <p:cNvPr id="10" name="">
            <a:extLst xmlns:a="http://schemas.openxmlformats.org/drawingml/2006/main">
              <a:ext uri="{FF2B5EF4-FFF2-40B4-BE49-F238E27FC236}">
                <a16:creationId xmlns:a16="http://schemas.microsoft.com/office/drawing/2014/main" id="{DAF432AD-215B-4879-9A1D-32E42F561263}"/>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52606D"/>
                </a:solidFill>
                <a:latin typeface="Arial"/>
                <a:ea typeface="Arial"/>
                <a:cs typeface="Arial"/>
              </a:defRPr>
            </a:pPr>
            <a:r>
              <a:rPr sz="825" b="0">
                <a:solidFill>
                  <a:srgbClr val="52606D"/>
                </a:solidFill>
                <a:latin typeface="Arial"/>
                <a:ea typeface="Arial"/>
                <a:cs typeface="Arial"/>
              </a:rPr>
              <a:t>NASA C-MAPSS FD001 · Phan Nguyễn Mai Phương · 2026</a:t>
            </a:r>
          </a:p>
        </p:txBody>
      </p:sp>
      <p:sp>
        <p:nvSpPr>
          <p:cNvPr id="11" name="">
            <a:extLst xmlns:a="http://schemas.openxmlformats.org/drawingml/2006/main">
              <a:ext uri="{FF2B5EF4-FFF2-40B4-BE49-F238E27FC236}">
                <a16:creationId xmlns:a16="http://schemas.microsoft.com/office/drawing/2014/main" id="{230BA791-A949-46CD-818D-2FB0AC980C2E}"/>
              </a:ext>
            </a:extLst>
          </p:cNvPr>
          <p:cNvSpPr>
            <a:spLocks xmlns:a="http://schemas.openxmlformats.org/drawingml/2006/main" noGrp="1"/>
          </p:cNvSpPr>
          <p:nvPr/>
        </p:nvSpPr>
        <p:spPr>
          <a:xfrm xmlns:a="http://schemas.openxmlformats.org/drawingml/2006/main">
            <a:off x="11287125" y="65151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52606D"/>
                </a:solidFill>
                <a:latin typeface="Arial"/>
                <a:ea typeface="Arial"/>
                <a:cs typeface="Arial"/>
              </a:defRPr>
            </a:pPr>
            <a:r>
              <a:rPr sz="825" b="1">
                <a:solidFill>
                  <a:srgbClr val="52606D"/>
                </a:solidFill>
                <a:latin typeface="Arial"/>
                <a:ea typeface="Arial"/>
                <a:cs typeface="Arial"/>
              </a:rPr>
              <a:t>10</a:t>
            </a:r>
          </a:p>
        </p:txBody>
      </p:sp>
    </p:spTree>
    <p:extLst>
      <p:ext uri="{BB962C8B-B14F-4D97-AF65-F5344CB8AC3E}">
        <p14:creationId xmlns:p14="http://schemas.microsoft.com/office/powerpoint/2010/main" val="20319837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2026-09-23T06:45:28.5090000Z</dcterms:created>
  <dcterms:modified xsi:type="dcterms:W3CDTF">2026-09-23T06:45:28.5090000Z</dcterms:modified>
</coreProperties>
</file>